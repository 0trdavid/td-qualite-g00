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_rels/notesSlide44.xml.rels" ContentType="application/vnd.openxmlformats-package.relationships+xml"/>
  <Override PartName="/ppt/notesSlides/_rels/notesSlide1.xml.rels" ContentType="application/vnd.openxmlformats-package.relationships+xml"/>
  <Override PartName="/ppt/notesSlides/_rels/notesSlide45.xml.rels" ContentType="application/vnd.openxmlformats-package.relationships+xml"/>
  <Override PartName="/ppt/notesSlides/_rels/notesSlide2.xml.rels" ContentType="application/vnd.openxmlformats-package.relationships+xml"/>
  <Override PartName="/ppt/notesSlides/_rels/notesSlide46.xml.rels" ContentType="application/vnd.openxmlformats-package.relationships+xml"/>
  <Override PartName="/ppt/notesSlides/_rels/notesSlide3.xml.rels" ContentType="application/vnd.openxmlformats-package.relationships+xml"/>
  <Override PartName="/ppt/notesSlides/_rels/notesSlide47.xml.rels" ContentType="application/vnd.openxmlformats-package.relationships+xml"/>
  <Override PartName="/ppt/notesSlides/_rels/notesSlide4.xml.rels" ContentType="application/vnd.openxmlformats-package.relationships+xml"/>
  <Override PartName="/ppt/notesSlides/_rels/notesSlide5.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8.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1.xml.rels" ContentType="application/vnd.openxmlformats-package.relationships+xml"/>
  <Override PartName="/ppt/notesSlides/_rels/notesSlide12.xml.rels" ContentType="application/vnd.openxmlformats-package.relationships+xml"/>
  <Override PartName="/ppt/notesSlides/_rels/notesSlide13.xml.rels" ContentType="application/vnd.openxmlformats-package.relationships+xml"/>
  <Override PartName="/ppt/notesSlides/_rels/notesSlide14.xml.rels" ContentType="application/vnd.openxmlformats-package.relationships+xml"/>
  <Override PartName="/ppt/notesSlides/_rels/notesSlide15.xml.rels" ContentType="application/vnd.openxmlformats-package.relationships+xml"/>
  <Override PartName="/ppt/notesSlides/_rels/notesSlide16.xml.rels" ContentType="application/vnd.openxmlformats-package.relationships+xml"/>
  <Override PartName="/ppt/notesSlides/_rels/notesSlide17.xml.rels" ContentType="application/vnd.openxmlformats-package.relationships+xml"/>
  <Override PartName="/ppt/notesSlides/_rels/notesSlide18.xml.rels" ContentType="application/vnd.openxmlformats-package.relationships+xml"/>
  <Override PartName="/ppt/notesSlides/_rels/notesSlide19.xml.rels" ContentType="application/vnd.openxmlformats-package.relationships+xml"/>
  <Override PartName="/ppt/notesSlides/_rels/notesSlide20.xml.rels" ContentType="application/vnd.openxmlformats-package.relationships+xml"/>
  <Override PartName="/ppt/notesSlides/_rels/notesSlide21.xml.rels" ContentType="application/vnd.openxmlformats-package.relationships+xml"/>
  <Override PartName="/ppt/notesSlides/_rels/notesSlide22.xml.rels" ContentType="application/vnd.openxmlformats-package.relationships+xml"/>
  <Override PartName="/ppt/notesSlides/_rels/notesSlide23.xml.rels" ContentType="application/vnd.openxmlformats-package.relationships+xml"/>
  <Override PartName="/ppt/notesSlides/_rels/notesSlide24.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27.xml.rels" ContentType="application/vnd.openxmlformats-package.relationships+xml"/>
  <Override PartName="/ppt/notesSlides/_rels/notesSlide28.xml.rels" ContentType="application/vnd.openxmlformats-package.relationships+xml"/>
  <Override PartName="/ppt/notesSlides/_rels/notesSlide29.xml.rels" ContentType="application/vnd.openxmlformats-package.relationships+xml"/>
  <Override PartName="/ppt/notesSlides/_rels/notesSlide30.xml.rels" ContentType="application/vnd.openxmlformats-package.relationships+xml"/>
  <Override PartName="/ppt/notesSlides/_rels/notesSlide31.xml.rels" ContentType="application/vnd.openxmlformats-package.relationships+xml"/>
  <Override PartName="/ppt/notesSlides/_rels/notesSlide32.xml.rels" ContentType="application/vnd.openxmlformats-package.relationships+xml"/>
  <Override PartName="/ppt/notesSlides/_rels/notesSlide33.xml.rels" ContentType="application/vnd.openxmlformats-package.relationships+xml"/>
  <Override PartName="/ppt/notesSlides/_rels/notesSlide34.xml.rels" ContentType="application/vnd.openxmlformats-package.relationships+xml"/>
  <Override PartName="/ppt/notesSlides/_rels/notesSlide35.xml.rels" ContentType="application/vnd.openxmlformats-package.relationships+xml"/>
  <Override PartName="/ppt/notesSlides/_rels/notesSlide36.xml.rels" ContentType="application/vnd.openxmlformats-package.relationships+xml"/>
  <Override PartName="/ppt/notesSlides/_rels/notesSlide37.xml.rels" ContentType="application/vnd.openxmlformats-package.relationships+xml"/>
  <Override PartName="/ppt/notesSlides/_rels/notesSlide38.xml.rels" ContentType="application/vnd.openxmlformats-package.relationships+xml"/>
  <Override PartName="/ppt/notesSlides/_rels/notesSlide39.xml.rels" ContentType="application/vnd.openxmlformats-package.relationships+xml"/>
  <Override PartName="/ppt/notesSlides/_rels/notesSlide40.xml.rels" ContentType="application/vnd.openxmlformats-package.relationships+xml"/>
  <Override PartName="/ppt/notesSlides/_rels/notesSlide41.xml.rels" ContentType="application/vnd.openxmlformats-package.relationships+xml"/>
  <Override PartName="/ppt/notesSlides/_rels/notesSlide42.xml.rels" ContentType="application/vnd.openxmlformats-package.relationships+xml"/>
  <Override PartName="/ppt/notesSlides/_rels/notesSlide43.xml.rels" ContentType="application/vnd.openxmlformats-package.relationships+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media/image20.png" ContentType="image/png"/>
  <Override PartName="/ppt/media/image21.png" ContentType="image/png"/>
  <Override PartName="/ppt/media/image22.png" ContentType="image/png"/>
  <Override PartName="/ppt/media/image23.png" ContentType="image/png"/>
  <Override PartName="/ppt/media/image24.png" ContentType="image/png"/>
  <Override PartName="/ppt/media/image25.png" ContentType="image/png"/>
  <Override PartName="/ppt/media/image26.png" ContentType="image/png"/>
  <Override PartName="/ppt/media/image27.png" ContentType="image/png"/>
  <Override PartName="/ppt/media/image28.png" ContentType="image/png"/>
  <Override PartName="/ppt/media/image29.png" ContentType="image/png"/>
  <Override PartName="/ppt/media/image30.png" ContentType="image/png"/>
  <Override PartName="/ppt/media/image31.png" ContentType="image/png"/>
  <Override PartName="/ppt/media/image32.png" ContentType="image/png"/>
  <Override PartName="/ppt/media/image33.png" ContentType="image/png"/>
  <Override PartName="/ppt/media/image34.png" ContentType="image/png"/>
  <Override PartName="/ppt/media/image35.png" ContentType="image/png"/>
  <Override PartName="/ppt/media/image36.png" ContentType="image/png"/>
  <Override PartName="/ppt/media/image37.png" ContentType="image/png"/>
  <Override PartName="/ppt/media/image38.png" ContentType="image/png"/>
  <Override PartName="/ppt/media/image39.png" ContentType="image/png"/>
  <Override PartName="/ppt/media/image40.png" ContentType="image/png"/>
  <Override PartName="/ppt/media/image41.png" ContentType="image/png"/>
  <Override PartName="/ppt/media/image42.png" ContentType="image/png"/>
  <Override PartName="/ppt/media/image43.png" ContentType="image/png"/>
  <Override PartName="/ppt/media/image44.png" ContentType="image/png"/>
  <Override PartName="/ppt/media/image45.png" ContentType="image/png"/>
  <Override PartName="/ppt/media/image46.png" ContentType="image/png"/>
  <Override PartName="/ppt/media/image47.png" ContentType="image/png"/>
  <Override PartName="/ppt/media/image48.png" ContentType="image/png"/>
  <Override PartName="/ppt/media/image49.png" ContentType="image/png"/>
  <Override PartName="/ppt/media/image50.png" ContentType="image/png"/>
  <Override PartName="/ppt/media/image51.png" ContentType="image/png"/>
  <Override PartName="/ppt/media/image52.png" ContentType="image/png"/>
  <Override PartName="/ppt/media/image53.png" ContentType="image/png"/>
  <Override PartName="/ppt/media/image54.png" ContentType="image/png"/>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31.xml.rels" ContentType="application/vnd.openxmlformats-package.relationships+xml"/>
  <Override PartName="/ppt/slideLayouts/_rels/slideLayout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_rels/slide35.xml.rels" ContentType="application/vnd.openxmlformats-package.relationships+xml"/>
  <Override PartName="/ppt/slides/_rels/slide1.xml.rels" ContentType="application/vnd.openxmlformats-package.relationships+xml"/>
  <Override PartName="/ppt/slides/_rels/slide22.xml.rels" ContentType="application/vnd.openxmlformats-package.relationships+xml"/>
  <Override PartName="/ppt/slides/_rels/slide36.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7.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38.xml.rels" ContentType="application/vnd.openxmlformats-package.relationships+xml"/>
  <Override PartName="/ppt/slides/_rels/slide5.xml.rels" ContentType="application/vnd.openxmlformats-package.relationships+xml"/>
  <Override PartName="/ppt/slides/_rels/slide39.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31.xml.rels" ContentType="application/vnd.openxmlformats-package.relationships+xml"/>
  <Override PartName="/ppt/slides/_rels/slide32.xml.rels" ContentType="application/vnd.openxmlformats-package.relationships+xml"/>
  <Override PartName="/ppt/slides/_rels/slide33.xml.rels" ContentType="application/vnd.openxmlformats-package.relationships+xml"/>
  <Override PartName="/ppt/slides/_rels/slide34.xml.rels" ContentType="application/vnd.openxmlformats-package.relationships+xml"/>
  <Override PartName="/ppt/slides/_rels/slide40.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47.xml.rels" ContentType="application/vnd.openxmlformats-package.relationships+xml"/>
  <Override PartName="/ppt/presProps.xml" ContentType="application/vnd.openxmlformats-officedocument.presentationml.presProps+xml"/>
  <Override PartName="/ppt/_rels/presentation.xml.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fr-FR" sz="4400" spc="-1" strike="noStrike">
                <a:latin typeface="Arial"/>
              </a:rPr>
              <a:t>Cliquez pour déplacer la diapo</a:t>
            </a:r>
            <a:endParaRPr b="0" lang="fr-FR" sz="4400" spc="-1" strike="noStrike">
              <a:latin typeface="Arial"/>
            </a:endParaRPr>
          </a:p>
        </p:txBody>
      </p:sp>
      <p:sp>
        <p:nvSpPr>
          <p:cNvPr id="126"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fr-FR" sz="2000" spc="-1" strike="noStrike">
                <a:latin typeface="Arial"/>
              </a:rPr>
              <a:t>Cliquez pour modifier le format des notes</a:t>
            </a:r>
            <a:endParaRPr b="0" lang="fr-FR" sz="2000" spc="-1" strike="noStrike">
              <a:latin typeface="Arial"/>
            </a:endParaRPr>
          </a:p>
        </p:txBody>
      </p:sp>
      <p:sp>
        <p:nvSpPr>
          <p:cNvPr id="127"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fr-FR" sz="1400" spc="-1" strike="noStrike">
                <a:latin typeface="Times New Roman"/>
              </a:rPr>
              <a:t>&lt;en-tête&gt;</a:t>
            </a:r>
            <a:endParaRPr b="0" lang="fr-FR" sz="1400" spc="-1" strike="noStrike">
              <a:latin typeface="Times New Roman"/>
            </a:endParaRPr>
          </a:p>
        </p:txBody>
      </p:sp>
      <p:sp>
        <p:nvSpPr>
          <p:cNvPr id="128" name="PlaceHolder 4"/>
          <p:cNvSpPr>
            <a:spLocks noGrp="1"/>
          </p:cNvSpPr>
          <p:nvPr>
            <p:ph type="dt" idx="3"/>
          </p:nvPr>
        </p:nvSpPr>
        <p:spPr>
          <a:xfrm>
            <a:off x="4278960" y="0"/>
            <a:ext cx="3280680" cy="534240"/>
          </a:xfrm>
          <a:prstGeom prst="rect">
            <a:avLst/>
          </a:prstGeom>
          <a:noFill/>
          <a:ln w="0">
            <a:noFill/>
          </a:ln>
        </p:spPr>
        <p:txBody>
          <a:bodyPr lIns="0" rIns="0" tIns="0" bIns="0" anchor="t">
            <a:noAutofit/>
          </a:bodyPr>
          <a:lstStyle>
            <a:lvl1pPr algn="r">
              <a:buNone/>
              <a:defRPr b="0" lang="fr-FR" sz="1400" spc="-1" strike="noStrike">
                <a:latin typeface="Times New Roman"/>
              </a:defRPr>
            </a:lvl1pPr>
          </a:lstStyle>
          <a:p>
            <a:pPr algn="r">
              <a:buNone/>
            </a:pPr>
            <a:r>
              <a:rPr b="0" lang="fr-FR" sz="1400" spc="-1" strike="noStrike">
                <a:latin typeface="Times New Roman"/>
              </a:rPr>
              <a:t>&lt;date/heure&gt;</a:t>
            </a:r>
            <a:endParaRPr b="0" lang="fr-FR" sz="1400" spc="-1" strike="noStrike">
              <a:latin typeface="Times New Roman"/>
            </a:endParaRPr>
          </a:p>
        </p:txBody>
      </p:sp>
      <p:sp>
        <p:nvSpPr>
          <p:cNvPr id="129" name="PlaceHolder 5"/>
          <p:cNvSpPr>
            <a:spLocks noGrp="1"/>
          </p:cNvSpPr>
          <p:nvPr>
            <p:ph type="ftr" idx="4"/>
          </p:nvPr>
        </p:nvSpPr>
        <p:spPr>
          <a:xfrm>
            <a:off x="0" y="10157400"/>
            <a:ext cx="3280680" cy="534240"/>
          </a:xfrm>
          <a:prstGeom prst="rect">
            <a:avLst/>
          </a:prstGeom>
          <a:noFill/>
          <a:ln w="0">
            <a:noFill/>
          </a:ln>
        </p:spPr>
        <p:txBody>
          <a:bodyPr lIns="0" rIns="0" tIns="0" bIns="0" anchor="b">
            <a:noAutofit/>
          </a:bodyPr>
          <a:lstStyle>
            <a:lvl1pPr>
              <a:defRPr b="0" lang="fr-FR" sz="1400" spc="-1" strike="noStrike">
                <a:latin typeface="Times New Roman"/>
              </a:defRPr>
            </a:lvl1pPr>
          </a:lstStyle>
          <a:p>
            <a:r>
              <a:rPr b="0" lang="fr-FR" sz="1400" spc="-1" strike="noStrike">
                <a:latin typeface="Times New Roman"/>
              </a:rPr>
              <a:t>&lt;pied de page&gt;</a:t>
            </a:r>
            <a:endParaRPr b="0" lang="fr-FR" sz="1400" spc="-1" strike="noStrike">
              <a:latin typeface="Times New Roman"/>
            </a:endParaRPr>
          </a:p>
        </p:txBody>
      </p:sp>
      <p:sp>
        <p:nvSpPr>
          <p:cNvPr id="130" name="PlaceHolder 6"/>
          <p:cNvSpPr>
            <a:spLocks noGrp="1"/>
          </p:cNvSpPr>
          <p:nvPr>
            <p:ph type="sldNum" idx="5"/>
          </p:nvPr>
        </p:nvSpPr>
        <p:spPr>
          <a:xfrm>
            <a:off x="4278960" y="10157400"/>
            <a:ext cx="3280680" cy="534240"/>
          </a:xfrm>
          <a:prstGeom prst="rect">
            <a:avLst/>
          </a:prstGeom>
          <a:noFill/>
          <a:ln w="0">
            <a:noFill/>
          </a:ln>
        </p:spPr>
        <p:txBody>
          <a:bodyPr lIns="0" rIns="0" tIns="0" bIns="0" anchor="b">
            <a:noAutofit/>
          </a:bodyPr>
          <a:lstStyle>
            <a:lvl1pPr algn="r">
              <a:buNone/>
              <a:defRPr b="0" lang="fr-FR" sz="1400" spc="-1" strike="noStrike">
                <a:latin typeface="Times New Roman"/>
              </a:defRPr>
            </a:lvl1pPr>
          </a:lstStyle>
          <a:p>
            <a:pPr algn="r">
              <a:buNone/>
            </a:pPr>
            <a:fld id="{5583D825-91EA-4587-ADB9-0243D8CCABB5}" type="slidenum">
              <a:rPr b="0" lang="fr-FR" sz="1400" spc="-1" strike="noStrike">
                <a:latin typeface="Times New Roman"/>
              </a:rPr>
              <a:t>&lt;numéro&gt;</a:t>
            </a:fld>
            <a:endParaRPr b="0" lang="fr-FR"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_rels/notesSlide36.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
</Relationships>
</file>

<file path=ppt/notesSlides/_rels/notesSlide37.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
</Relationships>
</file>

<file path=ppt/notesSlides/_rels/notesSlide38.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
</Relationships>
</file>

<file path=ppt/notesSlides/_rels/notesSlide39.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
</Relationships>
</file>

<file path=ppt/notesSlides/_rels/notesSlide40.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
</Relationships>
</file>

<file path=ppt/notesSlides/_rels/notesSlide41.xml.rels><?xml version="1.0" encoding="UTF-8"?>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
</Relationships>
</file>

<file path=ppt/notesSlides/_rels/notesSlide42.xml.rels><?xml version="1.0" encoding="UTF-8"?>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
</Relationships>
</file>

<file path=ppt/notesSlides/_rels/notesSlide43.xml.rels><?xml version="1.0" encoding="UTF-8"?>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
</Relationships>
</file>

<file path=ppt/notesSlides/_rels/notesSlide44.xml.rels><?xml version="1.0" encoding="UTF-8"?>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
</Relationships>
</file>

<file path=ppt/notesSlides/_rels/notesSlide45.xml.rels><?xml version="1.0" encoding="UTF-8"?>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_rels/notesSlide47.xml.rels><?xml version="1.0" encoding="UTF-8"?>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4" name="PlaceHolder 1"/>
          <p:cNvSpPr>
            <a:spLocks noGrp="1"/>
          </p:cNvSpPr>
          <p:nvPr>
            <p:ph type="sldImg"/>
          </p:nvPr>
        </p:nvSpPr>
        <p:spPr>
          <a:xfrm>
            <a:off x="685800" y="1143000"/>
            <a:ext cx="5484960" cy="3084840"/>
          </a:xfrm>
          <a:prstGeom prst="rect">
            <a:avLst/>
          </a:prstGeom>
          <a:ln w="0">
            <a:noFill/>
          </a:ln>
        </p:spPr>
      </p:sp>
      <p:sp>
        <p:nvSpPr>
          <p:cNvPr id="68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Modèle à compléter par chaque groupe. Remplacez les crochets de la couverture. Ne supprimez aucun encadré « Attendu » : la grille de notation s'y réfère.</a:t>
            </a:r>
            <a:endParaRPr b="0" lang="fr-FR" sz="2000" spc="-1" strike="noStrike">
              <a:latin typeface="Arial"/>
            </a:endParaRPr>
          </a:p>
        </p:txBody>
      </p:sp>
      <p:sp>
        <p:nvSpPr>
          <p:cNvPr id="686" name="PlaceHolder 3"/>
          <p:cNvSpPr>
            <a:spLocks noGrp="1"/>
          </p:cNvSpPr>
          <p:nvPr>
            <p:ph type="sldNum" idx="5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1ADC851-F0FF-4B2C-BEB9-A2DBE79B4E1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7" name="PlaceHolder 1"/>
          <p:cNvSpPr>
            <a:spLocks noGrp="1"/>
          </p:cNvSpPr>
          <p:nvPr>
            <p:ph type="sldImg"/>
          </p:nvPr>
        </p:nvSpPr>
        <p:spPr>
          <a:xfrm>
            <a:off x="685800" y="1143000"/>
            <a:ext cx="5484960" cy="3084840"/>
          </a:xfrm>
          <a:prstGeom prst="rect">
            <a:avLst/>
          </a:prstGeom>
          <a:ln w="0">
            <a:noFill/>
          </a:ln>
        </p:spPr>
      </p:sp>
      <p:sp>
        <p:nvSpPr>
          <p:cNvPr id="68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Lisez cette page avant de rédiger. Les chiffres que vous reportez viennent de vos mesures (dq.dq_history, scans Soda, requêtes du notebook), jamais d'un autre groupe ni d'un tutoriel.</a:t>
            </a:r>
            <a:endParaRPr b="0" lang="fr-FR" sz="2000" spc="-1" strike="noStrike">
              <a:latin typeface="Arial"/>
            </a:endParaRPr>
          </a:p>
        </p:txBody>
      </p:sp>
      <p:sp>
        <p:nvSpPr>
          <p:cNvPr id="689" name="PlaceHolder 3"/>
          <p:cNvSpPr>
            <a:spLocks noGrp="1"/>
          </p:cNvSpPr>
          <p:nvPr>
            <p:ph type="sldNum" idx="5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4A91C97-F188-4502-A37E-DB9CBD27F70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0" name="PlaceHolder 1"/>
          <p:cNvSpPr>
            <a:spLocks noGrp="1"/>
          </p:cNvSpPr>
          <p:nvPr>
            <p:ph type="sldImg"/>
          </p:nvPr>
        </p:nvSpPr>
        <p:spPr>
          <a:xfrm>
            <a:off x="685800" y="1143000"/>
            <a:ext cx="5484960" cy="3084840"/>
          </a:xfrm>
          <a:prstGeom prst="rect">
            <a:avLst/>
          </a:prstGeom>
          <a:ln w="0">
            <a:noFill/>
          </a:ln>
        </p:spPr>
      </p:sp>
      <p:sp>
        <p:nvSpPr>
          <p:cNvPr id="69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La grille est celle du dossier go/no-go. Le livrable de séance et le dossier final sont évalués ensemble.</a:t>
            </a:r>
            <a:endParaRPr b="0" lang="fr-FR" sz="2000" spc="-1" strike="noStrike">
              <a:latin typeface="Arial"/>
            </a:endParaRPr>
          </a:p>
        </p:txBody>
      </p:sp>
      <p:sp>
        <p:nvSpPr>
          <p:cNvPr id="692" name="PlaceHolder 3"/>
          <p:cNvSpPr>
            <a:spLocks noGrp="1"/>
          </p:cNvSpPr>
          <p:nvPr>
            <p:ph type="sldNum" idx="5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13D7C36-1BD1-4339-9D32-5EC53FED0F4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3" name="PlaceHolder 1"/>
          <p:cNvSpPr>
            <a:spLocks noGrp="1"/>
          </p:cNvSpPr>
          <p:nvPr>
            <p:ph type="sldImg"/>
          </p:nvPr>
        </p:nvSpPr>
        <p:spPr>
          <a:xfrm>
            <a:off x="685800" y="1143000"/>
            <a:ext cx="5484960" cy="3084840"/>
          </a:xfrm>
          <a:prstGeom prst="rect">
            <a:avLst/>
          </a:prstGeom>
          <a:ln w="0">
            <a:noFill/>
          </a:ln>
        </p:spPr>
      </p:sp>
      <p:sp>
        <p:nvSpPr>
          <p:cNvPr id="69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Renseignez cette page dès la fin de l'ouverture de S1, puis mettez-la à jour à chaque séance.</a:t>
            </a:r>
            <a:endParaRPr b="0" lang="fr-FR" sz="2000" spc="-1" strike="noStrike">
              <a:latin typeface="Arial"/>
            </a:endParaRPr>
          </a:p>
        </p:txBody>
      </p:sp>
      <p:sp>
        <p:nvSpPr>
          <p:cNvPr id="695" name="PlaceHolder 3"/>
          <p:cNvSpPr>
            <a:spLocks noGrp="1"/>
          </p:cNvSpPr>
          <p:nvPr>
            <p:ph type="sldNum" idx="5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2532D80-122F-428F-B183-B64F92CA9AD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sldImg"/>
          </p:nvPr>
        </p:nvSpPr>
        <p:spPr>
          <a:xfrm>
            <a:off x="685800" y="1143000"/>
            <a:ext cx="5484960" cy="3084840"/>
          </a:xfrm>
          <a:prstGeom prst="rect">
            <a:avLst/>
          </a:prstGeom>
          <a:ln w="0">
            <a:noFill/>
          </a:ln>
        </p:spPr>
      </p:sp>
      <p:sp>
        <p:nvSpPr>
          <p:cNvPr id="69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Cinq lignes par zone. Pas de copier-coller de l'énoncé : reformulez.</a:t>
            </a:r>
            <a:endParaRPr b="0" lang="fr-FR" sz="2000" spc="-1" strike="noStrike">
              <a:latin typeface="Arial"/>
            </a:endParaRPr>
          </a:p>
        </p:txBody>
      </p:sp>
      <p:sp>
        <p:nvSpPr>
          <p:cNvPr id="698" name="PlaceHolder 3"/>
          <p:cNvSpPr>
            <a:spLocks noGrp="1"/>
          </p:cNvSpPr>
          <p:nvPr>
            <p:ph type="sldNum" idx="5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622EE00-9D01-4CCB-9CAC-0594676B3A1B}"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9" name="PlaceHolder 1"/>
          <p:cNvSpPr>
            <a:spLocks noGrp="1"/>
          </p:cNvSpPr>
          <p:nvPr>
            <p:ph type="sldImg"/>
          </p:nvPr>
        </p:nvSpPr>
        <p:spPr>
          <a:xfrm>
            <a:off x="685800" y="1143000"/>
            <a:ext cx="5484960" cy="3084840"/>
          </a:xfrm>
          <a:prstGeom prst="rect">
            <a:avLst/>
          </a:prstGeom>
          <a:ln w="0">
            <a:noFill/>
          </a:ln>
        </p:spPr>
      </p:sp>
      <p:sp>
        <p:nvSpPr>
          <p:cNvPr id="70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01" name="PlaceHolder 3"/>
          <p:cNvSpPr>
            <a:spLocks noGrp="1"/>
          </p:cNvSpPr>
          <p:nvPr>
            <p:ph type="sldNum" idx="5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680948C-781F-4DF6-AC91-1B5701A4280C}"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2" name="PlaceHolder 1"/>
          <p:cNvSpPr>
            <a:spLocks noGrp="1"/>
          </p:cNvSpPr>
          <p:nvPr>
            <p:ph type="sldImg"/>
          </p:nvPr>
        </p:nvSpPr>
        <p:spPr>
          <a:xfrm>
            <a:off x="685800" y="1143000"/>
            <a:ext cx="5484960" cy="3084840"/>
          </a:xfrm>
          <a:prstGeom prst="rect">
            <a:avLst/>
          </a:prstGeom>
          <a:ln w="0">
            <a:noFill/>
          </a:ln>
        </p:spPr>
      </p:sp>
      <p:sp>
        <p:nvSpPr>
          <p:cNvPr id="70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comptez avec une requête, pas à l'œil. Indiquez le notebook qui contient la requête.</a:t>
            </a:r>
            <a:endParaRPr b="0" lang="fr-FR" sz="2000" spc="-1" strike="noStrike">
              <a:latin typeface="Arial"/>
            </a:endParaRPr>
          </a:p>
        </p:txBody>
      </p:sp>
      <p:sp>
        <p:nvSpPr>
          <p:cNvPr id="704" name="PlaceHolder 3"/>
          <p:cNvSpPr>
            <a:spLocks noGrp="1"/>
          </p:cNvSpPr>
          <p:nvPr>
            <p:ph type="sldNum" idx="5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0819D11-C8F5-44E5-B267-A7022983BBE2}"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5" name="PlaceHolder 1"/>
          <p:cNvSpPr>
            <a:spLocks noGrp="1"/>
          </p:cNvSpPr>
          <p:nvPr>
            <p:ph type="sldImg"/>
          </p:nvPr>
        </p:nvSpPr>
        <p:spPr>
          <a:xfrm>
            <a:off x="685800" y="1143000"/>
            <a:ext cx="5484960" cy="3084840"/>
          </a:xfrm>
          <a:prstGeom prst="rect">
            <a:avLst/>
          </a:prstGeom>
          <a:ln w="0">
            <a:noFill/>
          </a:ln>
        </p:spPr>
      </p:sp>
      <p:sp>
        <p:nvSpPr>
          <p:cNvPr id="70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porte B juge la fidélité de la copie, pas la qualité des valeurs. Un écart nul est un résultat à documenter.</a:t>
            </a:r>
            <a:endParaRPr b="0" lang="fr-FR" sz="2000" spc="-1" strike="noStrike">
              <a:latin typeface="Arial"/>
            </a:endParaRPr>
          </a:p>
        </p:txBody>
      </p:sp>
      <p:sp>
        <p:nvSpPr>
          <p:cNvPr id="707" name="PlaceHolder 3"/>
          <p:cNvSpPr>
            <a:spLocks noGrp="1"/>
          </p:cNvSpPr>
          <p:nvPr>
            <p:ph type="sldNum" idx="5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241978C-45EF-4AE9-BA78-431D4ACD184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08" name="PlaceHolder 1"/>
          <p:cNvSpPr>
            <a:spLocks noGrp="1"/>
          </p:cNvSpPr>
          <p:nvPr>
            <p:ph type="sldImg"/>
          </p:nvPr>
        </p:nvSpPr>
        <p:spPr>
          <a:xfrm>
            <a:off x="685800" y="1143000"/>
            <a:ext cx="5484960" cy="3084840"/>
          </a:xfrm>
          <a:prstGeom prst="rect">
            <a:avLst/>
          </a:prstGeom>
          <a:ln w="0">
            <a:noFill/>
          </a:ln>
        </p:spPr>
      </p:sp>
      <p:sp>
        <p:nvSpPr>
          <p:cNvPr id="70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l'épreuve de l'écart volontaire prouve que votre porte détecte quelque chose. Sans elle, une porte toujours verte ne prouve rien.</a:t>
            </a:r>
            <a:endParaRPr b="0" lang="fr-FR" sz="2000" spc="-1" strike="noStrike">
              <a:latin typeface="Arial"/>
            </a:endParaRPr>
          </a:p>
        </p:txBody>
      </p:sp>
      <p:sp>
        <p:nvSpPr>
          <p:cNvPr id="710" name="PlaceHolder 3"/>
          <p:cNvSpPr>
            <a:spLocks noGrp="1"/>
          </p:cNvSpPr>
          <p:nvPr>
            <p:ph type="sldNum" idx="6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B1A0EEE-5F65-4506-A141-CA5A67EAF15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1" name="PlaceHolder 1"/>
          <p:cNvSpPr>
            <a:spLocks noGrp="1"/>
          </p:cNvSpPr>
          <p:nvPr>
            <p:ph type="sldImg"/>
          </p:nvPr>
        </p:nvSpPr>
        <p:spPr>
          <a:xfrm>
            <a:off x="685800" y="1143000"/>
            <a:ext cx="5484960" cy="3084840"/>
          </a:xfrm>
          <a:prstGeom prst="rect">
            <a:avLst/>
          </a:prstGeom>
          <a:ln w="0">
            <a:noFill/>
          </a:ln>
        </p:spPr>
      </p:sp>
      <p:sp>
        <p:nvSpPr>
          <p:cNvPr id="71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distinguez NULL, vide et blanc. Un constat sans valeur mesurée n'en est pas un.</a:t>
            </a:r>
            <a:endParaRPr b="0" lang="fr-FR" sz="2000" spc="-1" strike="noStrike">
              <a:latin typeface="Arial"/>
            </a:endParaRPr>
          </a:p>
        </p:txBody>
      </p:sp>
      <p:sp>
        <p:nvSpPr>
          <p:cNvPr id="713" name="PlaceHolder 3"/>
          <p:cNvSpPr>
            <a:spLocks noGrp="1"/>
          </p:cNvSpPr>
          <p:nvPr>
            <p:ph type="sldNum" idx="6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9A08293-CA7A-4618-A469-4451517E8A2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4" name="PlaceHolder 1"/>
          <p:cNvSpPr>
            <a:spLocks noGrp="1"/>
          </p:cNvSpPr>
          <p:nvPr>
            <p:ph type="sldImg"/>
          </p:nvPr>
        </p:nvSpPr>
        <p:spPr>
          <a:xfrm>
            <a:off x="685800" y="1143000"/>
            <a:ext cx="5484960" cy="3084840"/>
          </a:xfrm>
          <a:prstGeom prst="rect">
            <a:avLst/>
          </a:prstGeom>
          <a:ln w="0">
            <a:noFill/>
          </a:ln>
        </p:spPr>
      </p:sp>
      <p:sp>
        <p:nvSpPr>
          <p:cNvPr id="71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justification est un chiffre (taux de valeurs au format X, nombre de distincts, plage), pas une impression.</a:t>
            </a:r>
            <a:endParaRPr b="0" lang="fr-FR" sz="2000" spc="-1" strike="noStrike">
              <a:latin typeface="Arial"/>
            </a:endParaRPr>
          </a:p>
        </p:txBody>
      </p:sp>
      <p:sp>
        <p:nvSpPr>
          <p:cNvPr id="716" name="PlaceHolder 3"/>
          <p:cNvSpPr>
            <a:spLocks noGrp="1"/>
          </p:cNvSpPr>
          <p:nvPr>
            <p:ph type="sldNum" idx="6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D991193-EB19-42B9-BD96-029009D5396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7" name="PlaceHolder 1"/>
          <p:cNvSpPr>
            <a:spLocks noGrp="1"/>
          </p:cNvSpPr>
          <p:nvPr>
            <p:ph type="sldImg"/>
          </p:nvPr>
        </p:nvSpPr>
        <p:spPr>
          <a:xfrm>
            <a:off x="685800" y="1143000"/>
            <a:ext cx="5484960" cy="3084840"/>
          </a:xfrm>
          <a:prstGeom prst="rect">
            <a:avLst/>
          </a:prstGeom>
          <a:ln w="0">
            <a:noFill/>
          </a:ln>
        </p:spPr>
      </p:sp>
      <p:sp>
        <p:nvSpPr>
          <p:cNvPr id="71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trois chiffres sont vrais pour trois questions différentes. Le problème est la définition.</a:t>
            </a:r>
            <a:endParaRPr b="0" lang="fr-FR" sz="2000" spc="-1" strike="noStrike">
              <a:latin typeface="Arial"/>
            </a:endParaRPr>
          </a:p>
        </p:txBody>
      </p:sp>
      <p:sp>
        <p:nvSpPr>
          <p:cNvPr id="719" name="PlaceHolder 3"/>
          <p:cNvSpPr>
            <a:spLocks noGrp="1"/>
          </p:cNvSpPr>
          <p:nvPr>
            <p:ph type="sldNum" idx="6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FEAC499-4DFC-4612-A44E-CFFFC077D675}"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0" name="PlaceHolder 1"/>
          <p:cNvSpPr>
            <a:spLocks noGrp="1"/>
          </p:cNvSpPr>
          <p:nvPr>
            <p:ph type="sldImg"/>
          </p:nvPr>
        </p:nvSpPr>
        <p:spPr>
          <a:xfrm>
            <a:off x="685800" y="1143000"/>
            <a:ext cx="5484960" cy="3084840"/>
          </a:xfrm>
          <a:prstGeom prst="rect">
            <a:avLst/>
          </a:prstGeom>
          <a:ln w="0">
            <a:noFill/>
          </a:ln>
        </p:spPr>
      </p:sp>
      <p:sp>
        <p:nvSpPr>
          <p:cNvPr id="72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22" name="PlaceHolder 3"/>
          <p:cNvSpPr>
            <a:spLocks noGrp="1"/>
          </p:cNvSpPr>
          <p:nvPr>
            <p:ph type="sldNum" idx="6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598E160-19E8-4A76-A6B3-5CC9A1CEA1A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sldImg"/>
          </p:nvPr>
        </p:nvSpPr>
        <p:spPr>
          <a:xfrm>
            <a:off x="685800" y="1143000"/>
            <a:ext cx="5484960" cy="3084840"/>
          </a:xfrm>
          <a:prstGeom prst="rect">
            <a:avLst/>
          </a:prstGeom>
          <a:ln w="0">
            <a:noFill/>
          </a:ln>
        </p:spPr>
      </p:sp>
      <p:sp>
        <p:nvSpPr>
          <p:cNvPr id="72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25" name="PlaceHolder 3"/>
          <p:cNvSpPr>
            <a:spLocks noGrp="1"/>
          </p:cNvSpPr>
          <p:nvPr>
            <p:ph type="sldNum" idx="6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76DE6B4-3719-485D-AE7A-979C471977E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6" name="PlaceHolder 1"/>
          <p:cNvSpPr>
            <a:spLocks noGrp="1"/>
          </p:cNvSpPr>
          <p:nvPr>
            <p:ph type="sldImg"/>
          </p:nvPr>
        </p:nvSpPr>
        <p:spPr>
          <a:xfrm>
            <a:off x="685800" y="1143000"/>
            <a:ext cx="5484960" cy="3084840"/>
          </a:xfrm>
          <a:prstGeom prst="rect">
            <a:avLst/>
          </a:prstGeom>
          <a:ln w="0">
            <a:noFill/>
          </a:ln>
        </p:spPr>
      </p:sp>
      <p:sp>
        <p:nvSpPr>
          <p:cNvPr id="72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taux sans nombre de lignes testées est ininterprétable. Reportez les deux.</a:t>
            </a:r>
            <a:endParaRPr b="0" lang="fr-FR" sz="2000" spc="-1" strike="noStrike">
              <a:latin typeface="Arial"/>
            </a:endParaRPr>
          </a:p>
        </p:txBody>
      </p:sp>
      <p:sp>
        <p:nvSpPr>
          <p:cNvPr id="728" name="PlaceHolder 3"/>
          <p:cNvSpPr>
            <a:spLocks noGrp="1"/>
          </p:cNvSpPr>
          <p:nvPr>
            <p:ph type="sldNum" idx="6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8C6F0E1-E708-457B-BF8B-7B7D532BDB03}"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sldImg"/>
          </p:nvPr>
        </p:nvSpPr>
        <p:spPr>
          <a:xfrm>
            <a:off x="685800" y="1143000"/>
            <a:ext cx="5484960" cy="3084840"/>
          </a:xfrm>
          <a:prstGeom prst="rect">
            <a:avLst/>
          </a:prstGeom>
          <a:ln w="0">
            <a:noFill/>
          </a:ln>
        </p:spPr>
      </p:sp>
      <p:sp>
        <p:nvSpPr>
          <p:cNvPr id="73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nommez la famille d'erreur. « Valeurs incorrectes » n'est pas une famille.</a:t>
            </a:r>
            <a:endParaRPr b="0" lang="fr-FR" sz="2000" spc="-1" strike="noStrike">
              <a:latin typeface="Arial"/>
            </a:endParaRPr>
          </a:p>
        </p:txBody>
      </p:sp>
      <p:sp>
        <p:nvSpPr>
          <p:cNvPr id="731" name="PlaceHolder 3"/>
          <p:cNvSpPr>
            <a:spLocks noGrp="1"/>
          </p:cNvSpPr>
          <p:nvPr>
            <p:ph type="sldNum" idx="6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FE099C6-A513-421A-B61F-BB8FF146A0E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2" name="PlaceHolder 1"/>
          <p:cNvSpPr>
            <a:spLocks noGrp="1"/>
          </p:cNvSpPr>
          <p:nvPr>
            <p:ph type="sldImg"/>
          </p:nvPr>
        </p:nvSpPr>
        <p:spPr>
          <a:xfrm>
            <a:off x="685800" y="1143000"/>
            <a:ext cx="5484960" cy="3084840"/>
          </a:xfrm>
          <a:prstGeom prst="rect">
            <a:avLst/>
          </a:prstGeom>
          <a:ln w="0">
            <a:noFill/>
          </a:ln>
        </p:spPr>
      </p:sp>
      <p:sp>
        <p:nvSpPr>
          <p:cNvPr id="73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phrase de synthèse doit contenir un chiffre et la couche concernée.</a:t>
            </a:r>
            <a:endParaRPr b="0" lang="fr-FR" sz="2000" spc="-1" strike="noStrike">
              <a:latin typeface="Arial"/>
            </a:endParaRPr>
          </a:p>
        </p:txBody>
      </p:sp>
      <p:sp>
        <p:nvSpPr>
          <p:cNvPr id="734" name="PlaceHolder 3"/>
          <p:cNvSpPr>
            <a:spLocks noGrp="1"/>
          </p:cNvSpPr>
          <p:nvPr>
            <p:ph type="sldNum" idx="6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06EF7B5-5E91-43CD-A8B0-BF4113637219}"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5" name="PlaceHolder 1"/>
          <p:cNvSpPr>
            <a:spLocks noGrp="1"/>
          </p:cNvSpPr>
          <p:nvPr>
            <p:ph type="sldImg"/>
          </p:nvPr>
        </p:nvSpPr>
        <p:spPr>
          <a:xfrm>
            <a:off x="685800" y="1143000"/>
            <a:ext cx="5484960" cy="3084840"/>
          </a:xfrm>
          <a:prstGeom prst="rect">
            <a:avLst/>
          </a:prstGeom>
          <a:ln w="0">
            <a:noFill/>
          </a:ln>
        </p:spPr>
      </p:sp>
      <p:sp>
        <p:nvSpPr>
          <p:cNvPr id="73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37" name="PlaceHolder 3"/>
          <p:cNvSpPr>
            <a:spLocks noGrp="1"/>
          </p:cNvSpPr>
          <p:nvPr>
            <p:ph type="sldNum" idx="6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5FB0E7F-6283-4B68-A603-EBBC4A7EF5FE}"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8" name="PlaceHolder 1"/>
          <p:cNvSpPr>
            <a:spLocks noGrp="1"/>
          </p:cNvSpPr>
          <p:nvPr>
            <p:ph type="sldImg"/>
          </p:nvPr>
        </p:nvSpPr>
        <p:spPr>
          <a:xfrm>
            <a:off x="685800" y="1143000"/>
            <a:ext cx="5484960" cy="3084840"/>
          </a:xfrm>
          <a:prstGeom prst="rect">
            <a:avLst/>
          </a:prstGeom>
          <a:ln w="0">
            <a:noFill/>
          </a:ln>
        </p:spPr>
      </p:sp>
      <p:sp>
        <p:nvSpPr>
          <p:cNvPr id="73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40" name="PlaceHolder 3"/>
          <p:cNvSpPr>
            <a:spLocks noGrp="1"/>
          </p:cNvSpPr>
          <p:nvPr>
            <p:ph type="sldNum" idx="7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E18A23D-A01F-4894-B702-49B0A369177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1" name="PlaceHolder 1"/>
          <p:cNvSpPr>
            <a:spLocks noGrp="1"/>
          </p:cNvSpPr>
          <p:nvPr>
            <p:ph type="sldImg"/>
          </p:nvPr>
        </p:nvSpPr>
        <p:spPr>
          <a:xfrm>
            <a:off x="685800" y="1143000"/>
            <a:ext cx="5484960" cy="3084840"/>
          </a:xfrm>
          <a:prstGeom prst="rect">
            <a:avLst/>
          </a:prstGeom>
          <a:ln w="0">
            <a:noFill/>
          </a:ln>
        </p:spPr>
      </p:sp>
      <p:sp>
        <p:nvSpPr>
          <p:cNvPr id="74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si Soda et Great Expectations donnent des chiffres différents pour la même règle, expliquez pourquoi avant de conclure.</a:t>
            </a:r>
            <a:endParaRPr b="0" lang="fr-FR" sz="2000" spc="-1" strike="noStrike">
              <a:latin typeface="Arial"/>
            </a:endParaRPr>
          </a:p>
        </p:txBody>
      </p:sp>
      <p:sp>
        <p:nvSpPr>
          <p:cNvPr id="743" name="PlaceHolder 3"/>
          <p:cNvSpPr>
            <a:spLocks noGrp="1"/>
          </p:cNvSpPr>
          <p:nvPr>
            <p:ph type="sldNum" idx="7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2963E86-B2C8-4FD1-9509-9FC9B2BE3B0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4" name="PlaceHolder 1"/>
          <p:cNvSpPr>
            <a:spLocks noGrp="1"/>
          </p:cNvSpPr>
          <p:nvPr>
            <p:ph type="sldImg"/>
          </p:nvPr>
        </p:nvSpPr>
        <p:spPr>
          <a:xfrm>
            <a:off x="685800" y="1143000"/>
            <a:ext cx="5484960" cy="3084840"/>
          </a:xfrm>
          <a:prstGeom prst="rect">
            <a:avLst/>
          </a:prstGeom>
          <a:ln w="0">
            <a:noFill/>
          </a:ln>
        </p:spPr>
      </p:sp>
      <p:sp>
        <p:nvSpPr>
          <p:cNvPr id="74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taux élevé de lignes en échec sur une clé étrangère est un indice de valeur sentinelle avant d'être une anomalie.</a:t>
            </a:r>
            <a:endParaRPr b="0" lang="fr-FR" sz="2000" spc="-1" strike="noStrike">
              <a:latin typeface="Arial"/>
            </a:endParaRPr>
          </a:p>
        </p:txBody>
      </p:sp>
      <p:sp>
        <p:nvSpPr>
          <p:cNvPr id="746" name="PlaceHolder 3"/>
          <p:cNvSpPr>
            <a:spLocks noGrp="1"/>
          </p:cNvSpPr>
          <p:nvPr>
            <p:ph type="sldNum" idx="7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E649F40-8103-4642-B9B6-086E6DFEF2BE}"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PlaceHolder 1"/>
          <p:cNvSpPr>
            <a:spLocks noGrp="1"/>
          </p:cNvSpPr>
          <p:nvPr>
            <p:ph type="sldImg"/>
          </p:nvPr>
        </p:nvSpPr>
        <p:spPr>
          <a:xfrm>
            <a:off x="685800" y="1143000"/>
            <a:ext cx="5484960" cy="3084840"/>
          </a:xfrm>
          <a:prstGeom prst="rect">
            <a:avLst/>
          </a:prstGeom>
          <a:ln w="0">
            <a:noFill/>
          </a:ln>
        </p:spPr>
      </p:sp>
      <p:sp>
        <p:nvSpPr>
          <p:cNvPr id="74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règle de correction proposée sans rôle destinataire n'est pas une décision.</a:t>
            </a:r>
            <a:endParaRPr b="0" lang="fr-FR" sz="2000" spc="-1" strike="noStrike">
              <a:latin typeface="Arial"/>
            </a:endParaRPr>
          </a:p>
        </p:txBody>
      </p:sp>
      <p:sp>
        <p:nvSpPr>
          <p:cNvPr id="749" name="PlaceHolder 3"/>
          <p:cNvSpPr>
            <a:spLocks noGrp="1"/>
          </p:cNvSpPr>
          <p:nvPr>
            <p:ph type="sldNum" idx="7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16E7CA1-2683-4CE5-A3C5-EE82F55F725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PlaceHolder 1"/>
          <p:cNvSpPr>
            <a:spLocks noGrp="1"/>
          </p:cNvSpPr>
          <p:nvPr>
            <p:ph type="sldImg"/>
          </p:nvPr>
        </p:nvSpPr>
        <p:spPr>
          <a:xfrm>
            <a:off x="685800" y="1143000"/>
            <a:ext cx="5484960" cy="3084840"/>
          </a:xfrm>
          <a:prstGeom prst="rect">
            <a:avLst/>
          </a:prstGeom>
          <a:ln w="0">
            <a:noFill/>
          </a:ln>
        </p:spPr>
      </p:sp>
      <p:sp>
        <p:nvSpPr>
          <p:cNvPr id="75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52" name="PlaceHolder 3"/>
          <p:cNvSpPr>
            <a:spLocks noGrp="1"/>
          </p:cNvSpPr>
          <p:nvPr>
            <p:ph type="sldNum" idx="7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B6D624C-D99A-43FC-BA0B-3488377728DD}"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3" name="PlaceHolder 1"/>
          <p:cNvSpPr>
            <a:spLocks noGrp="1"/>
          </p:cNvSpPr>
          <p:nvPr>
            <p:ph type="sldImg"/>
          </p:nvPr>
        </p:nvSpPr>
        <p:spPr>
          <a:xfrm>
            <a:off x="685800" y="1143000"/>
            <a:ext cx="5484960" cy="3084840"/>
          </a:xfrm>
          <a:prstGeom prst="rect">
            <a:avLst/>
          </a:prstGeom>
          <a:ln w="0">
            <a:noFill/>
          </a:ln>
        </p:spPr>
      </p:sp>
      <p:sp>
        <p:nvSpPr>
          <p:cNvPr id="75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55" name="PlaceHolder 3"/>
          <p:cNvSpPr>
            <a:spLocks noGrp="1"/>
          </p:cNvSpPr>
          <p:nvPr>
            <p:ph type="sldNum" idx="7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643508C-91EC-4A57-A4E5-CA9A34B3F3FA}"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6" name="PlaceHolder 1"/>
          <p:cNvSpPr>
            <a:spLocks noGrp="1"/>
          </p:cNvSpPr>
          <p:nvPr>
            <p:ph type="sldImg"/>
          </p:nvPr>
        </p:nvSpPr>
        <p:spPr>
          <a:xfrm>
            <a:off x="685800" y="1143000"/>
            <a:ext cx="5484960" cy="3084840"/>
          </a:xfrm>
          <a:prstGeom prst="rect">
            <a:avLst/>
          </a:prstGeom>
          <a:ln w="0">
            <a:noFill/>
          </a:ln>
        </p:spPr>
      </p:sp>
      <p:sp>
        <p:nvSpPr>
          <p:cNvPr id="75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rien n'est supprimé en silence. Chaque ligne absente de silver est dans dq.rejets avec le code de sa règle.</a:t>
            </a:r>
            <a:endParaRPr b="0" lang="fr-FR" sz="2000" spc="-1" strike="noStrike">
              <a:latin typeface="Arial"/>
            </a:endParaRPr>
          </a:p>
        </p:txBody>
      </p:sp>
      <p:sp>
        <p:nvSpPr>
          <p:cNvPr id="758" name="PlaceHolder 3"/>
          <p:cNvSpPr>
            <a:spLocks noGrp="1"/>
          </p:cNvSpPr>
          <p:nvPr>
            <p:ph type="sldNum" idx="7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7E697E9-9B13-4409-9631-CB025FC89E89}"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9" name="PlaceHolder 1"/>
          <p:cNvSpPr>
            <a:spLocks noGrp="1"/>
          </p:cNvSpPr>
          <p:nvPr>
            <p:ph type="sldImg"/>
          </p:nvPr>
        </p:nvSpPr>
        <p:spPr>
          <a:xfrm>
            <a:off x="685800" y="1143000"/>
            <a:ext cx="5484960" cy="3084840"/>
          </a:xfrm>
          <a:prstGeom prst="rect">
            <a:avLst/>
          </a:prstGeom>
          <a:ln w="0">
            <a:noFill/>
          </a:ln>
        </p:spPr>
      </p:sp>
      <p:sp>
        <p:nvSpPr>
          <p:cNvPr id="76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une règle qui baisse de bronze à silver n'est pas forcément un bug. Cherchez d'abord un effet de la quarantaine (lignes devenues orphelines).</a:t>
            </a:r>
            <a:endParaRPr b="0" lang="fr-FR" sz="2000" spc="-1" strike="noStrike">
              <a:latin typeface="Arial"/>
            </a:endParaRPr>
          </a:p>
        </p:txBody>
      </p:sp>
      <p:sp>
        <p:nvSpPr>
          <p:cNvPr id="761" name="PlaceHolder 3"/>
          <p:cNvSpPr>
            <a:spLocks noGrp="1"/>
          </p:cNvSpPr>
          <p:nvPr>
            <p:ph type="sldNum" idx="7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2D857A6-AA98-45D6-89FE-C54C9B3B7E17}"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2" name="PlaceHolder 1"/>
          <p:cNvSpPr>
            <a:spLocks noGrp="1"/>
          </p:cNvSpPr>
          <p:nvPr>
            <p:ph type="sldImg"/>
          </p:nvPr>
        </p:nvSpPr>
        <p:spPr>
          <a:xfrm>
            <a:off x="685800" y="1143000"/>
            <a:ext cx="5484960" cy="3084840"/>
          </a:xfrm>
          <a:prstGeom prst="rect">
            <a:avLst/>
          </a:prstGeom>
          <a:ln w="0">
            <a:noFill/>
          </a:ln>
        </p:spPr>
      </p:sp>
      <p:sp>
        <p:nvSpPr>
          <p:cNvPr id="76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seuils se défendent par la précision et le rappel mesurés, pas par un ressenti. Reportez-les dans le journal des décisions.</a:t>
            </a:r>
            <a:endParaRPr b="0" lang="fr-FR" sz="2000" spc="-1" strike="noStrike">
              <a:latin typeface="Arial"/>
            </a:endParaRPr>
          </a:p>
        </p:txBody>
      </p:sp>
      <p:sp>
        <p:nvSpPr>
          <p:cNvPr id="764" name="PlaceHolder 3"/>
          <p:cNvSpPr>
            <a:spLocks noGrp="1"/>
          </p:cNvSpPr>
          <p:nvPr>
            <p:ph type="sldNum" idx="7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5248079-CD61-4B50-B3C0-765363A22767}"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5" name="PlaceHolder 1"/>
          <p:cNvSpPr>
            <a:spLocks noGrp="1"/>
          </p:cNvSpPr>
          <p:nvPr>
            <p:ph type="sldImg"/>
          </p:nvPr>
        </p:nvSpPr>
        <p:spPr>
          <a:xfrm>
            <a:off x="685800" y="1143000"/>
            <a:ext cx="5484960" cy="3084840"/>
          </a:xfrm>
          <a:prstGeom prst="rect">
            <a:avLst/>
          </a:prstGeom>
          <a:ln w="0">
            <a:noFill/>
          </a:ln>
        </p:spPr>
      </p:sp>
      <p:sp>
        <p:nvSpPr>
          <p:cNvPr id="76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règle de survie est une décision de gouvernance, pas un détail technique.</a:t>
            </a:r>
            <a:endParaRPr b="0" lang="fr-FR" sz="2000" spc="-1" strike="noStrike">
              <a:latin typeface="Arial"/>
            </a:endParaRPr>
          </a:p>
        </p:txBody>
      </p:sp>
      <p:sp>
        <p:nvSpPr>
          <p:cNvPr id="767" name="PlaceHolder 3"/>
          <p:cNvSpPr>
            <a:spLocks noGrp="1"/>
          </p:cNvSpPr>
          <p:nvPr>
            <p:ph type="sldNum" idx="7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4C5EC17-01F8-4503-8091-EE74A5CEE60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8" name="PlaceHolder 1"/>
          <p:cNvSpPr>
            <a:spLocks noGrp="1"/>
          </p:cNvSpPr>
          <p:nvPr>
            <p:ph type="sldImg"/>
          </p:nvPr>
        </p:nvSpPr>
        <p:spPr>
          <a:xfrm>
            <a:off x="685800" y="1143000"/>
            <a:ext cx="5484960" cy="3084840"/>
          </a:xfrm>
          <a:prstGeom prst="rect">
            <a:avLst/>
          </a:prstGeom>
          <a:ln w="0">
            <a:noFill/>
          </a:ln>
        </p:spPr>
      </p:sp>
      <p:sp>
        <p:nvSpPr>
          <p:cNvPr id="76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constat expliqué (un contrat orphelin parce que son client a été mis en quarantaine) est un résultat, pas une erreur.</a:t>
            </a:r>
            <a:endParaRPr b="0" lang="fr-FR" sz="2000" spc="-1" strike="noStrike">
              <a:latin typeface="Arial"/>
            </a:endParaRPr>
          </a:p>
        </p:txBody>
      </p:sp>
      <p:sp>
        <p:nvSpPr>
          <p:cNvPr id="770" name="PlaceHolder 3"/>
          <p:cNvSpPr>
            <a:spLocks noGrp="1"/>
          </p:cNvSpPr>
          <p:nvPr>
            <p:ph type="sldNum" idx="8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4EB170F-E400-41FA-8C14-D762375512C1}"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1" name="PlaceHolder 1"/>
          <p:cNvSpPr>
            <a:spLocks noGrp="1"/>
          </p:cNvSpPr>
          <p:nvPr>
            <p:ph type="sldImg"/>
          </p:nvPr>
        </p:nvSpPr>
        <p:spPr>
          <a:xfrm>
            <a:off x="685800" y="1143000"/>
            <a:ext cx="5484960" cy="3084840"/>
          </a:xfrm>
          <a:prstGeom prst="rect">
            <a:avLst/>
          </a:prstGeom>
          <a:ln w="0">
            <a:noFill/>
          </a:ln>
        </p:spPr>
      </p:sp>
      <p:sp>
        <p:nvSpPr>
          <p:cNvPr id="77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trois lignes par cas suffisent : gold, silver, bronze, source. Un identifiant de lot est obligatoire.</a:t>
            </a:r>
            <a:endParaRPr b="0" lang="fr-FR" sz="2000" spc="-1" strike="noStrike">
              <a:latin typeface="Arial"/>
            </a:endParaRPr>
          </a:p>
        </p:txBody>
      </p:sp>
      <p:sp>
        <p:nvSpPr>
          <p:cNvPr id="773" name="PlaceHolder 3"/>
          <p:cNvSpPr>
            <a:spLocks noGrp="1"/>
          </p:cNvSpPr>
          <p:nvPr>
            <p:ph type="sldNum" idx="8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49C8AAF5-D77F-4D31-871D-CFF6322237F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4" name="PlaceHolder 1"/>
          <p:cNvSpPr>
            <a:spLocks noGrp="1"/>
          </p:cNvSpPr>
          <p:nvPr>
            <p:ph type="sldImg"/>
          </p:nvPr>
        </p:nvSpPr>
        <p:spPr>
          <a:xfrm>
            <a:off x="685800" y="1143000"/>
            <a:ext cx="5484960" cy="3084840"/>
          </a:xfrm>
          <a:prstGeom prst="rect">
            <a:avLst/>
          </a:prstGeom>
          <a:ln w="0">
            <a:noFill/>
          </a:ln>
        </p:spPr>
      </p:sp>
      <p:sp>
        <p:nvSpPr>
          <p:cNvPr id="77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76" name="PlaceHolder 3"/>
          <p:cNvSpPr>
            <a:spLocks noGrp="1"/>
          </p:cNvSpPr>
          <p:nvPr>
            <p:ph type="sldNum" idx="8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3B256658-63E3-4F7B-B9AB-A2FD0F701A62}"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7" name="PlaceHolder 1"/>
          <p:cNvSpPr>
            <a:spLocks noGrp="1"/>
          </p:cNvSpPr>
          <p:nvPr>
            <p:ph type="sldImg"/>
          </p:nvPr>
        </p:nvSpPr>
        <p:spPr>
          <a:xfrm>
            <a:off x="685800" y="1143000"/>
            <a:ext cx="5484960" cy="3084840"/>
          </a:xfrm>
          <a:prstGeom prst="rect">
            <a:avLst/>
          </a:prstGeom>
          <a:ln w="0">
            <a:noFill/>
          </a:ln>
        </p:spPr>
      </p:sp>
      <p:sp>
        <p:nvSpPr>
          <p:cNvPr id="77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79" name="PlaceHolder 3"/>
          <p:cNvSpPr>
            <a:spLocks noGrp="1"/>
          </p:cNvSpPr>
          <p:nvPr>
            <p:ph type="sldNum" idx="8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B571045-7B6E-4290-B5E1-62BDEDB818A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0" name="PlaceHolder 1"/>
          <p:cNvSpPr>
            <a:spLocks noGrp="1"/>
          </p:cNvSpPr>
          <p:nvPr>
            <p:ph type="sldImg"/>
          </p:nvPr>
        </p:nvSpPr>
        <p:spPr>
          <a:xfrm>
            <a:off x="685800" y="1143000"/>
            <a:ext cx="5484960" cy="3084840"/>
          </a:xfrm>
          <a:prstGeom prst="rect">
            <a:avLst/>
          </a:prstGeom>
          <a:ln w="0">
            <a:noFill/>
          </a:ln>
        </p:spPr>
      </p:sp>
      <p:sp>
        <p:nvSpPr>
          <p:cNvPr id="78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insérez l'image des courbes dans la zone. Une courbe sans légende ni axe nommé n'est pas lisible par un non-technicien.</a:t>
            </a:r>
            <a:endParaRPr b="0" lang="fr-FR" sz="2000" spc="-1" strike="noStrike">
              <a:latin typeface="Arial"/>
            </a:endParaRPr>
          </a:p>
        </p:txBody>
      </p:sp>
      <p:sp>
        <p:nvSpPr>
          <p:cNvPr id="782" name="PlaceHolder 3"/>
          <p:cNvSpPr>
            <a:spLocks noGrp="1"/>
          </p:cNvSpPr>
          <p:nvPr>
            <p:ph type="sldNum" idx="8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E430FC4-DECB-4ECC-9E6A-03677884470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3" name="PlaceHolder 1"/>
          <p:cNvSpPr>
            <a:spLocks noGrp="1"/>
          </p:cNvSpPr>
          <p:nvPr>
            <p:ph type="sldImg"/>
          </p:nvPr>
        </p:nvSpPr>
        <p:spPr>
          <a:xfrm>
            <a:off x="685800" y="1143000"/>
            <a:ext cx="5484960" cy="3084840"/>
          </a:xfrm>
          <a:prstGeom prst="rect">
            <a:avLst/>
          </a:prstGeom>
          <a:ln w="0">
            <a:noFill/>
          </a:ln>
        </p:spPr>
      </p:sp>
      <p:sp>
        <p:nvSpPr>
          <p:cNvPr id="78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certificat qui ne mentionne pas ce qu'il ne couvre pas est trompeur. Listez les règles non mesurées.</a:t>
            </a:r>
            <a:endParaRPr b="0" lang="fr-FR" sz="2000" spc="-1" strike="noStrike">
              <a:latin typeface="Arial"/>
            </a:endParaRPr>
          </a:p>
        </p:txBody>
      </p:sp>
      <p:sp>
        <p:nvSpPr>
          <p:cNvPr id="785" name="PlaceHolder 3"/>
          <p:cNvSpPr>
            <a:spLocks noGrp="1"/>
          </p:cNvSpPr>
          <p:nvPr>
            <p:ph type="sldNum" idx="8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7513128-8F18-4A24-8C2C-94EBABA4143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6" name="PlaceHolder 1"/>
          <p:cNvSpPr>
            <a:spLocks noGrp="1"/>
          </p:cNvSpPr>
          <p:nvPr>
            <p:ph type="sldImg"/>
          </p:nvPr>
        </p:nvSpPr>
        <p:spPr>
          <a:xfrm>
            <a:off x="685800" y="1143000"/>
            <a:ext cx="5484960" cy="3084840"/>
          </a:xfrm>
          <a:prstGeom prst="rect">
            <a:avLst/>
          </a:prstGeom>
          <a:ln w="0">
            <a:noFill/>
          </a:ln>
        </p:spPr>
      </p:sp>
      <p:sp>
        <p:nvSpPr>
          <p:cNvPr id="78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preuve d'un refus est le message du script, pas une capture du code.</a:t>
            </a:r>
            <a:endParaRPr b="0" lang="fr-FR" sz="2000" spc="-1" strike="noStrike">
              <a:latin typeface="Arial"/>
            </a:endParaRPr>
          </a:p>
        </p:txBody>
      </p:sp>
      <p:sp>
        <p:nvSpPr>
          <p:cNvPr id="788" name="PlaceHolder 3"/>
          <p:cNvSpPr>
            <a:spLocks noGrp="1"/>
          </p:cNvSpPr>
          <p:nvPr>
            <p:ph type="sldNum" idx="8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FBE4420-983E-487F-A90F-C70B35727B90}"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PlaceHolder 1"/>
          <p:cNvSpPr>
            <a:spLocks noGrp="1"/>
          </p:cNvSpPr>
          <p:nvPr>
            <p:ph type="sldImg"/>
          </p:nvPr>
        </p:nvSpPr>
        <p:spPr>
          <a:xfrm>
            <a:off x="685800" y="1143000"/>
            <a:ext cx="5484960" cy="3084840"/>
          </a:xfrm>
          <a:prstGeom prst="rect">
            <a:avLst/>
          </a:prstGeom>
          <a:ln w="0">
            <a:noFill/>
          </a:ln>
        </p:spPr>
      </p:sp>
      <p:sp>
        <p:nvSpPr>
          <p:cNvPr id="79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lineage lisible va des sources à la table gold sans saut.</a:t>
            </a:r>
            <a:endParaRPr b="0" lang="fr-FR" sz="2000" spc="-1" strike="noStrike">
              <a:latin typeface="Arial"/>
            </a:endParaRPr>
          </a:p>
        </p:txBody>
      </p:sp>
      <p:sp>
        <p:nvSpPr>
          <p:cNvPr id="791" name="PlaceHolder 3"/>
          <p:cNvSpPr>
            <a:spLocks noGrp="1"/>
          </p:cNvSpPr>
          <p:nvPr>
            <p:ph type="sldNum" idx="8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571A5D6-F6D3-42F4-8007-B29B3CBFA09C}"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2" name="PlaceHolder 1"/>
          <p:cNvSpPr>
            <a:spLocks noGrp="1"/>
          </p:cNvSpPr>
          <p:nvPr>
            <p:ph type="sldImg"/>
          </p:nvPr>
        </p:nvSpPr>
        <p:spPr>
          <a:xfrm>
            <a:off x="685800" y="1143000"/>
            <a:ext cx="5484960" cy="3084840"/>
          </a:xfrm>
          <a:prstGeom prst="rect">
            <a:avLst/>
          </a:prstGeom>
          <a:ln w="0">
            <a:noFill/>
          </a:ln>
        </p:spPr>
      </p:sp>
      <p:sp>
        <p:nvSpPr>
          <p:cNvPr id="79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cochez uniquement ce que vous pouvez montrer. Une case non cochée et expliquée vaut mieux qu'une case cochée sans preuve.</a:t>
            </a:r>
            <a:endParaRPr b="0" lang="fr-FR" sz="2000" spc="-1" strike="noStrike">
              <a:latin typeface="Arial"/>
            </a:endParaRPr>
          </a:p>
        </p:txBody>
      </p:sp>
      <p:sp>
        <p:nvSpPr>
          <p:cNvPr id="794" name="PlaceHolder 3"/>
          <p:cNvSpPr>
            <a:spLocks noGrp="1"/>
          </p:cNvSpPr>
          <p:nvPr>
            <p:ph type="sldNum" idx="8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DD474072-A2CA-4640-819F-62EBB2E38E95}"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5" name="PlaceHolder 1"/>
          <p:cNvSpPr>
            <a:spLocks noGrp="1"/>
          </p:cNvSpPr>
          <p:nvPr>
            <p:ph type="sldImg"/>
          </p:nvPr>
        </p:nvSpPr>
        <p:spPr>
          <a:xfrm>
            <a:off x="685800" y="1143000"/>
            <a:ext cx="5484960" cy="3084840"/>
          </a:xfrm>
          <a:prstGeom prst="rect">
            <a:avLst/>
          </a:prstGeom>
          <a:ln w="0">
            <a:noFill/>
          </a:ln>
        </p:spPr>
      </p:sp>
      <p:sp>
        <p:nvSpPr>
          <p:cNvPr id="796"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797" name="PlaceHolder 3"/>
          <p:cNvSpPr>
            <a:spLocks noGrp="1"/>
          </p:cNvSpPr>
          <p:nvPr>
            <p:ph type="sldNum" idx="89"/>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93BD3D3-01FE-44E4-B3AC-7953C10CD72F}"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8" name="PlaceHolder 1"/>
          <p:cNvSpPr>
            <a:spLocks noGrp="1"/>
          </p:cNvSpPr>
          <p:nvPr>
            <p:ph type="sldImg"/>
          </p:nvPr>
        </p:nvSpPr>
        <p:spPr>
          <a:xfrm>
            <a:off x="685800" y="1143000"/>
            <a:ext cx="5484960" cy="3084840"/>
          </a:xfrm>
          <a:prstGeom prst="rect">
            <a:avLst/>
          </a:prstGeom>
          <a:ln w="0">
            <a:noFill/>
          </a:ln>
        </p:spPr>
      </p:sp>
      <p:sp>
        <p:nvSpPr>
          <p:cNvPr id="799"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ne présentez pas un GO que le certificat contredit. Un NO-GO bien argumenté vaut un GO bien argumenté.</a:t>
            </a:r>
            <a:endParaRPr b="0" lang="fr-FR" sz="2000" spc="-1" strike="noStrike">
              <a:latin typeface="Arial"/>
            </a:endParaRPr>
          </a:p>
        </p:txBody>
      </p:sp>
      <p:sp>
        <p:nvSpPr>
          <p:cNvPr id="800" name="PlaceHolder 3"/>
          <p:cNvSpPr>
            <a:spLocks noGrp="1"/>
          </p:cNvSpPr>
          <p:nvPr>
            <p:ph type="sldNum" idx="90"/>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A371A4B-DB19-459F-9863-E3CB2F1B962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1" name="PlaceHolder 1"/>
          <p:cNvSpPr>
            <a:spLocks noGrp="1"/>
          </p:cNvSpPr>
          <p:nvPr>
            <p:ph type="sldImg"/>
          </p:nvPr>
        </p:nvSpPr>
        <p:spPr>
          <a:xfrm>
            <a:off x="685800" y="1143000"/>
            <a:ext cx="5484960" cy="3084840"/>
          </a:xfrm>
          <a:prstGeom prst="rect">
            <a:avLst/>
          </a:prstGeom>
          <a:ln w="0">
            <a:noFill/>
          </a:ln>
        </p:spPr>
      </p:sp>
      <p:sp>
        <p:nvSpPr>
          <p:cNvPr id="802"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les chiffres de cette page sont ceux de S5, sans retouche.</a:t>
            </a:r>
            <a:endParaRPr b="0" lang="fr-FR" sz="2000" spc="-1" strike="noStrike">
              <a:latin typeface="Arial"/>
            </a:endParaRPr>
          </a:p>
        </p:txBody>
      </p:sp>
      <p:sp>
        <p:nvSpPr>
          <p:cNvPr id="803" name="PlaceHolder 3"/>
          <p:cNvSpPr>
            <a:spLocks noGrp="1"/>
          </p:cNvSpPr>
          <p:nvPr>
            <p:ph type="sldNum" idx="91"/>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DC67FE7-8702-49E1-8D13-65FDA326894E}"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4" name="PlaceHolder 1"/>
          <p:cNvSpPr>
            <a:spLocks noGrp="1"/>
          </p:cNvSpPr>
          <p:nvPr>
            <p:ph type="sldImg"/>
          </p:nvPr>
        </p:nvSpPr>
        <p:spPr>
          <a:xfrm>
            <a:off x="685800" y="1143000"/>
            <a:ext cx="5484960" cy="3084840"/>
          </a:xfrm>
          <a:prstGeom prst="rect">
            <a:avLst/>
          </a:prstGeom>
          <a:ln w="0">
            <a:noFill/>
          </a:ln>
        </p:spPr>
      </p:sp>
      <p:sp>
        <p:nvSpPr>
          <p:cNvPr id="805"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un écart non chiffré n'est pas un écart, c'est une impression.</a:t>
            </a:r>
            <a:endParaRPr b="0" lang="fr-FR" sz="2000" spc="-1" strike="noStrike">
              <a:latin typeface="Arial"/>
            </a:endParaRPr>
          </a:p>
        </p:txBody>
      </p:sp>
      <p:sp>
        <p:nvSpPr>
          <p:cNvPr id="806" name="PlaceHolder 3"/>
          <p:cNvSpPr>
            <a:spLocks noGrp="1"/>
          </p:cNvSpPr>
          <p:nvPr>
            <p:ph type="sldNum" idx="92"/>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9C04217-DF96-4D51-B141-4AB816F63528}"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7" name="PlaceHolder 1"/>
          <p:cNvSpPr>
            <a:spLocks noGrp="1"/>
          </p:cNvSpPr>
          <p:nvPr>
            <p:ph type="sldImg"/>
          </p:nvPr>
        </p:nvSpPr>
        <p:spPr>
          <a:xfrm>
            <a:off x="685800" y="1143000"/>
            <a:ext cx="5484960" cy="3084840"/>
          </a:xfrm>
          <a:prstGeom prst="rect">
            <a:avLst/>
          </a:prstGeom>
          <a:ln w="0">
            <a:noFill/>
          </a:ln>
        </p:spPr>
      </p:sp>
      <p:sp>
        <p:nvSpPr>
          <p:cNvPr id="808"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Consigne : la décision est attribuée à un rôle, pas au groupe.</a:t>
            </a:r>
            <a:endParaRPr b="0" lang="fr-FR" sz="2000" spc="-1" strike="noStrike">
              <a:latin typeface="Arial"/>
            </a:endParaRPr>
          </a:p>
        </p:txBody>
      </p:sp>
      <p:sp>
        <p:nvSpPr>
          <p:cNvPr id="809" name="PlaceHolder 3"/>
          <p:cNvSpPr>
            <a:spLocks noGrp="1"/>
          </p:cNvSpPr>
          <p:nvPr>
            <p:ph type="sldNum" idx="93"/>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C80D83B-A06A-45FC-99EF-1314AAFABC54}"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0" name="PlaceHolder 1"/>
          <p:cNvSpPr>
            <a:spLocks noGrp="1"/>
          </p:cNvSpPr>
          <p:nvPr>
            <p:ph type="sldImg"/>
          </p:nvPr>
        </p:nvSpPr>
        <p:spPr>
          <a:xfrm>
            <a:off x="685800" y="1143000"/>
            <a:ext cx="5484960" cy="3084840"/>
          </a:xfrm>
          <a:prstGeom prst="rect">
            <a:avLst/>
          </a:prstGeom>
          <a:ln w="0">
            <a:noFill/>
          </a:ln>
        </p:spPr>
      </p:sp>
      <p:sp>
        <p:nvSpPr>
          <p:cNvPr id="811"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endParaRPr b="0" lang="fr-FR" sz="2000" spc="-1" strike="noStrike">
              <a:latin typeface="Arial"/>
            </a:endParaRPr>
          </a:p>
        </p:txBody>
      </p:sp>
      <p:sp>
        <p:nvSpPr>
          <p:cNvPr id="812" name="PlaceHolder 3"/>
          <p:cNvSpPr>
            <a:spLocks noGrp="1"/>
          </p:cNvSpPr>
          <p:nvPr>
            <p:ph type="sldNum" idx="94"/>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32F4400-0C76-4D61-8ABF-47FA3DED0F2B}"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3" name="PlaceHolder 1"/>
          <p:cNvSpPr>
            <a:spLocks noGrp="1"/>
          </p:cNvSpPr>
          <p:nvPr>
            <p:ph type="sldImg"/>
          </p:nvPr>
        </p:nvSpPr>
        <p:spPr>
          <a:xfrm>
            <a:off x="685800" y="1143000"/>
            <a:ext cx="5484960" cy="3084840"/>
          </a:xfrm>
          <a:prstGeom prst="rect">
            <a:avLst/>
          </a:prstGeom>
          <a:ln w="0">
            <a:noFill/>
          </a:ln>
        </p:spPr>
      </p:sp>
      <p:sp>
        <p:nvSpPr>
          <p:cNvPr id="814"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Ce journal doit être identique à celui du dépôt (livrables/JOURNAL_DECISIONS.md).</a:t>
            </a:r>
            <a:endParaRPr b="0" lang="fr-FR" sz="2000" spc="-1" strike="noStrike">
              <a:latin typeface="Arial"/>
            </a:endParaRPr>
          </a:p>
        </p:txBody>
      </p:sp>
      <p:sp>
        <p:nvSpPr>
          <p:cNvPr id="815" name="PlaceHolder 3"/>
          <p:cNvSpPr>
            <a:spLocks noGrp="1"/>
          </p:cNvSpPr>
          <p:nvPr>
            <p:ph type="sldNum" idx="95"/>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6B8570B7-CC54-49D8-A62E-7C81E11E9F69}"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6" name="PlaceHolder 1"/>
          <p:cNvSpPr>
            <a:spLocks noGrp="1"/>
          </p:cNvSpPr>
          <p:nvPr>
            <p:ph type="sldImg"/>
          </p:nvPr>
        </p:nvSpPr>
        <p:spPr>
          <a:xfrm>
            <a:off x="685800" y="1143000"/>
            <a:ext cx="5484960" cy="3084840"/>
          </a:xfrm>
          <a:prstGeom prst="rect">
            <a:avLst/>
          </a:prstGeom>
          <a:ln w="0">
            <a:noFill/>
          </a:ln>
        </p:spPr>
      </p:sp>
      <p:sp>
        <p:nvSpPr>
          <p:cNvPr id="817"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Reprenez les totaux de AVANCEMENT.md.</a:t>
            </a:r>
            <a:endParaRPr b="0" lang="fr-FR" sz="2000" spc="-1" strike="noStrike">
              <a:latin typeface="Arial"/>
            </a:endParaRPr>
          </a:p>
        </p:txBody>
      </p:sp>
      <p:sp>
        <p:nvSpPr>
          <p:cNvPr id="818" name="PlaceHolder 3"/>
          <p:cNvSpPr>
            <a:spLocks noGrp="1"/>
          </p:cNvSpPr>
          <p:nvPr>
            <p:ph type="sldNum" idx="96"/>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7D5BE71-A70B-4DEF-9836-D1690363F0D6}"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4960" cy="3084840"/>
          </a:xfrm>
          <a:prstGeom prst="rect">
            <a:avLst/>
          </a:prstGeom>
          <a:ln w="0">
            <a:noFill/>
          </a:ln>
        </p:spPr>
      </p:sp>
      <p:sp>
        <p:nvSpPr>
          <p:cNvPr id="820"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Les étiquettes fixent l'état rendu à la fin de chaque séance.</a:t>
            </a:r>
            <a:endParaRPr b="0" lang="fr-FR" sz="2000" spc="-1" strike="noStrike">
              <a:latin typeface="Arial"/>
            </a:endParaRPr>
          </a:p>
        </p:txBody>
      </p:sp>
      <p:sp>
        <p:nvSpPr>
          <p:cNvPr id="821" name="PlaceHolder 3"/>
          <p:cNvSpPr>
            <a:spLocks noGrp="1"/>
          </p:cNvSpPr>
          <p:nvPr>
            <p:ph type="sldNum" idx="97"/>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A71055E-04D2-4387-90E9-8E96ECAA92CB}" type="slidenum">
              <a:rPr b="0" lang="en-US" sz="1200" spc="-1" strike="noStrike">
                <a:latin typeface="Times New Roman"/>
              </a:rPr>
              <a:t>&lt;numéro&gt;</a:t>
            </a:fld>
            <a:endParaRPr b="0" lang="fr-FR" sz="1200" spc="-1" strike="noStrike">
              <a:latin typeface="Times New Roman"/>
            </a:endParaRPr>
          </a:p>
        </p:txBody>
      </p:sp>
    </p:spTree>
  </p:cSld>
</p:notes>
</file>

<file path=ppt/notesSlides/notesSlide4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4960" cy="3084840"/>
          </a:xfrm>
          <a:prstGeom prst="rect">
            <a:avLst/>
          </a:prstGeom>
          <a:ln w="0">
            <a:noFill/>
          </a:ln>
        </p:spPr>
      </p:sp>
      <p:sp>
        <p:nvSpPr>
          <p:cNvPr id="823" name="PlaceHolder 2"/>
          <p:cNvSpPr>
            <a:spLocks noGrp="1"/>
          </p:cNvSpPr>
          <p:nvPr>
            <p:ph type="body"/>
          </p:nvPr>
        </p:nvSpPr>
        <p:spPr>
          <a:xfrm>
            <a:off x="685800" y="4400640"/>
            <a:ext cx="5484960" cy="3598920"/>
          </a:xfrm>
          <a:prstGeom prst="rect">
            <a:avLst/>
          </a:prstGeom>
          <a:noFill/>
          <a:ln w="0">
            <a:noFill/>
          </a:ln>
        </p:spPr>
        <p:txBody>
          <a:bodyPr lIns="0" rIns="0" tIns="0" bIns="0" anchor="t">
            <a:noAutofit/>
          </a:bodyPr>
          <a:p>
            <a:pPr marL="216000" indent="-216000">
              <a:lnSpc>
                <a:spcPct val="100000"/>
              </a:lnSpc>
              <a:buNone/>
              <a:tabLst>
                <a:tab algn="l" pos="0"/>
              </a:tabLst>
            </a:pPr>
            <a:r>
              <a:rPr b="0" lang="fr-FR" sz="2000" spc="-1" strike="noStrike">
                <a:latin typeface="Arial"/>
              </a:rPr>
              <a:t>Cochez en remplaçant [ ] par [x].</a:t>
            </a:r>
            <a:endParaRPr b="0" lang="fr-FR" sz="2000" spc="-1" strike="noStrike">
              <a:latin typeface="Arial"/>
            </a:endParaRPr>
          </a:p>
        </p:txBody>
      </p:sp>
      <p:sp>
        <p:nvSpPr>
          <p:cNvPr id="824" name="PlaceHolder 3"/>
          <p:cNvSpPr>
            <a:spLocks noGrp="1"/>
          </p:cNvSpPr>
          <p:nvPr>
            <p:ph type="sldNum" idx="98"/>
          </p:nvPr>
        </p:nvSpPr>
        <p:spPr>
          <a:xfrm>
            <a:off x="3884760" y="8685360"/>
            <a:ext cx="2970360" cy="45720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A3C101A-5ED9-4FE4-89CB-43D30893B4C7}" type="slidenum">
              <a:rPr b="0" lang="en-US" sz="1200" spc="-1" strike="noStrike">
                <a:latin typeface="Times New Roman"/>
              </a:rPr>
              <a:t>&lt;numéro&gt;</a:t>
            </a:fld>
            <a:endParaRPr b="0" lang="fr-FR"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7"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20"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1"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3"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5"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27"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28"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2"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3"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5"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6"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7"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8"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39"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40"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1CBF1E72-795B-4439-9548-0FF5E34F3D6F}"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4" name="PlaceHolder 3"/>
          <p:cNvSpPr>
            <a:spLocks noGrp="1"/>
          </p:cNvSpPr>
          <p:nvPr>
            <p:ph type="sldNum" idx="1"/>
          </p:nvPr>
        </p:nvSpPr>
        <p:spPr/>
        <p:txBody>
          <a:bodyPr/>
          <a:p>
            <a:fld id="{B7D8963D-07B0-4D18-8E5E-45AE2FA66DD8}"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4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
        <p:nvSpPr>
          <p:cNvPr id="4" name="PlaceHolder 3"/>
          <p:cNvSpPr>
            <a:spLocks noGrp="1"/>
          </p:cNvSpPr>
          <p:nvPr>
            <p:ph type="sldNum" idx="1"/>
          </p:nvPr>
        </p:nvSpPr>
        <p:spPr/>
        <p:txBody>
          <a:bodyPr/>
          <a:p>
            <a:fld id="{5CF2658F-27E9-4BE1-9AAD-51F502FEF427}" type="slidenum">
              <a:t>&lt;#&gt;</a:t>
            </a:fld>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1"/>
          </p:nvPr>
        </p:nvSpPr>
        <p:spPr/>
        <p:txBody>
          <a:bodyPr/>
          <a:p>
            <a:fld id="{0DDCF82A-B485-4F5C-918B-9B4132D30B92}" type="slidenum">
              <a:t>&lt;#&gt;</a:t>
            </a:fld>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 name="PlaceHolder 2"/>
          <p:cNvSpPr>
            <a:spLocks noGrp="1"/>
          </p:cNvSpPr>
          <p:nvPr>
            <p:ph type="sldNum" idx="1"/>
          </p:nvPr>
        </p:nvSpPr>
        <p:spPr/>
        <p:txBody>
          <a:bodyPr/>
          <a:p>
            <a:fld id="{194CB4F7-D789-4DD5-AAD0-1CDC7BB6EA88}" type="slidenum">
              <a:t>&lt;#&gt;</a:t>
            </a:fld>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3" name="PlaceHolder 2"/>
          <p:cNvSpPr>
            <a:spLocks noGrp="1"/>
          </p:cNvSpPr>
          <p:nvPr>
            <p:ph type="sldNum" idx="1"/>
          </p:nvPr>
        </p:nvSpPr>
        <p:spPr/>
        <p:txBody>
          <a:bodyPr/>
          <a:p>
            <a:fld id="{835D79D8-C567-42CA-BF1E-1E3EA68282BA}" type="slidenum">
              <a:t>&lt;#&gt;</a:t>
            </a:fld>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5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1B4B4216-9BD4-49B0-BE8D-1A569475C777}" type="slidenum">
              <a:t>&lt;#&gt;</a:t>
            </a:fld>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6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E67A32E4-464F-4D91-8FA5-D917EBF47ADF}" type="slidenum">
              <a:t>&lt;#&gt;</a:t>
            </a:fld>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1"/>
          </p:nvPr>
        </p:nvSpPr>
        <p:spPr/>
        <p:txBody>
          <a:bodyPr/>
          <a:p>
            <a:fld id="{E37D77A2-C8F4-42F2-86A5-7017E239C171}" type="slidenum">
              <a:t>&lt;#&gt;</a:t>
            </a:fld>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6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1"/>
          </p:nvPr>
        </p:nvSpPr>
        <p:spPr/>
        <p:txBody>
          <a:bodyPr/>
          <a:p>
            <a:fld id="{E4C1324F-15D8-42BB-8360-081072C78809}" type="slidenum">
              <a:t>&lt;#&gt;</a:t>
            </a:fld>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 name="PlaceHolder 6"/>
          <p:cNvSpPr>
            <a:spLocks noGrp="1"/>
          </p:cNvSpPr>
          <p:nvPr>
            <p:ph type="sldNum" idx="1"/>
          </p:nvPr>
        </p:nvSpPr>
        <p:spPr/>
        <p:txBody>
          <a:bodyPr/>
          <a:p>
            <a:fld id="{721F6CF5-3585-46E0-A020-F74FD7B7AEF0}" type="slidenum">
              <a:t>&lt;#&gt;</a:t>
            </a:fld>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7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8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8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9" name="PlaceHolder 8"/>
          <p:cNvSpPr>
            <a:spLocks noGrp="1"/>
          </p:cNvSpPr>
          <p:nvPr>
            <p:ph type="sldNum" idx="1"/>
          </p:nvPr>
        </p:nvSpPr>
        <p:spPr/>
        <p:txBody>
          <a:bodyPr/>
          <a:p>
            <a:fld id="{1AB1F6B2-1C17-436F-BC60-60AE1146E83D}" type="slidenum">
              <a:t>&lt;#&gt;</a:t>
            </a:fld>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6071EE6F-A6D7-433B-9916-6D96BA84AEC7}" type="slidenum">
              <a:t>&lt;#&gt;</a:t>
            </a:fld>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0"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4" name="PlaceHolder 3"/>
          <p:cNvSpPr>
            <a:spLocks noGrp="1"/>
          </p:cNvSpPr>
          <p:nvPr>
            <p:ph type="sldNum" idx="2"/>
          </p:nvPr>
        </p:nvSpPr>
        <p:spPr/>
        <p:txBody>
          <a:bodyPr/>
          <a:p>
            <a:fld id="{ED2CFCCC-D7A2-43FF-BC75-979A125A1DC5}" type="slidenum">
              <a:t>&lt;#&gt;</a:t>
            </a:fld>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2"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fr-FR" sz="3200" spc="-1" strike="noStrike">
              <a:latin typeface="Arial"/>
            </a:endParaRPr>
          </a:p>
        </p:txBody>
      </p:sp>
      <p:sp>
        <p:nvSpPr>
          <p:cNvPr id="4" name="PlaceHolder 3"/>
          <p:cNvSpPr>
            <a:spLocks noGrp="1"/>
          </p:cNvSpPr>
          <p:nvPr>
            <p:ph type="sldNum" idx="2"/>
          </p:nvPr>
        </p:nvSpPr>
        <p:spPr/>
        <p:txBody>
          <a:bodyPr/>
          <a:p>
            <a:fld id="{6989818F-85AE-4DD3-A419-85A0A4B89C0F}" type="slidenum">
              <a:t>&lt;#&gt;</a:t>
            </a:fld>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4"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95"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2"/>
          </p:nvPr>
        </p:nvSpPr>
        <p:spPr/>
        <p:txBody>
          <a:bodyPr/>
          <a:p>
            <a:fld id="{81F18CCB-67A2-4A03-8FB4-FCC8CB5026BE}" type="slidenum">
              <a:t>&lt;#&gt;</a:t>
            </a:fld>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3" name="PlaceHolder 2"/>
          <p:cNvSpPr>
            <a:spLocks noGrp="1"/>
          </p:cNvSpPr>
          <p:nvPr>
            <p:ph type="sldNum" idx="2"/>
          </p:nvPr>
        </p:nvSpPr>
        <p:spPr/>
        <p:txBody>
          <a:bodyPr/>
          <a:p>
            <a:fld id="{FF908C0E-A2FE-4CA1-8991-0821D8F83C73}" type="slidenum">
              <a:t>&lt;#&gt;</a:t>
            </a:fld>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7"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fr-FR" sz="3200" spc="-1" strike="noStrike">
              <a:latin typeface="Arial"/>
            </a:endParaRPr>
          </a:p>
        </p:txBody>
      </p:sp>
      <p:sp>
        <p:nvSpPr>
          <p:cNvPr id="3" name="PlaceHolder 2"/>
          <p:cNvSpPr>
            <a:spLocks noGrp="1"/>
          </p:cNvSpPr>
          <p:nvPr>
            <p:ph type="sldNum" idx="2"/>
          </p:nvPr>
        </p:nvSpPr>
        <p:spPr/>
        <p:txBody>
          <a:bodyPr/>
          <a:p>
            <a:fld id="{06FD0382-0173-47CE-B86B-4511643FB446}" type="slidenum">
              <a:t>&lt;#&gt;</a:t>
            </a:fld>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99"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01"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2B2D99CF-7D66-4A92-AEFD-C3668E6024CF}" type="slidenum">
              <a:t>&lt;#&gt;</a:t>
            </a:fld>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3"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fr-FR" sz="3200" spc="-1" strike="noStrike">
              <a:latin typeface="Arial"/>
            </a:endParaRPr>
          </a:p>
        </p:txBody>
      </p:sp>
      <p:sp>
        <p:nvSpPr>
          <p:cNvPr id="104"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5"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3070CEDD-3A5A-440C-B76A-3A5B980254DA}" type="slidenum">
              <a:t>&lt;#&gt;</a:t>
            </a:fld>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0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09"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6" name="PlaceHolder 5"/>
          <p:cNvSpPr>
            <a:spLocks noGrp="1"/>
          </p:cNvSpPr>
          <p:nvPr>
            <p:ph type="sldNum" idx="2"/>
          </p:nvPr>
        </p:nvSpPr>
        <p:spPr/>
        <p:txBody>
          <a:bodyPr/>
          <a:p>
            <a:fld id="{7F17DB4D-7228-4EA5-B2FB-7B6036A876D6}" type="slidenum">
              <a:t>&lt;#&gt;</a:t>
            </a:fld>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1"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2"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5" name="PlaceHolder 4"/>
          <p:cNvSpPr>
            <a:spLocks noGrp="1"/>
          </p:cNvSpPr>
          <p:nvPr>
            <p:ph type="sldNum" idx="2"/>
          </p:nvPr>
        </p:nvSpPr>
        <p:spPr/>
        <p:txBody>
          <a:bodyPr/>
          <a:p>
            <a:fld id="{602FD826-6C55-4B57-BDD8-F65D422D5C3D}" type="slidenum">
              <a:t>&lt;#&gt;</a:t>
            </a:fld>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6"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17"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fr-FR" sz="3200" spc="-1" strike="noStrike">
              <a:latin typeface="Arial"/>
            </a:endParaRPr>
          </a:p>
        </p:txBody>
      </p:sp>
      <p:sp>
        <p:nvSpPr>
          <p:cNvPr id="7" name="PlaceHolder 6"/>
          <p:cNvSpPr>
            <a:spLocks noGrp="1"/>
          </p:cNvSpPr>
          <p:nvPr>
            <p:ph type="sldNum" idx="2"/>
          </p:nvPr>
        </p:nvSpPr>
        <p:spPr/>
        <p:txBody>
          <a:bodyPr/>
          <a:p>
            <a:fld id="{6E57AF8A-CC0C-4210-86DE-901F775B9B47}" type="slidenum">
              <a:t>&lt;#&gt;</a:t>
            </a:fld>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endParaRPr b="0" lang="fr-FR" sz="4400" spc="-1" strike="noStrike">
              <a:latin typeface="Arial"/>
            </a:endParaRPr>
          </a:p>
        </p:txBody>
      </p:sp>
      <p:sp>
        <p:nvSpPr>
          <p:cNvPr id="119"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0"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1"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2"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3"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124"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fr-FR" sz="3200" spc="-1" strike="noStrike">
              <a:latin typeface="Arial"/>
            </a:endParaRPr>
          </a:p>
        </p:txBody>
      </p:sp>
      <p:sp>
        <p:nvSpPr>
          <p:cNvPr id="9" name="PlaceHolder 8"/>
          <p:cNvSpPr>
            <a:spLocks noGrp="1"/>
          </p:cNvSpPr>
          <p:nvPr>
            <p:ph type="sldNum" idx="2"/>
          </p:nvPr>
        </p:nvSpPr>
        <p:spPr/>
        <p:txBody>
          <a:bodyPr/>
          <a:p>
            <a:fld id="{2869A169-A39A-4447-9664-66B99A03770C}"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png"/><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0" name="Image 0" descr="img/deco_dark.png"/>
          <p:cNvPicPr/>
          <p:nvPr/>
        </p:nvPicPr>
        <p:blipFill>
          <a:blip r:embed="rId2"/>
          <a:stretch/>
        </p:blipFill>
        <p:spPr>
          <a:xfrm>
            <a:off x="6949440" y="1097280"/>
            <a:ext cx="4753440" cy="4753440"/>
          </a:xfrm>
          <a:prstGeom prst="rect">
            <a:avLst/>
          </a:prstGeom>
          <a:ln w="0">
            <a:noFill/>
          </a:ln>
        </p:spPr>
      </p:pic>
      <p:pic>
        <p:nvPicPr>
          <p:cNvPr id="1" name="Image 1" descr="img/logo_dark.png"/>
          <p:cNvPicPr/>
          <p:nvPr/>
        </p:nvPicPr>
        <p:blipFill>
          <a:blip r:embed="rId3"/>
          <a:stretch/>
        </p:blipFill>
        <p:spPr>
          <a:xfrm>
            <a:off x="640080" y="640080"/>
            <a:ext cx="3473280" cy="730080"/>
          </a:xfrm>
          <a:prstGeom prst="rect">
            <a:avLst/>
          </a:prstGeom>
          <a:ln w="0">
            <a:noFill/>
          </a:ln>
        </p:spPr>
      </p:pic>
      <p:sp>
        <p:nvSpPr>
          <p:cNvPr id="2" name="Shape 0"/>
          <p:cNvSpPr/>
          <p:nvPr/>
        </p:nvSpPr>
        <p:spPr>
          <a:xfrm>
            <a:off x="640080" y="2148840"/>
            <a:ext cx="821520" cy="53280"/>
          </a:xfrm>
          <a:prstGeom prst="rect">
            <a:avLst/>
          </a:prstGeom>
          <a:solidFill>
            <a:srgbClr val="0f9b8e"/>
          </a:solidFill>
          <a:ln w="0">
            <a:noFill/>
          </a:ln>
        </p:spPr>
        <p:style>
          <a:lnRef idx="0"/>
          <a:fillRef idx="0"/>
          <a:effectRef idx="0"/>
          <a:fontRef idx="minor"/>
        </p:style>
      </p:sp>
      <p:sp>
        <p:nvSpPr>
          <p:cNvPr id="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41" name="Image 0" descr="img/mark_dark.png"/>
          <p:cNvPicPr/>
          <p:nvPr/>
        </p:nvPicPr>
        <p:blipFill>
          <a:blip r:embed="rId2"/>
          <a:stretch/>
        </p:blipFill>
        <p:spPr>
          <a:xfrm>
            <a:off x="640080" y="6336720"/>
            <a:ext cx="236160" cy="236160"/>
          </a:xfrm>
          <a:prstGeom prst="rect">
            <a:avLst/>
          </a:prstGeom>
          <a:ln w="0">
            <a:noFill/>
          </a:ln>
        </p:spPr>
      </p:pic>
      <p:sp>
        <p:nvSpPr>
          <p:cNvPr id="42" name="Text 0"/>
          <p:cNvSpPr/>
          <p:nvPr/>
        </p:nvSpPr>
        <p:spPr>
          <a:xfrm>
            <a:off x="987480" y="6309360"/>
            <a:ext cx="4570560" cy="2912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00" spc="290" strike="noStrike">
                <a:solidFill>
                  <a:srgbClr val="8e99a4"/>
                </a:solidFill>
                <a:latin typeface="Inter"/>
                <a:ea typeface="Inter"/>
              </a:rPr>
              <a:t>DECIMAL INSIGHTS CONSULTING</a:t>
            </a:r>
            <a:endParaRPr b="0" lang="fr-FR" sz="1000" spc="-1" strike="noStrike">
              <a:latin typeface="Arial"/>
            </a:endParaRPr>
          </a:p>
        </p:txBody>
      </p:sp>
      <p:sp>
        <p:nvSpPr>
          <p:cNvPr id="43" name="PlaceHolder 1"/>
          <p:cNvSpPr>
            <a:spLocks noGrp="1"/>
          </p:cNvSpPr>
          <p:nvPr>
            <p:ph type="sldNum" idx="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C0DE4D15-237B-4F9B-86A7-36370F396D0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4"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45"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pic>
        <p:nvPicPr>
          <p:cNvPr id="82" name="Image 0" descr="img/deco_dark.png"/>
          <p:cNvPicPr/>
          <p:nvPr/>
        </p:nvPicPr>
        <p:blipFill>
          <a:blip r:embed="rId2"/>
          <a:stretch/>
        </p:blipFill>
        <p:spPr>
          <a:xfrm>
            <a:off x="7498080" y="1828800"/>
            <a:ext cx="4204800" cy="4204800"/>
          </a:xfrm>
          <a:prstGeom prst="rect">
            <a:avLst/>
          </a:prstGeom>
          <a:ln w="0">
            <a:noFill/>
          </a:ln>
        </p:spPr>
      </p:pic>
      <p:sp>
        <p:nvSpPr>
          <p:cNvPr id="83" name="Shape 0"/>
          <p:cNvSpPr/>
          <p:nvPr/>
        </p:nvSpPr>
        <p:spPr>
          <a:xfrm>
            <a:off x="640080" y="1828800"/>
            <a:ext cx="821520" cy="53280"/>
          </a:xfrm>
          <a:prstGeom prst="rect">
            <a:avLst/>
          </a:prstGeom>
          <a:solidFill>
            <a:srgbClr val="0f9b8e"/>
          </a:solidFill>
          <a:ln w="0">
            <a:noFill/>
          </a:ln>
        </p:spPr>
        <p:style>
          <a:lnRef idx="0"/>
          <a:fillRef idx="0"/>
          <a:effectRef idx="0"/>
          <a:fontRef idx="minor"/>
        </p:style>
      </p:sp>
      <p:pic>
        <p:nvPicPr>
          <p:cNvPr id="84" name="Image 1" descr="img/mark_dark.png"/>
          <p:cNvPicPr/>
          <p:nvPr/>
        </p:nvPicPr>
        <p:blipFill>
          <a:blip r:embed="rId3"/>
          <a:stretch/>
        </p:blipFill>
        <p:spPr>
          <a:xfrm>
            <a:off x="640080" y="6336720"/>
            <a:ext cx="236160" cy="236160"/>
          </a:xfrm>
          <a:prstGeom prst="rect">
            <a:avLst/>
          </a:prstGeom>
          <a:ln w="0">
            <a:noFill/>
          </a:ln>
        </p:spPr>
      </p:pic>
      <p:sp>
        <p:nvSpPr>
          <p:cNvPr id="85" name="Text 1"/>
          <p:cNvSpPr/>
          <p:nvPr/>
        </p:nvSpPr>
        <p:spPr>
          <a:xfrm>
            <a:off x="987480" y="6309360"/>
            <a:ext cx="4570560" cy="2912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000" spc="290" strike="noStrike">
                <a:solidFill>
                  <a:srgbClr val="8e99a4"/>
                </a:solidFill>
                <a:latin typeface="Inter"/>
                <a:ea typeface="Inter"/>
              </a:rPr>
              <a:t>DECIMAL INSIGHTS CONSULTING</a:t>
            </a:r>
            <a:endParaRPr b="0" lang="fr-FR" sz="1000" spc="-1" strike="noStrike">
              <a:latin typeface="Arial"/>
            </a:endParaRPr>
          </a:p>
        </p:txBody>
      </p:sp>
      <p:sp>
        <p:nvSpPr>
          <p:cNvPr id="86" name="PlaceHolder 1"/>
          <p:cNvSpPr>
            <a:spLocks noGrp="1"/>
          </p:cNvSpPr>
          <p:nvPr>
            <p:ph type="sldNum" idx="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13FCF20-00D2-44C8-8A9A-97B7EB44C5C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87"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algn="ctr">
              <a:buNone/>
            </a:pPr>
            <a:r>
              <a:rPr b="0" lang="fr-FR" sz="4400" spc="-1" strike="noStrike">
                <a:latin typeface="Arial"/>
              </a:rPr>
              <a:t>Cliquez pour éditer le format du texte-titre</a:t>
            </a:r>
            <a:endParaRPr b="0" lang="fr-FR" sz="4400" spc="-1" strike="noStrike">
              <a:latin typeface="Arial"/>
            </a:endParaRPr>
          </a:p>
        </p:txBody>
      </p:sp>
      <p:sp>
        <p:nvSpPr>
          <p:cNvPr id="88"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fr-FR" sz="3200" spc="-1" strike="noStrike">
                <a:latin typeface="Arial"/>
              </a:rPr>
              <a:t>Cliquez pour éditer le format du plan de texte</a:t>
            </a:r>
            <a:endParaRPr b="0" lang="fr-FR" sz="3200" spc="-1" strike="noStrike">
              <a:latin typeface="Arial"/>
            </a:endParaRPr>
          </a:p>
          <a:p>
            <a:pPr lvl="1" marL="864000" indent="-324000">
              <a:spcBef>
                <a:spcPts val="1134"/>
              </a:spcBef>
              <a:buClr>
                <a:srgbClr val="ffffff"/>
              </a:buClr>
              <a:buSzPct val="75000"/>
              <a:buFont typeface="Symbol" charset="2"/>
              <a:buChar char=""/>
            </a:pPr>
            <a:r>
              <a:rPr b="0" lang="fr-FR" sz="2800" spc="-1" strike="noStrike">
                <a:latin typeface="Arial"/>
              </a:rPr>
              <a:t>Second niveau de plan</a:t>
            </a:r>
            <a:endParaRPr b="0" lang="fr-FR" sz="2800" spc="-1" strike="noStrike">
              <a:latin typeface="Arial"/>
            </a:endParaRPr>
          </a:p>
          <a:p>
            <a:pPr lvl="2" marL="1296000" indent="-288000">
              <a:spcBef>
                <a:spcPts val="850"/>
              </a:spcBef>
              <a:buClr>
                <a:srgbClr val="ffffff"/>
              </a:buClr>
              <a:buSzPct val="45000"/>
              <a:buFont typeface="Wingdings" charset="2"/>
              <a:buChar char=""/>
            </a:pPr>
            <a:r>
              <a:rPr b="0" lang="fr-FR" sz="2400" spc="-1" strike="noStrike">
                <a:latin typeface="Arial"/>
              </a:rPr>
              <a:t>Troisième niveau de plan</a:t>
            </a:r>
            <a:endParaRPr b="0" lang="fr-FR" sz="2400" spc="-1" strike="noStrike">
              <a:latin typeface="Arial"/>
            </a:endParaRPr>
          </a:p>
          <a:p>
            <a:pPr lvl="3" marL="1728000" indent="-216000">
              <a:spcBef>
                <a:spcPts val="567"/>
              </a:spcBef>
              <a:buClr>
                <a:srgbClr val="ffffff"/>
              </a:buClr>
              <a:buSzPct val="75000"/>
              <a:buFont typeface="Symbol" charset="2"/>
              <a:buChar char=""/>
            </a:pPr>
            <a:r>
              <a:rPr b="0" lang="fr-FR" sz="2000" spc="-1" strike="noStrike">
                <a:latin typeface="Arial"/>
              </a:rPr>
              <a:t>Quatrième niveau de plan</a:t>
            </a:r>
            <a:endParaRPr b="0" lang="fr-FR" sz="2000" spc="-1" strike="noStrike">
              <a:latin typeface="Arial"/>
            </a:endParaRPr>
          </a:p>
          <a:p>
            <a:pPr lvl="4" marL="2160000" indent="-216000">
              <a:spcBef>
                <a:spcPts val="283"/>
              </a:spcBef>
              <a:buClr>
                <a:srgbClr val="ffffff"/>
              </a:buClr>
              <a:buSzPct val="45000"/>
              <a:buFont typeface="Wingdings" charset="2"/>
              <a:buChar char=""/>
            </a:pPr>
            <a:r>
              <a:rPr b="0" lang="fr-FR" sz="2000" spc="-1" strike="noStrike">
                <a:latin typeface="Arial"/>
              </a:rPr>
              <a:t>Cinquième niveau de plan</a:t>
            </a:r>
            <a:endParaRPr b="0" lang="fr-FR" sz="2000" spc="-1" strike="noStrike">
              <a:latin typeface="Arial"/>
            </a:endParaRPr>
          </a:p>
          <a:p>
            <a:pPr lvl="5" marL="2592000" indent="-216000">
              <a:spcBef>
                <a:spcPts val="283"/>
              </a:spcBef>
              <a:buClr>
                <a:srgbClr val="ffffff"/>
              </a:buClr>
              <a:buSzPct val="45000"/>
              <a:buFont typeface="Wingdings" charset="2"/>
              <a:buChar char=""/>
            </a:pPr>
            <a:r>
              <a:rPr b="0" lang="fr-FR" sz="2000" spc="-1" strike="noStrike">
                <a:latin typeface="Arial"/>
              </a:rPr>
              <a:t>Sixième niveau de plan</a:t>
            </a:r>
            <a:endParaRPr b="0" lang="fr-FR" sz="2000" spc="-1" strike="noStrike">
              <a:latin typeface="Arial"/>
            </a:endParaRPr>
          </a:p>
          <a:p>
            <a:pPr lvl="6" marL="3024000" indent="-216000">
              <a:spcBef>
                <a:spcPts val="283"/>
              </a:spcBef>
              <a:buClr>
                <a:srgbClr val="ffffff"/>
              </a:buClr>
              <a:buSzPct val="45000"/>
              <a:buFont typeface="Wingdings" charset="2"/>
              <a:buChar char=""/>
            </a:pPr>
            <a:r>
              <a:rPr b="0" lang="fr-FR" sz="2000" spc="-1" strike="noStrike">
                <a:latin typeface="Arial"/>
              </a:rPr>
              <a:t>Septième niveau de plan</a:t>
            </a:r>
            <a:endParaRPr b="0" lang="fr-FR"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slideLayout" Target="../slideLayouts/slideLayout13.xml"/><Relationship Id="rId7"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3.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3.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3.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3.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slideLayout" Target="../slideLayouts/slideLayout13.xml"/><Relationship Id="rId5"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3.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3.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13.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3.xml"/><Relationship Id="rId4"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13.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24.png"/><Relationship Id="rId2" Type="http://schemas.openxmlformats.org/officeDocument/2006/relationships/slideLayout" Target="../slideLayouts/slideLayout13.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slideLayout" Target="../slideLayouts/slideLayout13.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slideLayout" Target="../slideLayouts/slideLayout13.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slideLayout" Target="../slideLayouts/slideLayout13.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29.png"/><Relationship Id="rId2" Type="http://schemas.openxmlformats.org/officeDocument/2006/relationships/slideLayout" Target="../slideLayouts/slideLayout13.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30.png"/><Relationship Id="rId2" Type="http://schemas.openxmlformats.org/officeDocument/2006/relationships/slideLayout" Target="../slideLayouts/slideLayout13.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3.xml"/><Relationship Id="rId4"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13.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13.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13.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13.xml"/><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37.png"/><Relationship Id="rId2" Type="http://schemas.openxmlformats.org/officeDocument/2006/relationships/slideLayout" Target="../slideLayouts/slideLayout13.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38.png"/><Relationship Id="rId2" Type="http://schemas.openxmlformats.org/officeDocument/2006/relationships/slideLayout" Target="../slideLayouts/slideLayout13.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39.png"/><Relationship Id="rId2" Type="http://schemas.openxmlformats.org/officeDocument/2006/relationships/image" Target="../media/image40.png"/><Relationship Id="rId3" Type="http://schemas.openxmlformats.org/officeDocument/2006/relationships/slideLayout" Target="../slideLayouts/slideLayout13.xml"/><Relationship Id="rId4"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3.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slideLayout" Target="../slideLayouts/slideLayout13.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43.png"/><Relationship Id="rId2" Type="http://schemas.openxmlformats.org/officeDocument/2006/relationships/slideLayout" Target="../slideLayouts/slideLayout13.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44.png"/><Relationship Id="rId2" Type="http://schemas.openxmlformats.org/officeDocument/2006/relationships/slideLayout" Target="../slideLayouts/slideLayout13.xml"/><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image" Target="../media/image45.png"/><Relationship Id="rId2" Type="http://schemas.openxmlformats.org/officeDocument/2006/relationships/image" Target="../media/image46.png"/><Relationship Id="rId3" Type="http://schemas.openxmlformats.org/officeDocument/2006/relationships/slideLayout" Target="../slideLayouts/slideLayout13.xml"/><Relationship Id="rId4"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
</Relationships>
</file>

<file path=ppt/slides/_rels/slide39.xml.rels><?xml version="1.0" encoding="UTF-8"?>
<Relationships xmlns="http://schemas.openxmlformats.org/package/2006/relationships"><Relationship Id="rId1" Type="http://schemas.openxmlformats.org/officeDocument/2006/relationships/image" Target="../media/image47.png"/><Relationship Id="rId2" Type="http://schemas.openxmlformats.org/officeDocument/2006/relationships/slideLayout" Target="../slideLayouts/slideLayout13.xml"/><Relationship Id="rId3" Type="http://schemas.openxmlformats.org/officeDocument/2006/relationships/notesSlide" Target="../notesSlides/notesSlide39.xml"/>
</Relationships>
</file>

<file path=ppt/slides/_rels/slide40.xml.rels><?xml version="1.0" encoding="UTF-8"?>
<Relationships xmlns="http://schemas.openxmlformats.org/package/2006/relationships"><Relationship Id="rId1" Type="http://schemas.openxmlformats.org/officeDocument/2006/relationships/image" Target="../media/image48.png"/><Relationship Id="rId2" Type="http://schemas.openxmlformats.org/officeDocument/2006/relationships/slideLayout" Target="../slideLayouts/slideLayout13.xml"/><Relationship Id="rId3" Type="http://schemas.openxmlformats.org/officeDocument/2006/relationships/notesSlide" Target="../notesSlides/notesSlide40.xml"/>
</Relationships>
</file>

<file path=ppt/slides/_rels/slide41.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slideLayout" Target="../slideLayouts/slideLayout13.xml"/><Relationship Id="rId3" Type="http://schemas.openxmlformats.org/officeDocument/2006/relationships/notesSlide" Target="../notesSlides/notesSlide41.xml"/>
</Relationships>
</file>

<file path=ppt/slides/_rels/slide42.xml.rels><?xml version="1.0" encoding="UTF-8"?>
<Relationships xmlns="http://schemas.openxmlformats.org/package/2006/relationships"><Relationship Id="rId1" Type="http://schemas.openxmlformats.org/officeDocument/2006/relationships/image" Target="../media/image50.png"/><Relationship Id="rId2" Type="http://schemas.openxmlformats.org/officeDocument/2006/relationships/slideLayout" Target="../slideLayouts/slideLayout13.xml"/><Relationship Id="rId3" Type="http://schemas.openxmlformats.org/officeDocument/2006/relationships/notesSlide" Target="../notesSlides/notesSlide42.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
</Relationships>
</file>

<file path=ppt/slides/_rels/slide44.xml.rels><?xml version="1.0" encoding="UTF-8"?>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3.xml"/><Relationship Id="rId3" Type="http://schemas.openxmlformats.org/officeDocument/2006/relationships/notesSlide" Target="../notesSlides/notesSlide44.xml"/>
</Relationships>
</file>

<file path=ppt/slides/_rels/slide45.xml.rels><?xml version="1.0" encoding="UTF-8"?>
<Relationships xmlns="http://schemas.openxmlformats.org/package/2006/relationships"><Relationship Id="rId1" Type="http://schemas.openxmlformats.org/officeDocument/2006/relationships/image" Target="../media/image52.png"/><Relationship Id="rId2" Type="http://schemas.openxmlformats.org/officeDocument/2006/relationships/slideLayout" Target="../slideLayouts/slideLayout13.xml"/><Relationship Id="rId3" Type="http://schemas.openxmlformats.org/officeDocument/2006/relationships/notesSlide" Target="../notesSlides/notesSlide45.xml"/>
</Relationships>
</file>

<file path=ppt/slides/_rels/slide46.xml.rels><?xml version="1.0" encoding="UTF-8"?>
<Relationships xmlns="http://schemas.openxmlformats.org/package/2006/relationships"><Relationship Id="rId1" Type="http://schemas.openxmlformats.org/officeDocument/2006/relationships/image" Target="../media/image53.png"/><Relationship Id="rId2" Type="http://schemas.openxmlformats.org/officeDocument/2006/relationships/slideLayout" Target="../slideLayouts/slideLayout13.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54.png"/><Relationship Id="rId2" Type="http://schemas.openxmlformats.org/officeDocument/2006/relationships/slideLayout" Target="../slideLayouts/slideLayout13.xml"/><Relationship Id="rId3" Type="http://schemas.openxmlformats.org/officeDocument/2006/relationships/notesSlide" Target="../notesSlides/notesSlide4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 name="PlaceHolder 1"/>
          <p:cNvSpPr>
            <a:spLocks noGrp="1"/>
          </p:cNvSpPr>
          <p:nvPr>
            <p:ph type="title"/>
          </p:nvPr>
        </p:nvSpPr>
        <p:spPr>
          <a:xfrm>
            <a:off x="640080" y="2377440"/>
            <a:ext cx="6765120" cy="1735920"/>
          </a:xfrm>
          <a:prstGeom prst="rect">
            <a:avLst/>
          </a:prstGeom>
          <a:noFill/>
          <a:ln w="0">
            <a:noFill/>
          </a:ln>
        </p:spPr>
        <p:txBody>
          <a:bodyPr lIns="90000" rIns="90000" tIns="45000" bIns="45000" anchor="t">
            <a:noAutofit/>
          </a:bodyPr>
          <a:p>
            <a:pPr>
              <a:lnSpc>
                <a:spcPct val="100000"/>
              </a:lnSpc>
              <a:buNone/>
              <a:tabLst>
                <a:tab algn="l" pos="0"/>
              </a:tabLst>
            </a:pPr>
            <a:r>
              <a:rPr b="0" lang="en-US" sz="5000" spc="-1" strike="noStrike">
                <a:solidFill>
                  <a:srgbClr val="f7f6f2"/>
                </a:solidFill>
                <a:latin typeface="Fraunces SemiBold"/>
                <a:ea typeface="Fraunces SemiBold"/>
              </a:rPr>
              <a:t>Livrable de groupe</a:t>
            </a:r>
            <a:endParaRPr b="0" lang="fr-FR" sz="5000" spc="-1" strike="noStrike">
              <a:latin typeface="Arial"/>
            </a:endParaRPr>
          </a:p>
        </p:txBody>
      </p:sp>
      <p:sp>
        <p:nvSpPr>
          <p:cNvPr id="132" name="PlaceHolder 2"/>
          <p:cNvSpPr>
            <a:spLocks noGrp="1"/>
          </p:cNvSpPr>
          <p:nvPr>
            <p:ph/>
          </p:nvPr>
        </p:nvSpPr>
        <p:spPr>
          <a:xfrm>
            <a:off x="640080" y="4251960"/>
            <a:ext cx="6399360" cy="821520"/>
          </a:xfrm>
          <a:prstGeom prst="rect">
            <a:avLst/>
          </a:prstGeom>
          <a:noFill/>
          <a:ln w="0">
            <a:noFill/>
          </a:ln>
        </p:spPr>
        <p:txBody>
          <a:bodyPr lIns="90000" rIns="90000" tIns="45000" bIns="45000" anchor="t">
            <a:noAutofit/>
          </a:bodyPr>
          <a:p>
            <a:pPr>
              <a:lnSpc>
                <a:spcPct val="100000"/>
              </a:lnSpc>
              <a:spcBef>
                <a:spcPts val="400"/>
              </a:spcBef>
              <a:buNone/>
              <a:tabLst>
                <a:tab algn="l" pos="0"/>
              </a:tabLst>
            </a:pPr>
            <a:r>
              <a:rPr b="0" lang="en-US" sz="2000" spc="-1" strike="noStrike">
                <a:solidFill>
                  <a:srgbClr val="b8c0c8"/>
                </a:solidFill>
                <a:latin typeface="Inter"/>
                <a:ea typeface="Inter"/>
              </a:rPr>
              <a:t>TD AssurConnect : gouvernance, profilage et qualité des données</a:t>
            </a:r>
            <a:endParaRPr b="0" lang="fr-FR" sz="2000" spc="-1" strike="noStrike">
              <a:latin typeface="Arial"/>
            </a:endParaRPr>
          </a:p>
        </p:txBody>
      </p:sp>
      <p:sp>
        <p:nvSpPr>
          <p:cNvPr id="133" name="PlaceHolder 3"/>
          <p:cNvSpPr>
            <a:spLocks noGrp="1"/>
          </p:cNvSpPr>
          <p:nvPr>
            <p:ph/>
          </p:nvPr>
        </p:nvSpPr>
        <p:spPr>
          <a:xfrm>
            <a:off x="640080" y="5577840"/>
            <a:ext cx="6399360" cy="364320"/>
          </a:xfrm>
          <a:prstGeom prst="rect">
            <a:avLst/>
          </a:prstGeom>
          <a:noFill/>
          <a:ln w="0">
            <a:noFill/>
          </a:ln>
        </p:spPr>
        <p:txBody>
          <a:bodyPr lIns="90000" rIns="90000" tIns="45000" bIns="45000" anchor="t">
            <a:noAutofit/>
          </a:bodyPr>
          <a:p>
            <a:pPr>
              <a:lnSpc>
                <a:spcPct val="100000"/>
              </a:lnSpc>
              <a:spcBef>
                <a:spcPts val="241"/>
              </a:spcBef>
              <a:buNone/>
              <a:tabLst>
                <a:tab algn="l" pos="0"/>
              </a:tabLst>
            </a:pPr>
            <a:r>
              <a:rPr b="0" lang="en-US" sz="1200" spc="191" strike="noStrike">
                <a:solidFill>
                  <a:srgbClr val="f5a623"/>
                </a:solidFill>
                <a:latin typeface="Inter"/>
                <a:ea typeface="Inter"/>
              </a:rPr>
              <a:t>GROUPE [N°0] · [AMY Léo – MENY Nicolas - OUERGHEMNI Mongi - TRUONG David] · [14/10/2026]</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Comment remplir ce modèle</a:t>
            </a:r>
            <a:endParaRPr b="0" lang="fr-FR" sz="2800" spc="-1" strike="noStrike">
              <a:latin typeface="Arial"/>
            </a:endParaRPr>
          </a:p>
        </p:txBody>
      </p:sp>
      <p:sp>
        <p:nvSpPr>
          <p:cNvPr id="135" name="PlaceHolder 2"/>
          <p:cNvSpPr>
            <a:spLocks noGrp="1"/>
          </p:cNvSpPr>
          <p:nvPr>
            <p:ph type="sldNum" idx="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A1EDDF8F-8873-43C2-A8A6-64D8EEDD706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3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MODE D'EMPLOI</a:t>
            </a:r>
            <a:endParaRPr b="0" lang="fr-FR" sz="1100" spc="-1" strike="noStrike">
              <a:latin typeface="Arial"/>
            </a:endParaRPr>
          </a:p>
        </p:txBody>
      </p:sp>
      <p:sp>
        <p:nvSpPr>
          <p:cNvPr id="137" name="Rectangle 26"/>
          <p:cNvSpPr/>
          <p:nvPr/>
        </p:nvSpPr>
        <p:spPr>
          <a:xfrm>
            <a:off x="640080" y="13716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38" name="Icône target" descr="Icône target"/>
          <p:cNvPicPr/>
          <p:nvPr/>
        </p:nvPicPr>
        <p:blipFill>
          <a:blip r:embed="rId1"/>
          <a:stretch/>
        </p:blipFill>
        <p:spPr>
          <a:xfrm>
            <a:off x="868680" y="1572840"/>
            <a:ext cx="401040" cy="401040"/>
          </a:xfrm>
          <a:prstGeom prst="rect">
            <a:avLst/>
          </a:prstGeom>
          <a:ln w="0">
            <a:noFill/>
          </a:ln>
        </p:spPr>
      </p:pic>
      <p:sp>
        <p:nvSpPr>
          <p:cNvPr id="139" name="TextBox 28"/>
          <p:cNvSpPr/>
          <p:nvPr/>
        </p:nvSpPr>
        <p:spPr>
          <a:xfrm>
            <a:off x="1463040" y="16581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Encadré ambre « Attendu »</a:t>
            </a:r>
            <a:endParaRPr b="0" lang="fr-FR" sz="1400" spc="-1" strike="noStrike">
              <a:latin typeface="Arial"/>
            </a:endParaRPr>
          </a:p>
        </p:txBody>
      </p:sp>
      <p:sp>
        <p:nvSpPr>
          <p:cNvPr id="140" name="TextBox 29"/>
          <p:cNvSpPr/>
          <p:nvPr/>
        </p:nvSpPr>
        <p:spPr>
          <a:xfrm>
            <a:off x="4846320" y="1666440"/>
            <a:ext cx="658224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Ce qui doit apparaître sur la page. À lire avant de rédiger ; ne pas supprimer.</a:t>
            </a:r>
            <a:endParaRPr b="0" lang="fr-FR" sz="1300" spc="-1" strike="noStrike">
              <a:latin typeface="Arial"/>
            </a:endParaRPr>
          </a:p>
        </p:txBody>
      </p:sp>
      <p:sp>
        <p:nvSpPr>
          <p:cNvPr id="141" name="Rectangle 30"/>
          <p:cNvSpPr/>
          <p:nvPr/>
        </p:nvSpPr>
        <p:spPr>
          <a:xfrm>
            <a:off x="640080" y="22860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42" name="Icône pen" descr="Icône pen"/>
          <p:cNvPicPr/>
          <p:nvPr/>
        </p:nvPicPr>
        <p:blipFill>
          <a:blip r:embed="rId2"/>
          <a:stretch/>
        </p:blipFill>
        <p:spPr>
          <a:xfrm>
            <a:off x="868680" y="2487240"/>
            <a:ext cx="401040" cy="401040"/>
          </a:xfrm>
          <a:prstGeom prst="rect">
            <a:avLst/>
          </a:prstGeom>
          <a:ln w="0">
            <a:noFill/>
          </a:ln>
        </p:spPr>
      </p:pic>
      <p:sp>
        <p:nvSpPr>
          <p:cNvPr id="143" name="TextBox 32"/>
          <p:cNvSpPr/>
          <p:nvPr/>
        </p:nvSpPr>
        <p:spPr>
          <a:xfrm>
            <a:off x="1463040" y="25725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Cellule ou zone ambre sombre</a:t>
            </a:r>
            <a:endParaRPr b="0" lang="fr-FR" sz="1400" spc="-1" strike="noStrike">
              <a:latin typeface="Arial"/>
            </a:endParaRPr>
          </a:p>
        </p:txBody>
      </p:sp>
      <p:sp>
        <p:nvSpPr>
          <p:cNvPr id="144" name="TextBox 33"/>
          <p:cNvSpPr/>
          <p:nvPr/>
        </p:nvSpPr>
        <p:spPr>
          <a:xfrm>
            <a:off x="4846320" y="24739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À compléter : remplacez « … » ou le texte gris entre crochets par votre contenu.</a:t>
            </a:r>
            <a:endParaRPr b="0" lang="fr-FR" sz="1300" spc="-1" strike="noStrike">
              <a:latin typeface="Arial"/>
            </a:endParaRPr>
          </a:p>
        </p:txBody>
      </p:sp>
      <p:sp>
        <p:nvSpPr>
          <p:cNvPr id="145" name="Rectangle 34"/>
          <p:cNvSpPr/>
          <p:nvPr/>
        </p:nvSpPr>
        <p:spPr>
          <a:xfrm>
            <a:off x="640080" y="32004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46" name="Icône chart" descr="Icône chart"/>
          <p:cNvPicPr/>
          <p:nvPr/>
        </p:nvPicPr>
        <p:blipFill>
          <a:blip r:embed="rId3"/>
          <a:stretch/>
        </p:blipFill>
        <p:spPr>
          <a:xfrm>
            <a:off x="868680" y="3401640"/>
            <a:ext cx="401040" cy="401040"/>
          </a:xfrm>
          <a:prstGeom prst="rect">
            <a:avLst/>
          </a:prstGeom>
          <a:ln w="0">
            <a:noFill/>
          </a:ln>
        </p:spPr>
      </p:pic>
      <p:sp>
        <p:nvSpPr>
          <p:cNvPr id="147" name="TextBox 36"/>
          <p:cNvSpPr/>
          <p:nvPr/>
        </p:nvSpPr>
        <p:spPr>
          <a:xfrm>
            <a:off x="1463040" y="3372120"/>
            <a:ext cx="3290400" cy="4597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Une page prouve, elle ne raconte pas</a:t>
            </a:r>
            <a:endParaRPr b="0" lang="fr-FR" sz="1400" spc="-1" strike="noStrike">
              <a:latin typeface="Arial"/>
            </a:endParaRPr>
          </a:p>
        </p:txBody>
      </p:sp>
      <p:sp>
        <p:nvSpPr>
          <p:cNvPr id="148" name="TextBox 37"/>
          <p:cNvSpPr/>
          <p:nvPr/>
        </p:nvSpPr>
        <p:spPr>
          <a:xfrm>
            <a:off x="4846320" y="33883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Pour chaque constat : un </a:t>
            </a:r>
            <a:r>
              <a:rPr b="1" lang="fr-FR" sz="1300" spc="-1" strike="noStrike">
                <a:solidFill>
                  <a:srgbClr val="f5a623"/>
                </a:solidFill>
                <a:latin typeface="Inter"/>
                <a:ea typeface="DejaVu Sans"/>
              </a:rPr>
              <a:t>chiffre mesuré</a:t>
            </a:r>
            <a:r>
              <a:rPr b="0" lang="fr-FR" sz="1300" spc="-1" strike="noStrike">
                <a:solidFill>
                  <a:srgbClr val="b8c0c8"/>
                </a:solidFill>
                <a:latin typeface="Inter"/>
                <a:ea typeface="DejaVu Sans"/>
              </a:rPr>
              <a:t> (règle RQ, couche), la </a:t>
            </a:r>
            <a:r>
              <a:rPr b="1" lang="fr-FR" sz="1300" spc="-1" strike="noStrike">
                <a:solidFill>
                  <a:srgbClr val="f5a623"/>
                </a:solidFill>
                <a:latin typeface="Inter"/>
                <a:ea typeface="DejaVu Sans"/>
              </a:rPr>
              <a:t>preuve</a:t>
            </a:r>
            <a:r>
              <a:rPr b="0" lang="fr-FR" sz="1300" spc="-1" strike="noStrike">
                <a:solidFill>
                  <a:srgbClr val="b8c0c8"/>
                </a:solidFill>
                <a:latin typeface="Inter"/>
                <a:ea typeface="DejaVu Sans"/>
              </a:rPr>
              <a:t> (chemin du dépôt), la </a:t>
            </a:r>
            <a:r>
              <a:rPr b="1" lang="fr-FR" sz="1300" spc="-1" strike="noStrike">
                <a:solidFill>
                  <a:srgbClr val="f5a623"/>
                </a:solidFill>
                <a:latin typeface="Inter"/>
                <a:ea typeface="DejaVu Sans"/>
              </a:rPr>
              <a:t>conséquence</a:t>
            </a:r>
            <a:r>
              <a:rPr b="0" lang="fr-FR" sz="1300" spc="-1" strike="noStrike">
                <a:solidFill>
                  <a:srgbClr val="b8c0c8"/>
                </a:solidFill>
                <a:latin typeface="Inter"/>
                <a:ea typeface="DejaVu Sans"/>
              </a:rPr>
              <a:t> attribuée à un rôle.</a:t>
            </a:r>
            <a:endParaRPr b="0" lang="fr-FR" sz="1300" spc="-1" strike="noStrike">
              <a:latin typeface="Arial"/>
            </a:endParaRPr>
          </a:p>
        </p:txBody>
      </p:sp>
      <p:sp>
        <p:nvSpPr>
          <p:cNvPr id="149" name="Rectangle 38"/>
          <p:cNvSpPr/>
          <p:nvPr/>
        </p:nvSpPr>
        <p:spPr>
          <a:xfrm>
            <a:off x="640080" y="41148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50" name="Icône branch" descr="Icône branch"/>
          <p:cNvPicPr/>
          <p:nvPr/>
        </p:nvPicPr>
        <p:blipFill>
          <a:blip r:embed="rId4"/>
          <a:stretch/>
        </p:blipFill>
        <p:spPr>
          <a:xfrm>
            <a:off x="868680" y="4316040"/>
            <a:ext cx="401040" cy="401040"/>
          </a:xfrm>
          <a:prstGeom prst="rect">
            <a:avLst/>
          </a:prstGeom>
          <a:ln w="0">
            <a:noFill/>
          </a:ln>
        </p:spPr>
      </p:pic>
      <p:sp>
        <p:nvSpPr>
          <p:cNvPr id="151" name="TextBox 40"/>
          <p:cNvSpPr/>
          <p:nvPr/>
        </p:nvSpPr>
        <p:spPr>
          <a:xfrm>
            <a:off x="1463040" y="44013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Le dépôt Git est la preuve</a:t>
            </a:r>
            <a:endParaRPr b="0" lang="fr-FR" sz="1400" spc="-1" strike="noStrike">
              <a:latin typeface="Arial"/>
            </a:endParaRPr>
          </a:p>
        </p:txBody>
      </p:sp>
      <p:sp>
        <p:nvSpPr>
          <p:cNvPr id="152" name="TextBox 41"/>
          <p:cNvSpPr/>
          <p:nvPr/>
        </p:nvSpPr>
        <p:spPr>
          <a:xfrm>
            <a:off x="4846320" y="43027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Chaque chemin cité existe dans votre dépôt. Étiquette </a:t>
            </a:r>
            <a:r>
              <a:rPr b="0" lang="fr-FR" sz="1300" spc="-1" strike="noStrike">
                <a:solidFill>
                  <a:srgbClr val="f7f6f2"/>
                </a:solidFill>
                <a:latin typeface="Consolas"/>
                <a:ea typeface="DejaVu Sans"/>
              </a:rPr>
              <a:t>seance-N</a:t>
            </a:r>
            <a:r>
              <a:rPr b="0" lang="fr-FR" sz="1300" spc="-1" strike="noStrike">
                <a:solidFill>
                  <a:srgbClr val="b8c0c8"/>
                </a:solidFill>
                <a:latin typeface="Inter"/>
                <a:ea typeface="DejaVu Sans"/>
              </a:rPr>
              <a:t> posée en fin de chaque séance.</a:t>
            </a:r>
            <a:endParaRPr b="0" lang="fr-FR" sz="1300" spc="-1" strike="noStrike">
              <a:latin typeface="Arial"/>
            </a:endParaRPr>
          </a:p>
        </p:txBody>
      </p:sp>
      <p:sp>
        <p:nvSpPr>
          <p:cNvPr id="153" name="Rectangle 42"/>
          <p:cNvSpPr/>
          <p:nvPr/>
        </p:nvSpPr>
        <p:spPr>
          <a:xfrm>
            <a:off x="640080" y="5029200"/>
            <a:ext cx="10907280" cy="80316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54" name="Icône warn" descr="Icône warn"/>
          <p:cNvPicPr/>
          <p:nvPr/>
        </p:nvPicPr>
        <p:blipFill>
          <a:blip r:embed="rId5"/>
          <a:stretch/>
        </p:blipFill>
        <p:spPr>
          <a:xfrm>
            <a:off x="868680" y="5230440"/>
            <a:ext cx="401040" cy="401040"/>
          </a:xfrm>
          <a:prstGeom prst="rect">
            <a:avLst/>
          </a:prstGeom>
          <a:ln w="0">
            <a:noFill/>
          </a:ln>
        </p:spPr>
      </p:pic>
      <p:sp>
        <p:nvSpPr>
          <p:cNvPr id="155" name="TextBox 44"/>
          <p:cNvSpPr/>
          <p:nvPr/>
        </p:nvSpPr>
        <p:spPr>
          <a:xfrm>
            <a:off x="1463040" y="5315760"/>
            <a:ext cx="3290400" cy="2296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400" spc="-1" strike="noStrike">
                <a:solidFill>
                  <a:srgbClr val="f7f6f2"/>
                </a:solidFill>
                <a:latin typeface="Inter"/>
                <a:ea typeface="DejaVu Sans"/>
              </a:rPr>
              <a:t>Si vous n'avez pas fini</a:t>
            </a:r>
            <a:endParaRPr b="0" lang="fr-FR" sz="1400" spc="-1" strike="noStrike">
              <a:latin typeface="Arial"/>
            </a:endParaRPr>
          </a:p>
        </p:txBody>
      </p:sp>
      <p:sp>
        <p:nvSpPr>
          <p:cNvPr id="156" name="TextBox 45"/>
          <p:cNvSpPr/>
          <p:nvPr/>
        </p:nvSpPr>
        <p:spPr>
          <a:xfrm>
            <a:off x="4846320" y="5217120"/>
            <a:ext cx="6582240" cy="4273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300" spc="-1" strike="noStrike">
                <a:solidFill>
                  <a:srgbClr val="b8c0c8"/>
                </a:solidFill>
                <a:latin typeface="Inter"/>
                <a:ea typeface="DejaVu Sans"/>
              </a:rPr>
              <a:t>Laissez les zones ambre visibles : un livrable inachevé doit le rester. Ne mettez jamais un chiffre sans l'avoir mesuré.</a:t>
            </a:r>
            <a:endParaRPr b="0" lang="fr-FR" sz="1300" spc="-1" strike="noStrike">
              <a:latin typeface="Arial"/>
            </a:endParaRPr>
          </a:p>
        </p:txBody>
      </p:sp>
      <p:sp>
        <p:nvSpPr>
          <p:cNvPr id="157" name="TextBox 46"/>
          <p:cNvSpPr/>
          <p:nvPr/>
        </p:nvSpPr>
        <p:spPr>
          <a:xfrm>
            <a:off x="640080" y="598932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Si le texte déborde d'une cellule, réduisez la police à 11 pt plutôt que d'étendre le tableau hors de la page.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Où se trouve quoi, et ce que pèse chaque critère</a:t>
            </a:r>
            <a:endParaRPr b="0" lang="fr-FR" sz="2800" spc="-1" strike="noStrike">
              <a:latin typeface="Arial"/>
            </a:endParaRPr>
          </a:p>
        </p:txBody>
      </p:sp>
      <p:sp>
        <p:nvSpPr>
          <p:cNvPr id="159" name="PlaceHolder 2"/>
          <p:cNvSpPr>
            <a:spLocks noGrp="1"/>
          </p:cNvSpPr>
          <p:nvPr>
            <p:ph type="sldNum" idx="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CC7BB1C2-787A-4D24-9FDB-DD879884DA6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6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PLAN DU LIVRABLE</a:t>
            </a:r>
            <a:endParaRPr b="0" lang="fr-FR" sz="1100" spc="-1" strike="noStrike">
              <a:latin typeface="Arial"/>
            </a:endParaRPr>
          </a:p>
        </p:txBody>
      </p:sp>
      <p:graphicFrame>
        <p:nvGraphicFramePr>
          <p:cNvPr id="161" name="Table 26"/>
          <p:cNvGraphicFramePr/>
          <p:nvPr/>
        </p:nvGraphicFramePr>
        <p:xfrm>
          <a:off x="640080" y="1371600"/>
          <a:ext cx="10908360" cy="3071520"/>
        </p:xfrm>
        <a:graphic>
          <a:graphicData uri="http://schemas.openxmlformats.org/drawingml/2006/table">
            <a:tbl>
              <a:tblPr/>
              <a:tblGrid>
                <a:gridCol w="4023360"/>
                <a:gridCol w="1097280"/>
                <a:gridCol w="4690800"/>
                <a:gridCol w="1097280"/>
              </a:tblGrid>
              <a:tr h="383760">
                <a:tc>
                  <a:txBody>
                    <a:bodyPr lIns="73080" rIns="73080" anchor="ctr">
                      <a:noAutofit/>
                    </a:bodyPr>
                    <a:p>
                      <a:pPr>
                        <a:lnSpc>
                          <a:spcPct val="100000"/>
                        </a:lnSpc>
                        <a:buNone/>
                      </a:pPr>
                      <a:r>
                        <a:rPr b="1" lang="en-US" sz="1200" spc="49" strike="noStrike">
                          <a:solidFill>
                            <a:srgbClr val="f5a623"/>
                          </a:solidFill>
                          <a:latin typeface="Inter"/>
                        </a:rPr>
                        <a:t>Partie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9" strike="noStrike">
                          <a:solidFill>
                            <a:srgbClr val="f5a623"/>
                          </a:solidFill>
                          <a:latin typeface="Inter"/>
                        </a:rPr>
                        <a:t>Pages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9" strike="noStrike">
                          <a:solidFill>
                            <a:srgbClr val="f5a623"/>
                          </a:solidFill>
                          <a:latin typeface="Inter"/>
                        </a:rPr>
                        <a:t>Critère de la grille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200" spc="49" strike="noStrike">
                          <a:solidFill>
                            <a:srgbClr val="f5a623"/>
                          </a:solidFill>
                          <a:latin typeface="Inter"/>
                        </a:rPr>
                        <a:t>Poids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300" spc="-1" strike="noStrike">
                          <a:solidFill>
                            <a:srgbClr val="f7f6f2"/>
                          </a:solidFill>
                          <a:latin typeface="Inter"/>
                        </a:rPr>
                        <a:t>Équipe et mandat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4 à 5</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Contribution individuelle (vérifiée dans l'historique Git)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S1 : bronze, porte B, profilage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S1</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Profilage et diagnostic</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3760">
                <a:tc>
                  <a:txBody>
                    <a:bodyPr lIns="73080" rIns="73080" anchor="ctr">
                      <a:noAutofit/>
                    </a:bodyPr>
                    <a:p>
                      <a:pPr>
                        <a:lnSpc>
                          <a:spcPct val="100000"/>
                        </a:lnSpc>
                        <a:buNone/>
                      </a:pPr>
                      <a:r>
                        <a:rPr b="1" lang="en-US" sz="1300" spc="-1" strike="noStrike">
                          <a:solidFill>
                            <a:srgbClr val="f7f6f2"/>
                          </a:solidFill>
                          <a:latin typeface="Inter"/>
                        </a:rPr>
                        <a:t>S2 : règles en tests (Great Expectations)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S2</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Règles et tests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S3 : intégrité et portes (Soda Core)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S3</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Règles et tests (suite)</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inclus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3760">
                <a:tc>
                  <a:txBody>
                    <a:bodyPr lIns="73080" rIns="73080" anchor="ctr">
                      <a:noAutofit/>
                    </a:bodyPr>
                    <a:p>
                      <a:pPr>
                        <a:lnSpc>
                          <a:spcPct val="100000"/>
                        </a:lnSpc>
                        <a:buNone/>
                      </a:pPr>
                      <a:r>
                        <a:rPr b="1" lang="en-US" sz="1300" spc="-1" strike="noStrike">
                          <a:solidFill>
                            <a:srgbClr val="f7f6f2"/>
                          </a:solidFill>
                          <a:latin typeface="Inter"/>
                        </a:rPr>
                        <a:t>S4 : silver, gold, traçabilité</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S4</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Silver, gold et traçabilité</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25 %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r h="383760">
                <a:tc>
                  <a:txBody>
                    <a:bodyPr lIns="73080" rIns="73080" anchor="ctr">
                      <a:noAutofit/>
                    </a:bodyPr>
                    <a:p>
                      <a:pPr>
                        <a:lnSpc>
                          <a:spcPct val="100000"/>
                        </a:lnSpc>
                        <a:buNone/>
                      </a:pPr>
                      <a:r>
                        <a:rPr b="1" lang="en-US" sz="1300" spc="-1" strike="noStrike">
                          <a:solidFill>
                            <a:srgbClr val="f7f6f2"/>
                          </a:solidFill>
                          <a:latin typeface="Inter"/>
                        </a:rPr>
                        <a:t>S5 : certificat, publication</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S5</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Preuve et certificat</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300" spc="-1" strike="noStrike">
                          <a:solidFill>
                            <a:srgbClr val="f7f6f2"/>
                          </a:solidFill>
                          <a:latin typeface="Inter"/>
                        </a:rPr>
                        <a:t>20 %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r>
              <a:tr h="385560">
                <a:tc>
                  <a:txBody>
                    <a:bodyPr lIns="73080" rIns="73080" anchor="ctr">
                      <a:noAutofit/>
                    </a:bodyPr>
                    <a:p>
                      <a:pPr>
                        <a:lnSpc>
                          <a:spcPct val="100000"/>
                        </a:lnSpc>
                        <a:buNone/>
                      </a:pPr>
                      <a:r>
                        <a:rPr b="1" lang="en-US" sz="1300" spc="-1" strike="noStrike">
                          <a:solidFill>
                            <a:srgbClr val="f7f6f2"/>
                          </a:solidFill>
                          <a:latin typeface="Inter"/>
                        </a:rPr>
                        <a:t>Dossier go/no-go, journal des décisions</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Dossier</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Gouvernance et décision</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300" spc="-1" strike="noStrike">
                          <a:solidFill>
                            <a:srgbClr val="f7f6f2"/>
                          </a:solidFill>
                          <a:latin typeface="Inter"/>
                        </a:rPr>
                        <a:t>15 %</a:t>
                      </a:r>
                      <a:endParaRPr b="0" lang="fr-FR" sz="13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r>
            </a:tbl>
          </a:graphicData>
        </a:graphic>
      </p:graphicFrame>
      <p:sp>
        <p:nvSpPr>
          <p:cNvPr id="162" name="TextBox 27"/>
          <p:cNvSpPr/>
          <p:nvPr/>
        </p:nvSpPr>
        <p:spPr>
          <a:xfrm>
            <a:off x="640080" y="458100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Définition de « terminé » pour une story : critères démontrés avec les chiffres, règle identifiée par son RQ et la couche mesurée, décision attribuée à un rôle, aucune donnée modifiée en place.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Membres, rôles par séance et contribution</a:t>
            </a:r>
            <a:endParaRPr b="0" lang="fr-FR" sz="2800" spc="-1" strike="noStrike">
              <a:latin typeface="Arial"/>
            </a:endParaRPr>
          </a:p>
        </p:txBody>
      </p:sp>
      <p:sp>
        <p:nvSpPr>
          <p:cNvPr id="164" name="PlaceHolder 2"/>
          <p:cNvSpPr>
            <a:spLocks noGrp="1"/>
          </p:cNvSpPr>
          <p:nvPr>
            <p:ph type="sldNum" idx="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D12B88F-DF8B-4DCF-A8B8-6700302EC43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65"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ÉQUIPE</a:t>
            </a:r>
            <a:endParaRPr b="0" lang="fr-FR" sz="1100" spc="-1" strike="noStrike">
              <a:latin typeface="Arial"/>
            </a:endParaRPr>
          </a:p>
        </p:txBody>
      </p:sp>
      <p:sp>
        <p:nvSpPr>
          <p:cNvPr id="16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8" name="Icône target" descr="Icône target"/>
          <p:cNvPicPr/>
          <p:nvPr/>
        </p:nvPicPr>
        <p:blipFill>
          <a:blip r:embed="rId1"/>
          <a:stretch/>
        </p:blipFill>
        <p:spPr>
          <a:xfrm>
            <a:off x="896040" y="1435680"/>
            <a:ext cx="272880" cy="272880"/>
          </a:xfrm>
          <a:prstGeom prst="rect">
            <a:avLst/>
          </a:prstGeom>
          <a:ln w="0">
            <a:noFill/>
          </a:ln>
        </p:spPr>
      </p:pic>
      <p:sp>
        <p:nvSpPr>
          <p:cNvPr id="169"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170" name="TextBox 30"/>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rôles tournent</a:t>
            </a:r>
            <a:r>
              <a:rPr b="0" lang="fr-FR" sz="1300" spc="-1" strike="noStrike">
                <a:solidFill>
                  <a:srgbClr val="f7f6f2"/>
                </a:solidFill>
                <a:latin typeface="Inter"/>
                <a:ea typeface="DejaVu Sans"/>
              </a:rPr>
              <a:t> à chaque séance et un rôle est tenu par une personne à la fois.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contribution déclarée est </a:t>
            </a:r>
            <a:r>
              <a:rPr b="1" lang="fr-FR" sz="1300" spc="-1" strike="noStrike">
                <a:solidFill>
                  <a:srgbClr val="f5a623"/>
                </a:solidFill>
                <a:latin typeface="Inter"/>
                <a:ea typeface="DejaVu Sans"/>
              </a:rPr>
              <a:t>vérifiable</a:t>
            </a:r>
            <a:r>
              <a:rPr b="0" lang="fr-FR" sz="1300" spc="-1" strike="noStrike">
                <a:solidFill>
                  <a:srgbClr val="f7f6f2"/>
                </a:solidFill>
                <a:latin typeface="Inter"/>
                <a:ea typeface="DejaVu Sans"/>
              </a:rPr>
              <a:t> dans l'historique Git : une ligne par membre, deux lignes de texte.</a:t>
            </a:r>
            <a:endParaRPr b="0" lang="fr-FR" sz="1300" spc="-1" strike="noStrike">
              <a:latin typeface="Arial"/>
            </a:endParaRPr>
          </a:p>
        </p:txBody>
      </p:sp>
      <p:graphicFrame>
        <p:nvGraphicFramePr>
          <p:cNvPr id="171" name="Table 31"/>
          <p:cNvGraphicFramePr/>
          <p:nvPr/>
        </p:nvGraphicFramePr>
        <p:xfrm>
          <a:off x="640080" y="2579760"/>
          <a:ext cx="10908360" cy="1828440"/>
        </p:xfrm>
        <a:graphic>
          <a:graphicData uri="http://schemas.openxmlformats.org/drawingml/2006/table">
            <a:tbl>
              <a:tblPr/>
              <a:tblGrid>
                <a:gridCol w="2560320"/>
                <a:gridCol w="2194560"/>
                <a:gridCol w="1188720"/>
                <a:gridCol w="1188720"/>
                <a:gridCol w="1188720"/>
                <a:gridCol w="1280160"/>
                <a:gridCol w="1307520"/>
              </a:tblGrid>
              <a:tr h="365760">
                <a:tc>
                  <a:txBody>
                    <a:bodyPr lIns="73080" rIns="73080" anchor="ctr">
                      <a:noAutofit/>
                    </a:bodyPr>
                    <a:p>
                      <a:pPr>
                        <a:lnSpc>
                          <a:spcPct val="100000"/>
                        </a:lnSpc>
                        <a:buNone/>
                      </a:pPr>
                      <a:r>
                        <a:rPr b="1" lang="en-US" sz="1100" spc="49" strike="noStrike">
                          <a:solidFill>
                            <a:srgbClr val="f5a623"/>
                          </a:solidFill>
                          <a:latin typeface="Inter"/>
                        </a:rPr>
                        <a:t>Membre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Identifiant Git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S2</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S3</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S4</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S5</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0" lang="en-US" sz="1200" spc="-1" strike="noStrike">
                          <a:solidFill>
                            <a:srgbClr val="f5a623"/>
                          </a:solidFill>
                          <a:latin typeface="Inter"/>
                        </a:rPr>
                        <a:t>AMY Léo</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LeoAugustinAmy</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Rédacteur du livrable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MENY Nicolas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Tastycoole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Data Owner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OUERGHEMNI Mongi</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mongi-ouerghemmi</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Ingénieur qualité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TRUONG David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0TRDavid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Data Steward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172" name="TextBox 32"/>
          <p:cNvSpPr/>
          <p:nvPr/>
        </p:nvSpPr>
        <p:spPr>
          <a:xfrm>
            <a:off x="640440" y="45903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Rôles : Data Owner (décide des seuils et du GO) · Data Steward (définit les règles et leur sévérité) · Ingénieur qualité (mesure, implémente) · Rédacteur du livrable.</a:t>
            </a:r>
            <a:endParaRPr b="0" lang="fr-FR" sz="1100" spc="-1" strike="noStrike">
              <a:latin typeface="Arial"/>
            </a:endParaRPr>
          </a:p>
        </p:txBody>
      </p:sp>
      <p:graphicFrame>
        <p:nvGraphicFramePr>
          <p:cNvPr id="173" name="Table 33"/>
          <p:cNvGraphicFramePr/>
          <p:nvPr/>
        </p:nvGraphicFramePr>
        <p:xfrm>
          <a:off x="640080" y="4865760"/>
          <a:ext cx="10908360" cy="1828440"/>
        </p:xfrm>
        <a:graphic>
          <a:graphicData uri="http://schemas.openxmlformats.org/drawingml/2006/table">
            <a:tbl>
              <a:tblPr/>
              <a:tblGrid>
                <a:gridCol w="2560320"/>
                <a:gridCol w="6035040"/>
                <a:gridCol w="2313360"/>
              </a:tblGrid>
              <a:tr h="365760">
                <a:tc>
                  <a:txBody>
                    <a:bodyPr lIns="73080" rIns="73080" anchor="ctr">
                      <a:noAutofit/>
                    </a:bodyPr>
                    <a:p>
                      <a:pPr>
                        <a:lnSpc>
                          <a:spcPct val="100000"/>
                        </a:lnSpc>
                        <a:buNone/>
                      </a:pPr>
                      <a:r>
                        <a:rPr b="1" lang="en-US" sz="1100" spc="49" strike="noStrike">
                          <a:solidFill>
                            <a:srgbClr val="f5a623"/>
                          </a:solidFill>
                          <a:latin typeface="Inter"/>
                        </a:rPr>
                        <a:t>Membre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Contribution (deux lignes)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Stories principales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Notre compréhension du mandat</a:t>
            </a:r>
            <a:endParaRPr b="0" lang="fr-FR" sz="2800" spc="-1" strike="noStrike">
              <a:latin typeface="Arial"/>
            </a:endParaRPr>
          </a:p>
        </p:txBody>
      </p:sp>
      <p:sp>
        <p:nvSpPr>
          <p:cNvPr id="175" name="PlaceHolder 2"/>
          <p:cNvSpPr>
            <a:spLocks noGrp="1"/>
          </p:cNvSpPr>
          <p:nvPr>
            <p:ph type="sldNum" idx="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A81605EF-B54F-454C-AA47-A9E0C8B19C9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7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CONTEXTE</a:t>
            </a:r>
            <a:endParaRPr b="0" lang="fr-FR" sz="1100" spc="-1" strike="noStrike">
              <a:latin typeface="Arial"/>
            </a:endParaRPr>
          </a:p>
        </p:txBody>
      </p:sp>
      <p:sp>
        <p:nvSpPr>
          <p:cNvPr id="177"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8"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79" name="Icône target" descr="Icône target"/>
          <p:cNvPicPr/>
          <p:nvPr/>
        </p:nvPicPr>
        <p:blipFill>
          <a:blip r:embed="rId1"/>
          <a:stretch/>
        </p:blipFill>
        <p:spPr>
          <a:xfrm>
            <a:off x="896040" y="1435680"/>
            <a:ext cx="272880" cy="272880"/>
          </a:xfrm>
          <a:prstGeom prst="rect">
            <a:avLst/>
          </a:prstGeom>
          <a:ln w="0">
            <a:noFill/>
          </a:ln>
        </p:spPr>
      </p:pic>
      <p:sp>
        <p:nvSpPr>
          <p:cNvPr id="180"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181" name="TextBox 30"/>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condition posée par la </a:t>
            </a:r>
            <a:r>
              <a:rPr b="1" lang="fr-FR" sz="1300" spc="-1" strike="noStrike">
                <a:solidFill>
                  <a:srgbClr val="f5a623"/>
                </a:solidFill>
                <a:latin typeface="Inter"/>
                <a:ea typeface="DejaVu Sans"/>
              </a:rPr>
              <a:t>Direction Générale</a:t>
            </a:r>
            <a:r>
              <a:rPr b="0" lang="fr-FR" sz="1300" spc="-1" strike="noStrike">
                <a:solidFill>
                  <a:srgbClr val="f7f6f2"/>
                </a:solidFill>
                <a:latin typeface="Inter"/>
                <a:ea typeface="DejaVu Sans"/>
              </a:rPr>
              <a:t> reformulée avec vos mots.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périmètre</a:t>
            </a:r>
            <a:r>
              <a:rPr b="0" lang="fr-FR" sz="1300" spc="-1" strike="noStrike">
                <a:solidFill>
                  <a:srgbClr val="f7f6f2"/>
                </a:solidFill>
                <a:latin typeface="Inter"/>
                <a:ea typeface="DejaVu Sans"/>
              </a:rPr>
              <a:t> : sources, couches du médaillon, portes B, S, G et C.</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trois rôles</a:t>
            </a:r>
            <a:r>
              <a:rPr b="0" lang="fr-FR" sz="1300" spc="-1" strike="noStrike">
                <a:solidFill>
                  <a:srgbClr val="f7f6f2"/>
                </a:solidFill>
                <a:latin typeface="Inter"/>
                <a:ea typeface="DejaVu Sans"/>
              </a:rPr>
              <a:t> de gouvernance et ce que chacun décide.</a:t>
            </a:r>
            <a:endParaRPr b="0" lang="fr-FR" sz="1300" spc="-1" strike="noStrike">
              <a:latin typeface="Arial"/>
            </a:endParaRPr>
          </a:p>
        </p:txBody>
      </p:sp>
      <p:sp>
        <p:nvSpPr>
          <p:cNvPr id="182" name="TextBox 31"/>
          <p:cNvSpPr/>
          <p:nvPr/>
        </p:nvSpPr>
        <p:spPr>
          <a:xfrm>
            <a:off x="640080" y="2868840"/>
            <a:ext cx="53020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MANDAT ET CONDITION DE LA DG</a:t>
            </a:r>
            <a:endParaRPr b="0" lang="fr-FR" sz="1100" spc="-1" strike="noStrike">
              <a:latin typeface="Arial"/>
            </a:endParaRPr>
          </a:p>
        </p:txBody>
      </p:sp>
      <p:sp>
        <p:nvSpPr>
          <p:cNvPr id="183" name="Zone à rédiger"/>
          <p:cNvSpPr/>
          <p:nvPr/>
        </p:nvSpPr>
        <p:spPr>
          <a:xfrm>
            <a:off x="640080" y="3124440"/>
            <a:ext cx="5302080" cy="30006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 cinq lignes au plus]</a:t>
            </a:r>
            <a:endParaRPr b="0" lang="fr-FR" sz="1200" spc="-1" strike="noStrike">
              <a:latin typeface="Arial"/>
            </a:endParaRPr>
          </a:p>
        </p:txBody>
      </p:sp>
      <p:sp>
        <p:nvSpPr>
          <p:cNvPr id="184" name="TextBox 33"/>
          <p:cNvSpPr/>
          <p:nvPr/>
        </p:nvSpPr>
        <p:spPr>
          <a:xfrm>
            <a:off x="6245280" y="2868840"/>
            <a:ext cx="53020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PÉRIMÈTRE ET RÔLES</a:t>
            </a:r>
            <a:endParaRPr b="0" lang="fr-FR" sz="1100" spc="-1" strike="noStrike">
              <a:latin typeface="Arial"/>
            </a:endParaRPr>
          </a:p>
        </p:txBody>
      </p:sp>
      <p:sp>
        <p:nvSpPr>
          <p:cNvPr id="185" name="Zone à rédiger"/>
          <p:cNvSpPr/>
          <p:nvPr/>
        </p:nvSpPr>
        <p:spPr>
          <a:xfrm>
            <a:off x="6245280" y="3124440"/>
            <a:ext cx="5302080" cy="30006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 cinq lignes au plus]</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01</a:t>
            </a:r>
            <a:endParaRPr b="0" lang="fr-FR" sz="7200" spc="-1" strike="noStrike">
              <a:latin typeface="Arial"/>
            </a:endParaRPr>
          </a:p>
        </p:txBody>
      </p:sp>
      <p:sp>
        <p:nvSpPr>
          <p:cNvPr id="187"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Stack, profilage, bronze</a:t>
            </a:r>
            <a:endParaRPr b="0" lang="fr-FR" sz="4200" spc="-1" strike="noStrike">
              <a:latin typeface="Arial"/>
            </a:endParaRPr>
          </a:p>
        </p:txBody>
      </p:sp>
      <p:sp>
        <p:nvSpPr>
          <p:cNvPr id="188" name="PlaceHolder 3"/>
          <p:cNvSpPr>
            <a:spLocks noGrp="1"/>
          </p:cNvSpPr>
          <p:nvPr>
            <p:ph type="sldNum" idx="1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ABB8912-008A-44A9-B09B-20B2D2640D82}"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89" name="TextBox 25"/>
          <p:cNvSpPr/>
          <p:nvPr/>
        </p:nvSpPr>
        <p:spPr>
          <a:xfrm>
            <a:off x="640080" y="4892040"/>
            <a:ext cx="639936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1 · Porte B · US-01 à 09. Inventaire des sources, bronze, réconciliation, profil de crm.client, dictionnaire du CIF, client actif.</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Inventaire des sources</a:t>
            </a:r>
            <a:endParaRPr b="0" lang="fr-FR" sz="2800" spc="-1" strike="noStrike">
              <a:latin typeface="Arial"/>
            </a:endParaRPr>
          </a:p>
        </p:txBody>
      </p:sp>
      <p:sp>
        <p:nvSpPr>
          <p:cNvPr id="191" name="PlaceHolder 2"/>
          <p:cNvSpPr>
            <a:spLocks noGrp="1"/>
          </p:cNvSpPr>
          <p:nvPr>
            <p:ph type="sldNum" idx="1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F058BC1-B878-4C88-807E-76CB9800CF0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19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US-01</a:t>
            </a:r>
            <a:endParaRPr b="0" lang="fr-FR" sz="1100" spc="-1" strike="noStrike">
              <a:latin typeface="Arial"/>
            </a:endParaRPr>
          </a:p>
        </p:txBody>
      </p:sp>
      <p:sp>
        <p:nvSpPr>
          <p:cNvPr id="19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194"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95"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96" name="Icône target" descr="Icône target"/>
          <p:cNvPicPr/>
          <p:nvPr/>
        </p:nvPicPr>
        <p:blipFill>
          <a:blip r:embed="rId1"/>
          <a:stretch/>
        </p:blipFill>
        <p:spPr>
          <a:xfrm>
            <a:off x="896040" y="1435680"/>
            <a:ext cx="272880" cy="272880"/>
          </a:xfrm>
          <a:prstGeom prst="rect">
            <a:avLst/>
          </a:prstGeom>
          <a:ln w="0">
            <a:noFill/>
          </a:ln>
        </p:spPr>
      </p:pic>
      <p:sp>
        <p:nvSpPr>
          <p:cNvPr id="19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198"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sept tables</a:t>
            </a:r>
            <a:r>
              <a:rPr b="0" lang="fr-FR" sz="1300" spc="-1" strike="noStrike">
                <a:solidFill>
                  <a:srgbClr val="f7f6f2"/>
                </a:solidFill>
                <a:latin typeface="Inter"/>
                <a:ea typeface="DejaVu Sans"/>
              </a:rPr>
              <a:t> des deux sources, avec le </a:t>
            </a:r>
            <a:r>
              <a:rPr b="1" lang="fr-FR" sz="1300" spc="-1" strike="noStrike">
                <a:solidFill>
                  <a:srgbClr val="f5a623"/>
                </a:solidFill>
                <a:latin typeface="Inter"/>
                <a:ea typeface="DejaVu Sans"/>
              </a:rPr>
              <a:t>nombre de lignes</a:t>
            </a:r>
            <a:r>
              <a:rPr b="0" lang="fr-FR" sz="1300" spc="-1" strike="noStrike">
                <a:solidFill>
                  <a:srgbClr val="f7f6f2"/>
                </a:solidFill>
                <a:latin typeface="Inter"/>
                <a:ea typeface="DejaVu Sans"/>
              </a:rPr>
              <a:t> mesuré et la </a:t>
            </a:r>
            <a:r>
              <a:rPr b="1" lang="fr-FR" sz="1300" spc="-1" strike="noStrike">
                <a:solidFill>
                  <a:srgbClr val="f5a623"/>
                </a:solidFill>
                <a:latin typeface="Inter"/>
                <a:ea typeface="DejaVu Sans"/>
              </a:rPr>
              <a:t>clé primaire</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observation chiffrée</a:t>
            </a:r>
            <a:r>
              <a:rPr b="0" lang="fr-FR" sz="1300" spc="-1" strike="noStrike">
                <a:solidFill>
                  <a:srgbClr val="f7f6f2"/>
                </a:solidFill>
                <a:latin typeface="Inter"/>
                <a:ea typeface="DejaVu Sans"/>
              </a:rPr>
              <a:t> par table (nulls, doublons de clé, particularités).</a:t>
            </a:r>
            <a:endParaRPr b="0" lang="fr-FR" sz="1300" spc="-1" strike="noStrike">
              <a:latin typeface="Arial"/>
            </a:endParaRPr>
          </a:p>
        </p:txBody>
      </p:sp>
      <p:graphicFrame>
        <p:nvGraphicFramePr>
          <p:cNvPr id="199" name="Table 32"/>
          <p:cNvGraphicFramePr/>
          <p:nvPr/>
        </p:nvGraphicFramePr>
        <p:xfrm>
          <a:off x="640080" y="2579760"/>
          <a:ext cx="10908360" cy="2925720"/>
        </p:xfrm>
        <a:graphic>
          <a:graphicData uri="http://schemas.openxmlformats.org/drawingml/2006/table">
            <a:tbl>
              <a:tblPr/>
              <a:tblGrid>
                <a:gridCol w="1188720"/>
                <a:gridCol w="2011680"/>
                <a:gridCol w="1463040"/>
                <a:gridCol w="2194560"/>
                <a:gridCol w="4050720"/>
              </a:tblGrid>
              <a:tr h="365760">
                <a:tc>
                  <a:txBody>
                    <a:bodyPr lIns="73080" rIns="73080" anchor="ctr">
                      <a:noAutofit/>
                    </a:bodyPr>
                    <a:p>
                      <a:pPr>
                        <a:lnSpc>
                          <a:spcPct val="100000"/>
                        </a:lnSpc>
                        <a:buNone/>
                      </a:pPr>
                      <a:r>
                        <a:rPr b="1" lang="en-US" sz="1100" spc="49" strike="noStrike">
                          <a:solidFill>
                            <a:srgbClr val="f5a623"/>
                          </a:solidFill>
                          <a:latin typeface="Inter"/>
                        </a:rPr>
                        <a:t>Source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Table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Lignes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Clé primaire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Observation chiffrée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client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client_id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133918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contrat_id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7460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sinistre_id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type_contrat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code_type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clients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column0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26486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compte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column0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code_pays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Nulls: 0 | doublons de clé: 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00" name="TextBox 33"/>
          <p:cNvSpPr/>
          <p:nvPr/>
        </p:nvSpPr>
        <p:spPr>
          <a:xfrm>
            <a:off x="640080" y="589032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Bronze et porte B : la copie est-elle fidèle ?</a:t>
            </a:r>
            <a:endParaRPr b="0" lang="fr-FR" sz="2800" spc="-1" strike="noStrike">
              <a:latin typeface="Arial"/>
            </a:endParaRPr>
          </a:p>
        </p:txBody>
      </p:sp>
      <p:sp>
        <p:nvSpPr>
          <p:cNvPr id="202" name="PlaceHolder 2"/>
          <p:cNvSpPr>
            <a:spLocks noGrp="1"/>
          </p:cNvSpPr>
          <p:nvPr>
            <p:ph type="sldNum" idx="1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7829E9E-8BDA-4791-BB05-668403312BA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0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US-02, 03</a:t>
            </a:r>
            <a:endParaRPr b="0" lang="fr-FR" sz="1100" spc="-1" strike="noStrike">
              <a:latin typeface="Arial"/>
            </a:endParaRPr>
          </a:p>
        </p:txBody>
      </p:sp>
      <p:sp>
        <p:nvSpPr>
          <p:cNvPr id="20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05"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06"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07" name="Icône target" descr="Icône target"/>
          <p:cNvPicPr/>
          <p:nvPr/>
        </p:nvPicPr>
        <p:blipFill>
          <a:blip r:embed="rId1"/>
          <a:stretch/>
        </p:blipFill>
        <p:spPr>
          <a:xfrm>
            <a:off x="896040" y="1435680"/>
            <a:ext cx="272880" cy="272880"/>
          </a:xfrm>
          <a:prstGeom prst="rect">
            <a:avLst/>
          </a:prstGeom>
          <a:ln w="0">
            <a:noFill/>
          </a:ln>
        </p:spPr>
      </p:pic>
      <p:sp>
        <p:nvSpPr>
          <p:cNvPr id="20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09"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RQ-021</a:t>
            </a:r>
            <a:r>
              <a:rPr b="0" lang="fr-FR" sz="1300" spc="-1" strike="noStrike">
                <a:solidFill>
                  <a:srgbClr val="f7f6f2"/>
                </a:solidFill>
                <a:latin typeface="Inter"/>
                <a:ea typeface="DejaVu Sans"/>
              </a:rPr>
              <a:t> (comptage) et </a:t>
            </a:r>
            <a:r>
              <a:rPr b="1" lang="fr-FR" sz="1300" spc="-1" strike="noStrike">
                <a:solidFill>
                  <a:srgbClr val="f5a623"/>
                </a:solidFill>
                <a:latin typeface="Inter"/>
                <a:ea typeface="DejaVu Sans"/>
              </a:rPr>
              <a:t>RQ-022</a:t>
            </a:r>
            <a:r>
              <a:rPr b="0" lang="fr-FR" sz="1300" spc="-1" strike="noStrike">
                <a:solidFill>
                  <a:srgbClr val="f7f6f2"/>
                </a:solidFill>
                <a:latin typeface="Inter"/>
                <a:ea typeface="DejaVu Sans"/>
              </a:rPr>
              <a:t> (somme de contrôle) mesurées </a:t>
            </a:r>
            <a:r>
              <a:rPr b="1" lang="fr-FR" sz="1300" spc="-1" strike="noStrike">
                <a:solidFill>
                  <a:srgbClr val="f5a623"/>
                </a:solidFill>
                <a:latin typeface="Inter"/>
                <a:ea typeface="DejaVu Sans"/>
              </a:rPr>
              <a:t>table par table</a:t>
            </a:r>
            <a:r>
              <a:rPr b="0" lang="fr-FR" sz="1300" spc="-1" strike="noStrike">
                <a:solidFill>
                  <a:srgbClr val="f7f6f2"/>
                </a:solidFill>
                <a:latin typeface="Inter"/>
                <a:ea typeface="DejaVu Sans"/>
              </a:rPr>
              <a:t>, même quand l'écart est nul.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ligne bronze porte ses </a:t>
            </a:r>
            <a:r>
              <a:rPr b="1" lang="fr-FR" sz="1300" spc="-1" strike="noStrike">
                <a:solidFill>
                  <a:srgbClr val="f5a623"/>
                </a:solidFill>
                <a:latin typeface="Inter"/>
                <a:ea typeface="DejaVu Sans"/>
              </a:rPr>
              <a:t>quatre métadonnées</a:t>
            </a:r>
            <a:r>
              <a:rPr b="0" lang="fr-FR" sz="1300" spc="-1" strike="noStrike">
                <a:solidFill>
                  <a:srgbClr val="f7f6f2"/>
                </a:solidFill>
                <a:latin typeface="Inter"/>
                <a:ea typeface="DejaVu Sans"/>
              </a:rPr>
              <a:t> (lot, source, horodatage, empreinte de ligne).</a:t>
            </a:r>
            <a:endParaRPr b="0" lang="fr-FR" sz="1300" spc="-1" strike="noStrike">
              <a:latin typeface="Arial"/>
            </a:endParaRPr>
          </a:p>
        </p:txBody>
      </p:sp>
      <p:graphicFrame>
        <p:nvGraphicFramePr>
          <p:cNvPr id="210" name="Table 32"/>
          <p:cNvGraphicFramePr/>
          <p:nvPr/>
        </p:nvGraphicFramePr>
        <p:xfrm>
          <a:off x="640080" y="2579760"/>
          <a:ext cx="10908360" cy="2925720"/>
        </p:xfrm>
        <a:graphic>
          <a:graphicData uri="http://schemas.openxmlformats.org/drawingml/2006/table">
            <a:tbl>
              <a:tblPr/>
              <a:tblGrid>
                <a:gridCol w="2651760"/>
                <a:gridCol w="1828800"/>
                <a:gridCol w="1828800"/>
                <a:gridCol w="2194560"/>
                <a:gridCol w="2404800"/>
              </a:tblGrid>
              <a:tr h="365760">
                <a:tc>
                  <a:txBody>
                    <a:bodyPr lIns="73080" rIns="73080" anchor="ctr">
                      <a:noAutofit/>
                    </a:bodyPr>
                    <a:p>
                      <a:pPr>
                        <a:lnSpc>
                          <a:spcPct val="100000"/>
                        </a:lnSpc>
                        <a:buNone/>
                      </a:pPr>
                      <a:r>
                        <a:rPr b="1" lang="en-US" sz="1100" spc="49" strike="noStrike">
                          <a:solidFill>
                            <a:srgbClr val="f5a623"/>
                          </a:solidFill>
                          <a:latin typeface="Inter"/>
                        </a:rPr>
                        <a:t>Table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Lignes source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Lignes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Écart de comptage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Écart de somme de contrôle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crm_client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ea typeface="Microsoft YaHei"/>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crm_type_contrat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cif_clients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40000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cif_compte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45000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cif_pays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250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100%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11" name="TextBox 33"/>
          <p:cNvSpPr/>
          <p:nvPr/>
        </p:nvSpPr>
        <p:spPr>
          <a:xfrm>
            <a:off x="640080" y="589032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Épreuves de la porte B et méthode d'ingestion</a:t>
            </a:r>
            <a:endParaRPr b="0" lang="fr-FR" sz="2800" spc="-1" strike="noStrike">
              <a:latin typeface="Arial"/>
            </a:endParaRPr>
          </a:p>
        </p:txBody>
      </p:sp>
      <p:sp>
        <p:nvSpPr>
          <p:cNvPr id="213" name="PlaceHolder 2"/>
          <p:cNvSpPr>
            <a:spLocks noGrp="1"/>
          </p:cNvSpPr>
          <p:nvPr>
            <p:ph type="sldNum" idx="1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E291B68-73CB-47C3-9C74-889B18954BEB}"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1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US-02, 03</a:t>
            </a:r>
            <a:endParaRPr b="0" lang="fr-FR" sz="1100" spc="-1" strike="noStrike">
              <a:latin typeface="Arial"/>
            </a:endParaRPr>
          </a:p>
        </p:txBody>
      </p:sp>
      <p:sp>
        <p:nvSpPr>
          <p:cNvPr id="21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1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1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18" name="Icône target" descr="Icône target"/>
          <p:cNvPicPr/>
          <p:nvPr/>
        </p:nvPicPr>
        <p:blipFill>
          <a:blip r:embed="rId1"/>
          <a:stretch/>
        </p:blipFill>
        <p:spPr>
          <a:xfrm>
            <a:off x="896040" y="1435680"/>
            <a:ext cx="272880" cy="272880"/>
          </a:xfrm>
          <a:prstGeom prst="rect">
            <a:avLst/>
          </a:prstGeom>
          <a:ln w="0">
            <a:noFill/>
          </a:ln>
        </p:spPr>
      </p:pic>
      <p:sp>
        <p:nvSpPr>
          <p:cNvPr id="21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20"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trois épreuves</a:t>
            </a:r>
            <a:r>
              <a:rPr b="0" lang="fr-FR" sz="1300" spc="-1" strike="noStrike">
                <a:solidFill>
                  <a:srgbClr val="f7f6f2"/>
                </a:solidFill>
                <a:latin typeface="Inter"/>
                <a:ea typeface="DejaVu Sans"/>
              </a:rPr>
              <a:t> documentées, chacune avec son </a:t>
            </a:r>
            <a:r>
              <a:rPr b="1" lang="fr-FR" sz="1300" spc="-1" strike="noStrike">
                <a:solidFill>
                  <a:srgbClr val="f5a623"/>
                </a:solidFill>
                <a:latin typeface="Inter"/>
                <a:ea typeface="DejaVu Sans"/>
              </a:rPr>
              <a:t>résultat obtenu</a:t>
            </a:r>
            <a:r>
              <a:rPr b="0" lang="fr-FR" sz="1300" spc="-1" strike="noStrike">
                <a:solidFill>
                  <a:srgbClr val="f7f6f2"/>
                </a:solidFill>
                <a:latin typeface="Inter"/>
                <a:ea typeface="DejaVu Sans"/>
              </a:rPr>
              <a:t> et sa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méthode d'ingestion en </a:t>
            </a:r>
            <a:r>
              <a:rPr b="1" lang="fr-FR" sz="1300" spc="-1" strike="noStrike">
                <a:solidFill>
                  <a:srgbClr val="f5a623"/>
                </a:solidFill>
                <a:latin typeface="Inter"/>
                <a:ea typeface="DejaVu Sans"/>
              </a:rPr>
              <a:t>trois lignes</a:t>
            </a:r>
            <a:r>
              <a:rPr b="0" lang="fr-FR" sz="1300" spc="-1" strike="noStrike">
                <a:solidFill>
                  <a:srgbClr val="f7f6f2"/>
                </a:solidFill>
                <a:latin typeface="Inter"/>
                <a:ea typeface="DejaVu Sans"/>
              </a:rPr>
              <a:t> : lecture, conversion, métadonnées, relance du lot.</a:t>
            </a:r>
            <a:endParaRPr b="0" lang="fr-FR" sz="1300" spc="-1" strike="noStrike">
              <a:latin typeface="Arial"/>
            </a:endParaRPr>
          </a:p>
        </p:txBody>
      </p:sp>
      <p:graphicFrame>
        <p:nvGraphicFramePr>
          <p:cNvPr id="221" name="Table 32"/>
          <p:cNvGraphicFramePr/>
          <p:nvPr/>
        </p:nvGraphicFramePr>
        <p:xfrm>
          <a:off x="640080" y="2579760"/>
          <a:ext cx="10908360" cy="2011320"/>
        </p:xfrm>
        <a:graphic>
          <a:graphicData uri="http://schemas.openxmlformats.org/drawingml/2006/table">
            <a:tbl>
              <a:tblPr/>
              <a:tblGrid>
                <a:gridCol w="5120640"/>
                <a:gridCol w="3108960"/>
                <a:gridCol w="2679120"/>
              </a:tblGrid>
              <a:tr h="502920">
                <a:tc>
                  <a:txBody>
                    <a:bodyPr lIns="73080" rIns="73080" anchor="ctr">
                      <a:noAutofit/>
                    </a:bodyPr>
                    <a:p>
                      <a:pPr>
                        <a:lnSpc>
                          <a:spcPct val="100000"/>
                        </a:lnSpc>
                        <a:buNone/>
                      </a:pPr>
                      <a:r>
                        <a:rPr b="1" lang="en-US" sz="1100" spc="49" strike="noStrike">
                          <a:solidFill>
                            <a:srgbClr val="f5a623"/>
                          </a:solidFill>
                          <a:latin typeface="Inter"/>
                        </a:rPr>
                        <a:t>Épreuve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Résultat obtenu</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Preuve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502920">
                <a:tc>
                  <a:txBody>
                    <a:bodyPr lIns="73080" rIns="73080" anchor="ctr">
                      <a:noAutofit/>
                    </a:bodyPr>
                    <a:p>
                      <a:pPr>
                        <a:lnSpc>
                          <a:spcPct val="100000"/>
                        </a:lnSpc>
                        <a:buNone/>
                      </a:pPr>
                      <a:r>
                        <a:rPr b="1" lang="en-US" sz="1200" spc="-1" strike="noStrike">
                          <a:solidFill>
                            <a:srgbClr val="f7f6f2"/>
                          </a:solidFill>
                          <a:latin typeface="Inter"/>
                        </a:rPr>
                        <a:t>Relance du même lot : doublons créés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Non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502920">
                <a:tc>
                  <a:txBody>
                    <a:bodyPr lIns="73080" rIns="73080" anchor="ctr">
                      <a:noAutofit/>
                    </a:bodyPr>
                    <a:p>
                      <a:pPr>
                        <a:lnSpc>
                          <a:spcPct val="100000"/>
                        </a:lnSpc>
                        <a:buNone/>
                      </a:pPr>
                      <a:r>
                        <a:rPr b="1" lang="en-US" sz="1200" spc="-1" strike="noStrike">
                          <a:solidFill>
                            <a:srgbClr val="f7f6f2"/>
                          </a:solidFill>
                          <a:latin typeface="Inter"/>
                        </a:rPr>
                        <a:t>Écart introduit volontairement sur une copie : la porte échoue-t-elle ?</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1 écart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502920">
                <a:tc>
                  <a:txBody>
                    <a:bodyPr lIns="73080" rIns="73080" anchor="ctr">
                      <a:noAutofit/>
                    </a:bodyPr>
                    <a:p>
                      <a:pPr>
                        <a:lnSpc>
                          <a:spcPct val="100000"/>
                        </a:lnSpc>
                        <a:buNone/>
                      </a:pPr>
                      <a:r>
                        <a:rPr b="1" lang="en-US" sz="1200" spc="-1" strike="noStrike">
                          <a:solidFill>
                            <a:srgbClr val="f7f6f2"/>
                          </a:solidFill>
                          <a:latin typeface="Inter"/>
                        </a:rPr>
                        <a:t>Un problème de conversion rencontré (décimales, NULL, accents) et sa correction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Non</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22" name="TextBox 33"/>
          <p:cNvSpPr/>
          <p:nvPr/>
        </p:nvSpPr>
        <p:spPr>
          <a:xfrm>
            <a:off x="640080" y="485712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MÉTHODE D'INGESTION EN TROIS LIGNES</a:t>
            </a:r>
            <a:endParaRPr b="0" lang="fr-FR" sz="1100" spc="-1" strike="noStrike">
              <a:latin typeface="Arial"/>
            </a:endParaRPr>
          </a:p>
        </p:txBody>
      </p:sp>
      <p:sp>
        <p:nvSpPr>
          <p:cNvPr id="223" name="Zone à rédiger"/>
          <p:cNvSpPr/>
          <p:nvPr/>
        </p:nvSpPr>
        <p:spPr>
          <a:xfrm>
            <a:off x="640080" y="5112720"/>
            <a:ext cx="10907280" cy="10123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pic>
        <p:nvPicPr>
          <p:cNvPr id="224" name="" descr=""/>
          <p:cNvPicPr/>
          <p:nvPr/>
        </p:nvPicPr>
        <p:blipFill>
          <a:blip r:embed="rId2"/>
          <a:stretch/>
        </p:blipFill>
        <p:spPr>
          <a:xfrm>
            <a:off x="8820000" y="3578040"/>
            <a:ext cx="2699640" cy="561600"/>
          </a:xfrm>
          <a:prstGeom prst="rect">
            <a:avLst/>
          </a:prstGeom>
          <a:ln w="0">
            <a:noFill/>
          </a:ln>
        </p:spPr>
      </p:pic>
      <p:pic>
        <p:nvPicPr>
          <p:cNvPr id="225" name="" descr=""/>
          <p:cNvPicPr/>
          <p:nvPr/>
        </p:nvPicPr>
        <p:blipFill>
          <a:blip r:embed="rId3"/>
          <a:stretch/>
        </p:blipFill>
        <p:spPr>
          <a:xfrm>
            <a:off x="8862840" y="3087000"/>
            <a:ext cx="1216800" cy="5126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Profil de crm.client et motifs</a:t>
            </a:r>
            <a:endParaRPr b="0" lang="fr-FR" sz="2800" spc="-1" strike="noStrike">
              <a:latin typeface="Arial"/>
            </a:endParaRPr>
          </a:p>
        </p:txBody>
      </p:sp>
      <p:sp>
        <p:nvSpPr>
          <p:cNvPr id="227" name="PlaceHolder 2"/>
          <p:cNvSpPr>
            <a:spLocks noGrp="1"/>
          </p:cNvSpPr>
          <p:nvPr>
            <p:ph type="sldNum" idx="1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EB17C9B-2F32-46CE-9BF0-7681F1838E0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28"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US-06, 07</a:t>
            </a:r>
            <a:endParaRPr b="0" lang="fr-FR" sz="1100" spc="-1" strike="noStrike">
              <a:latin typeface="Arial"/>
            </a:endParaRPr>
          </a:p>
        </p:txBody>
      </p:sp>
      <p:sp>
        <p:nvSpPr>
          <p:cNvPr id="229"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30"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31"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32" name="Icône target" descr="Icône target"/>
          <p:cNvPicPr/>
          <p:nvPr/>
        </p:nvPicPr>
        <p:blipFill>
          <a:blip r:embed="rId1"/>
          <a:stretch/>
        </p:blipFill>
        <p:spPr>
          <a:xfrm>
            <a:off x="896040" y="1435680"/>
            <a:ext cx="272880" cy="272880"/>
          </a:xfrm>
          <a:prstGeom prst="rect">
            <a:avLst/>
          </a:prstGeom>
          <a:ln w="0">
            <a:noFill/>
          </a:ln>
        </p:spPr>
      </p:pic>
      <p:sp>
        <p:nvSpPr>
          <p:cNvPr id="233"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34"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Au moins </a:t>
            </a:r>
            <a:r>
              <a:rPr b="1" lang="fr-FR" sz="1300" spc="-1" strike="noStrike">
                <a:solidFill>
                  <a:srgbClr val="f5a623"/>
                </a:solidFill>
                <a:latin typeface="Inter"/>
                <a:ea typeface="DejaVu Sans"/>
              </a:rPr>
              <a:t>cinq constats chiffrés</a:t>
            </a:r>
            <a:r>
              <a:rPr b="0" lang="fr-FR" sz="1300" spc="-1" strike="noStrike">
                <a:solidFill>
                  <a:srgbClr val="f7f6f2"/>
                </a:solidFill>
                <a:latin typeface="Inter"/>
                <a:ea typeface="DejaVu Sans"/>
              </a:rPr>
              <a:t> : colonne, indicateur, valeur mesurée, conséquence pour la qualité.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motifs</a:t>
            </a:r>
            <a:r>
              <a:rPr b="0" lang="fr-FR" sz="1300" spc="-1" strike="noStrike">
                <a:solidFill>
                  <a:srgbClr val="f7f6f2"/>
                </a:solidFill>
                <a:latin typeface="Inter"/>
                <a:ea typeface="DejaVu Sans"/>
              </a:rPr>
              <a:t> de code postal, de téléphone et de pays : lignes conformes, non conformes, un exemple.</a:t>
            </a:r>
            <a:endParaRPr b="0" lang="fr-FR" sz="1300" spc="-1" strike="noStrike">
              <a:latin typeface="Arial"/>
            </a:endParaRPr>
          </a:p>
        </p:txBody>
      </p:sp>
      <p:graphicFrame>
        <p:nvGraphicFramePr>
          <p:cNvPr id="235" name="Table 32"/>
          <p:cNvGraphicFramePr/>
          <p:nvPr/>
        </p:nvGraphicFramePr>
        <p:xfrm>
          <a:off x="640080" y="2534040"/>
          <a:ext cx="10908360" cy="2056320"/>
        </p:xfrm>
        <a:graphic>
          <a:graphicData uri="http://schemas.openxmlformats.org/drawingml/2006/table">
            <a:tbl>
              <a:tblPr/>
              <a:tblGrid>
                <a:gridCol w="548640"/>
                <a:gridCol w="1828800"/>
                <a:gridCol w="3291840"/>
                <a:gridCol w="1737360"/>
                <a:gridCol w="3502080"/>
              </a:tblGrid>
              <a:tr h="411480">
                <a:tc>
                  <a:txBody>
                    <a:bodyPr lIns="73080" rIns="73080" anchor="ctr">
                      <a:noAutofit/>
                    </a:bodyPr>
                    <a:p>
                      <a:pPr>
                        <a:lnSpc>
                          <a:spcPct val="100000"/>
                        </a:lnSpc>
                        <a:buNone/>
                      </a:pPr>
                      <a:r>
                        <a:rPr b="1" lang="en-US" sz="1050" spc="49" strike="noStrike">
                          <a:solidFill>
                            <a:srgbClr val="f5a623"/>
                          </a:solidFill>
                          <a:latin typeface="Inter"/>
                        </a:rPr>
                        <a:t>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Colonne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Indicateur (nulls, vides, distincts, motif)</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Valeur mesurée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Ce que cela change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1</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nom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4277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peut ne pas être fiable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2</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prenom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4277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peut ne pas être fiable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3</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raison_social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nulls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95723</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Cette colonne n’est pas fiable car extremement vide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4</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pays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vides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400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Faible manque par rapport au 100000 lignes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telephone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blancs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2000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Faible manque par rapport au 100000 lignes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236" name="Table 33"/>
          <p:cNvGraphicFramePr/>
          <p:nvPr/>
        </p:nvGraphicFramePr>
        <p:xfrm>
          <a:off x="640080" y="4646520"/>
          <a:ext cx="10908360" cy="1316160"/>
        </p:xfrm>
        <a:graphic>
          <a:graphicData uri="http://schemas.openxmlformats.org/drawingml/2006/table">
            <a:tbl>
              <a:tblPr/>
              <a:tblGrid>
                <a:gridCol w="1828800"/>
                <a:gridCol w="3108960"/>
                <a:gridCol w="1554480"/>
                <a:gridCol w="1737360"/>
                <a:gridCol w="2679120"/>
              </a:tblGrid>
              <a:tr h="329040">
                <a:tc>
                  <a:txBody>
                    <a:bodyPr lIns="73080" rIns="73080" anchor="ctr">
                      <a:noAutofit/>
                    </a:bodyPr>
                    <a:p>
                      <a:pPr>
                        <a:lnSpc>
                          <a:spcPct val="100000"/>
                        </a:lnSpc>
                        <a:buNone/>
                      </a:pPr>
                      <a:r>
                        <a:rPr b="1" lang="en-US" sz="1050" spc="49" strike="noStrike">
                          <a:solidFill>
                            <a:srgbClr val="f5a623"/>
                          </a:solidFill>
                          <a:latin typeface="Inter"/>
                        </a:rPr>
                        <a:t>Attribut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Motif testé</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Conformes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Non conformes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Exemple non conforme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Code postal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Code postal à 5 chiffres (RQ-05)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93981</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1456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7100 (enlève le 0 devant)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Téléphone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regex r"(?:"r"0[1-9](?:[ .-]?\d{2}){4}" r"|(?:+|00)[1-9]\d{0,2}(?:[ .-]?\d){6,14}"r")")</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89115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886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06289748656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1" lang="en-US" sz="1150" spc="-1" strike="noStrike">
                          <a:solidFill>
                            <a:srgbClr val="f7f6f2"/>
                          </a:solidFill>
                          <a:latin typeface="Inter"/>
                        </a:rPr>
                        <a:t>Pays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N’est pas dans le référentiel</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97950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3050</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Frnace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37" name="TextBox 34"/>
          <p:cNvSpPr/>
          <p:nvPr/>
        </p:nvSpPr>
        <p:spPr>
          <a:xfrm>
            <a:off x="642960" y="623736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notebooks/S1_bronze_profilage.ipynb</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Dictionnaire du CIF : dix colonnes anonymes</a:t>
            </a:r>
            <a:endParaRPr b="0" lang="fr-FR" sz="2800" spc="-1" strike="noStrike">
              <a:latin typeface="Arial"/>
            </a:endParaRPr>
          </a:p>
        </p:txBody>
      </p:sp>
      <p:sp>
        <p:nvSpPr>
          <p:cNvPr id="239" name="PlaceHolder 2"/>
          <p:cNvSpPr>
            <a:spLocks noGrp="1"/>
          </p:cNvSpPr>
          <p:nvPr>
            <p:ph type="sldNum" idx="1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B316F34-AD79-4E7E-89E3-B96CF750C7EB}"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4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US-04</a:t>
            </a:r>
            <a:endParaRPr b="0" lang="fr-FR" sz="1100" spc="-1" strike="noStrike">
              <a:latin typeface="Arial"/>
            </a:endParaRPr>
          </a:p>
        </p:txBody>
      </p:sp>
      <p:sp>
        <p:nvSpPr>
          <p:cNvPr id="24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42" name="Attendu"/>
          <p:cNvSpPr/>
          <p:nvPr/>
        </p:nvSpPr>
        <p:spPr>
          <a:xfrm>
            <a:off x="640080" y="1325880"/>
            <a:ext cx="10907280" cy="1031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43" name="Attendu barre"/>
          <p:cNvSpPr/>
          <p:nvPr/>
        </p:nvSpPr>
        <p:spPr>
          <a:xfrm>
            <a:off x="640080" y="1325880"/>
            <a:ext cx="81000" cy="1031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44" name="Icône target" descr="Icône target"/>
          <p:cNvPicPr/>
          <p:nvPr/>
        </p:nvPicPr>
        <p:blipFill>
          <a:blip r:embed="rId1"/>
          <a:stretch/>
        </p:blipFill>
        <p:spPr>
          <a:xfrm>
            <a:off x="896040" y="1435680"/>
            <a:ext cx="272880" cy="272880"/>
          </a:xfrm>
          <a:prstGeom prst="rect">
            <a:avLst/>
          </a:prstGeom>
          <a:ln w="0">
            <a:noFill/>
          </a:ln>
        </p:spPr>
      </p:pic>
      <p:sp>
        <p:nvSpPr>
          <p:cNvPr id="24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46" name="TextBox 31"/>
          <p:cNvSpPr/>
          <p:nvPr/>
        </p:nvSpPr>
        <p:spPr>
          <a:xfrm>
            <a:off x="914400" y="1783080"/>
            <a:ext cx="10358640" cy="213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chacune des dix colonnes</a:t>
            </a:r>
            <a:r>
              <a:rPr b="0" lang="fr-FR" sz="1300" spc="-1" strike="noStrike">
                <a:solidFill>
                  <a:srgbClr val="f7f6f2"/>
                </a:solidFill>
                <a:latin typeface="Inter"/>
                <a:ea typeface="DejaVu Sans"/>
              </a:rPr>
              <a:t> : un nom proposé, un type et une </a:t>
            </a:r>
            <a:r>
              <a:rPr b="1" lang="fr-FR" sz="1300" spc="-1" strike="noStrike">
                <a:solidFill>
                  <a:srgbClr val="f5a623"/>
                </a:solidFill>
                <a:latin typeface="Inter"/>
                <a:ea typeface="DejaVu Sans"/>
              </a:rPr>
              <a:t>justification chiffrée</a:t>
            </a:r>
            <a:r>
              <a:rPr b="0" lang="fr-FR" sz="1300" spc="-1" strike="noStrike">
                <a:solidFill>
                  <a:srgbClr val="f7f6f2"/>
                </a:solidFill>
                <a:latin typeface="Inter"/>
                <a:ea typeface="DejaVu Sans"/>
              </a:rPr>
              <a:t> (comment l'avez-vous déduit ?).</a:t>
            </a:r>
            <a:endParaRPr b="0" lang="fr-FR" sz="1300" spc="-1" strike="noStrike">
              <a:latin typeface="Arial"/>
            </a:endParaRPr>
          </a:p>
        </p:txBody>
      </p:sp>
      <p:graphicFrame>
        <p:nvGraphicFramePr>
          <p:cNvPr id="247" name="Table 32"/>
          <p:cNvGraphicFramePr/>
          <p:nvPr/>
        </p:nvGraphicFramePr>
        <p:xfrm>
          <a:off x="640080" y="2495880"/>
          <a:ext cx="10908360" cy="3520080"/>
        </p:xfrm>
        <a:graphic>
          <a:graphicData uri="http://schemas.openxmlformats.org/drawingml/2006/table">
            <a:tbl>
              <a:tblPr/>
              <a:tblGrid>
                <a:gridCol w="1828800"/>
                <a:gridCol w="2194560"/>
                <a:gridCol w="1463040"/>
                <a:gridCol w="5422320"/>
              </a:tblGrid>
              <a:tr h="320040">
                <a:tc>
                  <a:txBody>
                    <a:bodyPr lIns="73080" rIns="73080" anchor="ctr">
                      <a:noAutofit/>
                    </a:bodyPr>
                    <a:p>
                      <a:pPr>
                        <a:lnSpc>
                          <a:spcPct val="100000"/>
                        </a:lnSpc>
                        <a:buNone/>
                      </a:pPr>
                      <a:r>
                        <a:rPr b="1" lang="en-US" sz="1000" spc="49" strike="noStrike">
                          <a:solidFill>
                            <a:srgbClr val="f5a623"/>
                          </a:solidFill>
                          <a:latin typeface="Inter"/>
                        </a:rPr>
                        <a:t>Colonne d'origine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Nom proposé</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Type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Justification chiffrée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Column0</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IdClient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Chaque ligne (40000) est disticte et semble aléatoire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NomClient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Des chaines courtes (3-31), peu distinctes (731), et semblable à des noms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Column2</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PrénomClient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Des chaines courtes (3-10), peu distinctes (180), et semblable à des prénoms</a:t>
                      </a:r>
                      <a:endParaRPr b="0" lang="fr-FR" sz="1100" spc="-1" strike="noStrike">
                        <a:latin typeface="Times New Roman"/>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Column3</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DateDeNaissance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Date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Uniquement des chaine de 10 caractères dans le format XX/XX/XXXX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Column4</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Adresse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Les exemples représente des adresses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Column5</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CodePostal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Uniquement des chaine de 5 chiffres dans le format XXXXX</a:t>
                      </a:r>
                      <a:endParaRPr b="0" lang="fr-FR" sz="1100" spc="-1" strike="noStrike">
                        <a:latin typeface="Times New Roman"/>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Column6</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Ville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Peu de distincte (172) et des noms de villes dans les exemples (Nice)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Column7</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CodePays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Peu de distincte (9), et des exemples de ressemblant à des abréviations de pays. Longueurs min et max de 2 (FR)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Column8</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NuméroTélephone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Colonne entierement distincte sans les nulls, qui est tout le temps dans le format XXXXXXXXXX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0" lang="en-US" sz="1100" spc="-1" strike="noStrike">
                          <a:solidFill>
                            <a:srgbClr val="f5a623"/>
                          </a:solidFill>
                          <a:latin typeface="Inter"/>
                        </a:rPr>
                        <a:t>Column9</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Mail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String</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Colonne entierement distincte sans les nulls, et exemples possédants des @</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Trois directions, trois définitions du « client actif »</a:t>
            </a:r>
            <a:endParaRPr b="0" lang="fr-FR" sz="2800" spc="-1" strike="noStrike">
              <a:latin typeface="Arial"/>
            </a:endParaRPr>
          </a:p>
        </p:txBody>
      </p:sp>
      <p:sp>
        <p:nvSpPr>
          <p:cNvPr id="249" name="PlaceHolder 2"/>
          <p:cNvSpPr>
            <a:spLocks noGrp="1"/>
          </p:cNvSpPr>
          <p:nvPr>
            <p:ph type="sldNum" idx="1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A661F74-EA90-4538-A8C6-C393FC25D83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5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US-09</a:t>
            </a:r>
            <a:endParaRPr b="0" lang="fr-FR" sz="1100" spc="-1" strike="noStrike">
              <a:latin typeface="Arial"/>
            </a:endParaRPr>
          </a:p>
        </p:txBody>
      </p:sp>
      <p:sp>
        <p:nvSpPr>
          <p:cNvPr id="25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52"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53"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54" name="Icône target" descr="Icône target"/>
          <p:cNvPicPr/>
          <p:nvPr/>
        </p:nvPicPr>
        <p:blipFill>
          <a:blip r:embed="rId1"/>
          <a:stretch/>
        </p:blipFill>
        <p:spPr>
          <a:xfrm>
            <a:off x="896040" y="1435680"/>
            <a:ext cx="272880" cy="272880"/>
          </a:xfrm>
          <a:prstGeom prst="rect">
            <a:avLst/>
          </a:prstGeom>
          <a:ln w="0">
            <a:noFill/>
          </a:ln>
        </p:spPr>
      </p:pic>
      <p:sp>
        <p:nvSpPr>
          <p:cNvPr id="25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56"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nombre de clients actifs</a:t>
            </a:r>
            <a:r>
              <a:rPr b="0" lang="fr-FR" sz="1300" spc="-1" strike="noStrike">
                <a:solidFill>
                  <a:srgbClr val="f7f6f2"/>
                </a:solidFill>
                <a:latin typeface="Inter"/>
                <a:ea typeface="DejaVu Sans"/>
              </a:rPr>
              <a:t> selon chaque direction, avec la définition utilisée.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écart</a:t>
            </a:r>
            <a:r>
              <a:rPr b="0" lang="fr-FR" sz="1300" spc="-1" strike="noStrike">
                <a:solidFill>
                  <a:srgbClr val="f7f6f2"/>
                </a:solidFill>
                <a:latin typeface="Inter"/>
                <a:ea typeface="DejaVu Sans"/>
              </a:rPr>
              <a:t> avec la définition de la fiche </a:t>
            </a:r>
            <a:r>
              <a:rPr b="1" lang="fr-FR" sz="1300" spc="-1" strike="noStrike">
                <a:solidFill>
                  <a:srgbClr val="f5a623"/>
                </a:solidFill>
                <a:latin typeface="Inter"/>
                <a:ea typeface="DejaVu Sans"/>
              </a:rPr>
              <a:t>CD-001</a:t>
            </a:r>
            <a:r>
              <a:rPr b="0" lang="fr-FR" sz="1300" spc="-1" strike="noStrike">
                <a:solidFill>
                  <a:srgbClr val="f7f6f2"/>
                </a:solidFill>
                <a:latin typeface="Inter"/>
                <a:ea typeface="DejaVu Sans"/>
              </a:rPr>
              <a:t>, et la conséquence pour la gouvernance.</a:t>
            </a:r>
            <a:endParaRPr b="0" lang="fr-FR" sz="1300" spc="-1" strike="noStrike">
              <a:latin typeface="Arial"/>
            </a:endParaRPr>
          </a:p>
        </p:txBody>
      </p:sp>
      <p:graphicFrame>
        <p:nvGraphicFramePr>
          <p:cNvPr id="257" name="Table 32"/>
          <p:cNvGraphicFramePr/>
          <p:nvPr/>
        </p:nvGraphicFramePr>
        <p:xfrm>
          <a:off x="640080" y="2579760"/>
          <a:ext cx="10908360" cy="1535400"/>
        </p:xfrm>
        <a:graphic>
          <a:graphicData uri="http://schemas.openxmlformats.org/drawingml/2006/table">
            <a:tbl>
              <a:tblPr/>
              <a:tblGrid>
                <a:gridCol w="2011680"/>
                <a:gridCol w="4754880"/>
                <a:gridCol w="2011680"/>
                <a:gridCol w="2130480"/>
              </a:tblGrid>
              <a:tr h="383760">
                <a:tc>
                  <a:txBody>
                    <a:bodyPr lIns="73080" rIns="73080" anchor="ctr">
                      <a:noAutofit/>
                    </a:bodyPr>
                    <a:p>
                      <a:pPr>
                        <a:lnSpc>
                          <a:spcPct val="100000"/>
                        </a:lnSpc>
                        <a:buNone/>
                      </a:pPr>
                      <a:r>
                        <a:rPr b="1" lang="en-US" sz="1100" spc="49" strike="noStrike">
                          <a:solidFill>
                            <a:srgbClr val="f5a623"/>
                          </a:solidFill>
                          <a:latin typeface="Inter"/>
                        </a:rPr>
                        <a:t>Direction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Définition utilisée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Nombre de clients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Écart avec CD-001</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200" spc="-1" strike="noStrike">
                          <a:solidFill>
                            <a:srgbClr val="f7f6f2"/>
                          </a:solidFill>
                          <a:latin typeface="Inter"/>
                        </a:rPr>
                        <a:t>Commerciale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Un client à au moins un contrat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50508</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Sinistres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Un client à un contract actif par rapport à la date de référence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44116</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4480">
                <a:tc>
                  <a:txBody>
                    <a:bodyPr lIns="73080" rIns="73080" anchor="ctr">
                      <a:noAutofit/>
                    </a:bodyPr>
                    <a:p>
                      <a:pPr>
                        <a:lnSpc>
                          <a:spcPct val="100000"/>
                        </a:lnSpc>
                        <a:buNone/>
                      </a:pPr>
                      <a:r>
                        <a:rPr b="1" lang="en-US" sz="1200" spc="-1" strike="noStrike">
                          <a:solidFill>
                            <a:srgbClr val="f7f6f2"/>
                          </a:solidFill>
                          <a:latin typeface="Inter"/>
                        </a:rPr>
                        <a:t>Risques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Un client à un contract actif par rapport à la date de référence et une cotisation sur les trois derniers mois</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38049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58" name="TextBox 33"/>
          <p:cNvSpPr/>
          <p:nvPr/>
        </p:nvSpPr>
        <p:spPr>
          <a:xfrm>
            <a:off x="640080" y="438156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CONSÉQUENCE POUR LA GOUVERNANCE, EN TROIS PHRASES</a:t>
            </a:r>
            <a:endParaRPr b="0" lang="fr-FR" sz="1100" spc="-1" strike="noStrike">
              <a:latin typeface="Arial"/>
            </a:endParaRPr>
          </a:p>
        </p:txBody>
      </p:sp>
      <p:sp>
        <p:nvSpPr>
          <p:cNvPr id="259" name="Zone à rédiger"/>
          <p:cNvSpPr/>
          <p:nvPr/>
        </p:nvSpPr>
        <p:spPr>
          <a:xfrm>
            <a:off x="640080" y="4637160"/>
            <a:ext cx="10907280" cy="14878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Cela empêche la direction d'avoir une vision unifiée du chiffre d'affaires potentiel et de piloter les activités. De plus, cela impose de créer d'urgence un dictionnaire de données  définissant un socle commun tout en documentant ces différentes spécificitées.</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S1 : critères de fin et difficultés</a:t>
            </a:r>
            <a:endParaRPr b="0" lang="fr-FR" sz="2800" spc="-1" strike="noStrike">
              <a:latin typeface="Arial"/>
            </a:endParaRPr>
          </a:p>
        </p:txBody>
      </p:sp>
      <p:sp>
        <p:nvSpPr>
          <p:cNvPr id="261" name="PlaceHolder 2"/>
          <p:cNvSpPr>
            <a:spLocks noGrp="1"/>
          </p:cNvSpPr>
          <p:nvPr>
            <p:ph type="sldNum" idx="1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2880857-3711-43FA-AFDF-13B886AF5B8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6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S1 · BILAN</a:t>
            </a:r>
            <a:endParaRPr b="0" lang="fr-FR" sz="1100" spc="-1" strike="noStrike">
              <a:latin typeface="Arial"/>
            </a:endParaRPr>
          </a:p>
        </p:txBody>
      </p:sp>
      <p:sp>
        <p:nvSpPr>
          <p:cNvPr id="26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PROFILAGE ET DIAGNOSTIC · 20 %</a:t>
            </a:r>
            <a:endParaRPr b="0" lang="fr-FR" sz="1000" spc="-1" strike="noStrike">
              <a:latin typeface="Arial"/>
            </a:endParaRPr>
          </a:p>
        </p:txBody>
      </p:sp>
      <p:sp>
        <p:nvSpPr>
          <p:cNvPr id="264"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65"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66" name="Icône target" descr="Icône target"/>
          <p:cNvPicPr/>
          <p:nvPr/>
        </p:nvPicPr>
        <p:blipFill>
          <a:blip r:embed="rId1"/>
          <a:stretch/>
        </p:blipFill>
        <p:spPr>
          <a:xfrm>
            <a:off x="896040" y="1435680"/>
            <a:ext cx="272880" cy="272880"/>
          </a:xfrm>
          <a:prstGeom prst="rect">
            <a:avLst/>
          </a:prstGeom>
          <a:ln w="0">
            <a:noFill/>
          </a:ln>
        </p:spPr>
      </p:pic>
      <p:sp>
        <p:nvSpPr>
          <p:cNvPr id="26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68"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269"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70" name="Icône ok" descr="Icône ok"/>
          <p:cNvPicPr/>
          <p:nvPr/>
        </p:nvPicPr>
        <p:blipFill>
          <a:blip r:embed="rId2"/>
          <a:stretch/>
        </p:blipFill>
        <p:spPr>
          <a:xfrm>
            <a:off x="868680" y="2735280"/>
            <a:ext cx="309600" cy="309600"/>
          </a:xfrm>
          <a:prstGeom prst="rect">
            <a:avLst/>
          </a:prstGeom>
          <a:ln w="0">
            <a:noFill/>
          </a:ln>
        </p:spPr>
      </p:pic>
      <p:sp>
        <p:nvSpPr>
          <p:cNvPr id="271"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272" name="TextBox 35"/>
          <p:cNvSpPr/>
          <p:nvPr/>
        </p:nvSpPr>
        <p:spPr>
          <a:xfrm>
            <a:off x="868680" y="3219840"/>
            <a:ext cx="4662000" cy="24109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Les sept tables bronze existent et chaque ligne porte ses quatre métadonnées.</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La porte B ne montre aucun écart de comptage ni de somme de contrôle.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Relancer l'ingestion du même lot ne crée aucun doublon.</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[X]</a:t>
            </a:r>
            <a:r>
              <a:rPr b="0" lang="fr-FR" sz="1250" spc="-1" strike="noStrike">
                <a:solidFill>
                  <a:srgbClr val="f7f6f2"/>
                </a:solidFill>
                <a:latin typeface="Inter"/>
                <a:ea typeface="DejaVu Sans"/>
              </a:rPr>
              <a:t> Un écart introduit volontairement fait échouer la porte.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RQ-021 est écrite dans dq.dq_history (couche BRONZE).</a:t>
            </a:r>
            <a:endParaRPr b="0" lang="fr-FR" sz="1250" spc="-1" strike="noStrike">
              <a:latin typeface="Arial"/>
            </a:endParaRPr>
          </a:p>
        </p:txBody>
      </p:sp>
      <p:sp>
        <p:nvSpPr>
          <p:cNvPr id="273"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274"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275"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Lors du S1, nous avons principalement perdue beaucoup de temps, en pensant que nous devions développer nous même les codes pythons. Une fois que nous nous en sommes rendues compte, nous avons pu dérouller le td sans trop de difficulte (à part quelque blocage sur la compréhension des retours demandés).</a:t>
            </a:r>
            <a:endParaRPr b="0" lang="fr-FR" sz="1200" spc="-1" strike="noStrike">
              <a:latin typeface="Arial"/>
            </a:endParaRPr>
          </a:p>
        </p:txBody>
      </p:sp>
      <p:sp>
        <p:nvSpPr>
          <p:cNvPr id="276"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277"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Non</a:t>
            </a:r>
            <a:endParaRPr b="0" lang="fr-FR" sz="1200" spc="-1" strike="noStrike">
              <a:latin typeface="Arial"/>
            </a:endParaRPr>
          </a:p>
        </p:txBody>
      </p:sp>
      <p:sp>
        <p:nvSpPr>
          <p:cNvPr id="278"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279"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Être plus vigilant sur l’ensemble des documents mis à disposition pour avancer sur le TD.</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02</a:t>
            </a:r>
            <a:endParaRPr b="0" lang="fr-FR" sz="7200" spc="-1" strike="noStrike">
              <a:latin typeface="Arial"/>
            </a:endParaRPr>
          </a:p>
        </p:txBody>
      </p:sp>
      <p:sp>
        <p:nvSpPr>
          <p:cNvPr id="281"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Règles en tests automatisés</a:t>
            </a:r>
            <a:endParaRPr b="0" lang="fr-FR" sz="4200" spc="-1" strike="noStrike">
              <a:latin typeface="Arial"/>
            </a:endParaRPr>
          </a:p>
        </p:txBody>
      </p:sp>
      <p:sp>
        <p:nvSpPr>
          <p:cNvPr id="282" name="PlaceHolder 3"/>
          <p:cNvSpPr>
            <a:spLocks noGrp="1"/>
          </p:cNvSpPr>
          <p:nvPr>
            <p:ph type="sldNum" idx="1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0F6BC17-709E-4565-A417-B80E802A423C}"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83"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2 · Great Expectations · US-10, 11, 13, 15. Une règle métier devient un test nommé par son identifiant RQ.</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Règles en tests : une expectation par règle</a:t>
            </a:r>
            <a:endParaRPr b="0" lang="fr-FR" sz="2800" spc="-1" strike="noStrike">
              <a:latin typeface="Arial"/>
            </a:endParaRPr>
          </a:p>
        </p:txBody>
      </p:sp>
      <p:sp>
        <p:nvSpPr>
          <p:cNvPr id="285" name="PlaceHolder 2"/>
          <p:cNvSpPr>
            <a:spLocks noGrp="1"/>
          </p:cNvSpPr>
          <p:nvPr>
            <p:ph type="sldNum" idx="1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78623AB4-B897-4AAE-BF30-304931F4EA4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8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US-10</a:t>
            </a:r>
            <a:endParaRPr b="0" lang="fr-FR" sz="1100" spc="-1" strike="noStrike">
              <a:latin typeface="Arial"/>
            </a:endParaRPr>
          </a:p>
        </p:txBody>
      </p:sp>
      <p:sp>
        <p:nvSpPr>
          <p:cNvPr id="28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288"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289"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290" name="Icône target" descr="Icône target"/>
          <p:cNvPicPr/>
          <p:nvPr/>
        </p:nvPicPr>
        <p:blipFill>
          <a:blip r:embed="rId1"/>
          <a:stretch/>
        </p:blipFill>
        <p:spPr>
          <a:xfrm>
            <a:off x="896040" y="1435680"/>
            <a:ext cx="272880" cy="272880"/>
          </a:xfrm>
          <a:prstGeom prst="rect">
            <a:avLst/>
          </a:prstGeom>
          <a:ln w="0">
            <a:noFill/>
          </a:ln>
        </p:spPr>
      </p:pic>
      <p:sp>
        <p:nvSpPr>
          <p:cNvPr id="29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292"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RQ-001, 002, 003, 005, 009, 010 et 020</a:t>
            </a:r>
            <a:r>
              <a:rPr b="0" lang="fr-FR" sz="1300" spc="-1" strike="noStrike">
                <a:solidFill>
                  <a:srgbClr val="f7f6f2"/>
                </a:solidFill>
                <a:latin typeface="Inter"/>
                <a:ea typeface="DejaVu Sans"/>
              </a:rPr>
              <a:t> : l'expectation porte son </a:t>
            </a:r>
            <a:r>
              <a:rPr b="1" lang="fr-FR" sz="1300" spc="-1" strike="noStrike">
                <a:solidFill>
                  <a:srgbClr val="f5a623"/>
                </a:solidFill>
                <a:latin typeface="Inter"/>
                <a:ea typeface="DejaVu Sans"/>
              </a:rPr>
              <a:t>rule_id</a:t>
            </a:r>
            <a:r>
              <a:rPr b="0" lang="fr-FR" sz="1300" spc="-1" strike="noStrike">
                <a:solidFill>
                  <a:srgbClr val="f7f6f2"/>
                </a:solidFill>
                <a:latin typeface="Inter"/>
                <a:ea typeface="DejaVu Sans"/>
              </a:rPr>
              <a:t>, avec lignes testées, échecs, taux et sévérité.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base et la table visées sont des </a:t>
            </a:r>
            <a:r>
              <a:rPr b="1" lang="fr-FR" sz="1300" spc="-1" strike="noStrike">
                <a:solidFill>
                  <a:srgbClr val="f5a623"/>
                </a:solidFill>
                <a:latin typeface="Inter"/>
                <a:ea typeface="DejaVu Sans"/>
              </a:rPr>
              <a:t>paramètres</a:t>
            </a:r>
            <a:r>
              <a:rPr b="0" lang="fr-FR" sz="1300" spc="-1" strike="noStrike">
                <a:solidFill>
                  <a:srgbClr val="f7f6f2"/>
                </a:solidFill>
                <a:latin typeface="Inter"/>
                <a:ea typeface="DejaVu Sans"/>
              </a:rPr>
              <a:t> : la suite se relance sur silver sans modification.</a:t>
            </a:r>
            <a:endParaRPr b="0" lang="fr-FR" sz="1300" spc="-1" strike="noStrike">
              <a:latin typeface="Arial"/>
            </a:endParaRPr>
          </a:p>
        </p:txBody>
      </p:sp>
      <p:graphicFrame>
        <p:nvGraphicFramePr>
          <p:cNvPr id="293" name="Table 32"/>
          <p:cNvGraphicFramePr/>
          <p:nvPr/>
        </p:nvGraphicFramePr>
        <p:xfrm>
          <a:off x="640080" y="2793960"/>
          <a:ext cx="10908360" cy="2925720"/>
        </p:xfrm>
        <a:graphic>
          <a:graphicData uri="http://schemas.openxmlformats.org/drawingml/2006/table">
            <a:tbl>
              <a:tblPr/>
              <a:tblGrid>
                <a:gridCol w="1005840"/>
                <a:gridCol w="2011680"/>
                <a:gridCol w="2926080"/>
                <a:gridCol w="1097280"/>
                <a:gridCol w="1188720"/>
                <a:gridCol w="1188720"/>
                <a:gridCol w="1490400"/>
              </a:tblGrid>
              <a:tr h="365760">
                <a:tc>
                  <a:txBody>
                    <a:bodyPr lIns="73080" rIns="73080" anchor="ctr">
                      <a:noAutofit/>
                    </a:bodyPr>
                    <a:p>
                      <a:pPr>
                        <a:lnSpc>
                          <a:spcPct val="100000"/>
                        </a:lnSpc>
                        <a:buNone/>
                      </a:pPr>
                      <a:r>
                        <a:rPr b="1" lang="en-US" sz="1100" spc="49" strike="noStrike">
                          <a:solidFill>
                            <a:srgbClr val="f5a623"/>
                          </a:solidFill>
                          <a:latin typeface="Inter"/>
                        </a:rPr>
                        <a:t>Règle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Table 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Expectation (type)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Testées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En échec</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Taux</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Sévérité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RQ-001</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RQ-003</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RQ-009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RQ-010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RQ-020</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294" name="TextBox 33"/>
          <p:cNvSpPr/>
          <p:nvPr/>
        </p:nvSpPr>
        <p:spPr>
          <a:xfrm>
            <a:off x="640080" y="581148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Sévérité : bloquante ou avertissement. Chemin des suites de validation : voir le dépôt, reports/ge/gx/expectations.</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Pièges rencontrés et lignes en échec</a:t>
            </a:r>
            <a:endParaRPr b="0" lang="fr-FR" sz="2800" spc="-1" strike="noStrike">
              <a:latin typeface="Arial"/>
            </a:endParaRPr>
          </a:p>
        </p:txBody>
      </p:sp>
      <p:sp>
        <p:nvSpPr>
          <p:cNvPr id="296" name="PlaceHolder 2"/>
          <p:cNvSpPr>
            <a:spLocks noGrp="1"/>
          </p:cNvSpPr>
          <p:nvPr>
            <p:ph type="sldNum" idx="2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279A044-C6D6-4EBB-8084-8A5C4E6B76A7}"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29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US-10, 11</a:t>
            </a:r>
            <a:endParaRPr b="0" lang="fr-FR" sz="1100" spc="-1" strike="noStrike">
              <a:latin typeface="Arial"/>
            </a:endParaRPr>
          </a:p>
        </p:txBody>
      </p:sp>
      <p:sp>
        <p:nvSpPr>
          <p:cNvPr id="298"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299"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00"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01" name="Icône target" descr="Icône target"/>
          <p:cNvPicPr/>
          <p:nvPr/>
        </p:nvPicPr>
        <p:blipFill>
          <a:blip r:embed="rId1"/>
          <a:stretch/>
        </p:blipFill>
        <p:spPr>
          <a:xfrm>
            <a:off x="896040" y="1435680"/>
            <a:ext cx="272880" cy="272880"/>
          </a:xfrm>
          <a:prstGeom prst="rect">
            <a:avLst/>
          </a:prstGeom>
          <a:ln w="0">
            <a:noFill/>
          </a:ln>
        </p:spPr>
      </p:pic>
      <p:sp>
        <p:nvSpPr>
          <p:cNvPr id="302"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03"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pièges</a:t>
            </a:r>
            <a:r>
              <a:rPr b="0" lang="fr-FR" sz="1300" spc="-1" strike="noStrike">
                <a:solidFill>
                  <a:srgbClr val="f7f6f2"/>
                </a:solidFill>
                <a:latin typeface="Inter"/>
                <a:ea typeface="DejaVu Sans"/>
              </a:rPr>
              <a:t> (nul, vide, blanc ; adresses étrangères ; comparaisons exactes) avec le chiffre </a:t>
            </a:r>
            <a:r>
              <a:rPr b="1" lang="fr-FR" sz="1300" spc="-1" strike="noStrike">
                <a:solidFill>
                  <a:srgbClr val="f5a623"/>
                </a:solidFill>
                <a:latin typeface="Inter"/>
                <a:ea typeface="DejaVu Sans"/>
              </a:rPr>
              <a:t>avant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après</a:t>
            </a:r>
            <a:r>
              <a:rPr b="0" lang="fr-FR" sz="1300" spc="-1" strike="noStrike">
                <a:solidFill>
                  <a:srgbClr val="f7f6f2"/>
                </a:solidFill>
                <a:latin typeface="Inter"/>
                <a:ea typeface="DejaVu Sans"/>
              </a:rPr>
              <a:t> correction.</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 </a:t>
            </a:r>
            <a:r>
              <a:rPr b="1" lang="fr-FR" sz="1300" spc="-1" strike="noStrike">
                <a:solidFill>
                  <a:srgbClr val="f5a623"/>
                </a:solidFill>
                <a:latin typeface="Inter"/>
                <a:ea typeface="DejaVu Sans"/>
              </a:rPr>
              <a:t>échantillon commenté de 20 lignes</a:t>
            </a:r>
            <a:r>
              <a:rPr b="0" lang="fr-FR" sz="1300" spc="-1" strike="noStrike">
                <a:solidFill>
                  <a:srgbClr val="f7f6f2"/>
                </a:solidFill>
                <a:latin typeface="Inter"/>
                <a:ea typeface="DejaVu Sans"/>
              </a:rPr>
              <a:t> en échec : famille d'erreur, cause probable, action proposée.</a:t>
            </a:r>
            <a:endParaRPr b="0" lang="fr-FR" sz="1300" spc="-1" strike="noStrike">
              <a:latin typeface="Arial"/>
            </a:endParaRPr>
          </a:p>
        </p:txBody>
      </p:sp>
      <p:graphicFrame>
        <p:nvGraphicFramePr>
          <p:cNvPr id="304" name="Table 32"/>
          <p:cNvGraphicFramePr/>
          <p:nvPr/>
        </p:nvGraphicFramePr>
        <p:xfrm>
          <a:off x="640080" y="2748240"/>
          <a:ext cx="10908360" cy="1041840"/>
        </p:xfrm>
        <a:graphic>
          <a:graphicData uri="http://schemas.openxmlformats.org/drawingml/2006/table">
            <a:tbl>
              <a:tblPr/>
              <a:tblGrid>
                <a:gridCol w="1097280"/>
                <a:gridCol w="3840480"/>
                <a:gridCol w="1737360"/>
                <a:gridCol w="1737360"/>
                <a:gridCol w="2496240"/>
              </a:tblGrid>
              <a:tr h="34740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Piège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Avant correction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Après correction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Preuve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05" name="Table 33"/>
          <p:cNvGraphicFramePr/>
          <p:nvPr/>
        </p:nvGraphicFramePr>
        <p:xfrm>
          <a:off x="640080" y="3927600"/>
          <a:ext cx="10908360" cy="1389240"/>
        </p:xfrm>
        <a:graphic>
          <a:graphicData uri="http://schemas.openxmlformats.org/drawingml/2006/table">
            <a:tbl>
              <a:tblPr/>
              <a:tblGrid>
                <a:gridCol w="1097280"/>
                <a:gridCol w="2926080"/>
                <a:gridCol w="1463040"/>
                <a:gridCol w="2926080"/>
                <a:gridCol w="2496240"/>
              </a:tblGrid>
              <a:tr h="34740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Famille d'erreur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(sur 20)</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Cause probable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Action proposée (à qui ?)</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06" name="TextBox 34"/>
          <p:cNvSpPr/>
          <p:nvPr/>
        </p:nvSpPr>
        <p:spPr>
          <a:xfrm>
            <a:off x="640080" y="540900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Chemins : export complet des lignes en échec ; échantillon commenté de 20 lignes.</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7"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Âge à la bonne date et mesure de référence sur bronze</a:t>
            </a:r>
            <a:endParaRPr b="0" lang="fr-FR" sz="2800" spc="-1" strike="noStrike">
              <a:latin typeface="Arial"/>
            </a:endParaRPr>
          </a:p>
        </p:txBody>
      </p:sp>
      <p:sp>
        <p:nvSpPr>
          <p:cNvPr id="308" name="PlaceHolder 2"/>
          <p:cNvSpPr>
            <a:spLocks noGrp="1"/>
          </p:cNvSpPr>
          <p:nvPr>
            <p:ph type="sldNum" idx="2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47D15A0-7199-4F0E-82C9-8AEBC70D821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09"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US-13, 15</a:t>
            </a:r>
            <a:endParaRPr b="0" lang="fr-FR" sz="1100" spc="-1" strike="noStrike">
              <a:latin typeface="Arial"/>
            </a:endParaRPr>
          </a:p>
        </p:txBody>
      </p:sp>
      <p:sp>
        <p:nvSpPr>
          <p:cNvPr id="310"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11"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12"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13" name="Icône target" descr="Icône target"/>
          <p:cNvPicPr/>
          <p:nvPr/>
        </p:nvPicPr>
        <p:blipFill>
          <a:blip r:embed="rId1"/>
          <a:stretch/>
        </p:blipFill>
        <p:spPr>
          <a:xfrm>
            <a:off x="896040" y="1435680"/>
            <a:ext cx="272880" cy="272880"/>
          </a:xfrm>
          <a:prstGeom prst="rect">
            <a:avLst/>
          </a:prstGeom>
          <a:ln w="0">
            <a:noFill/>
          </a:ln>
        </p:spPr>
      </p:pic>
      <p:sp>
        <p:nvSpPr>
          <p:cNvPr id="314"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15"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RQ-002</a:t>
            </a:r>
            <a:r>
              <a:rPr b="0" lang="fr-FR" sz="1300" spc="-1" strike="noStrike">
                <a:solidFill>
                  <a:srgbClr val="f7f6f2"/>
                </a:solidFill>
                <a:latin typeface="Inter"/>
                <a:ea typeface="DejaVu Sans"/>
              </a:rPr>
              <a:t> documentée avec sa </a:t>
            </a:r>
            <a:r>
              <a:rPr b="1" lang="fr-FR" sz="1300" spc="-1" strike="noStrike">
                <a:solidFill>
                  <a:srgbClr val="f5a623"/>
                </a:solidFill>
                <a:latin typeface="Inter"/>
                <a:ea typeface="DejaVu Sans"/>
              </a:rPr>
              <a:t>date de référence</a:t>
            </a:r>
            <a:r>
              <a:rPr b="0" lang="fr-FR" sz="1300" spc="-1" strike="noStrike">
                <a:solidFill>
                  <a:srgbClr val="f7f6f2"/>
                </a:solidFill>
                <a:latin typeface="Inter"/>
                <a:ea typeface="DejaVu Sans"/>
              </a:rPr>
              <a:t>, et un cas où « à la date du jour » donne un autre résultat.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mesure de référence</a:t>
            </a:r>
            <a:r>
              <a:rPr b="0" lang="fr-FR" sz="1300" spc="-1" strike="noStrike">
                <a:solidFill>
                  <a:srgbClr val="f7f6f2"/>
                </a:solidFill>
                <a:latin typeface="Inter"/>
                <a:ea typeface="DejaVu Sans"/>
              </a:rPr>
              <a:t> écrite dans dq.dq_history (couche BRONZE), avec la synthèse </a:t>
            </a:r>
            <a:r>
              <a:rPr b="1" lang="fr-FR" sz="1300" spc="-1" strike="noStrike">
                <a:solidFill>
                  <a:srgbClr val="f5a623"/>
                </a:solidFill>
                <a:latin typeface="Inter"/>
                <a:ea typeface="DejaVu Sans"/>
              </a:rPr>
              <a:t>par dimension</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phrase de synthèse</a:t>
            </a:r>
            <a:r>
              <a:rPr b="0" lang="fr-FR" sz="1300" spc="-1" strike="noStrike">
                <a:solidFill>
                  <a:srgbClr val="f7f6f2"/>
                </a:solidFill>
                <a:latin typeface="Inter"/>
                <a:ea typeface="DejaVu Sans"/>
              </a:rPr>
              <a:t> chiffrée : « voici la qualité de ce qui nous est livré ».</a:t>
            </a:r>
            <a:endParaRPr b="0" lang="fr-FR" sz="1300" spc="-1" strike="noStrike">
              <a:latin typeface="Arial"/>
            </a:endParaRPr>
          </a:p>
        </p:txBody>
      </p:sp>
      <p:graphicFrame>
        <p:nvGraphicFramePr>
          <p:cNvPr id="316" name="Table 32"/>
          <p:cNvGraphicFramePr/>
          <p:nvPr/>
        </p:nvGraphicFramePr>
        <p:xfrm>
          <a:off x="640080" y="2786040"/>
          <a:ext cx="10908360" cy="904680"/>
        </p:xfrm>
        <a:graphic>
          <a:graphicData uri="http://schemas.openxmlformats.org/drawingml/2006/table">
            <a:tbl>
              <a:tblPr/>
              <a:tblGrid>
                <a:gridCol w="2743200"/>
                <a:gridCol w="3840480"/>
                <a:gridCol w="1828800"/>
                <a:gridCol w="2496240"/>
              </a:tblGrid>
              <a:tr h="301680">
                <a:tc>
                  <a:txBody>
                    <a:bodyPr lIns="73080" rIns="73080" anchor="ctr">
                      <a:noAutofit/>
                    </a:bodyPr>
                    <a:p>
                      <a:pPr>
                        <a:lnSpc>
                          <a:spcPct val="100000"/>
                        </a:lnSpc>
                        <a:buNone/>
                      </a:pPr>
                      <a:r>
                        <a:rPr b="1" lang="en-US" sz="1000" spc="49" strike="noStrike">
                          <a:solidFill>
                            <a:srgbClr val="f5a623"/>
                          </a:solidFill>
                          <a:latin typeface="Inter"/>
                        </a:rPr>
                        <a:t>Date de référence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Définition de l'âge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Lignes en échec</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Preuve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Date de début du 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Date du jour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17" name="Table 33"/>
          <p:cNvGraphicFramePr/>
          <p:nvPr/>
        </p:nvGraphicFramePr>
        <p:xfrm>
          <a:off x="640080" y="3801240"/>
          <a:ext cx="10908360" cy="1508040"/>
        </p:xfrm>
        <a:graphic>
          <a:graphicData uri="http://schemas.openxmlformats.org/drawingml/2006/table">
            <a:tbl>
              <a:tblPr/>
              <a:tblGrid>
                <a:gridCol w="1828800"/>
                <a:gridCol w="2194560"/>
                <a:gridCol w="1554480"/>
                <a:gridCol w="2377440"/>
                <a:gridCol w="2953440"/>
              </a:tblGrid>
              <a:tr h="301680">
                <a:tc>
                  <a:txBody>
                    <a:bodyPr lIns="73080" rIns="73080" anchor="ctr">
                      <a:noAutofit/>
                    </a:bodyPr>
                    <a:p>
                      <a:pPr>
                        <a:lnSpc>
                          <a:spcPct val="100000"/>
                        </a:lnSpc>
                        <a:buNone/>
                      </a:pPr>
                      <a:r>
                        <a:rPr b="1" lang="en-US" sz="1000" spc="49" strike="noStrike">
                          <a:solidFill>
                            <a:srgbClr val="f5a623"/>
                          </a:solidFill>
                          <a:latin typeface="Inter"/>
                        </a:rPr>
                        <a:t>Dimension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Règles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Taux moyen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Règle la plus faible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Constat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Unicité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Complétude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Validité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Cohérence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18" name="TextBox 34"/>
          <p:cNvSpPr/>
          <p:nvPr/>
        </p:nvSpPr>
        <p:spPr>
          <a:xfrm>
            <a:off x="640080" y="545688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PHRASE DE SYNTHÈSE</a:t>
            </a:r>
            <a:endParaRPr b="0" lang="fr-FR" sz="1100" spc="-1" strike="noStrike">
              <a:latin typeface="Arial"/>
            </a:endParaRPr>
          </a:p>
        </p:txBody>
      </p:sp>
      <p:sp>
        <p:nvSpPr>
          <p:cNvPr id="319" name="Zone à rédiger"/>
          <p:cNvSpPr/>
          <p:nvPr/>
        </p:nvSpPr>
        <p:spPr>
          <a:xfrm>
            <a:off x="640080" y="5712120"/>
            <a:ext cx="10907280" cy="412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[Voici la qualité de ce qui nous est livré : …]</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S2 : critères de fin et difficultés</a:t>
            </a:r>
            <a:endParaRPr b="0" lang="fr-FR" sz="2800" spc="-1" strike="noStrike">
              <a:latin typeface="Arial"/>
            </a:endParaRPr>
          </a:p>
        </p:txBody>
      </p:sp>
      <p:sp>
        <p:nvSpPr>
          <p:cNvPr id="321" name="PlaceHolder 2"/>
          <p:cNvSpPr>
            <a:spLocks noGrp="1"/>
          </p:cNvSpPr>
          <p:nvPr>
            <p:ph type="sldNum" idx="2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67EA273-3AB6-4F2D-805B-A7A454C2A172}"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2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S2 · BILAN</a:t>
            </a:r>
            <a:endParaRPr b="0" lang="fr-FR" sz="1100" spc="-1" strike="noStrike">
              <a:latin typeface="Arial"/>
            </a:endParaRPr>
          </a:p>
        </p:txBody>
      </p:sp>
      <p:sp>
        <p:nvSpPr>
          <p:cNvPr id="32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24"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25"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26" name="Icône target" descr="Icône target"/>
          <p:cNvPicPr/>
          <p:nvPr/>
        </p:nvPicPr>
        <p:blipFill>
          <a:blip r:embed="rId1"/>
          <a:stretch/>
        </p:blipFill>
        <p:spPr>
          <a:xfrm>
            <a:off x="896040" y="1435680"/>
            <a:ext cx="272880" cy="272880"/>
          </a:xfrm>
          <a:prstGeom prst="rect">
            <a:avLst/>
          </a:prstGeom>
          <a:ln w="0">
            <a:noFill/>
          </a:ln>
        </p:spPr>
      </p:pic>
      <p:sp>
        <p:nvSpPr>
          <p:cNvPr id="32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28"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329"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30" name="Icône ok" descr="Icône ok"/>
          <p:cNvPicPr/>
          <p:nvPr/>
        </p:nvPicPr>
        <p:blipFill>
          <a:blip r:embed="rId2"/>
          <a:stretch/>
        </p:blipFill>
        <p:spPr>
          <a:xfrm>
            <a:off x="868680" y="2735280"/>
            <a:ext cx="309600" cy="309600"/>
          </a:xfrm>
          <a:prstGeom prst="rect">
            <a:avLst/>
          </a:prstGeom>
          <a:ln w="0">
            <a:noFill/>
          </a:ln>
        </p:spPr>
      </p:pic>
      <p:sp>
        <p:nvSpPr>
          <p:cNvPr id="331"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332" name="TextBox 35"/>
          <p:cNvSpPr/>
          <p:nvPr/>
        </p:nvSpPr>
        <p:spPr>
          <a:xfrm>
            <a:off x="868680" y="3219840"/>
            <a:ext cx="4662000" cy="17053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expectation porte l'identifiant de sa règle.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même suite se relance sur une autre base ou table sans modification de code.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mesure de référence est dans dq.dq_history (lot, couche, testées, échecs).</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règles s'exécutent d'un seul geste (notebook relançable de bout en bout).</a:t>
            </a:r>
            <a:endParaRPr b="0" lang="fr-FR" sz="1250" spc="-1" strike="noStrike">
              <a:latin typeface="Arial"/>
            </a:endParaRPr>
          </a:p>
        </p:txBody>
      </p:sp>
      <p:sp>
        <p:nvSpPr>
          <p:cNvPr id="333"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334"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335"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36"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337"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38"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339"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03</a:t>
            </a:r>
            <a:endParaRPr b="0" lang="fr-FR" sz="7200" spc="-1" strike="noStrike">
              <a:latin typeface="Arial"/>
            </a:endParaRPr>
          </a:p>
        </p:txBody>
      </p:sp>
      <p:sp>
        <p:nvSpPr>
          <p:cNvPr id="341"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Intégrité et portes en SodaCL</a:t>
            </a:r>
            <a:endParaRPr b="0" lang="fr-FR" sz="4200" spc="-1" strike="noStrike">
              <a:latin typeface="Arial"/>
            </a:endParaRPr>
          </a:p>
        </p:txBody>
      </p:sp>
      <p:sp>
        <p:nvSpPr>
          <p:cNvPr id="342" name="PlaceHolder 3"/>
          <p:cNvSpPr>
            <a:spLocks noGrp="1"/>
          </p:cNvSpPr>
          <p:nvPr>
            <p:ph type="sldNum" idx="2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583B050-B9A6-4C86-A880-0B272EC719C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43" name="TextBox 25"/>
          <p:cNvSpPr/>
          <p:nvPr/>
        </p:nvSpPr>
        <p:spPr>
          <a:xfrm>
            <a:off x="640080" y="4892040"/>
            <a:ext cx="639936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3 · Soda Core · US-12, 14, 16 à 20. Mêmes contrôles en SodaCL, code retour qui peut fermer une porte, intégrité entre tables.</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Checks Soda : une source de données par couche</a:t>
            </a:r>
            <a:endParaRPr b="0" lang="fr-FR" sz="2800" spc="-1" strike="noStrike">
              <a:latin typeface="Arial"/>
            </a:endParaRPr>
          </a:p>
        </p:txBody>
      </p:sp>
      <p:sp>
        <p:nvSpPr>
          <p:cNvPr id="345" name="PlaceHolder 2"/>
          <p:cNvSpPr>
            <a:spLocks noGrp="1"/>
          </p:cNvSpPr>
          <p:nvPr>
            <p:ph type="sldNum" idx="2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53B7B08-61FF-435C-930F-3ABA1685DF9B}"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4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US-12</a:t>
            </a:r>
            <a:endParaRPr b="0" lang="fr-FR" sz="1100" spc="-1" strike="noStrike">
              <a:latin typeface="Arial"/>
            </a:endParaRPr>
          </a:p>
        </p:txBody>
      </p:sp>
      <p:sp>
        <p:nvSpPr>
          <p:cNvPr id="34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48"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49"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50" name="Icône target" descr="Icône target"/>
          <p:cNvPicPr/>
          <p:nvPr/>
        </p:nvPicPr>
        <p:blipFill>
          <a:blip r:embed="rId1"/>
          <a:stretch/>
        </p:blipFill>
        <p:spPr>
          <a:xfrm>
            <a:off x="896040" y="1435680"/>
            <a:ext cx="272880" cy="272880"/>
          </a:xfrm>
          <a:prstGeom prst="rect">
            <a:avLst/>
          </a:prstGeom>
          <a:ln w="0">
            <a:noFill/>
          </a:ln>
        </p:spPr>
      </p:pic>
      <p:sp>
        <p:nvSpPr>
          <p:cNvPr id="35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52"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contrôle porte l'identifiant de sa </a:t>
            </a:r>
            <a:r>
              <a:rPr b="1" lang="fr-FR" sz="1300" spc="-1" strike="noStrike">
                <a:solidFill>
                  <a:srgbClr val="f5a623"/>
                </a:solidFill>
                <a:latin typeface="Inter"/>
                <a:ea typeface="DejaVu Sans"/>
              </a:rPr>
              <a:t>règle</a:t>
            </a:r>
            <a:r>
              <a:rPr b="0" lang="fr-FR" sz="1300" spc="-1" strike="noStrike">
                <a:solidFill>
                  <a:srgbClr val="f7f6f2"/>
                </a:solidFill>
                <a:latin typeface="Inter"/>
                <a:ea typeface="DejaVu Sans"/>
              </a:rPr>
              <a:t> et la </a:t>
            </a:r>
            <a:r>
              <a:rPr b="1" lang="fr-FR" sz="1300" spc="-1" strike="noStrike">
                <a:solidFill>
                  <a:srgbClr val="f5a623"/>
                </a:solidFill>
                <a:latin typeface="Inter"/>
                <a:ea typeface="DejaVu Sans"/>
              </a:rPr>
              <a:t>couche</a:t>
            </a:r>
            <a:r>
              <a:rPr b="0" lang="fr-FR" sz="1300" spc="-1" strike="noStrike">
                <a:solidFill>
                  <a:srgbClr val="f7f6f2"/>
                </a:solidFill>
                <a:latin typeface="Inter"/>
                <a:ea typeface="DejaVu Sans"/>
              </a:rPr>
              <a:t> mesurée.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code retour</a:t>
            </a:r>
            <a:r>
              <a:rPr b="0" lang="fr-FR" sz="1300" spc="-1" strike="noStrike">
                <a:solidFill>
                  <a:srgbClr val="f7f6f2"/>
                </a:solidFill>
                <a:latin typeface="Inter"/>
                <a:ea typeface="DejaVu Sans"/>
              </a:rPr>
              <a:t> du scan : à quelle condition devient-il non nul ? Distinguez </a:t>
            </a:r>
            <a:r>
              <a:rPr b="1" lang="fr-FR" sz="1300" spc="-1" strike="noStrike">
                <a:solidFill>
                  <a:srgbClr val="f5a623"/>
                </a:solidFill>
                <a:latin typeface="Inter"/>
                <a:ea typeface="DejaVu Sans"/>
              </a:rPr>
              <a:t>avertissement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échec</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53" name="Table 32"/>
          <p:cNvGraphicFramePr/>
          <p:nvPr/>
        </p:nvGraphicFramePr>
        <p:xfrm>
          <a:off x="640080" y="2534040"/>
          <a:ext cx="10908360" cy="2148120"/>
        </p:xfrm>
        <a:graphic>
          <a:graphicData uri="http://schemas.openxmlformats.org/drawingml/2006/table">
            <a:tbl>
              <a:tblPr/>
              <a:tblGrid>
                <a:gridCol w="1005840"/>
                <a:gridCol w="2743200"/>
                <a:gridCol w="1280160"/>
                <a:gridCol w="2743200"/>
                <a:gridCol w="1280160"/>
                <a:gridCol w="1856160"/>
              </a:tblGrid>
              <a:tr h="41148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Fichier de checks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Couche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Résultat (PASSED, WARN, FAILED)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Valeur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Code retour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54" name="TextBox 33"/>
          <p:cNvSpPr/>
          <p:nvPr/>
        </p:nvSpPr>
        <p:spPr>
          <a:xfrm>
            <a:off x="640080" y="47930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CODE RETOUR ET AVERTISSEMENTS</a:t>
            </a:r>
            <a:endParaRPr b="0" lang="fr-FR" sz="1100" spc="-1" strike="noStrike">
              <a:latin typeface="Arial"/>
            </a:endParaRPr>
          </a:p>
        </p:txBody>
      </p:sp>
      <p:sp>
        <p:nvSpPr>
          <p:cNvPr id="355" name="Zone à rédiger"/>
          <p:cNvSpPr/>
          <p:nvPr/>
        </p:nvSpPr>
        <p:spPr>
          <a:xfrm>
            <a:off x="640080" y="5048640"/>
            <a:ext cx="5347800" cy="10764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356" name="TextBox 35"/>
          <p:cNvSpPr/>
          <p:nvPr/>
        </p:nvSpPr>
        <p:spPr>
          <a:xfrm>
            <a:off x="6199560" y="47930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COHÉRENCE AVEC GREAT EXPECTATIONS (S2)</a:t>
            </a:r>
            <a:endParaRPr b="0" lang="fr-FR" sz="1100" spc="-1" strike="noStrike">
              <a:latin typeface="Arial"/>
            </a:endParaRPr>
          </a:p>
        </p:txBody>
      </p:sp>
      <p:sp>
        <p:nvSpPr>
          <p:cNvPr id="357" name="Zone à rédiger"/>
          <p:cNvSpPr/>
          <p:nvPr/>
        </p:nvSpPr>
        <p:spPr>
          <a:xfrm>
            <a:off x="6199560" y="5048640"/>
            <a:ext cx="5347800" cy="10764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[Écarts et explication]</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d'intégrité et valeur sentinelle</a:t>
            </a:r>
            <a:endParaRPr b="0" lang="fr-FR" sz="2800" spc="-1" strike="noStrike">
              <a:latin typeface="Arial"/>
            </a:endParaRPr>
          </a:p>
        </p:txBody>
      </p:sp>
      <p:sp>
        <p:nvSpPr>
          <p:cNvPr id="359" name="PlaceHolder 2"/>
          <p:cNvSpPr>
            <a:spLocks noGrp="1"/>
          </p:cNvSpPr>
          <p:nvPr>
            <p:ph type="sldNum" idx="2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4D19810-9599-4228-9FE3-E19E1141BC1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6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US-16, 17</a:t>
            </a:r>
            <a:endParaRPr b="0" lang="fr-FR" sz="1100" spc="-1" strike="noStrike">
              <a:latin typeface="Arial"/>
            </a:endParaRPr>
          </a:p>
        </p:txBody>
      </p:sp>
      <p:sp>
        <p:nvSpPr>
          <p:cNvPr id="36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62"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63"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64" name="Icône target" descr="Icône target"/>
          <p:cNvPicPr/>
          <p:nvPr/>
        </p:nvPicPr>
        <p:blipFill>
          <a:blip r:embed="rId1"/>
          <a:stretch/>
        </p:blipFill>
        <p:spPr>
          <a:xfrm>
            <a:off x="896040" y="1435680"/>
            <a:ext cx="272880" cy="272880"/>
          </a:xfrm>
          <a:prstGeom prst="rect">
            <a:avLst/>
          </a:prstGeom>
          <a:ln w="0">
            <a:noFill/>
          </a:ln>
        </p:spPr>
      </p:pic>
      <p:sp>
        <p:nvSpPr>
          <p:cNvPr id="36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66"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nombre d'orphelins</a:t>
            </a:r>
            <a:r>
              <a:rPr b="0" lang="fr-FR" sz="1300" spc="-1" strike="noStrike">
                <a:solidFill>
                  <a:srgbClr val="f7f6f2"/>
                </a:solidFill>
                <a:latin typeface="Inter"/>
                <a:ea typeface="DejaVu Sans"/>
              </a:rPr>
              <a:t> par relation, avec une </a:t>
            </a:r>
            <a:r>
              <a:rPr b="1" lang="fr-FR" sz="1300" spc="-1" strike="noStrike">
                <a:solidFill>
                  <a:srgbClr val="f5a623"/>
                </a:solidFill>
                <a:latin typeface="Inter"/>
                <a:ea typeface="DejaVu Sans"/>
              </a:rPr>
              <a:t>conclusion</a:t>
            </a:r>
            <a:r>
              <a:rPr b="0" lang="fr-FR" sz="1300" spc="-1" strike="noStrike">
                <a:solidFill>
                  <a:srgbClr val="f7f6f2"/>
                </a:solidFill>
                <a:latin typeface="Inter"/>
                <a:ea typeface="DejaVu Sans"/>
              </a:rPr>
              <a:t> pour chacune (anomalie, sentinelle, normal).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valeur sentinelle</a:t>
            </a:r>
            <a:r>
              <a:rPr b="0" lang="fr-FR" sz="1300" spc="-1" strike="noStrike">
                <a:solidFill>
                  <a:srgbClr val="f7f6f2"/>
                </a:solidFill>
                <a:latin typeface="Inter"/>
                <a:ea typeface="DejaVu Sans"/>
              </a:rPr>
              <a:t> de assure_id : contrôle </a:t>
            </a:r>
            <a:r>
              <a:rPr b="1" lang="fr-FR" sz="1300" spc="-1" strike="noStrike">
                <a:solidFill>
                  <a:srgbClr val="f5a623"/>
                </a:solidFill>
                <a:latin typeface="Inter"/>
                <a:ea typeface="DejaVu Sans"/>
              </a:rPr>
              <a:t>avant</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après</a:t>
            </a:r>
            <a:r>
              <a:rPr b="0" lang="fr-FR" sz="1300" spc="-1" strike="noStrike">
                <a:solidFill>
                  <a:srgbClr val="f7f6f2"/>
                </a:solidFill>
                <a:latin typeface="Inter"/>
                <a:ea typeface="DejaVu Sans"/>
              </a:rPr>
              <a:t>, écart chiffré, </a:t>
            </a:r>
            <a:r>
              <a:rPr b="1" lang="fr-FR" sz="1300" spc="-1" strike="noStrike">
                <a:solidFill>
                  <a:srgbClr val="f5a623"/>
                </a:solidFill>
                <a:latin typeface="Inter"/>
                <a:ea typeface="DejaVu Sans"/>
              </a:rPr>
              <a:t>convention écrite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67" name="Table 32"/>
          <p:cNvGraphicFramePr/>
          <p:nvPr/>
        </p:nvGraphicFramePr>
        <p:xfrm>
          <a:off x="640080" y="2534040"/>
          <a:ext cx="10908360" cy="1508040"/>
        </p:xfrm>
        <a:graphic>
          <a:graphicData uri="http://schemas.openxmlformats.org/drawingml/2006/table">
            <a:tbl>
              <a:tblPr/>
              <a:tblGrid>
                <a:gridCol w="3657600"/>
                <a:gridCol w="1371600"/>
                <a:gridCol w="1554480"/>
                <a:gridCol w="1188720"/>
                <a:gridCol w="3136320"/>
              </a:tblGrid>
              <a:tr h="301680">
                <a:tc>
                  <a:txBody>
                    <a:bodyPr lIns="73080" rIns="73080" anchor="ctr">
                      <a:noAutofit/>
                    </a:bodyPr>
                    <a:p>
                      <a:pPr>
                        <a:lnSpc>
                          <a:spcPct val="100000"/>
                        </a:lnSpc>
                        <a:buNone/>
                      </a:pPr>
                      <a:r>
                        <a:rPr b="1" lang="en-US" sz="1000" spc="49" strike="noStrike">
                          <a:solidFill>
                            <a:srgbClr val="f5a623"/>
                          </a:solidFill>
                          <a:latin typeface="Inter"/>
                        </a:rPr>
                        <a:t>Relation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Testées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Orphelins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Taux</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Conclusion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contrat.souscripteur_id → 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contrat.assure_id → client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contrat.code_type → type_contrat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sinistre.contrat_id → contrat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68" name="Table 33"/>
          <p:cNvGraphicFramePr/>
          <p:nvPr/>
        </p:nvGraphicFramePr>
        <p:xfrm>
          <a:off x="640080" y="4152600"/>
          <a:ext cx="10908360" cy="904680"/>
        </p:xfrm>
        <a:graphic>
          <a:graphicData uri="http://schemas.openxmlformats.org/drawingml/2006/table">
            <a:tbl>
              <a:tblPr/>
              <a:tblGrid>
                <a:gridCol w="4572000"/>
                <a:gridCol w="2194560"/>
                <a:gridCol w="4142160"/>
              </a:tblGrid>
              <a:tr h="301680">
                <a:tc>
                  <a:txBody>
                    <a:bodyPr lIns="73080" rIns="73080" anchor="ctr">
                      <a:noAutofit/>
                    </a:bodyPr>
                    <a:p>
                      <a:pPr>
                        <a:lnSpc>
                          <a:spcPct val="100000"/>
                        </a:lnSpc>
                        <a:buNone/>
                      </a:pPr>
                      <a:r>
                        <a:rPr b="1" lang="en-US" sz="1000" spc="49" strike="noStrike">
                          <a:solidFill>
                            <a:srgbClr val="f5a623"/>
                          </a:solidFill>
                          <a:latin typeface="Inter"/>
                        </a:rPr>
                        <a:t>Contrôle sur assure_id</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Orphelins</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Preuve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1" lang="en-US" sz="1100" spc="-1" strike="noStrike">
                          <a:solidFill>
                            <a:srgbClr val="f7f6f2"/>
                          </a:solidFill>
                          <a:latin typeface="Inter"/>
                        </a:rPr>
                        <a:t>Avant traitement de la sentinelle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1" lang="en-US" sz="1100" spc="-1" strike="noStrike">
                          <a:solidFill>
                            <a:srgbClr val="f7f6f2"/>
                          </a:solidFill>
                          <a:latin typeface="Inter"/>
                        </a:rPr>
                        <a:t>Après traitement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69" name="TextBox 34"/>
          <p:cNvSpPr/>
          <p:nvPr/>
        </p:nvSpPr>
        <p:spPr>
          <a:xfrm>
            <a:off x="640080" y="5114880"/>
            <a:ext cx="10907280" cy="36072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CONVENTION (QUI TRAITE LA SENTINELLE, DANS QUELLE COUCHE) ET POURQUOI LE PREMIER CONTRÔLE EST TROMPEUR</a:t>
            </a:r>
            <a:endParaRPr b="0" lang="fr-FR" sz="1100" spc="-1" strike="noStrike">
              <a:latin typeface="Arial"/>
            </a:endParaRPr>
          </a:p>
        </p:txBody>
      </p:sp>
      <p:sp>
        <p:nvSpPr>
          <p:cNvPr id="370" name="Zone à rédiger"/>
          <p:cNvSpPr/>
          <p:nvPr/>
        </p:nvSpPr>
        <p:spPr>
          <a:xfrm>
            <a:off x="640080" y="5460120"/>
            <a:ext cx="10907280" cy="664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Statuts, garantie et définition unique du client actif</a:t>
            </a:r>
            <a:endParaRPr b="0" lang="fr-FR" sz="2800" spc="-1" strike="noStrike">
              <a:latin typeface="Arial"/>
            </a:endParaRPr>
          </a:p>
        </p:txBody>
      </p:sp>
      <p:sp>
        <p:nvSpPr>
          <p:cNvPr id="372" name="PlaceHolder 2"/>
          <p:cNvSpPr>
            <a:spLocks noGrp="1"/>
          </p:cNvSpPr>
          <p:nvPr>
            <p:ph type="sldNum" idx="2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046A02C-B69E-49F1-BFAE-AFB27B96C3F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7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US-18, 19, 14</a:t>
            </a:r>
            <a:endParaRPr b="0" lang="fr-FR" sz="1100" spc="-1" strike="noStrike">
              <a:latin typeface="Arial"/>
            </a:endParaRPr>
          </a:p>
        </p:txBody>
      </p:sp>
      <p:sp>
        <p:nvSpPr>
          <p:cNvPr id="37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75"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76"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77" name="Icône target" descr="Icône target"/>
          <p:cNvPicPr/>
          <p:nvPr/>
        </p:nvPicPr>
        <p:blipFill>
          <a:blip r:embed="rId1"/>
          <a:stretch/>
        </p:blipFill>
        <p:spPr>
          <a:xfrm>
            <a:off x="896040" y="1435680"/>
            <a:ext cx="272880" cy="272880"/>
          </a:xfrm>
          <a:prstGeom prst="rect">
            <a:avLst/>
          </a:prstGeom>
          <a:ln w="0">
            <a:noFill/>
          </a:ln>
        </p:spPr>
      </p:pic>
      <p:sp>
        <p:nvSpPr>
          <p:cNvPr id="37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79"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RQ-015, 016, 017</a:t>
            </a:r>
            <a:r>
              <a:rPr b="0" lang="fr-FR" sz="1300" spc="-1" strike="noStrike">
                <a:solidFill>
                  <a:srgbClr val="f7f6f2"/>
                </a:solidFill>
                <a:latin typeface="Inter"/>
                <a:ea typeface="DejaVu Sans"/>
              </a:rPr>
              <a:t> mesurées, avec une </a:t>
            </a:r>
            <a:r>
              <a:rPr b="1" lang="fr-FR" sz="1300" spc="-1" strike="noStrike">
                <a:solidFill>
                  <a:srgbClr val="f5a623"/>
                </a:solidFill>
                <a:latin typeface="Inter"/>
                <a:ea typeface="DejaVu Sans"/>
              </a:rPr>
              <a:t>règle de correction du statut</a:t>
            </a:r>
            <a:r>
              <a:rPr b="0" lang="fr-FR" sz="1300" spc="-1" strike="noStrike">
                <a:solidFill>
                  <a:srgbClr val="f7f6f2"/>
                </a:solidFill>
                <a:latin typeface="Inter"/>
                <a:ea typeface="DejaVu Sans"/>
              </a:rPr>
              <a:t> proposée au </a:t>
            </a:r>
            <a:r>
              <a:rPr b="1" lang="fr-FR" sz="1300" spc="-1" strike="noStrike">
                <a:solidFill>
                  <a:srgbClr val="f5a623"/>
                </a:solidFill>
                <a:latin typeface="Inter"/>
                <a:ea typeface="DejaVu Sans"/>
              </a:rPr>
              <a:t>Data Owner</a:t>
            </a:r>
            <a:r>
              <a:rPr b="0" lang="fr-FR" sz="1300" spc="-1" strike="noStrike">
                <a:solidFill>
                  <a:srgbClr val="f7f6f2"/>
                </a:solidFill>
                <a:latin typeface="Inter"/>
                <a:ea typeface="DejaVu Sans"/>
              </a:rPr>
              <a:t> (reportée au journal des décisions).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requête unique</a:t>
            </a:r>
            <a:r>
              <a:rPr b="0" lang="fr-FR" sz="1300" spc="-1" strike="noStrike">
                <a:solidFill>
                  <a:srgbClr val="f7f6f2"/>
                </a:solidFill>
                <a:latin typeface="Inter"/>
                <a:ea typeface="DejaVu Sans"/>
              </a:rPr>
              <a:t> du client actif : les trois directions obtiennent le </a:t>
            </a:r>
            <a:r>
              <a:rPr b="1" lang="fr-FR" sz="1300" spc="-1" strike="noStrike">
                <a:solidFill>
                  <a:srgbClr val="f5a623"/>
                </a:solidFill>
                <a:latin typeface="Inter"/>
                <a:ea typeface="DejaVu Sans"/>
              </a:rPr>
              <a:t>même chiffre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380" name="Table 32"/>
          <p:cNvGraphicFramePr/>
          <p:nvPr/>
        </p:nvGraphicFramePr>
        <p:xfrm>
          <a:off x="640080" y="2748240"/>
          <a:ext cx="10908360" cy="1389240"/>
        </p:xfrm>
        <a:graphic>
          <a:graphicData uri="http://schemas.openxmlformats.org/drawingml/2006/table">
            <a:tbl>
              <a:tblPr/>
              <a:tblGrid>
                <a:gridCol w="2377440"/>
                <a:gridCol w="2194560"/>
                <a:gridCol w="2103120"/>
                <a:gridCol w="2103120"/>
                <a:gridCol w="2130480"/>
              </a:tblGrid>
              <a:tr h="34740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Couche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Testées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Échecs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Taux</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RQ-015</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RQ-016</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RQ-017</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381" name="Table 33"/>
          <p:cNvGraphicFramePr/>
          <p:nvPr/>
        </p:nvGraphicFramePr>
        <p:xfrm>
          <a:off x="640080" y="4275000"/>
          <a:ext cx="5668920" cy="1389240"/>
        </p:xfrm>
        <a:graphic>
          <a:graphicData uri="http://schemas.openxmlformats.org/drawingml/2006/table">
            <a:tbl>
              <a:tblPr/>
              <a:tblGrid>
                <a:gridCol w="2743200"/>
                <a:gridCol w="2926080"/>
              </a:tblGrid>
              <a:tr h="347400">
                <a:tc>
                  <a:txBody>
                    <a:bodyPr lIns="73080" rIns="73080" anchor="ctr">
                      <a:noAutofit/>
                    </a:bodyPr>
                    <a:p>
                      <a:pPr>
                        <a:lnSpc>
                          <a:spcPct val="100000"/>
                        </a:lnSpc>
                        <a:buNone/>
                      </a:pPr>
                      <a:r>
                        <a:rPr b="1" lang="en-US" sz="1050" spc="49" strike="noStrike">
                          <a:solidFill>
                            <a:srgbClr val="f5a623"/>
                          </a:solidFill>
                          <a:latin typeface="Inter"/>
                        </a:rPr>
                        <a:t>Direction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Chiffre avec la requête unique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Commerciale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Risques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382" name="TextBox 34"/>
          <p:cNvSpPr/>
          <p:nvPr/>
        </p:nvSpPr>
        <p:spPr>
          <a:xfrm>
            <a:off x="6583680" y="4312080"/>
            <a:ext cx="49636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RÈGLE DE CORRECTION DU STATUT PROPOSÉE</a:t>
            </a:r>
            <a:endParaRPr b="0" lang="fr-FR" sz="1100" spc="-1" strike="noStrike">
              <a:latin typeface="Arial"/>
            </a:endParaRPr>
          </a:p>
        </p:txBody>
      </p:sp>
      <p:sp>
        <p:nvSpPr>
          <p:cNvPr id="383" name="Zone à rédiger"/>
          <p:cNvSpPr/>
          <p:nvPr/>
        </p:nvSpPr>
        <p:spPr>
          <a:xfrm>
            <a:off x="6583680" y="4567680"/>
            <a:ext cx="4963680" cy="1557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[Texte, rôle destinataire, date]</a:t>
            </a:r>
            <a:endParaRPr b="0" lang="fr-FR" sz="1200" spc="-1" strike="noStrike">
              <a:latin typeface="Arial"/>
            </a:endParaRPr>
          </a:p>
        </p:txBody>
      </p:sp>
      <p:sp>
        <p:nvSpPr>
          <p:cNvPr id="384" name="TextBox 36"/>
          <p:cNvSpPr/>
          <p:nvPr/>
        </p:nvSpPr>
        <p:spPr>
          <a:xfrm>
            <a:off x="640080" y="573804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Chemin de la requête du client actif et contrôle RQ-018 : à indiquer dans le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S3 : critères de fin et difficultés</a:t>
            </a:r>
            <a:endParaRPr b="0" lang="fr-FR" sz="2800" spc="-1" strike="noStrike">
              <a:latin typeface="Arial"/>
            </a:endParaRPr>
          </a:p>
        </p:txBody>
      </p:sp>
      <p:sp>
        <p:nvSpPr>
          <p:cNvPr id="386" name="PlaceHolder 2"/>
          <p:cNvSpPr>
            <a:spLocks noGrp="1"/>
          </p:cNvSpPr>
          <p:nvPr>
            <p:ph type="sldNum" idx="2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EBF98E3-A0FE-47BA-8006-2F7D2208E5B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38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S3 · BILAN</a:t>
            </a:r>
            <a:endParaRPr b="0" lang="fr-FR" sz="1100" spc="-1" strike="noStrike">
              <a:latin typeface="Arial"/>
            </a:endParaRPr>
          </a:p>
        </p:txBody>
      </p:sp>
      <p:sp>
        <p:nvSpPr>
          <p:cNvPr id="388"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RÈGLES ET TESTS · 20 %</a:t>
            </a:r>
            <a:endParaRPr b="0" lang="fr-FR" sz="1000" spc="-1" strike="noStrike">
              <a:latin typeface="Arial"/>
            </a:endParaRPr>
          </a:p>
        </p:txBody>
      </p:sp>
      <p:sp>
        <p:nvSpPr>
          <p:cNvPr id="389"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390"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91" name="Icône target" descr="Icône target"/>
          <p:cNvPicPr/>
          <p:nvPr/>
        </p:nvPicPr>
        <p:blipFill>
          <a:blip r:embed="rId1"/>
          <a:stretch/>
        </p:blipFill>
        <p:spPr>
          <a:xfrm>
            <a:off x="896040" y="1435680"/>
            <a:ext cx="272880" cy="272880"/>
          </a:xfrm>
          <a:prstGeom prst="rect">
            <a:avLst/>
          </a:prstGeom>
          <a:ln w="0">
            <a:noFill/>
          </a:ln>
        </p:spPr>
      </p:pic>
      <p:sp>
        <p:nvSpPr>
          <p:cNvPr id="392"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393"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394"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395" name="Icône ok" descr="Icône ok"/>
          <p:cNvPicPr/>
          <p:nvPr/>
        </p:nvPicPr>
        <p:blipFill>
          <a:blip r:embed="rId2"/>
          <a:stretch/>
        </p:blipFill>
        <p:spPr>
          <a:xfrm>
            <a:off x="868680" y="2735280"/>
            <a:ext cx="309600" cy="309600"/>
          </a:xfrm>
          <a:prstGeom prst="rect">
            <a:avLst/>
          </a:prstGeom>
          <a:ln w="0">
            <a:noFill/>
          </a:ln>
        </p:spPr>
      </p:pic>
      <p:sp>
        <p:nvSpPr>
          <p:cNvPr id="396"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397" name="TextBox 35"/>
          <p:cNvSpPr/>
          <p:nvPr/>
        </p:nvSpPr>
        <p:spPr>
          <a:xfrm>
            <a:off x="868680" y="3219840"/>
            <a:ext cx="4662000" cy="17053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Un scan renvoie un code retour non nul quand une règle bloquante échoue.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contrôle porte l'identifiant de sa règle et la couche mesurée.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trois directions obtiennent le même chiffre avec la requête unique.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valeur sentinelle est expliquée et traitée.</a:t>
            </a:r>
            <a:endParaRPr b="0" lang="fr-FR" sz="1250" spc="-1" strike="noStrike">
              <a:latin typeface="Arial"/>
            </a:endParaRPr>
          </a:p>
        </p:txBody>
      </p:sp>
      <p:sp>
        <p:nvSpPr>
          <p:cNvPr id="398"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399"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400"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01"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402"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03"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404"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04</a:t>
            </a:r>
            <a:endParaRPr b="0" lang="fr-FR" sz="7200" spc="-1" strike="noStrike">
              <a:latin typeface="Arial"/>
            </a:endParaRPr>
          </a:p>
        </p:txBody>
      </p:sp>
      <p:sp>
        <p:nvSpPr>
          <p:cNvPr id="406"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Construire silver puis gold</a:t>
            </a:r>
            <a:endParaRPr b="0" lang="fr-FR" sz="4200" spc="-1" strike="noStrike">
              <a:latin typeface="Arial"/>
            </a:endParaRPr>
          </a:p>
        </p:txBody>
      </p:sp>
      <p:sp>
        <p:nvSpPr>
          <p:cNvPr id="407" name="PlaceHolder 3"/>
          <p:cNvSpPr>
            <a:spLocks noGrp="1"/>
          </p:cNvSpPr>
          <p:nvPr>
            <p:ph type="sldNum" idx="2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DF7D3B3-2FD7-4F7D-A4D8-F488F2266251}"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08" name="TextBox 25"/>
          <p:cNvSpPr/>
          <p:nvPr/>
        </p:nvSpPr>
        <p:spPr>
          <a:xfrm>
            <a:off x="640080" y="4892040"/>
            <a:ext cx="6399360" cy="83880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4 · PySpark · US-21 à 28. Standardiser, mettre en quarantaine, re-mesurer, dédoublonner, construire gold, retracer.</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Silver : traitements et quarantaine</a:t>
            </a:r>
            <a:endParaRPr b="0" lang="fr-FR" sz="2800" spc="-1" strike="noStrike">
              <a:latin typeface="Arial"/>
            </a:endParaRPr>
          </a:p>
        </p:txBody>
      </p:sp>
      <p:sp>
        <p:nvSpPr>
          <p:cNvPr id="410" name="PlaceHolder 2"/>
          <p:cNvSpPr>
            <a:spLocks noGrp="1"/>
          </p:cNvSpPr>
          <p:nvPr>
            <p:ph type="sldNum" idx="2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83056CF-1CD2-4E33-8EFA-385A73307F5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11"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US-21, 22</a:t>
            </a:r>
            <a:endParaRPr b="0" lang="fr-FR" sz="1100" spc="-1" strike="noStrike">
              <a:latin typeface="Arial"/>
            </a:endParaRPr>
          </a:p>
        </p:txBody>
      </p:sp>
      <p:sp>
        <p:nvSpPr>
          <p:cNvPr id="412"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13"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14"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15" name="Icône target" descr="Icône target"/>
          <p:cNvPicPr/>
          <p:nvPr/>
        </p:nvPicPr>
        <p:blipFill>
          <a:blip r:embed="rId1"/>
          <a:stretch/>
        </p:blipFill>
        <p:spPr>
          <a:xfrm>
            <a:off x="896040" y="1435680"/>
            <a:ext cx="272880" cy="272880"/>
          </a:xfrm>
          <a:prstGeom prst="rect">
            <a:avLst/>
          </a:prstGeom>
          <a:ln w="0">
            <a:noFill/>
          </a:ln>
        </p:spPr>
      </p:pic>
      <p:sp>
        <p:nvSpPr>
          <p:cNvPr id="416"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17"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chaque traitement : les </a:t>
            </a:r>
            <a:r>
              <a:rPr b="1" lang="fr-FR" sz="1300" spc="-1" strike="noStrike">
                <a:solidFill>
                  <a:srgbClr val="f5a623"/>
                </a:solidFill>
                <a:latin typeface="Inter"/>
                <a:ea typeface="DejaVu Sans"/>
              </a:rPr>
              <a:t>lignes modifiées</a:t>
            </a:r>
            <a:r>
              <a:rPr b="0" lang="fr-FR" sz="1300" spc="-1" strike="noStrike">
                <a:solidFill>
                  <a:srgbClr val="f7f6f2"/>
                </a:solidFill>
                <a:latin typeface="Inter"/>
                <a:ea typeface="DejaVu Sans"/>
              </a:rPr>
              <a:t> et le </a:t>
            </a:r>
            <a:r>
              <a:rPr b="1" lang="fr-FR" sz="1300" spc="-1" strike="noStrike">
                <a:solidFill>
                  <a:srgbClr val="f5a623"/>
                </a:solidFill>
                <a:latin typeface="Inter"/>
                <a:ea typeface="DejaVu Sans"/>
              </a:rPr>
              <a:t>garde-fou</a:t>
            </a:r>
            <a:r>
              <a:rPr b="0" lang="fr-FR" sz="1300" spc="-1" strike="noStrike">
                <a:solidFill>
                  <a:srgbClr val="f7f6f2"/>
                </a:solidFill>
                <a:latin typeface="Inter"/>
                <a:ea typeface="DejaVu Sans"/>
              </a:rPr>
              <a:t> (ce qu'il ne doit pas faire).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L'invariant </a:t>
            </a:r>
            <a:r>
              <a:rPr b="1" lang="fr-FR" sz="1300" spc="-1" strike="noStrike">
                <a:solidFill>
                  <a:srgbClr val="f5a623"/>
                </a:solidFill>
                <a:latin typeface="Inter"/>
                <a:ea typeface="DejaVu Sans"/>
              </a:rPr>
              <a:t>silver + rejets = bronze</a:t>
            </a:r>
            <a:r>
              <a:rPr b="0" lang="fr-FR" sz="1300" spc="-1" strike="noStrike">
                <a:solidFill>
                  <a:srgbClr val="f7f6f2"/>
                </a:solidFill>
                <a:latin typeface="Inter"/>
                <a:ea typeface="DejaVu Sans"/>
              </a:rPr>
              <a:t>, </a:t>
            </a:r>
            <a:r>
              <a:rPr b="1" lang="fr-FR" sz="1300" spc="-1" strike="noStrike">
                <a:solidFill>
                  <a:srgbClr val="f5a623"/>
                </a:solidFill>
                <a:latin typeface="Inter"/>
                <a:ea typeface="DejaVu Sans"/>
              </a:rPr>
              <a:t>table par table</a:t>
            </a:r>
            <a:r>
              <a:rPr b="0" lang="fr-FR" sz="1300" spc="-1" strike="noStrike">
                <a:solidFill>
                  <a:srgbClr val="f7f6f2"/>
                </a:solidFill>
                <a:latin typeface="Inter"/>
                <a:ea typeface="DejaVu Sans"/>
              </a:rPr>
              <a:t>, avec l'écart.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preuve d'idempotence</a:t>
            </a:r>
            <a:r>
              <a:rPr b="0" lang="fr-FR" sz="1300" spc="-1" strike="noStrike">
                <a:solidFill>
                  <a:srgbClr val="f7f6f2"/>
                </a:solidFill>
                <a:latin typeface="Inter"/>
                <a:ea typeface="DejaVu Sans"/>
              </a:rPr>
              <a:t> : le traitement relancé deux fois donne le même résultat.</a:t>
            </a:r>
            <a:endParaRPr b="0" lang="fr-FR" sz="1300" spc="-1" strike="noStrike">
              <a:latin typeface="Arial"/>
            </a:endParaRPr>
          </a:p>
        </p:txBody>
      </p:sp>
      <p:graphicFrame>
        <p:nvGraphicFramePr>
          <p:cNvPr id="418" name="Table 32"/>
          <p:cNvGraphicFramePr/>
          <p:nvPr/>
        </p:nvGraphicFramePr>
        <p:xfrm>
          <a:off x="640080" y="2786040"/>
          <a:ext cx="10908360" cy="1389240"/>
        </p:xfrm>
        <a:graphic>
          <a:graphicData uri="http://schemas.openxmlformats.org/drawingml/2006/table">
            <a:tbl>
              <a:tblPr/>
              <a:tblGrid>
                <a:gridCol w="2926080"/>
                <a:gridCol w="1645920"/>
                <a:gridCol w="2011680"/>
                <a:gridCol w="4325040"/>
              </a:tblGrid>
              <a:tr h="347400">
                <a:tc>
                  <a:txBody>
                    <a:bodyPr lIns="73080" rIns="73080" anchor="ctr">
                      <a:noAutofit/>
                    </a:bodyPr>
                    <a:p>
                      <a:pPr>
                        <a:lnSpc>
                          <a:spcPct val="100000"/>
                        </a:lnSpc>
                        <a:buNone/>
                      </a:pPr>
                      <a:r>
                        <a:rPr b="1" lang="en-US" sz="1050" spc="49" strike="noStrike">
                          <a:solidFill>
                            <a:srgbClr val="f5a623"/>
                          </a:solidFill>
                          <a:latin typeface="Inter"/>
                        </a:rPr>
                        <a:t>Traitement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modifiées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Garde-fou</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19" name="Table 33"/>
          <p:cNvGraphicFramePr/>
          <p:nvPr/>
        </p:nvGraphicFramePr>
        <p:xfrm>
          <a:off x="640080" y="4313160"/>
          <a:ext cx="10908360" cy="1736640"/>
        </p:xfrm>
        <a:graphic>
          <a:graphicData uri="http://schemas.openxmlformats.org/drawingml/2006/table">
            <a:tbl>
              <a:tblPr/>
              <a:tblGrid>
                <a:gridCol w="2926080"/>
                <a:gridCol w="2011680"/>
                <a:gridCol w="2011680"/>
                <a:gridCol w="2011680"/>
                <a:gridCol w="1947600"/>
              </a:tblGrid>
              <a:tr h="347400">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bronze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silver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rejetées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 (crm)</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 (cif)</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contrat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20" name="TextBox 34"/>
          <p:cNvSpPr/>
          <p:nvPr/>
        </p:nvSpPr>
        <p:spPr>
          <a:xfrm>
            <a:off x="640080" y="612360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Preuve d'idempotence et chemins des scripts : à indiquer dans le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Rejets par règle et porte S : bronze contre silver</a:t>
            </a:r>
            <a:endParaRPr b="0" lang="fr-FR" sz="2800" spc="-1" strike="noStrike">
              <a:latin typeface="Arial"/>
            </a:endParaRPr>
          </a:p>
        </p:txBody>
      </p:sp>
      <p:sp>
        <p:nvSpPr>
          <p:cNvPr id="422" name="PlaceHolder 2"/>
          <p:cNvSpPr>
            <a:spLocks noGrp="1"/>
          </p:cNvSpPr>
          <p:nvPr>
            <p:ph type="sldNum" idx="3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1552F60-B04C-45F9-8241-78EBEF53707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2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US-22, 23</a:t>
            </a:r>
            <a:endParaRPr b="0" lang="fr-FR" sz="1100" spc="-1" strike="noStrike">
              <a:latin typeface="Arial"/>
            </a:endParaRPr>
          </a:p>
        </p:txBody>
      </p:sp>
      <p:sp>
        <p:nvSpPr>
          <p:cNvPr id="42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25"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26"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27" name="Icône target" descr="Icône target"/>
          <p:cNvPicPr/>
          <p:nvPr/>
        </p:nvPicPr>
        <p:blipFill>
          <a:blip r:embed="rId1"/>
          <a:stretch/>
        </p:blipFill>
        <p:spPr>
          <a:xfrm>
            <a:off x="896040" y="1435680"/>
            <a:ext cx="272880" cy="272880"/>
          </a:xfrm>
          <a:prstGeom prst="rect">
            <a:avLst/>
          </a:prstGeom>
          <a:ln w="0">
            <a:noFill/>
          </a:ln>
        </p:spPr>
      </p:pic>
      <p:sp>
        <p:nvSpPr>
          <p:cNvPr id="42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29"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rejets par règle</a:t>
            </a:r>
            <a:r>
              <a:rPr b="0" lang="fr-FR" sz="1300" spc="-1" strike="noStrike">
                <a:solidFill>
                  <a:srgbClr val="f7f6f2"/>
                </a:solidFill>
                <a:latin typeface="Inter"/>
                <a:ea typeface="DejaVu Sans"/>
              </a:rPr>
              <a:t> (dq.rejets) avec la raison métier.</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chaque règle : taux </a:t>
            </a:r>
            <a:r>
              <a:rPr b="1" lang="fr-FR" sz="1300" spc="-1" strike="noStrike">
                <a:solidFill>
                  <a:srgbClr val="f5a623"/>
                </a:solidFill>
                <a:latin typeface="Inter"/>
                <a:ea typeface="DejaVu Sans"/>
              </a:rPr>
              <a:t>bronze</a:t>
            </a:r>
            <a:r>
              <a:rPr b="0" lang="fr-FR" sz="1300" spc="-1" strike="noStrike">
                <a:solidFill>
                  <a:srgbClr val="f7f6f2"/>
                </a:solidFill>
                <a:latin typeface="Inter"/>
                <a:ea typeface="DejaVu Sans"/>
              </a:rPr>
              <a:t>, taux </a:t>
            </a:r>
            <a:r>
              <a:rPr b="1" lang="fr-FR" sz="1300" spc="-1" strike="noStrike">
                <a:solidFill>
                  <a:srgbClr val="f5a623"/>
                </a:solidFill>
                <a:latin typeface="Inter"/>
                <a:ea typeface="DejaVu Sans"/>
              </a:rPr>
              <a:t>silver</a:t>
            </a:r>
            <a:r>
              <a:rPr b="0" lang="fr-FR" sz="1300" spc="-1" strike="noStrike">
                <a:solidFill>
                  <a:srgbClr val="f7f6f2"/>
                </a:solidFill>
                <a:latin typeface="Inter"/>
                <a:ea typeface="DejaVu Sans"/>
              </a:rPr>
              <a:t>, écart, et l'</a:t>
            </a:r>
            <a:r>
              <a:rPr b="1" lang="fr-FR" sz="1300" spc="-1" strike="noStrike">
                <a:solidFill>
                  <a:srgbClr val="f5a623"/>
                </a:solidFill>
                <a:latin typeface="Inter"/>
                <a:ea typeface="DejaVu Sans"/>
              </a:rPr>
              <a:t>explication</a:t>
            </a:r>
            <a:r>
              <a:rPr b="0" lang="fr-FR" sz="1300" spc="-1" strike="noStrike">
                <a:solidFill>
                  <a:srgbClr val="f7f6f2"/>
                </a:solidFill>
                <a:latin typeface="Inter"/>
                <a:ea typeface="DejaVu Sans"/>
              </a:rPr>
              <a:t> de toute baisse.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règles </a:t>
            </a:r>
            <a:r>
              <a:rPr b="1" lang="fr-FR" sz="1300" spc="-1" strike="noStrike">
                <a:solidFill>
                  <a:srgbClr val="f5a623"/>
                </a:solidFill>
                <a:latin typeface="Inter"/>
                <a:ea typeface="DejaVu Sans"/>
              </a:rPr>
              <a:t>bloquantes</a:t>
            </a:r>
            <a:r>
              <a:rPr b="0" lang="fr-FR" sz="1300" spc="-1" strike="noStrike">
                <a:solidFill>
                  <a:srgbClr val="f7f6f2"/>
                </a:solidFill>
                <a:latin typeface="Inter"/>
                <a:ea typeface="DejaVu Sans"/>
              </a:rPr>
              <a:t> de la porte S : conformes sur silver, ou </a:t>
            </a:r>
            <a:r>
              <a:rPr b="1" lang="fr-FR" sz="1300" spc="-1" strike="noStrike">
                <a:solidFill>
                  <a:srgbClr val="f5a623"/>
                </a:solidFill>
                <a:latin typeface="Inter"/>
                <a:ea typeface="DejaVu Sans"/>
              </a:rPr>
              <a:t>pourquoi pas</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430" name="Table 32"/>
          <p:cNvGraphicFramePr/>
          <p:nvPr/>
        </p:nvGraphicFramePr>
        <p:xfrm>
          <a:off x="640080" y="2786040"/>
          <a:ext cx="10908360" cy="986760"/>
        </p:xfrm>
        <a:graphic>
          <a:graphicData uri="http://schemas.openxmlformats.org/drawingml/2006/table">
            <a:tbl>
              <a:tblPr/>
              <a:tblGrid>
                <a:gridCol w="1188720"/>
                <a:gridCol w="2011680"/>
                <a:gridCol w="1828800"/>
                <a:gridCol w="5879520"/>
              </a:tblGrid>
              <a:tr h="32904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rejetées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Raison métier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31" name="Table 33"/>
          <p:cNvGraphicFramePr/>
          <p:nvPr/>
        </p:nvGraphicFramePr>
        <p:xfrm>
          <a:off x="640080" y="3911040"/>
          <a:ext cx="10908360" cy="1974240"/>
        </p:xfrm>
        <a:graphic>
          <a:graphicData uri="http://schemas.openxmlformats.org/drawingml/2006/table">
            <a:tbl>
              <a:tblPr/>
              <a:tblGrid>
                <a:gridCol w="1097280"/>
                <a:gridCol w="1371600"/>
                <a:gridCol w="1463040"/>
                <a:gridCol w="1463040"/>
                <a:gridCol w="1188720"/>
                <a:gridCol w="4325040"/>
              </a:tblGrid>
              <a:tr h="329040">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Sévérité</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Taux bronze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Taux silver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Explication de l'écart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Dédoublonnage : paramètres et mesures</a:t>
            </a:r>
            <a:endParaRPr b="0" lang="fr-FR" sz="2800" spc="-1" strike="noStrike">
              <a:latin typeface="Arial"/>
            </a:endParaRPr>
          </a:p>
        </p:txBody>
      </p:sp>
      <p:sp>
        <p:nvSpPr>
          <p:cNvPr id="433" name="PlaceHolder 2"/>
          <p:cNvSpPr>
            <a:spLocks noGrp="1"/>
          </p:cNvSpPr>
          <p:nvPr>
            <p:ph type="sldNum" idx="3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DA91BBF0-4699-40D9-AFC6-8FE58CC0AB9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3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US-24</a:t>
            </a:r>
            <a:endParaRPr b="0" lang="fr-FR" sz="1100" spc="-1" strike="noStrike">
              <a:latin typeface="Arial"/>
            </a:endParaRPr>
          </a:p>
        </p:txBody>
      </p:sp>
      <p:sp>
        <p:nvSpPr>
          <p:cNvPr id="43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3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3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38" name="Icône target" descr="Icône target"/>
          <p:cNvPicPr/>
          <p:nvPr/>
        </p:nvPicPr>
        <p:blipFill>
          <a:blip r:embed="rId1"/>
          <a:stretch/>
        </p:blipFill>
        <p:spPr>
          <a:xfrm>
            <a:off x="896040" y="1435680"/>
            <a:ext cx="272880" cy="272880"/>
          </a:xfrm>
          <a:prstGeom prst="rect">
            <a:avLst/>
          </a:prstGeom>
          <a:ln w="0">
            <a:noFill/>
          </a:ln>
        </p:spPr>
      </p:pic>
      <p:sp>
        <p:nvSpPr>
          <p:cNvPr id="43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40"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paramètres</a:t>
            </a:r>
            <a:r>
              <a:rPr b="0" lang="fr-FR" sz="1300" spc="-1" strike="noStrike">
                <a:solidFill>
                  <a:srgbClr val="f7f6f2"/>
                </a:solidFill>
                <a:latin typeface="Inter"/>
                <a:ea typeface="DejaVu Sans"/>
              </a:rPr>
              <a:t> retenus (normalisation, clés de blocage, similarité, seuils) avec leur </a:t>
            </a:r>
            <a:r>
              <a:rPr b="1" lang="fr-FR" sz="1300" spc="-1" strike="noStrike">
                <a:solidFill>
                  <a:srgbClr val="f5a623"/>
                </a:solidFill>
                <a:latin typeface="Inter"/>
                <a:ea typeface="DejaVu Sans"/>
              </a:rPr>
              <a:t>justification</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Précision</a:t>
            </a:r>
            <a:r>
              <a:rPr b="0" lang="fr-FR" sz="1300" spc="-1" strike="noStrike">
                <a:solidFill>
                  <a:srgbClr val="f7f6f2"/>
                </a:solidFill>
                <a:latin typeface="Inter"/>
                <a:ea typeface="DejaVu Sans"/>
              </a:rPr>
              <a:t> et </a:t>
            </a:r>
            <a:r>
              <a:rPr b="1" lang="fr-FR" sz="1300" spc="-1" strike="noStrike">
                <a:solidFill>
                  <a:srgbClr val="f5a623"/>
                </a:solidFill>
                <a:latin typeface="Inter"/>
                <a:ea typeface="DejaVu Sans"/>
              </a:rPr>
              <a:t>rappel</a:t>
            </a:r>
            <a:r>
              <a:rPr b="0" lang="fr-FR" sz="1300" spc="-1" strike="noStrike">
                <a:solidFill>
                  <a:srgbClr val="f7f6f2"/>
                </a:solidFill>
                <a:latin typeface="Inter"/>
                <a:ea typeface="DejaVu Sans"/>
              </a:rPr>
              <a:t> mesurés sur les 200 paires étiquetées ; nombre d'</a:t>
            </a:r>
            <a:r>
              <a:rPr b="1" lang="fr-FR" sz="1300" spc="-1" strike="noStrike">
                <a:solidFill>
                  <a:srgbClr val="f5a623"/>
                </a:solidFill>
                <a:latin typeface="Inter"/>
                <a:ea typeface="DejaVu Sans"/>
              </a:rPr>
              <a:t>identités distinctes</a:t>
            </a:r>
            <a:r>
              <a:rPr b="0" lang="fr-FR" sz="1300" spc="-1" strike="noStrike">
                <a:solidFill>
                  <a:srgbClr val="f7f6f2"/>
                </a:solidFill>
                <a:latin typeface="Inter"/>
                <a:ea typeface="DejaVu Sans"/>
              </a:rPr>
              <a:t> obtenu.</a:t>
            </a:r>
            <a:endParaRPr b="0" lang="fr-FR" sz="1300" spc="-1" strike="noStrike">
              <a:latin typeface="Arial"/>
            </a:endParaRPr>
          </a:p>
        </p:txBody>
      </p:sp>
      <p:graphicFrame>
        <p:nvGraphicFramePr>
          <p:cNvPr id="441" name="Table 32"/>
          <p:cNvGraphicFramePr/>
          <p:nvPr/>
        </p:nvGraphicFramePr>
        <p:xfrm>
          <a:off x="640080" y="2534040"/>
          <a:ext cx="10908360" cy="1755000"/>
        </p:xfrm>
        <a:graphic>
          <a:graphicData uri="http://schemas.openxmlformats.org/drawingml/2006/table">
            <a:tbl>
              <a:tblPr/>
              <a:tblGrid>
                <a:gridCol w="3291840"/>
                <a:gridCol w="2926080"/>
                <a:gridCol w="4690800"/>
              </a:tblGrid>
              <a:tr h="292320">
                <a:tc>
                  <a:txBody>
                    <a:bodyPr lIns="73080" rIns="73080" anchor="ctr">
                      <a:noAutofit/>
                    </a:bodyPr>
                    <a:p>
                      <a:pPr>
                        <a:lnSpc>
                          <a:spcPct val="100000"/>
                        </a:lnSpc>
                        <a:buNone/>
                      </a:pPr>
                      <a:r>
                        <a:rPr b="1" lang="en-US" sz="1000" spc="49" strike="noStrike">
                          <a:solidFill>
                            <a:srgbClr val="f5a623"/>
                          </a:solidFill>
                          <a:latin typeface="Inter"/>
                        </a:rPr>
                        <a:t>Paramètre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Valeur retenue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Justification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92320">
                <a:tc>
                  <a:txBody>
                    <a:bodyPr lIns="73080" rIns="73080" anchor="ctr">
                      <a:noAutofit/>
                    </a:bodyPr>
                    <a:p>
                      <a:pPr>
                        <a:lnSpc>
                          <a:spcPct val="100000"/>
                        </a:lnSpc>
                        <a:buNone/>
                      </a:pPr>
                      <a:r>
                        <a:rPr b="1" lang="en-US" sz="1100" spc="-1" strike="noStrike">
                          <a:solidFill>
                            <a:srgbClr val="f7f6f2"/>
                          </a:solidFill>
                          <a:latin typeface="Inter"/>
                        </a:rPr>
                        <a:t>Normalisation avant comparaison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Clé(s) de blocage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Mesure de similarité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Seuil de fusion automatique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3760">
                <a:tc>
                  <a:txBody>
                    <a:bodyPr lIns="73080" rIns="73080" anchor="ctr">
                      <a:noAutofit/>
                    </a:bodyPr>
                    <a:p>
                      <a:pPr>
                        <a:lnSpc>
                          <a:spcPct val="100000"/>
                        </a:lnSpc>
                        <a:buNone/>
                      </a:pPr>
                      <a:r>
                        <a:rPr b="1" lang="en-US" sz="1100" spc="-1" strike="noStrike">
                          <a:solidFill>
                            <a:srgbClr val="f7f6f2"/>
                          </a:solidFill>
                          <a:latin typeface="Inter"/>
                        </a:rPr>
                        <a:t>Seuil de la zone de revue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42" name="Table 33"/>
          <p:cNvGraphicFramePr/>
          <p:nvPr/>
        </p:nvGraphicFramePr>
        <p:xfrm>
          <a:off x="640080" y="4399560"/>
          <a:ext cx="8229240" cy="1699920"/>
        </p:xfrm>
        <a:graphic>
          <a:graphicData uri="http://schemas.openxmlformats.org/drawingml/2006/table">
            <a:tbl>
              <a:tblPr/>
              <a:tblGrid>
                <a:gridCol w="5486400"/>
                <a:gridCol w="2743200"/>
              </a:tblGrid>
              <a:tr h="283320">
                <a:tc>
                  <a:txBody>
                    <a:bodyPr lIns="73080" rIns="73080" anchor="ctr">
                      <a:noAutofit/>
                    </a:bodyPr>
                    <a:p>
                      <a:pPr>
                        <a:lnSpc>
                          <a:spcPct val="100000"/>
                        </a:lnSpc>
                        <a:buNone/>
                      </a:pPr>
                      <a:r>
                        <a:rPr b="1" lang="en-US" sz="1000" spc="49" strike="noStrike">
                          <a:solidFill>
                            <a:srgbClr val="f5a623"/>
                          </a:solidFill>
                          <a:latin typeface="Inter"/>
                        </a:rPr>
                        <a:t>Mesure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Valeur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83320">
                <a:tc>
                  <a:txBody>
                    <a:bodyPr lIns="73080" rIns="73080" anchor="ctr">
                      <a:noAutofit/>
                    </a:bodyPr>
                    <a:p>
                      <a:pPr>
                        <a:lnSpc>
                          <a:spcPct val="100000"/>
                        </a:lnSpc>
                        <a:buNone/>
                      </a:pPr>
                      <a:r>
                        <a:rPr b="1" lang="en-US" sz="1100" spc="-1" strike="noStrike">
                          <a:solidFill>
                            <a:srgbClr val="f7f6f2"/>
                          </a:solidFill>
                          <a:latin typeface="Inter"/>
                        </a:rPr>
                        <a:t>Groupes de doublons trouvés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Paires fusionnées automatiquement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Paires en zone de revue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320">
                <a:tc>
                  <a:txBody>
                    <a:bodyPr lIns="73080" rIns="73080" anchor="ctr">
                      <a:noAutofit/>
                    </a:bodyPr>
                    <a:p>
                      <a:pPr>
                        <a:lnSpc>
                          <a:spcPct val="100000"/>
                        </a:lnSpc>
                        <a:buNone/>
                      </a:pPr>
                      <a:r>
                        <a:rPr b="1" lang="en-US" sz="1100" spc="-1" strike="noStrike">
                          <a:solidFill>
                            <a:srgbClr val="f7f6f2"/>
                          </a:solidFill>
                          <a:latin typeface="Inter"/>
                        </a:rPr>
                        <a:t>Précision / rappel sur les 200 paires étiquetées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83680">
                <a:tc>
                  <a:txBody>
                    <a:bodyPr lIns="73080" rIns="73080" anchor="ctr">
                      <a:noAutofit/>
                    </a:bodyPr>
                    <a:p>
                      <a:pPr>
                        <a:lnSpc>
                          <a:spcPct val="100000"/>
                        </a:lnSpc>
                        <a:buNone/>
                      </a:pPr>
                      <a:r>
                        <a:rPr b="1" lang="en-US" sz="1100" spc="-1" strike="noStrike">
                          <a:solidFill>
                            <a:srgbClr val="f7f6f2"/>
                          </a:solidFill>
                          <a:latin typeface="Inter"/>
                        </a:rPr>
                        <a:t>Identités distinctes obtenues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43" name="TextBox 34"/>
          <p:cNvSpPr/>
          <p:nvPr/>
        </p:nvSpPr>
        <p:spPr>
          <a:xfrm>
            <a:off x="9052560" y="4436640"/>
            <a:ext cx="2494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ZONE DE REVUE</a:t>
            </a:r>
            <a:endParaRPr b="0" lang="fr-FR" sz="1100" spc="-1" strike="noStrike">
              <a:latin typeface="Arial"/>
            </a:endParaRPr>
          </a:p>
        </p:txBody>
      </p:sp>
      <p:sp>
        <p:nvSpPr>
          <p:cNvPr id="444" name="Zone à rédiger"/>
          <p:cNvSpPr/>
          <p:nvPr/>
        </p:nvSpPr>
        <p:spPr>
          <a:xfrm>
            <a:off x="9052560" y="4692240"/>
            <a:ext cx="2494800" cy="1432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[Règle de décision proposée]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Golden record de la Société Meunier et règle de survie</a:t>
            </a:r>
            <a:endParaRPr b="0" lang="fr-FR" sz="2800" spc="-1" strike="noStrike">
              <a:latin typeface="Arial"/>
            </a:endParaRPr>
          </a:p>
        </p:txBody>
      </p:sp>
      <p:sp>
        <p:nvSpPr>
          <p:cNvPr id="446" name="PlaceHolder 2"/>
          <p:cNvSpPr>
            <a:spLocks noGrp="1"/>
          </p:cNvSpPr>
          <p:nvPr>
            <p:ph type="sldNum" idx="3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E952F82-4B26-494D-B3CB-2452B5CCA057}"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4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US-25</a:t>
            </a:r>
            <a:endParaRPr b="0" lang="fr-FR" sz="1100" spc="-1" strike="noStrike">
              <a:latin typeface="Arial"/>
            </a:endParaRPr>
          </a:p>
        </p:txBody>
      </p:sp>
      <p:sp>
        <p:nvSpPr>
          <p:cNvPr id="448"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49"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50"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51" name="Icône target" descr="Icône target"/>
          <p:cNvPicPr/>
          <p:nvPr/>
        </p:nvPicPr>
        <p:blipFill>
          <a:blip r:embed="rId1"/>
          <a:stretch/>
        </p:blipFill>
        <p:spPr>
          <a:xfrm>
            <a:off x="896040" y="1435680"/>
            <a:ext cx="272880" cy="272880"/>
          </a:xfrm>
          <a:prstGeom prst="rect">
            <a:avLst/>
          </a:prstGeom>
          <a:ln w="0">
            <a:noFill/>
          </a:ln>
        </p:spPr>
      </p:pic>
      <p:sp>
        <p:nvSpPr>
          <p:cNvPr id="452"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53"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Un seul CLI</a:t>
            </a:r>
            <a:r>
              <a:rPr b="0" lang="fr-FR" sz="1300" spc="-1" strike="noStrike">
                <a:solidFill>
                  <a:srgbClr val="f7f6f2"/>
                </a:solidFill>
                <a:latin typeface="Inter"/>
                <a:ea typeface="DejaVu Sans"/>
              </a:rPr>
              <a:t> pour les quatre identifiants de la Société Meunier.</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règle de survie par attribut</a:t>
            </a:r>
            <a:r>
              <a:rPr b="0" lang="fr-FR" sz="1300" spc="-1" strike="noStrike">
                <a:solidFill>
                  <a:srgbClr val="f7f6f2"/>
                </a:solidFill>
                <a:latin typeface="Inter"/>
                <a:ea typeface="DejaVu Sans"/>
              </a:rPr>
              <a:t>, et un cas où elle se </a:t>
            </a:r>
            <a:r>
              <a:rPr b="1" lang="fr-FR" sz="1300" spc="-1" strike="noStrike">
                <a:solidFill>
                  <a:srgbClr val="f5a623"/>
                </a:solidFill>
                <a:latin typeface="Inter"/>
                <a:ea typeface="DejaVu Sans"/>
              </a:rPr>
              <a:t>trompe</a:t>
            </a:r>
            <a:r>
              <a:rPr b="0" lang="fr-FR" sz="1300" spc="-1" strike="noStrike">
                <a:solidFill>
                  <a:srgbClr val="f7f6f2"/>
                </a:solidFill>
                <a:latin typeface="Inter"/>
                <a:ea typeface="DejaVu Sans"/>
              </a:rPr>
              <a:t>.</a:t>
            </a:r>
            <a:endParaRPr b="0" lang="fr-FR" sz="1300" spc="-1" strike="noStrike">
              <a:latin typeface="Arial"/>
            </a:endParaRPr>
          </a:p>
        </p:txBody>
      </p:sp>
      <p:graphicFrame>
        <p:nvGraphicFramePr>
          <p:cNvPr id="454" name="Table 32"/>
          <p:cNvGraphicFramePr/>
          <p:nvPr/>
        </p:nvGraphicFramePr>
        <p:xfrm>
          <a:off x="640080" y="2534040"/>
          <a:ext cx="6949080" cy="1508040"/>
        </p:xfrm>
        <a:graphic>
          <a:graphicData uri="http://schemas.openxmlformats.org/drawingml/2006/table">
            <a:tbl>
              <a:tblPr/>
              <a:tblGrid>
                <a:gridCol w="2926080"/>
                <a:gridCol w="1828800"/>
                <a:gridCol w="2194560"/>
              </a:tblGrid>
              <a:tr h="301680">
                <a:tc>
                  <a:txBody>
                    <a:bodyPr lIns="73080" rIns="73080" anchor="ctr">
                      <a:noAutofit/>
                    </a:bodyPr>
                    <a:p>
                      <a:pPr>
                        <a:lnSpc>
                          <a:spcPct val="100000"/>
                        </a:lnSpc>
                        <a:buNone/>
                      </a:pPr>
                      <a:r>
                        <a:rPr b="1" lang="en-US" sz="1000" spc="49" strike="noStrike">
                          <a:solidFill>
                            <a:srgbClr val="f5a623"/>
                          </a:solidFill>
                          <a:latin typeface="Inter"/>
                        </a:rPr>
                        <a:t>Identifiant source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Système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CLI attribué</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0168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455" name="Table 33"/>
          <p:cNvGraphicFramePr/>
          <p:nvPr/>
        </p:nvGraphicFramePr>
        <p:xfrm>
          <a:off x="640080" y="4225680"/>
          <a:ext cx="10908000" cy="1599840"/>
        </p:xfrm>
        <a:graphic>
          <a:graphicData uri="http://schemas.openxmlformats.org/drawingml/2006/table">
            <a:tbl>
              <a:tblPr/>
              <a:tblGrid>
                <a:gridCol w="1645920"/>
                <a:gridCol w="2011680"/>
                <a:gridCol w="3748680"/>
                <a:gridCol w="3502080"/>
              </a:tblGrid>
              <a:tr h="320040">
                <a:tc>
                  <a:txBody>
                    <a:bodyPr lIns="73080" rIns="73080" anchor="ctr">
                      <a:noAutofit/>
                    </a:bodyPr>
                    <a:p>
                      <a:pPr>
                        <a:lnSpc>
                          <a:spcPct val="100000"/>
                        </a:lnSpc>
                        <a:buNone/>
                      </a:pPr>
                      <a:r>
                        <a:rPr b="1" lang="en-US" sz="1000" spc="49" strike="noStrike">
                          <a:solidFill>
                            <a:srgbClr val="f5a623"/>
                          </a:solidFill>
                          <a:latin typeface="Inter"/>
                        </a:rPr>
                        <a:t>Attribut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Source retenue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Règle (priorité, plus récent, non nul)</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Cas où la règle se trompe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0040">
                <a:tc>
                  <a:txBody>
                    <a:bodyPr lIns="73080" rIns="73080" anchor="ctr">
                      <a:noAutofit/>
                    </a:bodyPr>
                    <a:p>
                      <a:pPr>
                        <a:lnSpc>
                          <a:spcPct val="100000"/>
                        </a:lnSpc>
                        <a:buNone/>
                      </a:pPr>
                      <a:r>
                        <a:rPr b="1" lang="en-US" sz="1100" spc="-1" strike="noStrike">
                          <a:solidFill>
                            <a:srgbClr val="f7f6f2"/>
                          </a:solidFill>
                          <a:latin typeface="Inter"/>
                        </a:rPr>
                        <a:t>Nom</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Adresse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Téléphone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0040">
                <a:tc>
                  <a:txBody>
                    <a:bodyPr lIns="73080" rIns="73080" anchor="ctr">
                      <a:noAutofit/>
                    </a:bodyPr>
                    <a:p>
                      <a:pPr>
                        <a:lnSpc>
                          <a:spcPct val="100000"/>
                        </a:lnSpc>
                        <a:buNone/>
                      </a:pPr>
                      <a:r>
                        <a:rPr b="1" lang="en-US" sz="1100" spc="-1" strike="noStrike">
                          <a:solidFill>
                            <a:srgbClr val="f7f6f2"/>
                          </a:solidFill>
                          <a:latin typeface="Inter"/>
                        </a:rPr>
                        <a:t>Courriel</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56" name="TextBox 34"/>
          <p:cNvSpPr/>
          <p:nvPr/>
        </p:nvSpPr>
        <p:spPr>
          <a:xfrm>
            <a:off x="640080" y="589788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Reportez la règle de survie dans le journal des décisions, avec le rôle qui l'a décidée.</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Gold : tables cohérentes et client actif unique</a:t>
            </a:r>
            <a:endParaRPr b="0" lang="fr-FR" sz="2800" spc="-1" strike="noStrike">
              <a:latin typeface="Arial"/>
            </a:endParaRPr>
          </a:p>
        </p:txBody>
      </p:sp>
      <p:sp>
        <p:nvSpPr>
          <p:cNvPr id="458" name="PlaceHolder 2"/>
          <p:cNvSpPr>
            <a:spLocks noGrp="1"/>
          </p:cNvSpPr>
          <p:nvPr>
            <p:ph type="sldNum" idx="3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5B8A7D6-9518-4B5F-A3EF-0E5A1DF69F3B}"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59"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US-27</a:t>
            </a:r>
            <a:endParaRPr b="0" lang="fr-FR" sz="1100" spc="-1" strike="noStrike">
              <a:latin typeface="Arial"/>
            </a:endParaRPr>
          </a:p>
        </p:txBody>
      </p:sp>
      <p:sp>
        <p:nvSpPr>
          <p:cNvPr id="460"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61"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62"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63" name="Icône target" descr="Icône target"/>
          <p:cNvPicPr/>
          <p:nvPr/>
        </p:nvPicPr>
        <p:blipFill>
          <a:blip r:embed="rId1"/>
          <a:stretch/>
        </p:blipFill>
        <p:spPr>
          <a:xfrm>
            <a:off x="896040" y="1435680"/>
            <a:ext cx="272880" cy="272880"/>
          </a:xfrm>
          <a:prstGeom prst="rect">
            <a:avLst/>
          </a:prstGeom>
          <a:ln w="0">
            <a:noFill/>
          </a:ln>
        </p:spPr>
      </p:pic>
      <p:sp>
        <p:nvSpPr>
          <p:cNvPr id="464"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65"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lignes</a:t>
            </a:r>
            <a:r>
              <a:rPr b="0" lang="fr-FR" sz="1300" spc="-1" strike="noStrike">
                <a:solidFill>
                  <a:srgbClr val="f7f6f2"/>
                </a:solidFill>
                <a:latin typeface="Inter"/>
                <a:ea typeface="DejaVu Sans"/>
              </a:rPr>
              <a:t> de chaque table gold, les </a:t>
            </a:r>
            <a:r>
              <a:rPr b="1" lang="fr-FR" sz="1300" spc="-1" strike="noStrike">
                <a:solidFill>
                  <a:srgbClr val="f5a623"/>
                </a:solidFill>
                <a:latin typeface="Inter"/>
                <a:ea typeface="DejaVu Sans"/>
              </a:rPr>
              <a:t>lignes écartées</a:t>
            </a:r>
            <a:r>
              <a:rPr b="0" lang="fr-FR" sz="1300" spc="-1" strike="noStrike">
                <a:solidFill>
                  <a:srgbClr val="f7f6f2"/>
                </a:solidFill>
                <a:latin typeface="Inter"/>
                <a:ea typeface="DejaVu Sans"/>
              </a:rPr>
              <a:t> à la porte G et les </a:t>
            </a:r>
            <a:r>
              <a:rPr b="1" lang="fr-FR" sz="1300" spc="-1" strike="noStrike">
                <a:solidFill>
                  <a:srgbClr val="f5a623"/>
                </a:solidFill>
                <a:latin typeface="Inter"/>
                <a:ea typeface="DejaVu Sans"/>
              </a:rPr>
              <a:t>règles responsables</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Aucun orphelin</a:t>
            </a:r>
            <a:r>
              <a:rPr b="0" lang="fr-FR" sz="1300" spc="-1" strike="noStrike">
                <a:solidFill>
                  <a:srgbClr val="f7f6f2"/>
                </a:solidFill>
                <a:latin typeface="Inter"/>
                <a:ea typeface="DejaVu Sans"/>
              </a:rPr>
              <a:t> dans gold ; client actif publié par la </a:t>
            </a:r>
            <a:r>
              <a:rPr b="1" lang="fr-FR" sz="1300" spc="-1" strike="noStrike">
                <a:solidFill>
                  <a:srgbClr val="f5a623"/>
                </a:solidFill>
                <a:latin typeface="Inter"/>
                <a:ea typeface="DejaVu Sans"/>
              </a:rPr>
              <a:t>vue unique</a:t>
            </a:r>
            <a:r>
              <a:rPr b="0" lang="fr-FR" sz="1300" spc="-1" strike="noStrike">
                <a:solidFill>
                  <a:srgbClr val="f7f6f2"/>
                </a:solidFill>
                <a:latin typeface="Inter"/>
                <a:ea typeface="DejaVu Sans"/>
              </a:rPr>
              <a:t> v_client_actif.</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effet de la quarantaine</a:t>
            </a:r>
            <a:r>
              <a:rPr b="0" lang="fr-FR" sz="1300" spc="-1" strike="noStrike">
                <a:solidFill>
                  <a:srgbClr val="f7f6f2"/>
                </a:solidFill>
                <a:latin typeface="Inter"/>
                <a:ea typeface="DejaVu Sans"/>
              </a:rPr>
              <a:t> en aval : un client écarté laisse-t-il des contrats orphelins ?</a:t>
            </a:r>
            <a:endParaRPr b="0" lang="fr-FR" sz="1300" spc="-1" strike="noStrike">
              <a:latin typeface="Arial"/>
            </a:endParaRPr>
          </a:p>
        </p:txBody>
      </p:sp>
      <p:graphicFrame>
        <p:nvGraphicFramePr>
          <p:cNvPr id="466" name="Table 32"/>
          <p:cNvGraphicFramePr/>
          <p:nvPr/>
        </p:nvGraphicFramePr>
        <p:xfrm>
          <a:off x="640080" y="2786040"/>
          <a:ext cx="10908360" cy="1736640"/>
        </p:xfrm>
        <a:graphic>
          <a:graphicData uri="http://schemas.openxmlformats.org/drawingml/2006/table">
            <a:tbl>
              <a:tblPr/>
              <a:tblGrid>
                <a:gridCol w="2743200"/>
                <a:gridCol w="1645920"/>
                <a:gridCol w="2560320"/>
                <a:gridCol w="3959280"/>
              </a:tblGrid>
              <a:tr h="347400">
                <a:tc>
                  <a:txBody>
                    <a:bodyPr lIns="73080" rIns="73080" anchor="ctr">
                      <a:noAutofit/>
                    </a:bodyPr>
                    <a:p>
                      <a:pPr>
                        <a:lnSpc>
                          <a:spcPct val="100000"/>
                        </a:lnSpc>
                        <a:buNone/>
                      </a:pPr>
                      <a:r>
                        <a:rPr b="1" lang="en-US" sz="1050" spc="49" strike="noStrike">
                          <a:solidFill>
                            <a:srgbClr val="f5a623"/>
                          </a:solidFill>
                          <a:latin typeface="Inter"/>
                        </a:rPr>
                        <a:t>Table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écartées (porte G)</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Règles responsables</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client_unique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xref_identifiants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contrat_certifie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sinistre_certifie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67" name="TextBox 33"/>
          <p:cNvSpPr/>
          <p:nvPr/>
        </p:nvSpPr>
        <p:spPr>
          <a:xfrm>
            <a:off x="640080" y="46976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ORPHELINS ET CLIENT ACTIF PUBLIÉ</a:t>
            </a:r>
            <a:endParaRPr b="0" lang="fr-FR" sz="1100" spc="-1" strike="noStrike">
              <a:latin typeface="Arial"/>
            </a:endParaRPr>
          </a:p>
        </p:txBody>
      </p:sp>
      <p:sp>
        <p:nvSpPr>
          <p:cNvPr id="468" name="Zone à rédiger"/>
          <p:cNvSpPr/>
          <p:nvPr/>
        </p:nvSpPr>
        <p:spPr>
          <a:xfrm>
            <a:off x="640080" y="4953240"/>
            <a:ext cx="5347800" cy="1171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[Chiffres, écart avec CD-001]</a:t>
            </a:r>
            <a:endParaRPr b="0" lang="fr-FR" sz="1200" spc="-1" strike="noStrike">
              <a:latin typeface="Arial"/>
            </a:endParaRPr>
          </a:p>
        </p:txBody>
      </p:sp>
      <p:sp>
        <p:nvSpPr>
          <p:cNvPr id="469" name="TextBox 35"/>
          <p:cNvSpPr/>
          <p:nvPr/>
        </p:nvSpPr>
        <p:spPr>
          <a:xfrm>
            <a:off x="6199560" y="46976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EFFET DE LA QUARANTAINE SUR L'INTÉGRITÉ EN AVAL</a:t>
            </a:r>
            <a:endParaRPr b="0" lang="fr-FR" sz="1100" spc="-1" strike="noStrike">
              <a:latin typeface="Arial"/>
            </a:endParaRPr>
          </a:p>
        </p:txBody>
      </p:sp>
      <p:sp>
        <p:nvSpPr>
          <p:cNvPr id="470" name="Zone à rédiger"/>
          <p:cNvSpPr/>
          <p:nvPr/>
        </p:nvSpPr>
        <p:spPr>
          <a:xfrm>
            <a:off x="6199560" y="4953240"/>
            <a:ext cx="5347800" cy="1171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Retracer trois données de gold jusqu'à la source</a:t>
            </a:r>
            <a:endParaRPr b="0" lang="fr-FR" sz="2800" spc="-1" strike="noStrike">
              <a:latin typeface="Arial"/>
            </a:endParaRPr>
          </a:p>
        </p:txBody>
      </p:sp>
      <p:sp>
        <p:nvSpPr>
          <p:cNvPr id="472" name="PlaceHolder 2"/>
          <p:cNvSpPr>
            <a:spLocks noGrp="1"/>
          </p:cNvSpPr>
          <p:nvPr>
            <p:ph type="sldNum" idx="3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3F89406-8B48-4E38-BE3A-BEE860005B8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7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US-28</a:t>
            </a:r>
            <a:endParaRPr b="0" lang="fr-FR" sz="1100" spc="-1" strike="noStrike">
              <a:latin typeface="Arial"/>
            </a:endParaRPr>
          </a:p>
        </p:txBody>
      </p:sp>
      <p:sp>
        <p:nvSpPr>
          <p:cNvPr id="47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75"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76"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77" name="Icône target" descr="Icône target"/>
          <p:cNvPicPr/>
          <p:nvPr/>
        </p:nvPicPr>
        <p:blipFill>
          <a:blip r:embed="rId1"/>
          <a:stretch/>
        </p:blipFill>
        <p:spPr>
          <a:xfrm>
            <a:off x="896040" y="1435680"/>
            <a:ext cx="272880" cy="272880"/>
          </a:xfrm>
          <a:prstGeom prst="rect">
            <a:avLst/>
          </a:prstGeom>
          <a:ln w="0">
            <a:noFill/>
          </a:ln>
        </p:spPr>
      </p:pic>
      <p:sp>
        <p:nvSpPr>
          <p:cNvPr id="47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79"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Pour </a:t>
            </a:r>
            <a:r>
              <a:rPr b="1" lang="fr-FR" sz="1300" spc="-1" strike="noStrike">
                <a:solidFill>
                  <a:srgbClr val="f5a623"/>
                </a:solidFill>
                <a:latin typeface="Inter"/>
                <a:ea typeface="DejaVu Sans"/>
              </a:rPr>
              <a:t>chacune des trois données</a:t>
            </a:r>
            <a:r>
              <a:rPr b="0" lang="fr-FR" sz="1300" spc="-1" strike="noStrike">
                <a:solidFill>
                  <a:srgbClr val="f7f6f2"/>
                </a:solidFill>
                <a:latin typeface="Inter"/>
                <a:ea typeface="DejaVu Sans"/>
              </a:rPr>
              <a:t> : la valeur dans gold, les identifiants de ligne silver et bronze (avec le lot), la source (table, clé).</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requête de traçabilité</a:t>
            </a:r>
            <a:r>
              <a:rPr b="0" lang="fr-FR" sz="1300" spc="-1" strike="noStrike">
                <a:solidFill>
                  <a:srgbClr val="f7f6f2"/>
                </a:solidFill>
                <a:latin typeface="Inter"/>
                <a:ea typeface="DejaVu Sans"/>
              </a:rPr>
              <a:t> est dans le dépôt.</a:t>
            </a:r>
            <a:endParaRPr b="0" lang="fr-FR" sz="1300" spc="-1" strike="noStrike">
              <a:latin typeface="Arial"/>
            </a:endParaRPr>
          </a:p>
        </p:txBody>
      </p:sp>
      <p:graphicFrame>
        <p:nvGraphicFramePr>
          <p:cNvPr id="480" name="Table 32"/>
          <p:cNvGraphicFramePr/>
          <p:nvPr/>
        </p:nvGraphicFramePr>
        <p:xfrm>
          <a:off x="640080" y="2793960"/>
          <a:ext cx="10908360" cy="1828440"/>
        </p:xfrm>
        <a:graphic>
          <a:graphicData uri="http://schemas.openxmlformats.org/drawingml/2006/table">
            <a:tbl>
              <a:tblPr/>
              <a:tblGrid>
                <a:gridCol w="2560320"/>
                <a:gridCol w="1828800"/>
                <a:gridCol w="2194560"/>
                <a:gridCol w="2377440"/>
                <a:gridCol w="1947600"/>
              </a:tblGrid>
              <a:tr h="457200">
                <a:tc>
                  <a:txBody>
                    <a:bodyPr lIns="73080" rIns="73080" anchor="ctr">
                      <a:noAutofit/>
                    </a:bodyPr>
                    <a:p>
                      <a:pPr>
                        <a:lnSpc>
                          <a:spcPct val="100000"/>
                        </a:lnSpc>
                        <a:buNone/>
                      </a:pPr>
                      <a:r>
                        <a:rPr b="1" lang="en-US" sz="1100" spc="49" strike="noStrike">
                          <a:solidFill>
                            <a:srgbClr val="f5a623"/>
                          </a:solidFill>
                          <a:latin typeface="Inter"/>
                        </a:rPr>
                        <a:t>Donnée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Silver (identifiants)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Bronze (identifiants, lot)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Source (table, clé)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457200">
                <a:tc>
                  <a:txBody>
                    <a:bodyPr lIns="73080" rIns="73080" anchor="ctr">
                      <a:noAutofit/>
                    </a:bodyPr>
                    <a:p>
                      <a:pPr>
                        <a:lnSpc>
                          <a:spcPct val="100000"/>
                        </a:lnSpc>
                        <a:buNone/>
                      </a:pPr>
                      <a:r>
                        <a:rPr b="1" lang="en-US" sz="1200" spc="-1" strike="noStrike">
                          <a:solidFill>
                            <a:srgbClr val="f7f6f2"/>
                          </a:solidFill>
                          <a:latin typeface="Inter"/>
                        </a:rPr>
                        <a:t>Société Meunier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57200">
                <a:tc>
                  <a:txBody>
                    <a:bodyPr lIns="73080" rIns="73080" anchor="ctr">
                      <a:noAutofit/>
                    </a:bodyPr>
                    <a:p>
                      <a:pPr>
                        <a:lnSpc>
                          <a:spcPct val="100000"/>
                        </a:lnSpc>
                        <a:buNone/>
                      </a:pPr>
                      <a:r>
                        <a:rPr b="1" lang="en-US" sz="1200" spc="-1" strike="noStrike">
                          <a:solidFill>
                            <a:srgbClr val="f7f6f2"/>
                          </a:solidFill>
                          <a:latin typeface="Inter"/>
                        </a:rPr>
                        <a:t>Un code postal à zéro initial</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57200">
                <a:tc>
                  <a:txBody>
                    <a:bodyPr lIns="73080" rIns="73080" anchor="ctr">
                      <a:noAutofit/>
                    </a:bodyPr>
                    <a:p>
                      <a:pPr>
                        <a:lnSpc>
                          <a:spcPct val="100000"/>
                        </a:lnSpc>
                        <a:buNone/>
                      </a:pPr>
                      <a:r>
                        <a:rPr b="1" lang="en-US" sz="1200" spc="-1" strike="noStrike">
                          <a:solidFill>
                            <a:srgbClr val="f7f6f2"/>
                          </a:solidFill>
                          <a:latin typeface="Inter"/>
                        </a:rPr>
                        <a:t>Une adresse de sinistre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481" name="TextBox 33"/>
          <p:cNvSpPr/>
          <p:nvPr/>
        </p:nvSpPr>
        <p:spPr>
          <a:xfrm>
            <a:off x="640080" y="5890320"/>
            <a:ext cx="1090728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0" lang="fr-FR" sz="1200" spc="-1" strike="noStrike">
                <a:solidFill>
                  <a:srgbClr val="b8c0c8"/>
                </a:solidFill>
                <a:latin typeface="Inter"/>
                <a:ea typeface="DejaVu Sans"/>
              </a:rPr>
              <a:t>Preuve (chemin du notebook, du fichier ou de la requête dans le dépôt) : </a:t>
            </a:r>
            <a:r>
              <a:rPr b="1" lang="fr-FR" sz="1200" spc="-1" strike="noStrike">
                <a:solidFill>
                  <a:srgbClr val="f5a623"/>
                </a:solidFill>
                <a:latin typeface="Inter"/>
                <a:ea typeface="DejaVu Sans"/>
              </a:rPr>
              <a:t>…</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S4 : critères de fin et difficultés</a:t>
            </a:r>
            <a:endParaRPr b="0" lang="fr-FR" sz="2800" spc="-1" strike="noStrike">
              <a:latin typeface="Arial"/>
            </a:endParaRPr>
          </a:p>
        </p:txBody>
      </p:sp>
      <p:sp>
        <p:nvSpPr>
          <p:cNvPr id="483" name="PlaceHolder 2"/>
          <p:cNvSpPr>
            <a:spLocks noGrp="1"/>
          </p:cNvSpPr>
          <p:nvPr>
            <p:ph type="sldNum" idx="3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40B55E8-3489-431F-A581-F17524A6A86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48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S4 · BILAN</a:t>
            </a:r>
            <a:endParaRPr b="0" lang="fr-FR" sz="1100" spc="-1" strike="noStrike">
              <a:latin typeface="Arial"/>
            </a:endParaRPr>
          </a:p>
        </p:txBody>
      </p:sp>
      <p:sp>
        <p:nvSpPr>
          <p:cNvPr id="48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SILVER, GOLD ET TRAÇABILITÉ · 25 %</a:t>
            </a:r>
            <a:endParaRPr b="0" lang="fr-FR" sz="1000" spc="-1" strike="noStrike">
              <a:latin typeface="Arial"/>
            </a:endParaRPr>
          </a:p>
        </p:txBody>
      </p:sp>
      <p:sp>
        <p:nvSpPr>
          <p:cNvPr id="486"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487"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88" name="Icône target" descr="Icône target"/>
          <p:cNvPicPr/>
          <p:nvPr/>
        </p:nvPicPr>
        <p:blipFill>
          <a:blip r:embed="rId1"/>
          <a:stretch/>
        </p:blipFill>
        <p:spPr>
          <a:xfrm>
            <a:off x="896040" y="1435680"/>
            <a:ext cx="272880" cy="272880"/>
          </a:xfrm>
          <a:prstGeom prst="rect">
            <a:avLst/>
          </a:prstGeom>
          <a:ln w="0">
            <a:noFill/>
          </a:ln>
        </p:spPr>
      </p:pic>
      <p:sp>
        <p:nvSpPr>
          <p:cNvPr id="48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490"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491"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492" name="Icône ok" descr="Icône ok"/>
          <p:cNvPicPr/>
          <p:nvPr/>
        </p:nvPicPr>
        <p:blipFill>
          <a:blip r:embed="rId2"/>
          <a:stretch/>
        </p:blipFill>
        <p:spPr>
          <a:xfrm>
            <a:off x="868680" y="2735280"/>
            <a:ext cx="309600" cy="309600"/>
          </a:xfrm>
          <a:prstGeom prst="rect">
            <a:avLst/>
          </a:prstGeom>
          <a:ln w="0">
            <a:noFill/>
          </a:ln>
        </p:spPr>
      </p:pic>
      <p:sp>
        <p:nvSpPr>
          <p:cNvPr id="493"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494" name="TextBox 35"/>
          <p:cNvSpPr/>
          <p:nvPr/>
        </p:nvSpPr>
        <p:spPr>
          <a:xfrm>
            <a:off x="868680" y="3219840"/>
            <a:ext cx="4662000" cy="241092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Pour chaque table, silver + rejets = bronze, sans suppression silencieuse.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Relancer le traitement deux fois donne le même résultat.</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règles bloquantes de la porte S sont conformes sur silver.</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 gold ne contient aucun orphelin ; le client actif est publié par une seule vue.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Les trois traces remontent du gold à la source avec identifiants de ligne et de lot.</a:t>
            </a:r>
            <a:endParaRPr b="0" lang="fr-FR" sz="1250" spc="-1" strike="noStrike">
              <a:latin typeface="Arial"/>
            </a:endParaRPr>
          </a:p>
        </p:txBody>
      </p:sp>
      <p:sp>
        <p:nvSpPr>
          <p:cNvPr id="495"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496"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497"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498"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499"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00"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501"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05</a:t>
            </a:r>
            <a:endParaRPr b="0" lang="fr-FR" sz="7200" spc="-1" strike="noStrike">
              <a:latin typeface="Arial"/>
            </a:endParaRPr>
          </a:p>
        </p:txBody>
      </p:sp>
      <p:sp>
        <p:nvSpPr>
          <p:cNvPr id="503"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Certifier, publier, gouverner</a:t>
            </a:r>
            <a:endParaRPr b="0" lang="fr-FR" sz="4200" spc="-1" strike="noStrike">
              <a:latin typeface="Arial"/>
            </a:endParaRPr>
          </a:p>
        </p:txBody>
      </p:sp>
      <p:sp>
        <p:nvSpPr>
          <p:cNvPr id="504" name="PlaceHolder 3"/>
          <p:cNvSpPr>
            <a:spLocks noGrp="1"/>
          </p:cNvSpPr>
          <p:nvPr>
            <p:ph type="sldNum" idx="3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558AD31-609B-4E96-840B-57A7759B19F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05"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Séance 5 · Porte C · US-29 à 35. Historique sur trois couches, certificat, publication refusée puis acceptée, catalogue.</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6"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Historique des mesures et courbes d'évolution</a:t>
            </a:r>
            <a:endParaRPr b="0" lang="fr-FR" sz="2800" spc="-1" strike="noStrike">
              <a:latin typeface="Arial"/>
            </a:endParaRPr>
          </a:p>
        </p:txBody>
      </p:sp>
      <p:sp>
        <p:nvSpPr>
          <p:cNvPr id="507" name="PlaceHolder 2"/>
          <p:cNvSpPr>
            <a:spLocks noGrp="1"/>
          </p:cNvSpPr>
          <p:nvPr>
            <p:ph type="sldNum" idx="3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590AA9A-ECC5-4E04-841B-56E3A271B75E}"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08"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US-29, 30</a:t>
            </a:r>
            <a:endParaRPr b="0" lang="fr-FR" sz="1100" spc="-1" strike="noStrike">
              <a:latin typeface="Arial"/>
            </a:endParaRPr>
          </a:p>
        </p:txBody>
      </p:sp>
      <p:sp>
        <p:nvSpPr>
          <p:cNvPr id="509"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10"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11"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12" name="Icône target" descr="Icône target"/>
          <p:cNvPicPr/>
          <p:nvPr/>
        </p:nvPicPr>
        <p:blipFill>
          <a:blip r:embed="rId1"/>
          <a:stretch/>
        </p:blipFill>
        <p:spPr>
          <a:xfrm>
            <a:off x="896040" y="1435680"/>
            <a:ext cx="272880" cy="272880"/>
          </a:xfrm>
          <a:prstGeom prst="rect">
            <a:avLst/>
          </a:prstGeom>
          <a:ln w="0">
            <a:noFill/>
          </a:ln>
        </p:spPr>
      </p:pic>
      <p:sp>
        <p:nvSpPr>
          <p:cNvPr id="513"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14"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Une mesure par couche</a:t>
            </a:r>
            <a:r>
              <a:rPr b="0" lang="fr-FR" sz="1300" spc="-1" strike="noStrike">
                <a:solidFill>
                  <a:srgbClr val="f7f6f2"/>
                </a:solidFill>
                <a:latin typeface="Inter"/>
                <a:ea typeface="DejaVu Sans"/>
              </a:rPr>
              <a:t> où la règle s'applique, pour chaque règle ; les couches non applicables sont </a:t>
            </a:r>
            <a:r>
              <a:rPr b="1" lang="fr-FR" sz="1300" spc="-1" strike="noStrike">
                <a:solidFill>
                  <a:srgbClr val="f5a623"/>
                </a:solidFill>
                <a:latin typeface="Inter"/>
                <a:ea typeface="DejaVu Sans"/>
              </a:rPr>
              <a:t>justifiées</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Toute règle qui </a:t>
            </a:r>
            <a:r>
              <a:rPr b="1" lang="fr-FR" sz="1300" spc="-1" strike="noStrike">
                <a:solidFill>
                  <a:srgbClr val="f5a623"/>
                </a:solidFill>
                <a:latin typeface="Inter"/>
                <a:ea typeface="DejaVu Sans"/>
              </a:rPr>
              <a:t>descend</a:t>
            </a:r>
            <a:r>
              <a:rPr b="0" lang="fr-FR" sz="1300" spc="-1" strike="noStrike">
                <a:solidFill>
                  <a:srgbClr val="f7f6f2"/>
                </a:solidFill>
                <a:latin typeface="Inter"/>
                <a:ea typeface="DejaVu Sans"/>
              </a:rPr>
              <a:t> d'une couche à l'autre est </a:t>
            </a:r>
            <a:r>
              <a:rPr b="1" lang="fr-FR" sz="1300" spc="-1" strike="noStrike">
                <a:solidFill>
                  <a:srgbClr val="f5a623"/>
                </a:solidFill>
                <a:latin typeface="Inter"/>
                <a:ea typeface="DejaVu Sans"/>
              </a:rPr>
              <a:t>expliquée</a:t>
            </a:r>
            <a:r>
              <a:rPr b="0" lang="fr-FR" sz="1300" spc="-1" strike="noStrike">
                <a:solidFill>
                  <a:srgbClr val="f7f6f2"/>
                </a:solidFill>
                <a:latin typeface="Inter"/>
                <a:ea typeface="DejaVu Sans"/>
              </a:rPr>
              <a:t> (filtre, conversion, effet de la quarantaine).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a:t>
            </a:r>
            <a:r>
              <a:rPr b="1" lang="fr-FR" sz="1300" spc="-1" strike="noStrike">
                <a:solidFill>
                  <a:srgbClr val="f5a623"/>
                </a:solidFill>
                <a:latin typeface="Inter"/>
                <a:ea typeface="DejaVu Sans"/>
              </a:rPr>
              <a:t>courbe par dimension</a:t>
            </a:r>
            <a:r>
              <a:rPr b="0" lang="fr-FR" sz="1300" spc="-1" strike="noStrike">
                <a:solidFill>
                  <a:srgbClr val="f7f6f2"/>
                </a:solidFill>
                <a:latin typeface="Inter"/>
                <a:ea typeface="DejaVu Sans"/>
              </a:rPr>
              <a:t> (image insérée ci-dessous).</a:t>
            </a:r>
            <a:endParaRPr b="0" lang="fr-FR" sz="1300" spc="-1" strike="noStrike">
              <a:latin typeface="Arial"/>
            </a:endParaRPr>
          </a:p>
        </p:txBody>
      </p:sp>
      <p:graphicFrame>
        <p:nvGraphicFramePr>
          <p:cNvPr id="515" name="Table 32"/>
          <p:cNvGraphicFramePr/>
          <p:nvPr/>
        </p:nvGraphicFramePr>
        <p:xfrm>
          <a:off x="640080" y="2786040"/>
          <a:ext cx="10908360" cy="1974240"/>
        </p:xfrm>
        <a:graphic>
          <a:graphicData uri="http://schemas.openxmlformats.org/drawingml/2006/table">
            <a:tbl>
              <a:tblPr/>
              <a:tblGrid>
                <a:gridCol w="1005840"/>
                <a:gridCol w="1463040"/>
                <a:gridCol w="1005840"/>
                <a:gridCol w="1005840"/>
                <a:gridCol w="1005840"/>
                <a:gridCol w="1371600"/>
                <a:gridCol w="4050720"/>
              </a:tblGrid>
              <a:tr h="329040">
                <a:tc>
                  <a:txBody>
                    <a:bodyPr lIns="73080" rIns="73080" anchor="ctr">
                      <a:noAutofit/>
                    </a:bodyPr>
                    <a:p>
                      <a:pPr>
                        <a:lnSpc>
                          <a:spcPct val="100000"/>
                        </a:lnSpc>
                        <a:buNone/>
                      </a:pPr>
                      <a:r>
                        <a:rPr b="1" lang="en-US" sz="1000" spc="49" strike="noStrike">
                          <a:solidFill>
                            <a:srgbClr val="f5a623"/>
                          </a:solidFill>
                          <a:latin typeface="Inter"/>
                        </a:rPr>
                        <a:t>Règle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Dimension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Bronze</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Silver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Gold</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Évolution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Explication</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16" name="TextBox 33"/>
          <p:cNvSpPr/>
          <p:nvPr/>
        </p:nvSpPr>
        <p:spPr>
          <a:xfrm>
            <a:off x="640080" y="493560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COURBES (INSÉREZ L'IMAGE, CHEMIN DU FICHIER DANS LE DÉPÔT)</a:t>
            </a:r>
            <a:endParaRPr b="0" lang="fr-FR" sz="1100" spc="-1" strike="noStrike">
              <a:latin typeface="Arial"/>
            </a:endParaRPr>
          </a:p>
        </p:txBody>
      </p:sp>
      <p:sp>
        <p:nvSpPr>
          <p:cNvPr id="517" name="Zone à rédiger"/>
          <p:cNvSpPr/>
          <p:nvPr/>
        </p:nvSpPr>
        <p:spPr>
          <a:xfrm>
            <a:off x="640080" y="5191200"/>
            <a:ext cx="10907280" cy="933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[Insérez ici les courbes par dimension et par couche]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8"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Certificat de qualité : GO ou NO_GO</a:t>
            </a:r>
            <a:endParaRPr b="0" lang="fr-FR" sz="2800" spc="-1" strike="noStrike">
              <a:latin typeface="Arial"/>
            </a:endParaRPr>
          </a:p>
        </p:txBody>
      </p:sp>
      <p:sp>
        <p:nvSpPr>
          <p:cNvPr id="519" name="PlaceHolder 2"/>
          <p:cNvSpPr>
            <a:spLocks noGrp="1"/>
          </p:cNvSpPr>
          <p:nvPr>
            <p:ph type="sldNum" idx="3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E387A5E8-3E29-4F59-886A-F77CB388926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20"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US-31</a:t>
            </a:r>
            <a:endParaRPr b="0" lang="fr-FR" sz="1100" spc="-1" strike="noStrike">
              <a:latin typeface="Arial"/>
            </a:endParaRPr>
          </a:p>
        </p:txBody>
      </p:sp>
      <p:sp>
        <p:nvSpPr>
          <p:cNvPr id="521"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22"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23"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24" name="Icône target" descr="Icône target"/>
          <p:cNvPicPr/>
          <p:nvPr/>
        </p:nvPicPr>
        <p:blipFill>
          <a:blip r:embed="rId1"/>
          <a:stretch/>
        </p:blipFill>
        <p:spPr>
          <a:xfrm>
            <a:off x="896040" y="1435680"/>
            <a:ext cx="272880" cy="272880"/>
          </a:xfrm>
          <a:prstGeom prst="rect">
            <a:avLst/>
          </a:prstGeom>
          <a:ln w="0">
            <a:noFill/>
          </a:ln>
        </p:spPr>
      </p:pic>
      <p:sp>
        <p:nvSpPr>
          <p:cNvPr id="525"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26"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certificat est </a:t>
            </a:r>
            <a:r>
              <a:rPr b="1" lang="fr-FR" sz="1300" spc="-1" strike="noStrike">
                <a:solidFill>
                  <a:srgbClr val="f5a623"/>
                </a:solidFill>
                <a:latin typeface="Inter"/>
                <a:ea typeface="DejaVu Sans"/>
              </a:rPr>
              <a:t>produit par requête</a:t>
            </a:r>
            <a:r>
              <a:rPr b="0" lang="fr-FR" sz="1300" spc="-1" strike="noStrike">
                <a:solidFill>
                  <a:srgbClr val="f7f6f2"/>
                </a:solidFill>
                <a:latin typeface="Inter"/>
                <a:ea typeface="DejaVu Sans"/>
              </a:rPr>
              <a:t> et lié à une </a:t>
            </a:r>
            <a:r>
              <a:rPr b="1" lang="fr-FR" sz="1300" spc="-1" strike="noStrike">
                <a:solidFill>
                  <a:srgbClr val="f5a623"/>
                </a:solidFill>
                <a:latin typeface="Inter"/>
                <a:ea typeface="DejaVu Sans"/>
              </a:rPr>
              <a:t>empreinte</a:t>
            </a:r>
            <a:r>
              <a:rPr b="0" lang="fr-FR" sz="1300" spc="-1" strike="noStrike">
                <a:solidFill>
                  <a:srgbClr val="f7f6f2"/>
                </a:solidFill>
                <a:latin typeface="Inter"/>
                <a:ea typeface="DejaVu Sans"/>
              </a:rPr>
              <a:t> du gold.</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épreuve du NO_GO</a:t>
            </a:r>
            <a:r>
              <a:rPr b="0" lang="fr-FR" sz="1300" spc="-1" strike="noStrike">
                <a:solidFill>
                  <a:srgbClr val="f7f6f2"/>
                </a:solidFill>
                <a:latin typeface="Inter"/>
                <a:ea typeface="DejaVu Sans"/>
              </a:rPr>
              <a:t> : lot volontairement dégradé, décision obtenue, preuve.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règles bloquantes </a:t>
            </a:r>
            <a:r>
              <a:rPr b="1" lang="fr-FR" sz="1300" spc="-1" strike="noStrike">
                <a:solidFill>
                  <a:srgbClr val="f5a623"/>
                </a:solidFill>
                <a:latin typeface="Inter"/>
                <a:ea typeface="DejaVu Sans"/>
              </a:rPr>
              <a:t>non mesurées</a:t>
            </a:r>
            <a:r>
              <a:rPr b="0" lang="fr-FR" sz="1300" spc="-1" strike="noStrike">
                <a:solidFill>
                  <a:srgbClr val="f7f6f2"/>
                </a:solidFill>
                <a:latin typeface="Inter"/>
                <a:ea typeface="DejaVu Sans"/>
              </a:rPr>
              <a:t> par votre pipeline, donc non couvertes.</a:t>
            </a:r>
            <a:endParaRPr b="0" lang="fr-FR" sz="1300" spc="-1" strike="noStrike">
              <a:latin typeface="Arial"/>
            </a:endParaRPr>
          </a:p>
        </p:txBody>
      </p:sp>
      <p:graphicFrame>
        <p:nvGraphicFramePr>
          <p:cNvPr id="527" name="Table 32"/>
          <p:cNvGraphicFramePr/>
          <p:nvPr/>
        </p:nvGraphicFramePr>
        <p:xfrm>
          <a:off x="640080" y="2786040"/>
          <a:ext cx="6949080" cy="2340000"/>
        </p:xfrm>
        <a:graphic>
          <a:graphicData uri="http://schemas.openxmlformats.org/drawingml/2006/table">
            <a:tbl>
              <a:tblPr/>
              <a:tblGrid>
                <a:gridCol w="4023360"/>
                <a:gridCol w="2926080"/>
              </a:tblGrid>
              <a:tr h="292320">
                <a:tc>
                  <a:txBody>
                    <a:bodyPr lIns="73080" rIns="73080" anchor="ctr">
                      <a:noAutofit/>
                    </a:bodyPr>
                    <a:p>
                      <a:pPr>
                        <a:lnSpc>
                          <a:spcPct val="100000"/>
                        </a:lnSpc>
                        <a:buNone/>
                      </a:pPr>
                      <a:r>
                        <a:rPr b="1" lang="en-US" sz="1000" spc="49" strike="noStrike">
                          <a:solidFill>
                            <a:srgbClr val="f5a623"/>
                          </a:solidFill>
                          <a:latin typeface="Inter"/>
                        </a:rPr>
                        <a:t>Élément</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00" spc="49" strike="noStrike">
                          <a:solidFill>
                            <a:srgbClr val="f5a623"/>
                          </a:solidFill>
                          <a:latin typeface="Inter"/>
                        </a:rPr>
                        <a:t>Valeur</a:t>
                      </a:r>
                      <a:endParaRPr b="0" lang="fr-FR" sz="10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292320">
                <a:tc>
                  <a:txBody>
                    <a:bodyPr lIns="73080" rIns="73080" anchor="ctr">
                      <a:noAutofit/>
                    </a:bodyPr>
                    <a:p>
                      <a:pPr>
                        <a:lnSpc>
                          <a:spcPct val="100000"/>
                        </a:lnSpc>
                        <a:buNone/>
                      </a:pPr>
                      <a:r>
                        <a:rPr b="1" lang="en-US" sz="1100" spc="-1" strike="noStrike">
                          <a:solidFill>
                            <a:srgbClr val="f7f6f2"/>
                          </a:solidFill>
                          <a:latin typeface="Inter"/>
                        </a:rPr>
                        <a:t>Numéro du certificat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Lot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Décision (GO ou NO_GO)</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Règles bloquantes testées / conformes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Écarts connus (avertissements)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2320">
                <a:tc>
                  <a:txBody>
                    <a:bodyPr lIns="73080" rIns="73080" anchor="ctr">
                      <a:noAutofit/>
                    </a:bodyPr>
                    <a:p>
                      <a:pPr>
                        <a:lnSpc>
                          <a:spcPct val="100000"/>
                        </a:lnSpc>
                        <a:buNone/>
                      </a:pPr>
                      <a:r>
                        <a:rPr b="1" lang="en-US" sz="1100" spc="-1" strike="noStrike">
                          <a:solidFill>
                            <a:srgbClr val="f7f6f2"/>
                          </a:solidFill>
                          <a:latin typeface="Inter"/>
                        </a:rPr>
                        <a:t>Empreinte du 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294120">
                <a:tc>
                  <a:txBody>
                    <a:bodyPr lIns="73080" rIns="73080" anchor="ctr">
                      <a:noAutofit/>
                    </a:bodyPr>
                    <a:p>
                      <a:pPr>
                        <a:lnSpc>
                          <a:spcPct val="100000"/>
                        </a:lnSpc>
                        <a:buNone/>
                      </a:pPr>
                      <a:r>
                        <a:rPr b="1" lang="en-US" sz="1100" spc="-1" strike="noStrike">
                          <a:solidFill>
                            <a:srgbClr val="f7f6f2"/>
                          </a:solidFill>
                          <a:latin typeface="Inter"/>
                        </a:rPr>
                        <a:t>Signataire (rôle)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00" spc="-1" strike="noStrike">
                          <a:solidFill>
                            <a:srgbClr val="f5a623"/>
                          </a:solidFill>
                          <a:latin typeface="Inter"/>
                        </a:rPr>
                        <a: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28" name="TextBox 33"/>
          <p:cNvSpPr/>
          <p:nvPr/>
        </p:nvSpPr>
        <p:spPr>
          <a:xfrm>
            <a:off x="7863840" y="2823120"/>
            <a:ext cx="368352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ÉPREUVE DU NO_GO</a:t>
            </a:r>
            <a:endParaRPr b="0" lang="fr-FR" sz="1100" spc="-1" strike="noStrike">
              <a:latin typeface="Arial"/>
            </a:endParaRPr>
          </a:p>
        </p:txBody>
      </p:sp>
      <p:sp>
        <p:nvSpPr>
          <p:cNvPr id="529" name="Zone à rédiger"/>
          <p:cNvSpPr/>
          <p:nvPr/>
        </p:nvSpPr>
        <p:spPr>
          <a:xfrm>
            <a:off x="7863840" y="3078720"/>
            <a:ext cx="3683520" cy="20833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[Comment dégradé, décision, preuve]</a:t>
            </a:r>
            <a:endParaRPr b="0" lang="fr-FR" sz="1200" spc="-1" strike="noStrike">
              <a:latin typeface="Arial"/>
            </a:endParaRPr>
          </a:p>
        </p:txBody>
      </p:sp>
      <p:sp>
        <p:nvSpPr>
          <p:cNvPr id="530" name="TextBox 35"/>
          <p:cNvSpPr/>
          <p:nvPr/>
        </p:nvSpPr>
        <p:spPr>
          <a:xfrm>
            <a:off x="640080" y="525564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RÈGLES NON COUVERTES PAR LE CERTIFICAT</a:t>
            </a:r>
            <a:endParaRPr b="0" lang="fr-FR" sz="1100" spc="-1" strike="noStrike">
              <a:latin typeface="Arial"/>
            </a:endParaRPr>
          </a:p>
        </p:txBody>
      </p:sp>
      <p:sp>
        <p:nvSpPr>
          <p:cNvPr id="531" name="Zone à rédiger"/>
          <p:cNvSpPr/>
          <p:nvPr/>
        </p:nvSpPr>
        <p:spPr>
          <a:xfrm>
            <a:off x="640080" y="5511240"/>
            <a:ext cx="10907280" cy="6138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Publication vers le CRM : refus, chargement, réconciliation</a:t>
            </a:r>
            <a:endParaRPr b="0" lang="fr-FR" sz="2800" spc="-1" strike="noStrike">
              <a:latin typeface="Arial"/>
            </a:endParaRPr>
          </a:p>
        </p:txBody>
      </p:sp>
      <p:sp>
        <p:nvSpPr>
          <p:cNvPr id="533" name="PlaceHolder 2"/>
          <p:cNvSpPr>
            <a:spLocks noGrp="1"/>
          </p:cNvSpPr>
          <p:nvPr>
            <p:ph type="sldNum" idx="3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F97AA98-BB5D-4B96-AF07-DD8889DF2590}"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34"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US-32</a:t>
            </a:r>
            <a:endParaRPr b="0" lang="fr-FR" sz="1100" spc="-1" strike="noStrike">
              <a:latin typeface="Arial"/>
            </a:endParaRPr>
          </a:p>
        </p:txBody>
      </p:sp>
      <p:sp>
        <p:nvSpPr>
          <p:cNvPr id="535"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36"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37"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38" name="Icône target" descr="Icône target"/>
          <p:cNvPicPr/>
          <p:nvPr/>
        </p:nvPicPr>
        <p:blipFill>
          <a:blip r:embed="rId1"/>
          <a:stretch/>
        </p:blipFill>
        <p:spPr>
          <a:xfrm>
            <a:off x="896040" y="1435680"/>
            <a:ext cx="272880" cy="272880"/>
          </a:xfrm>
          <a:prstGeom prst="rect">
            <a:avLst/>
          </a:prstGeom>
          <a:ln w="0">
            <a:noFill/>
          </a:ln>
        </p:spPr>
      </p:pic>
      <p:sp>
        <p:nvSpPr>
          <p:cNvPr id="539"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40"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quatre scénarios</a:t>
            </a:r>
            <a:r>
              <a:rPr b="0" lang="fr-FR" sz="1300" spc="-1" strike="noStrike">
                <a:solidFill>
                  <a:srgbClr val="f7f6f2"/>
                </a:solidFill>
                <a:latin typeface="Inter"/>
                <a:ea typeface="DejaVu Sans"/>
              </a:rPr>
              <a:t> avec le </a:t>
            </a:r>
            <a:r>
              <a:rPr b="1" lang="fr-FR" sz="1300" spc="-1" strike="noStrike">
                <a:solidFill>
                  <a:srgbClr val="f5a623"/>
                </a:solidFill>
                <a:latin typeface="Inter"/>
                <a:ea typeface="DejaVu Sans"/>
              </a:rPr>
              <a:t>message obtenu</a:t>
            </a:r>
            <a:r>
              <a:rPr b="0" lang="fr-FR" sz="1300" spc="-1" strike="noStrike">
                <a:solidFill>
                  <a:srgbClr val="f7f6f2"/>
                </a:solidFill>
                <a:latin typeface="Inter"/>
                <a:ea typeface="DejaVu Sans"/>
              </a:rPr>
              <a:t> : sans certificat, NO_GO, gold modifié, GO.</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réconciliation RQ-025</a:t>
            </a:r>
            <a:r>
              <a:rPr b="0" lang="fr-FR" sz="1300" spc="-1" strike="noStrike">
                <a:solidFill>
                  <a:srgbClr val="f7f6f2"/>
                </a:solidFill>
                <a:latin typeface="Inter"/>
                <a:ea typeface="DejaVu Sans"/>
              </a:rPr>
              <a:t> après chargement : comptage et somme de contrôle, gold contre CRM cible.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chargement est-il </a:t>
            </a:r>
            <a:r>
              <a:rPr b="1" lang="fr-FR" sz="1300" spc="-1" strike="noStrike">
                <a:solidFill>
                  <a:srgbClr val="f5a623"/>
                </a:solidFill>
                <a:latin typeface="Inter"/>
                <a:ea typeface="DejaVu Sans"/>
              </a:rPr>
              <a:t>tout-ou-rien</a:t>
            </a:r>
            <a:r>
              <a:rPr b="0" lang="fr-FR" sz="1300" spc="-1" strike="noStrike">
                <a:solidFill>
                  <a:srgbClr val="f7f6f2"/>
                </a:solidFill>
                <a:latin typeface="Inter"/>
                <a:ea typeface="DejaVu Sans"/>
              </a:rPr>
              <a:t> ? Comment l'avez-vous vérifié ?</a:t>
            </a:r>
            <a:endParaRPr b="0" lang="fr-FR" sz="1300" spc="-1" strike="noStrike">
              <a:latin typeface="Arial"/>
            </a:endParaRPr>
          </a:p>
        </p:txBody>
      </p:sp>
      <p:graphicFrame>
        <p:nvGraphicFramePr>
          <p:cNvPr id="541" name="Table 32"/>
          <p:cNvGraphicFramePr/>
          <p:nvPr/>
        </p:nvGraphicFramePr>
        <p:xfrm>
          <a:off x="640080" y="2786040"/>
          <a:ext cx="10908360" cy="1736640"/>
        </p:xfrm>
        <a:graphic>
          <a:graphicData uri="http://schemas.openxmlformats.org/drawingml/2006/table">
            <a:tbl>
              <a:tblPr/>
              <a:tblGrid>
                <a:gridCol w="3108960"/>
                <a:gridCol w="4023360"/>
                <a:gridCol w="1554480"/>
                <a:gridCol w="2221920"/>
              </a:tblGrid>
              <a:tr h="347400">
                <a:tc>
                  <a:txBody>
                    <a:bodyPr lIns="73080" rIns="73080" anchor="ctr">
                      <a:noAutofit/>
                    </a:bodyPr>
                    <a:p>
                      <a:pPr>
                        <a:lnSpc>
                          <a:spcPct val="100000"/>
                        </a:lnSpc>
                        <a:buNone/>
                      </a:pPr>
                      <a:r>
                        <a:rPr b="1" lang="en-US" sz="1050" spc="49" strike="noStrike">
                          <a:solidFill>
                            <a:srgbClr val="f5a623"/>
                          </a:solidFill>
                          <a:latin typeface="Inter"/>
                        </a:rPr>
                        <a:t>Scénario</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Message obtenu</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Chargement ?</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Preuve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150" spc="-1" strike="noStrike">
                          <a:solidFill>
                            <a:srgbClr val="f7f6f2"/>
                          </a:solidFill>
                          <a:latin typeface="Inter"/>
                        </a:rPr>
                        <a:t>Sans certificat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Certificat NO_GO</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Gold modifié après émission</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150" spc="-1" strike="noStrike">
                          <a:solidFill>
                            <a:srgbClr val="f7f6f2"/>
                          </a:solidFill>
                          <a:latin typeface="Inter"/>
                        </a:rPr>
                        <a:t>Certificat GO, gold intact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graphicFrame>
        <p:nvGraphicFramePr>
          <p:cNvPr id="542" name="Table 33"/>
          <p:cNvGraphicFramePr/>
          <p:nvPr/>
        </p:nvGraphicFramePr>
        <p:xfrm>
          <a:off x="640080" y="4633200"/>
          <a:ext cx="10908360" cy="1316160"/>
        </p:xfrm>
        <a:graphic>
          <a:graphicData uri="http://schemas.openxmlformats.org/drawingml/2006/table">
            <a:tbl>
              <a:tblPr/>
              <a:tblGrid>
                <a:gridCol w="1737360"/>
                <a:gridCol w="1828800"/>
                <a:gridCol w="2011680"/>
                <a:gridCol w="1828800"/>
                <a:gridCol w="2011680"/>
                <a:gridCol w="1490400"/>
              </a:tblGrid>
              <a:tr h="329040">
                <a:tc>
                  <a:txBody>
                    <a:bodyPr lIns="73080" rIns="73080" anchor="ctr">
                      <a:noAutofit/>
                    </a:bodyPr>
                    <a:p>
                      <a:pPr>
                        <a:lnSpc>
                          <a:spcPct val="100000"/>
                        </a:lnSpc>
                        <a:buNone/>
                      </a:pPr>
                      <a:r>
                        <a:rPr b="1" lang="en-US" sz="1050" spc="49" strike="noStrike">
                          <a:solidFill>
                            <a:srgbClr val="f5a623"/>
                          </a:solidFill>
                          <a:latin typeface="Inter"/>
                        </a:rPr>
                        <a:t>Table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Lignes CRM cible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Somme gold</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Somme CRM cible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29040">
                <a:tc>
                  <a:txBody>
                    <a:bodyPr lIns="73080" rIns="73080" anchor="ctr">
                      <a:noAutofit/>
                    </a:bodyPr>
                    <a:p>
                      <a:pPr>
                        <a:lnSpc>
                          <a:spcPct val="100000"/>
                        </a:lnSpc>
                        <a:buNone/>
                      </a:pPr>
                      <a:r>
                        <a:rPr b="1" lang="en-US" sz="1150" spc="-1" strike="noStrike">
                          <a:solidFill>
                            <a:srgbClr val="f7f6f2"/>
                          </a:solidFill>
                          <a:latin typeface="Inter"/>
                        </a:rPr>
                        <a:t>client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040">
                <a:tc>
                  <a:txBody>
                    <a:bodyPr lIns="73080" rIns="73080" anchor="ctr">
                      <a:noAutofit/>
                    </a:bodyPr>
                    <a:p>
                      <a:pPr>
                        <a:lnSpc>
                          <a:spcPct val="100000"/>
                        </a:lnSpc>
                        <a:buNone/>
                      </a:pPr>
                      <a:r>
                        <a:rPr b="1" lang="en-US" sz="1150" spc="-1" strike="noStrike">
                          <a:solidFill>
                            <a:srgbClr val="f7f6f2"/>
                          </a:solidFill>
                          <a:latin typeface="Inter"/>
                        </a:rPr>
                        <a:t>contrat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29400">
                <a:tc>
                  <a:txBody>
                    <a:bodyPr lIns="73080" rIns="73080" anchor="ctr">
                      <a:noAutofit/>
                    </a:bodyPr>
                    <a:p>
                      <a:pPr>
                        <a:lnSpc>
                          <a:spcPct val="100000"/>
                        </a:lnSpc>
                        <a:buNone/>
                      </a:pPr>
                      <a:r>
                        <a:rPr b="1" lang="en-US" sz="1150" spc="-1" strike="noStrike">
                          <a:solidFill>
                            <a:srgbClr val="f7f6f2"/>
                          </a:solidFill>
                          <a:latin typeface="Inter"/>
                        </a:rPr>
                        <a:t>sinistre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43" name="TextBox 34"/>
          <p:cNvSpPr/>
          <p:nvPr/>
        </p:nvSpPr>
        <p:spPr>
          <a:xfrm>
            <a:off x="640080" y="6023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Tout-ou-rien : décrivez en une ligne comment vous l'avez vérifié, et le chemin du script de publication.</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Gouvernance : catalogue, propriétaires, lineage</a:t>
            </a:r>
            <a:endParaRPr b="0" lang="fr-FR" sz="2800" spc="-1" strike="noStrike">
              <a:latin typeface="Arial"/>
            </a:endParaRPr>
          </a:p>
        </p:txBody>
      </p:sp>
      <p:sp>
        <p:nvSpPr>
          <p:cNvPr id="545" name="PlaceHolder 2"/>
          <p:cNvSpPr>
            <a:spLocks noGrp="1"/>
          </p:cNvSpPr>
          <p:nvPr>
            <p:ph type="sldNum" idx="4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61BC2290-73D4-4DEA-B92E-B57AF872BFF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4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US-34</a:t>
            </a:r>
            <a:endParaRPr b="0" lang="fr-FR" sz="1100" spc="-1" strike="noStrike">
              <a:latin typeface="Arial"/>
            </a:endParaRPr>
          </a:p>
        </p:txBody>
      </p:sp>
      <p:sp>
        <p:nvSpPr>
          <p:cNvPr id="54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48"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49"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50" name="Icône target" descr="Icône target"/>
          <p:cNvPicPr/>
          <p:nvPr/>
        </p:nvPicPr>
        <p:blipFill>
          <a:blip r:embed="rId1"/>
          <a:stretch/>
        </p:blipFill>
        <p:spPr>
          <a:xfrm>
            <a:off x="896040" y="1435680"/>
            <a:ext cx="272880" cy="272880"/>
          </a:xfrm>
          <a:prstGeom prst="rect">
            <a:avLst/>
          </a:prstGeom>
          <a:ln w="0">
            <a:noFill/>
          </a:ln>
        </p:spPr>
      </p:pic>
      <p:sp>
        <p:nvSpPr>
          <p:cNvPr id="55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52"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fiche de catalogue</a:t>
            </a:r>
            <a:r>
              <a:rPr b="0" lang="fr-FR" sz="1300" spc="-1" strike="noStrike">
                <a:solidFill>
                  <a:srgbClr val="f7f6f2"/>
                </a:solidFill>
                <a:latin typeface="Inter"/>
                <a:ea typeface="DejaVu Sans"/>
              </a:rPr>
              <a:t> de gold.client_unique : propriétaire, steward, définition, règles rattachées.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lineage</a:t>
            </a:r>
            <a:r>
              <a:rPr b="0" lang="fr-FR" sz="1300" spc="-1" strike="noStrike">
                <a:solidFill>
                  <a:srgbClr val="f7f6f2"/>
                </a:solidFill>
                <a:latin typeface="Inter"/>
                <a:ea typeface="DejaVu Sans"/>
              </a:rPr>
              <a:t> de gold.client_unique jusqu'aux sources.</a:t>
            </a:r>
            <a:endParaRPr b="0" lang="fr-FR" sz="1300" spc="-1" strike="noStrike">
              <a:latin typeface="Arial"/>
            </a:endParaRPr>
          </a:p>
        </p:txBody>
      </p:sp>
      <p:graphicFrame>
        <p:nvGraphicFramePr>
          <p:cNvPr id="553" name="Table 32"/>
          <p:cNvGraphicFramePr/>
          <p:nvPr/>
        </p:nvGraphicFramePr>
        <p:xfrm>
          <a:off x="640080" y="2534040"/>
          <a:ext cx="10908360" cy="1919520"/>
        </p:xfrm>
        <a:graphic>
          <a:graphicData uri="http://schemas.openxmlformats.org/drawingml/2006/table">
            <a:tbl>
              <a:tblPr/>
              <a:tblGrid>
                <a:gridCol w="4206240"/>
                <a:gridCol w="6702480"/>
              </a:tblGrid>
              <a:tr h="383760">
                <a:tc>
                  <a:txBody>
                    <a:bodyPr lIns="73080" rIns="73080" anchor="ctr">
                      <a:noAutofit/>
                    </a:bodyPr>
                    <a:p>
                      <a:pPr>
                        <a:lnSpc>
                          <a:spcPct val="100000"/>
                        </a:lnSpc>
                        <a:buNone/>
                      </a:pPr>
                      <a:r>
                        <a:rPr b="1" lang="en-US" sz="1100" spc="49" strike="noStrike">
                          <a:solidFill>
                            <a:srgbClr val="f5a623"/>
                          </a:solidFill>
                          <a:latin typeface="Inter"/>
                        </a:rPr>
                        <a:t>Élément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Valeur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83760">
                <a:tc>
                  <a:txBody>
                    <a:bodyPr lIns="73080" rIns="73080" anchor="ctr">
                      <a:noAutofit/>
                    </a:bodyPr>
                    <a:p>
                      <a:pPr>
                        <a:lnSpc>
                          <a:spcPct val="100000"/>
                        </a:lnSpc>
                        <a:buNone/>
                      </a:pPr>
                      <a:r>
                        <a:rPr b="1" lang="en-US" sz="1200" spc="-1" strike="noStrike">
                          <a:solidFill>
                            <a:srgbClr val="f7f6f2"/>
                          </a:solidFill>
                          <a:latin typeface="Inter"/>
                        </a:rPr>
                        <a:t>Propriétaire (Data Owner)</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Steward (Data Steward)</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3760">
                <a:tc>
                  <a:txBody>
                    <a:bodyPr lIns="73080" rIns="73080" anchor="ctr">
                      <a:noAutofit/>
                    </a:bodyPr>
                    <a:p>
                      <a:pPr>
                        <a:lnSpc>
                          <a:spcPct val="100000"/>
                        </a:lnSpc>
                        <a:buNone/>
                      </a:pPr>
                      <a:r>
                        <a:rPr b="1" lang="en-US" sz="1200" spc="-1" strike="noStrike">
                          <a:solidFill>
                            <a:srgbClr val="f7f6f2"/>
                          </a:solidFill>
                          <a:latin typeface="Inter"/>
                        </a:rPr>
                        <a:t>Définition de « client actif » rattachée à la fiche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84840">
                <a:tc>
                  <a:txBody>
                    <a:bodyPr lIns="73080" rIns="73080" anchor="ctr">
                      <a:noAutofit/>
                    </a:bodyPr>
                    <a:p>
                      <a:pPr>
                        <a:lnSpc>
                          <a:spcPct val="100000"/>
                        </a:lnSpc>
                        <a:buNone/>
                      </a:pPr>
                      <a:r>
                        <a:rPr b="1" lang="en-US" sz="1200" spc="-1" strike="noStrike">
                          <a:solidFill>
                            <a:srgbClr val="f7f6f2"/>
                          </a:solidFill>
                          <a:latin typeface="Inter"/>
                        </a:rPr>
                        <a:t>Règles RQ rattachées à la table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554" name="TextBox 33"/>
          <p:cNvSpPr/>
          <p:nvPr/>
        </p:nvSpPr>
        <p:spPr>
          <a:xfrm>
            <a:off x="640080" y="467424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LINEAGE DE GOLD.CLIENT_UNIQUE (LISTE OU SCHÉMA)</a:t>
            </a:r>
            <a:endParaRPr b="0" lang="fr-FR" sz="1100" spc="-1" strike="noStrike">
              <a:latin typeface="Arial"/>
            </a:endParaRPr>
          </a:p>
        </p:txBody>
      </p:sp>
      <p:sp>
        <p:nvSpPr>
          <p:cNvPr id="555" name="Zone à rédiger"/>
          <p:cNvSpPr/>
          <p:nvPr/>
        </p:nvSpPr>
        <p:spPr>
          <a:xfrm>
            <a:off x="640080" y="4929840"/>
            <a:ext cx="10907280" cy="119520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[Insérez un schéma ou une liste : sources, bronze, silver, xref, gold]</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6"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Bilan de S5 : critères de fin et difficultés</a:t>
            </a:r>
            <a:endParaRPr b="0" lang="fr-FR" sz="2800" spc="-1" strike="noStrike">
              <a:latin typeface="Arial"/>
            </a:endParaRPr>
          </a:p>
        </p:txBody>
      </p:sp>
      <p:sp>
        <p:nvSpPr>
          <p:cNvPr id="557" name="PlaceHolder 2"/>
          <p:cNvSpPr>
            <a:spLocks noGrp="1"/>
          </p:cNvSpPr>
          <p:nvPr>
            <p:ph type="sldNum" idx="4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4137F59C-37B5-424F-8413-8B358282F31A}"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58"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S5 · BILAN</a:t>
            </a:r>
            <a:endParaRPr b="0" lang="fr-FR" sz="1100" spc="-1" strike="noStrike">
              <a:latin typeface="Arial"/>
            </a:endParaRPr>
          </a:p>
        </p:txBody>
      </p:sp>
      <p:sp>
        <p:nvSpPr>
          <p:cNvPr id="559"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PREUVE ET CERTIFICAT · 20 %</a:t>
            </a:r>
            <a:endParaRPr b="0" lang="fr-FR" sz="1000" spc="-1" strike="noStrike">
              <a:latin typeface="Arial"/>
            </a:endParaRPr>
          </a:p>
        </p:txBody>
      </p:sp>
      <p:sp>
        <p:nvSpPr>
          <p:cNvPr id="560"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61"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62" name="Icône target" descr="Icône target"/>
          <p:cNvPicPr/>
          <p:nvPr/>
        </p:nvPicPr>
        <p:blipFill>
          <a:blip r:embed="rId1"/>
          <a:stretch/>
        </p:blipFill>
        <p:spPr>
          <a:xfrm>
            <a:off x="896040" y="1435680"/>
            <a:ext cx="272880" cy="272880"/>
          </a:xfrm>
          <a:prstGeom prst="rect">
            <a:avLst/>
          </a:prstGeom>
          <a:ln w="0">
            <a:noFill/>
          </a:ln>
        </p:spPr>
      </p:pic>
      <p:sp>
        <p:nvSpPr>
          <p:cNvPr id="563"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64"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critère coché est </a:t>
            </a:r>
            <a:r>
              <a:rPr b="1" lang="fr-FR" sz="1300" spc="-1" strike="noStrike">
                <a:solidFill>
                  <a:srgbClr val="f5a623"/>
                </a:solidFill>
                <a:latin typeface="Inter"/>
                <a:ea typeface="DejaVu Sans"/>
              </a:rPr>
              <a:t>démontré</a:t>
            </a:r>
            <a:r>
              <a:rPr b="0" lang="fr-FR" sz="1300" spc="-1" strike="noStrike">
                <a:solidFill>
                  <a:srgbClr val="f7f6f2"/>
                </a:solidFill>
                <a:latin typeface="Inter"/>
                <a:ea typeface="DejaVu Sans"/>
              </a:rPr>
              <a:t> par une page de ce livrable ou par un fichier du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difficultés sont </a:t>
            </a:r>
            <a:r>
              <a:rPr b="1" lang="fr-FR" sz="1300" spc="-1" strike="noStrike">
                <a:solidFill>
                  <a:srgbClr val="f5a623"/>
                </a:solidFill>
                <a:latin typeface="Inter"/>
                <a:ea typeface="DejaVu Sans"/>
              </a:rPr>
              <a:t>chiffrées en temps perdu</a:t>
            </a:r>
            <a:r>
              <a:rPr b="0" lang="fr-FR" sz="1300" spc="-1" strike="noStrike">
                <a:solidFill>
                  <a:srgbClr val="f7f6f2"/>
                </a:solidFill>
                <a:latin typeface="Inter"/>
                <a:ea typeface="DejaVu Sans"/>
              </a:rPr>
              <a:t> ; un point de reprise utilisé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a:t>
            </a:r>
            <a:endParaRPr b="0" lang="fr-FR" sz="1300" spc="-1" strike="noStrike">
              <a:latin typeface="Arial"/>
            </a:endParaRPr>
          </a:p>
        </p:txBody>
      </p:sp>
      <p:sp>
        <p:nvSpPr>
          <p:cNvPr id="565" name="Rectangle 32"/>
          <p:cNvSpPr/>
          <p:nvPr/>
        </p:nvSpPr>
        <p:spPr>
          <a:xfrm>
            <a:off x="640080" y="2579760"/>
            <a:ext cx="511920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66" name="Icône ok" descr="Icône ok"/>
          <p:cNvPicPr/>
          <p:nvPr/>
        </p:nvPicPr>
        <p:blipFill>
          <a:blip r:embed="rId2"/>
          <a:stretch/>
        </p:blipFill>
        <p:spPr>
          <a:xfrm>
            <a:off x="868680" y="2735280"/>
            <a:ext cx="309600" cy="309600"/>
          </a:xfrm>
          <a:prstGeom prst="rect">
            <a:avLst/>
          </a:prstGeom>
          <a:ln w="0">
            <a:noFill/>
          </a:ln>
        </p:spPr>
      </p:pic>
      <p:sp>
        <p:nvSpPr>
          <p:cNvPr id="567" name="TextBox 34"/>
          <p:cNvSpPr/>
          <p:nvPr/>
        </p:nvSpPr>
        <p:spPr>
          <a:xfrm>
            <a:off x="1289160" y="2783160"/>
            <a:ext cx="4570560" cy="21348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300" spc="109" strike="noStrike">
                <a:solidFill>
                  <a:srgbClr val="f7f6f2"/>
                </a:solidFill>
                <a:latin typeface="Inter"/>
                <a:ea typeface="DejaVu Sans"/>
              </a:rPr>
              <a:t>CRITÈRES DE FIN</a:t>
            </a:r>
            <a:endParaRPr b="0" lang="fr-FR" sz="1300" spc="-1" strike="noStrike">
              <a:latin typeface="Arial"/>
            </a:endParaRPr>
          </a:p>
        </p:txBody>
      </p:sp>
      <p:sp>
        <p:nvSpPr>
          <p:cNvPr id="568" name="TextBox 35"/>
          <p:cNvSpPr/>
          <p:nvPr/>
        </p:nvSpPr>
        <p:spPr>
          <a:xfrm>
            <a:off x="868680" y="3219840"/>
            <a:ext cx="4662000" cy="1910880"/>
          </a:xfrm>
          <a:prstGeom prst="rect">
            <a:avLst/>
          </a:prstGeom>
          <a:noFill/>
          <a:ln w="0">
            <a:noFill/>
          </a:ln>
        </p:spPr>
        <p:style>
          <a:lnRef idx="0"/>
          <a:fillRef idx="0"/>
          <a:effectRef idx="0"/>
          <a:fontRef idx="minor"/>
        </p:style>
        <p:txBody>
          <a:bodyPr lIns="0" rIns="0" tIns="0" bIns="0" anchor="t">
            <a:spAutoFit/>
          </a:bodyPr>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Un lot volontairement dégradé produit un NO_GO, le lot nominal un GO.</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La publication refuse sans certificat, avec NO_GO, et quand le gold a changé.</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Après chargement, comptage et somme de contrôle sont égaux entre gold et CRM cible.</a:t>
            </a:r>
            <a:endParaRPr b="0" lang="fr-FR" sz="1250" spc="-1" strike="noStrike">
              <a:latin typeface="Arial"/>
            </a:endParaRPr>
          </a:p>
          <a:p>
            <a:pPr>
              <a:lnSpc>
                <a:spcPct val="108000"/>
              </a:lnSpc>
              <a:spcAft>
                <a:spcPts val="700"/>
              </a:spcAft>
              <a:buNone/>
            </a:pPr>
            <a:r>
              <a:rPr b="0" lang="fr-FR" sz="1250" spc="-1" strike="noStrike">
                <a:solidFill>
                  <a:srgbClr val="f7f6f2"/>
                </a:solidFill>
                <a:latin typeface="Consolas"/>
                <a:ea typeface="DejaVu Sans"/>
              </a:rPr>
              <a:t>[ ]</a:t>
            </a:r>
            <a:r>
              <a:rPr b="0" lang="fr-FR" sz="1250" spc="-1" strike="noStrike">
                <a:solidFill>
                  <a:srgbClr val="f7f6f2"/>
                </a:solidFill>
                <a:latin typeface="Inter"/>
                <a:ea typeface="DejaVu Sans"/>
              </a:rPr>
              <a:t> Chaque décision de seuil ou de sévérité est attribuée à un rôle.</a:t>
            </a:r>
            <a:endParaRPr b="0" lang="fr-FR" sz="1250" spc="-1" strike="noStrike">
              <a:latin typeface="Arial"/>
            </a:endParaRPr>
          </a:p>
        </p:txBody>
      </p:sp>
      <p:sp>
        <p:nvSpPr>
          <p:cNvPr id="569" name="TextBox 36"/>
          <p:cNvSpPr/>
          <p:nvPr/>
        </p:nvSpPr>
        <p:spPr>
          <a:xfrm>
            <a:off x="640080" y="585216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Remplacez [ ] par [x] une fois le critère démontré.</a:t>
            </a:r>
            <a:endParaRPr b="0" lang="fr-FR" sz="1100" spc="-1" strike="noStrike">
              <a:latin typeface="Arial"/>
            </a:endParaRPr>
          </a:p>
        </p:txBody>
      </p:sp>
      <p:sp>
        <p:nvSpPr>
          <p:cNvPr id="570" name="TextBox 37"/>
          <p:cNvSpPr/>
          <p:nvPr/>
        </p:nvSpPr>
        <p:spPr>
          <a:xfrm>
            <a:off x="5943600" y="26168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DIFFICULTÉS RENCONTRÉES ET TEMPS PERDU</a:t>
            </a:r>
            <a:endParaRPr b="0" lang="fr-FR" sz="1100" spc="-1" strike="noStrike">
              <a:latin typeface="Arial"/>
            </a:endParaRPr>
          </a:p>
        </p:txBody>
      </p:sp>
      <p:sp>
        <p:nvSpPr>
          <p:cNvPr id="571" name="Zone à rédiger"/>
          <p:cNvSpPr/>
          <p:nvPr/>
        </p:nvSpPr>
        <p:spPr>
          <a:xfrm>
            <a:off x="5943600" y="2872440"/>
            <a:ext cx="5603760" cy="11689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72" name="TextBox 39"/>
          <p:cNvSpPr/>
          <p:nvPr/>
        </p:nvSpPr>
        <p:spPr>
          <a:xfrm>
            <a:off x="5943600" y="421704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POINT DE REPRISE UTILISÉ (OUI / NON, LEQUEL)</a:t>
            </a:r>
            <a:endParaRPr b="0" lang="fr-FR" sz="1100" spc="-1" strike="noStrike">
              <a:latin typeface="Arial"/>
            </a:endParaRPr>
          </a:p>
        </p:txBody>
      </p:sp>
      <p:sp>
        <p:nvSpPr>
          <p:cNvPr id="573" name="Zone à rédiger"/>
          <p:cNvSpPr/>
          <p:nvPr/>
        </p:nvSpPr>
        <p:spPr>
          <a:xfrm>
            <a:off x="5943600" y="4472640"/>
            <a:ext cx="5603760" cy="6202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
        <p:nvSpPr>
          <p:cNvPr id="574" name="TextBox 41"/>
          <p:cNvSpPr/>
          <p:nvPr/>
        </p:nvSpPr>
        <p:spPr>
          <a:xfrm>
            <a:off x="5943600" y="5268600"/>
            <a:ext cx="560376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 QUE NOUS FERIONS AUTREMENT</a:t>
            </a:r>
            <a:endParaRPr b="0" lang="fr-FR" sz="1100" spc="-1" strike="noStrike">
              <a:latin typeface="Arial"/>
            </a:endParaRPr>
          </a:p>
        </p:txBody>
      </p:sp>
      <p:sp>
        <p:nvSpPr>
          <p:cNvPr id="575" name="Zone à rédiger"/>
          <p:cNvSpPr/>
          <p:nvPr/>
        </p:nvSpPr>
        <p:spPr>
          <a:xfrm>
            <a:off x="5943600" y="5524200"/>
            <a:ext cx="5603760" cy="60084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6"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06</a:t>
            </a:r>
            <a:endParaRPr b="0" lang="fr-FR" sz="7200" spc="-1" strike="noStrike">
              <a:latin typeface="Arial"/>
            </a:endParaRPr>
          </a:p>
        </p:txBody>
      </p:sp>
      <p:sp>
        <p:nvSpPr>
          <p:cNvPr id="577"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Dossier go/no-go</a:t>
            </a:r>
            <a:endParaRPr b="0" lang="fr-FR" sz="4200" spc="-1" strike="noStrike">
              <a:latin typeface="Arial"/>
            </a:endParaRPr>
          </a:p>
        </p:txBody>
      </p:sp>
      <p:sp>
        <p:nvSpPr>
          <p:cNvPr id="578" name="PlaceHolder 3"/>
          <p:cNvSpPr>
            <a:spLocks noGrp="1"/>
          </p:cNvSpPr>
          <p:nvPr>
            <p:ph type="sldNum" idx="42"/>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B18249D8-D804-4361-ABAB-24B960A94CE3}"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79"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Destinataire : la Directrice Générale. Un rapport court, sans jargon, quatre pages au plus hors annexes.</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Recommandation</a:t>
            </a:r>
            <a:endParaRPr b="0" lang="fr-FR" sz="2800" spc="-1" strike="noStrike">
              <a:latin typeface="Arial"/>
            </a:endParaRPr>
          </a:p>
        </p:txBody>
      </p:sp>
      <p:sp>
        <p:nvSpPr>
          <p:cNvPr id="581" name="PlaceHolder 2"/>
          <p:cNvSpPr>
            <a:spLocks noGrp="1"/>
          </p:cNvSpPr>
          <p:nvPr>
            <p:ph type="sldNum" idx="43"/>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2E3C681D-D6CB-4BD7-B40A-DA78D71BCAD6}"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82"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1 SUR 4</a:t>
            </a:r>
            <a:endParaRPr b="0" lang="fr-FR" sz="1100" spc="-1" strike="noStrike">
              <a:latin typeface="Arial"/>
            </a:endParaRPr>
          </a:p>
        </p:txBody>
      </p:sp>
      <p:sp>
        <p:nvSpPr>
          <p:cNvPr id="583"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584"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585"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586" name="Icône target" descr="Icône target"/>
          <p:cNvPicPr/>
          <p:nvPr/>
        </p:nvPicPr>
        <p:blipFill>
          <a:blip r:embed="rId1"/>
          <a:stretch/>
        </p:blipFill>
        <p:spPr>
          <a:xfrm>
            <a:off x="896040" y="1435680"/>
            <a:ext cx="272880" cy="272880"/>
          </a:xfrm>
          <a:prstGeom prst="rect">
            <a:avLst/>
          </a:prstGeom>
          <a:ln w="0">
            <a:noFill/>
          </a:ln>
        </p:spPr>
      </p:pic>
      <p:sp>
        <p:nvSpPr>
          <p:cNvPr id="587"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588"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recommandation</a:t>
            </a:r>
            <a:r>
              <a:rPr b="0" lang="fr-FR" sz="1300" spc="-1" strike="noStrike">
                <a:solidFill>
                  <a:srgbClr val="f7f6f2"/>
                </a:solidFill>
                <a:latin typeface="Inter"/>
                <a:ea typeface="DejaVu Sans"/>
              </a:rPr>
              <a:t> : GO, NO-GO ou GO sous conditions, dite en une phrase.</a:t>
            </a:r>
            <a:endParaRPr b="0" lang="fr-FR" sz="1300" spc="-1" strike="noStrike">
              <a:latin typeface="Arial"/>
            </a:endParaRPr>
          </a:p>
          <a:p>
            <a:pPr marL="182880" indent="-182880">
              <a:lnSpc>
                <a:spcPct val="108000"/>
              </a:lnSpc>
              <a:spcAft>
                <a:spcPts val="300"/>
              </a:spcAft>
              <a:buClr>
                <a:srgbClr val="f5a623"/>
              </a:buClr>
              <a:buFont typeface="Symbol"/>
              <a:buChar char=""/>
            </a:pPr>
            <a:r>
              <a:rPr b="1" lang="fr-FR" sz="1300" spc="-1" strike="noStrike">
                <a:solidFill>
                  <a:srgbClr val="f5a623"/>
                </a:solidFill>
                <a:latin typeface="Inter"/>
                <a:ea typeface="DejaVu Sans"/>
              </a:rPr>
              <a:t>Trois raisons chiffrées</a:t>
            </a:r>
            <a:r>
              <a:rPr b="0" lang="fr-FR" sz="1300" spc="-1" strike="noStrike">
                <a:solidFill>
                  <a:srgbClr val="f7f6f2"/>
                </a:solidFill>
                <a:latin typeface="Inter"/>
                <a:ea typeface="DejaVu Sans"/>
              </a:rPr>
              <a:t>, chacune avec sa preuve dans le dépôt.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Lisible par une </a:t>
            </a:r>
            <a:r>
              <a:rPr b="1" lang="fr-FR" sz="1300" spc="-1" strike="noStrike">
                <a:solidFill>
                  <a:srgbClr val="f5a623"/>
                </a:solidFill>
                <a:latin typeface="Inter"/>
                <a:ea typeface="DejaVu Sans"/>
              </a:rPr>
              <a:t>non-technicienne</a:t>
            </a:r>
            <a:r>
              <a:rPr b="0" lang="fr-FR" sz="1300" spc="-1" strike="noStrike">
                <a:solidFill>
                  <a:srgbClr val="f7f6f2"/>
                </a:solidFill>
                <a:latin typeface="Inter"/>
                <a:ea typeface="DejaVu Sans"/>
              </a:rPr>
              <a:t> : aucun sigle sans définition.</a:t>
            </a:r>
            <a:endParaRPr b="0" lang="fr-FR" sz="1300" spc="-1" strike="noStrike">
              <a:latin typeface="Arial"/>
            </a:endParaRPr>
          </a:p>
        </p:txBody>
      </p:sp>
      <p:sp>
        <p:nvSpPr>
          <p:cNvPr id="589" name="TextBox 32"/>
          <p:cNvSpPr/>
          <p:nvPr/>
        </p:nvSpPr>
        <p:spPr>
          <a:xfrm>
            <a:off x="640080" y="286884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RECOMMANDATION</a:t>
            </a:r>
            <a:endParaRPr b="0" lang="fr-FR" sz="1100" spc="-1" strike="noStrike">
              <a:latin typeface="Arial"/>
            </a:endParaRPr>
          </a:p>
        </p:txBody>
      </p:sp>
      <p:sp>
        <p:nvSpPr>
          <p:cNvPr id="590" name="Zone à rédiger"/>
          <p:cNvSpPr/>
          <p:nvPr/>
        </p:nvSpPr>
        <p:spPr>
          <a:xfrm>
            <a:off x="640080" y="3124440"/>
            <a:ext cx="10907280" cy="803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[GO, NO-GO ou GO sous conditions : une phrase]</a:t>
            </a:r>
            <a:endParaRPr b="0" lang="fr-FR" sz="1200" spc="-1" strike="noStrike">
              <a:latin typeface="Arial"/>
            </a:endParaRPr>
          </a:p>
        </p:txBody>
      </p:sp>
      <p:sp>
        <p:nvSpPr>
          <p:cNvPr id="591" name="TextBox 34"/>
          <p:cNvSpPr/>
          <p:nvPr/>
        </p:nvSpPr>
        <p:spPr>
          <a:xfrm>
            <a:off x="640080" y="4103280"/>
            <a:ext cx="35128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RAISON CHIFFRÉE 1</a:t>
            </a:r>
            <a:endParaRPr b="0" lang="fr-FR" sz="1100" spc="-1" strike="noStrike">
              <a:latin typeface="Arial"/>
            </a:endParaRPr>
          </a:p>
        </p:txBody>
      </p:sp>
      <p:sp>
        <p:nvSpPr>
          <p:cNvPr id="592" name="Zone à rédiger"/>
          <p:cNvSpPr/>
          <p:nvPr/>
        </p:nvSpPr>
        <p:spPr>
          <a:xfrm>
            <a:off x="640080" y="4358880"/>
            <a:ext cx="3512880" cy="1766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
        <p:nvSpPr>
          <p:cNvPr id="593" name="TextBox 36"/>
          <p:cNvSpPr/>
          <p:nvPr/>
        </p:nvSpPr>
        <p:spPr>
          <a:xfrm>
            <a:off x="4337280" y="4103280"/>
            <a:ext cx="35128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RAISON CHIFFRÉE 2</a:t>
            </a:r>
            <a:endParaRPr b="0" lang="fr-FR" sz="1100" spc="-1" strike="noStrike">
              <a:latin typeface="Arial"/>
            </a:endParaRPr>
          </a:p>
        </p:txBody>
      </p:sp>
      <p:sp>
        <p:nvSpPr>
          <p:cNvPr id="594" name="Zone à rédiger"/>
          <p:cNvSpPr/>
          <p:nvPr/>
        </p:nvSpPr>
        <p:spPr>
          <a:xfrm>
            <a:off x="4337280" y="4358880"/>
            <a:ext cx="3512880" cy="1766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
        <p:nvSpPr>
          <p:cNvPr id="595" name="TextBox 38"/>
          <p:cNvSpPr/>
          <p:nvPr/>
        </p:nvSpPr>
        <p:spPr>
          <a:xfrm>
            <a:off x="8034480" y="4103280"/>
            <a:ext cx="35128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RAISON CHIFFRÉE 3</a:t>
            </a:r>
            <a:endParaRPr b="0" lang="fr-FR" sz="1100" spc="-1" strike="noStrike">
              <a:latin typeface="Arial"/>
            </a:endParaRPr>
          </a:p>
        </p:txBody>
      </p:sp>
      <p:sp>
        <p:nvSpPr>
          <p:cNvPr id="596" name="Zone à rédiger"/>
          <p:cNvSpPr/>
          <p:nvPr/>
        </p:nvSpPr>
        <p:spPr>
          <a:xfrm>
            <a:off x="8034480" y="4358880"/>
            <a:ext cx="3512880" cy="17661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[Chiffre, couche, preuve]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7"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Les preuves</a:t>
            </a:r>
            <a:endParaRPr b="0" lang="fr-FR" sz="2800" spc="-1" strike="noStrike">
              <a:latin typeface="Arial"/>
            </a:endParaRPr>
          </a:p>
        </p:txBody>
      </p:sp>
      <p:sp>
        <p:nvSpPr>
          <p:cNvPr id="598" name="PlaceHolder 2"/>
          <p:cNvSpPr>
            <a:spLocks noGrp="1"/>
          </p:cNvSpPr>
          <p:nvPr>
            <p:ph type="sldNum" idx="44"/>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948FEF89-4AC5-4E42-A0D0-681DC610582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599"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2 SUR 4</a:t>
            </a:r>
            <a:endParaRPr b="0" lang="fr-FR" sz="1100" spc="-1" strike="noStrike">
              <a:latin typeface="Arial"/>
            </a:endParaRPr>
          </a:p>
        </p:txBody>
      </p:sp>
      <p:sp>
        <p:nvSpPr>
          <p:cNvPr id="600"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01"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02"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03" name="Icône target" descr="Icône target"/>
          <p:cNvPicPr/>
          <p:nvPr/>
        </p:nvPicPr>
        <p:blipFill>
          <a:blip r:embed="rId1"/>
          <a:stretch/>
        </p:blipFill>
        <p:spPr>
          <a:xfrm>
            <a:off x="896040" y="1435680"/>
            <a:ext cx="272880" cy="272880"/>
          </a:xfrm>
          <a:prstGeom prst="rect">
            <a:avLst/>
          </a:prstGeom>
          <a:ln w="0">
            <a:noFill/>
          </a:ln>
        </p:spPr>
      </p:pic>
      <p:sp>
        <p:nvSpPr>
          <p:cNvPr id="604"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05"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qualité </a:t>
            </a:r>
            <a:r>
              <a:rPr b="1" lang="fr-FR" sz="1300" spc="-1" strike="noStrike">
                <a:solidFill>
                  <a:srgbClr val="f5a623"/>
                </a:solidFill>
                <a:latin typeface="Inter"/>
                <a:ea typeface="DejaVu Sans"/>
              </a:rPr>
              <a:t>par dimension et par couche</a:t>
            </a:r>
            <a:r>
              <a:rPr b="0" lang="fr-FR" sz="1300" spc="-1" strike="noStrike">
                <a:solidFill>
                  <a:srgbClr val="f7f6f2"/>
                </a:solidFill>
                <a:latin typeface="Inter"/>
                <a:ea typeface="DejaVu Sans"/>
              </a:rPr>
              <a:t>, face au </a:t>
            </a:r>
            <a:r>
              <a:rPr b="1" lang="fr-FR" sz="1300" spc="-1" strike="noStrike">
                <a:solidFill>
                  <a:srgbClr val="f5a623"/>
                </a:solidFill>
                <a:latin typeface="Inter"/>
                <a:ea typeface="DejaVu Sans"/>
              </a:rPr>
              <a:t>seuil visé</a:t>
            </a:r>
            <a:r>
              <a:rPr b="0" lang="fr-FR" sz="1300" spc="-1" strike="noStrike">
                <a:solidFill>
                  <a:srgbClr val="f7f6f2"/>
                </a:solidFill>
                <a:latin typeface="Inter"/>
                <a:ea typeface="DejaVu Sans"/>
              </a:rPr>
              <a:t>.</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 </a:t>
            </a:r>
            <a:r>
              <a:rPr b="1" lang="fr-FR" sz="1300" spc="-1" strike="noStrike">
                <a:solidFill>
                  <a:srgbClr val="f5a623"/>
                </a:solidFill>
                <a:latin typeface="Inter"/>
                <a:ea typeface="DejaVu Sans"/>
              </a:rPr>
              <a:t>certificat</a:t>
            </a:r>
            <a:r>
              <a:rPr b="0" lang="fr-FR" sz="1300" spc="-1" strike="noStrike">
                <a:solidFill>
                  <a:srgbClr val="f7f6f2"/>
                </a:solidFill>
                <a:latin typeface="Inter"/>
                <a:ea typeface="DejaVu Sans"/>
              </a:rPr>
              <a:t> joint (numéro, décision, empreinte) et les </a:t>
            </a:r>
            <a:r>
              <a:rPr b="1" lang="fr-FR" sz="1300" spc="-1" strike="noStrike">
                <a:solidFill>
                  <a:srgbClr val="f5a623"/>
                </a:solidFill>
                <a:latin typeface="Inter"/>
                <a:ea typeface="DejaVu Sans"/>
              </a:rPr>
              <a:t>trois données retracées</a:t>
            </a:r>
            <a:r>
              <a:rPr b="0" lang="fr-FR" sz="1300" spc="-1" strike="noStrike">
                <a:solidFill>
                  <a:srgbClr val="f7f6f2"/>
                </a:solidFill>
                <a:latin typeface="Inter"/>
                <a:ea typeface="DejaVu Sans"/>
              </a:rPr>
              <a:t> en trois lignes.</a:t>
            </a:r>
            <a:endParaRPr b="0" lang="fr-FR" sz="1300" spc="-1" strike="noStrike">
              <a:latin typeface="Arial"/>
            </a:endParaRPr>
          </a:p>
        </p:txBody>
      </p:sp>
      <p:graphicFrame>
        <p:nvGraphicFramePr>
          <p:cNvPr id="606" name="Table 32"/>
          <p:cNvGraphicFramePr/>
          <p:nvPr/>
        </p:nvGraphicFramePr>
        <p:xfrm>
          <a:off x="640080" y="2534040"/>
          <a:ext cx="10908360" cy="1828440"/>
        </p:xfrm>
        <a:graphic>
          <a:graphicData uri="http://schemas.openxmlformats.org/drawingml/2006/table">
            <a:tbl>
              <a:tblPr/>
              <a:tblGrid>
                <a:gridCol w="2377440"/>
                <a:gridCol w="1645920"/>
                <a:gridCol w="1645920"/>
                <a:gridCol w="1645920"/>
                <a:gridCol w="1737360"/>
                <a:gridCol w="1856160"/>
              </a:tblGrid>
              <a:tr h="365760">
                <a:tc>
                  <a:txBody>
                    <a:bodyPr lIns="73080" rIns="73080" anchor="ctr">
                      <a:noAutofit/>
                    </a:bodyPr>
                    <a:p>
                      <a:pPr>
                        <a:lnSpc>
                          <a:spcPct val="100000"/>
                        </a:lnSpc>
                        <a:buNone/>
                      </a:pPr>
                      <a:r>
                        <a:rPr b="1" lang="en-US" sz="1100" spc="49" strike="noStrike">
                          <a:solidFill>
                            <a:srgbClr val="f5a623"/>
                          </a:solidFill>
                          <a:latin typeface="Inter"/>
                        </a:rPr>
                        <a:t>Dimension</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Bronze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Silver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Gold</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Seuil visé</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Atteint ?</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Unicité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Complétude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Validité</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Cohérence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07" name="TextBox 33"/>
          <p:cNvSpPr/>
          <p:nvPr/>
        </p:nvSpPr>
        <p:spPr>
          <a:xfrm>
            <a:off x="640080" y="453708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CERTIFICAT JOINT</a:t>
            </a:r>
            <a:endParaRPr b="0" lang="fr-FR" sz="1100" spc="-1" strike="noStrike">
              <a:latin typeface="Arial"/>
            </a:endParaRPr>
          </a:p>
        </p:txBody>
      </p:sp>
      <p:sp>
        <p:nvSpPr>
          <p:cNvPr id="608" name="Zone à rédiger"/>
          <p:cNvSpPr/>
          <p:nvPr/>
        </p:nvSpPr>
        <p:spPr>
          <a:xfrm>
            <a:off x="640080" y="4792680"/>
            <a:ext cx="5347800" cy="1332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[Numéro, décision, empreinte]</a:t>
            </a:r>
            <a:endParaRPr b="0" lang="fr-FR" sz="1200" spc="-1" strike="noStrike">
              <a:latin typeface="Arial"/>
            </a:endParaRPr>
          </a:p>
        </p:txBody>
      </p:sp>
      <p:sp>
        <p:nvSpPr>
          <p:cNvPr id="609" name="TextBox 35"/>
          <p:cNvSpPr/>
          <p:nvPr/>
        </p:nvSpPr>
        <p:spPr>
          <a:xfrm>
            <a:off x="6199560" y="453708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TROIS DONNÉES RETRACÉES, EN TROIS LIGNES</a:t>
            </a:r>
            <a:endParaRPr b="0" lang="fr-FR" sz="1100" spc="-1" strike="noStrike">
              <a:latin typeface="Arial"/>
            </a:endParaRPr>
          </a:p>
        </p:txBody>
      </p:sp>
      <p:sp>
        <p:nvSpPr>
          <p:cNvPr id="610" name="Zone à rédiger"/>
          <p:cNvSpPr/>
          <p:nvPr/>
        </p:nvSpPr>
        <p:spPr>
          <a:xfrm>
            <a:off x="6199560" y="4792680"/>
            <a:ext cx="5347800" cy="1332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1"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Les écarts</a:t>
            </a:r>
            <a:endParaRPr b="0" lang="fr-FR" sz="2800" spc="-1" strike="noStrike">
              <a:latin typeface="Arial"/>
            </a:endParaRPr>
          </a:p>
        </p:txBody>
      </p:sp>
      <p:sp>
        <p:nvSpPr>
          <p:cNvPr id="612" name="PlaceHolder 2"/>
          <p:cNvSpPr>
            <a:spLocks noGrp="1"/>
          </p:cNvSpPr>
          <p:nvPr>
            <p:ph type="sldNum" idx="45"/>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92B30671-BE02-492B-8E44-EFC94A62ECEF}"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13"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3 SUR 4</a:t>
            </a:r>
            <a:endParaRPr b="0" lang="fr-FR" sz="1100" spc="-1" strike="noStrike">
              <a:latin typeface="Arial"/>
            </a:endParaRPr>
          </a:p>
        </p:txBody>
      </p:sp>
      <p:sp>
        <p:nvSpPr>
          <p:cNvPr id="614"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15"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16"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17" name="Icône target" descr="Icône target"/>
          <p:cNvPicPr/>
          <p:nvPr/>
        </p:nvPicPr>
        <p:blipFill>
          <a:blip r:embed="rId1"/>
          <a:stretch/>
        </p:blipFill>
        <p:spPr>
          <a:xfrm>
            <a:off x="896040" y="1435680"/>
            <a:ext cx="272880" cy="272880"/>
          </a:xfrm>
          <a:prstGeom prst="rect">
            <a:avLst/>
          </a:prstGeom>
          <a:ln w="0">
            <a:noFill/>
          </a:ln>
        </p:spPr>
      </p:pic>
      <p:sp>
        <p:nvSpPr>
          <p:cNvPr id="618"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19" name="TextBox 31"/>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anomalies résiduelles</a:t>
            </a:r>
            <a:r>
              <a:rPr b="0" lang="fr-FR" sz="1300" spc="-1" strike="noStrike">
                <a:solidFill>
                  <a:srgbClr val="f7f6f2"/>
                </a:solidFill>
                <a:latin typeface="Inter"/>
                <a:ea typeface="DejaVu Sans"/>
              </a:rPr>
              <a:t> chiffrées, les lignes en </a:t>
            </a:r>
            <a:r>
              <a:rPr b="1" lang="fr-FR" sz="1300" spc="-1" strike="noStrike">
                <a:solidFill>
                  <a:srgbClr val="f5a623"/>
                </a:solidFill>
                <a:latin typeface="Inter"/>
                <a:ea typeface="DejaVu Sans"/>
              </a:rPr>
              <a:t>quarantaine par règle</a:t>
            </a:r>
            <a:r>
              <a:rPr b="0" lang="fr-FR" sz="1300" spc="-1" strike="noStrike">
                <a:solidFill>
                  <a:srgbClr val="f7f6f2"/>
                </a:solidFill>
                <a:latin typeface="Inter"/>
                <a:ea typeface="DejaVu Sans"/>
              </a:rPr>
              <a:t>, les </a:t>
            </a:r>
            <a:r>
              <a:rPr b="1" lang="fr-FR" sz="1300" spc="-1" strike="noStrike">
                <a:solidFill>
                  <a:srgbClr val="f5a623"/>
                </a:solidFill>
                <a:latin typeface="Inter"/>
                <a:ea typeface="DejaVu Sans"/>
              </a:rPr>
              <a:t>avertissements</a:t>
            </a:r>
            <a:r>
              <a:rPr b="0" lang="fr-FR" sz="1300" spc="-1" strike="noStrike">
                <a:solidFill>
                  <a:srgbClr val="f7f6f2"/>
                </a:solidFill>
                <a:latin typeface="Inter"/>
                <a:ea typeface="DejaVu Sans"/>
              </a:rPr>
              <a:t> restants.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hypothèses à faire valider</a:t>
            </a:r>
            <a:r>
              <a:rPr b="0" lang="fr-FR" sz="1300" spc="-1" strike="noStrike">
                <a:solidFill>
                  <a:srgbClr val="f7f6f2"/>
                </a:solidFill>
                <a:latin typeface="Inter"/>
                <a:ea typeface="DejaVu Sans"/>
              </a:rPr>
              <a:t> par le métier : listées, jamais cachées.</a:t>
            </a:r>
            <a:endParaRPr b="0" lang="fr-FR" sz="1300" spc="-1" strike="noStrike">
              <a:latin typeface="Arial"/>
            </a:endParaRPr>
          </a:p>
        </p:txBody>
      </p:sp>
      <p:graphicFrame>
        <p:nvGraphicFramePr>
          <p:cNvPr id="620" name="Table 32"/>
          <p:cNvGraphicFramePr/>
          <p:nvPr/>
        </p:nvGraphicFramePr>
        <p:xfrm>
          <a:off x="640080" y="2534040"/>
          <a:ext cx="10908360" cy="1828440"/>
        </p:xfrm>
        <a:graphic>
          <a:graphicData uri="http://schemas.openxmlformats.org/drawingml/2006/table">
            <a:tbl>
              <a:tblPr/>
              <a:tblGrid>
                <a:gridCol w="3200400"/>
                <a:gridCol w="1371600"/>
                <a:gridCol w="1280160"/>
                <a:gridCol w="3136320"/>
                <a:gridCol w="1920240"/>
              </a:tblGrid>
              <a:tr h="365760">
                <a:tc>
                  <a:txBody>
                    <a:bodyPr lIns="73080" rIns="73080" anchor="ctr">
                      <a:noAutofit/>
                    </a:bodyPr>
                    <a:p>
                      <a:pPr>
                        <a:lnSpc>
                          <a:spcPct val="100000"/>
                        </a:lnSpc>
                        <a:buNone/>
                      </a:pPr>
                      <a:r>
                        <a:rPr b="1" lang="en-US" sz="1050" spc="49" strike="noStrike">
                          <a:solidFill>
                            <a:srgbClr val="f5a623"/>
                          </a:solidFill>
                          <a:latin typeface="Inter"/>
                        </a:rPr>
                        <a:t>Écart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Chiffre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Règle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Conséquence pour le CRM</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Qui doit agir</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150" spc="-1" strike="noStrike">
                          <a:solidFill>
                            <a:srgbClr val="f7f6f2"/>
                          </a:solidFill>
                          <a:latin typeface="Inter"/>
                        </a:rPr>
                        <a:t>Anomalies résiduelles dans gold</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Lignes en quarantaine, par règle</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Avertissements restants</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150" spc="-1" strike="noStrike">
                          <a:solidFill>
                            <a:srgbClr val="f7f6f2"/>
                          </a:solidFill>
                          <a:latin typeface="Inter"/>
                        </a:rPr>
                        <a:t>Règles non couvertes par le certificat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21" name="TextBox 33"/>
          <p:cNvSpPr/>
          <p:nvPr/>
        </p:nvSpPr>
        <p:spPr>
          <a:xfrm>
            <a:off x="640080" y="453708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HYPOTHÈSES À FAIRE VALIDER PAR LE MÉTIER</a:t>
            </a:r>
            <a:endParaRPr b="0" lang="fr-FR" sz="1100" spc="-1" strike="noStrike">
              <a:latin typeface="Arial"/>
            </a:endParaRPr>
          </a:p>
        </p:txBody>
      </p:sp>
      <p:sp>
        <p:nvSpPr>
          <p:cNvPr id="622" name="Zone à rédiger"/>
          <p:cNvSpPr/>
          <p:nvPr/>
        </p:nvSpPr>
        <p:spPr>
          <a:xfrm>
            <a:off x="640080" y="4792680"/>
            <a:ext cx="10907280" cy="133236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[Listez-les, une par ligne]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23"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La décision</a:t>
            </a:r>
            <a:endParaRPr b="0" lang="fr-FR" sz="2800" spc="-1" strike="noStrike">
              <a:latin typeface="Arial"/>
            </a:endParaRPr>
          </a:p>
        </p:txBody>
      </p:sp>
      <p:sp>
        <p:nvSpPr>
          <p:cNvPr id="624" name="PlaceHolder 2"/>
          <p:cNvSpPr>
            <a:spLocks noGrp="1"/>
          </p:cNvSpPr>
          <p:nvPr>
            <p:ph type="sldNum" idx="46"/>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139F5FD6-A5B2-4ACE-8E70-90885EEC326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25"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DOSSIER · 4 SUR 4</a:t>
            </a:r>
            <a:endParaRPr b="0" lang="fr-FR" sz="1100" spc="-1" strike="noStrike">
              <a:latin typeface="Arial"/>
            </a:endParaRPr>
          </a:p>
        </p:txBody>
      </p:sp>
      <p:sp>
        <p:nvSpPr>
          <p:cNvPr id="626"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27" name="Attendu"/>
          <p:cNvSpPr/>
          <p:nvPr/>
        </p:nvSpPr>
        <p:spPr>
          <a:xfrm>
            <a:off x="640080" y="1325880"/>
            <a:ext cx="10907280" cy="1321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28" name="Attendu barre"/>
          <p:cNvSpPr/>
          <p:nvPr/>
        </p:nvSpPr>
        <p:spPr>
          <a:xfrm>
            <a:off x="640080" y="1325880"/>
            <a:ext cx="81000" cy="1321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29" name="Icône target" descr="Icône target"/>
          <p:cNvPicPr/>
          <p:nvPr/>
        </p:nvPicPr>
        <p:blipFill>
          <a:blip r:embed="rId1"/>
          <a:stretch/>
        </p:blipFill>
        <p:spPr>
          <a:xfrm>
            <a:off x="896040" y="1435680"/>
            <a:ext cx="272880" cy="272880"/>
          </a:xfrm>
          <a:prstGeom prst="rect">
            <a:avLst/>
          </a:prstGeom>
          <a:ln w="0">
            <a:noFill/>
          </a:ln>
        </p:spPr>
      </p:pic>
      <p:sp>
        <p:nvSpPr>
          <p:cNvPr id="630"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31" name="TextBox 31"/>
          <p:cNvSpPr/>
          <p:nvPr/>
        </p:nvSpPr>
        <p:spPr>
          <a:xfrm>
            <a:off x="914400" y="1783080"/>
            <a:ext cx="10358640" cy="717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seuils retenus</a:t>
            </a:r>
            <a:r>
              <a:rPr b="0" lang="fr-FR" sz="1300" spc="-1" strike="noStrike">
                <a:solidFill>
                  <a:srgbClr val="f7f6f2"/>
                </a:solidFill>
                <a:latin typeface="Inter"/>
                <a:ea typeface="DejaVu Sans"/>
              </a:rPr>
              <a:t>, justifiés devant le </a:t>
            </a:r>
            <a:r>
              <a:rPr b="1" lang="fr-FR" sz="1300" spc="-1" strike="noStrike">
                <a:solidFill>
                  <a:srgbClr val="f5a623"/>
                </a:solidFill>
                <a:latin typeface="Inter"/>
                <a:ea typeface="DejaVu Sans"/>
              </a:rPr>
              <a:t>Data Owner</a:t>
            </a:r>
            <a:r>
              <a:rPr b="0" lang="fr-FR" sz="1300" spc="-1" strike="noStrike">
                <a:solidFill>
                  <a:srgbClr val="f7f6f2"/>
                </a:solidFill>
                <a:latin typeface="Inter"/>
                <a:ea typeface="DejaVu Sans"/>
              </a:rPr>
              <a:t> (numéros du journal des décisions).</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Les </a:t>
            </a:r>
            <a:r>
              <a:rPr b="1" lang="fr-FR" sz="1300" spc="-1" strike="noStrike">
                <a:solidFill>
                  <a:srgbClr val="f5a623"/>
                </a:solidFill>
                <a:latin typeface="Inter"/>
                <a:ea typeface="DejaVu Sans"/>
              </a:rPr>
              <a:t>rôles</a:t>
            </a:r>
            <a:r>
              <a:rPr b="0" lang="fr-FR" sz="1300" spc="-1" strike="noStrike">
                <a:solidFill>
                  <a:srgbClr val="f7f6f2"/>
                </a:solidFill>
                <a:latin typeface="Inter"/>
                <a:ea typeface="DejaVu Sans"/>
              </a:rPr>
              <a:t> : qui décide, qui contrôle, qui exécute ; les </a:t>
            </a:r>
            <a:r>
              <a:rPr b="1" lang="fr-FR" sz="1300" spc="-1" strike="noStrike">
                <a:solidFill>
                  <a:srgbClr val="f5a623"/>
                </a:solidFill>
                <a:latin typeface="Inter"/>
                <a:ea typeface="DejaVu Sans"/>
              </a:rPr>
              <a:t>conditions</a:t>
            </a:r>
            <a:r>
              <a:rPr b="0" lang="fr-FR" sz="1300" spc="-1" strike="noStrike">
                <a:solidFill>
                  <a:srgbClr val="f7f6f2"/>
                </a:solidFill>
                <a:latin typeface="Inter"/>
                <a:ea typeface="DejaVu Sans"/>
              </a:rPr>
              <a:t> à lever, avec échéance et responsable.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 </a:t>
            </a:r>
            <a:r>
              <a:rPr b="1" lang="fr-FR" sz="1300" spc="-1" strike="noStrike">
                <a:solidFill>
                  <a:srgbClr val="f5a623"/>
                </a:solidFill>
                <a:latin typeface="Inter"/>
                <a:ea typeface="DejaVu Sans"/>
              </a:rPr>
              <a:t>signature</a:t>
            </a:r>
            <a:r>
              <a:rPr b="0" lang="fr-FR" sz="1300" spc="-1" strike="noStrike">
                <a:solidFill>
                  <a:srgbClr val="f7f6f2"/>
                </a:solidFill>
                <a:latin typeface="Inter"/>
                <a:ea typeface="DejaVu Sans"/>
              </a:rPr>
              <a:t> du Data Owner.</a:t>
            </a:r>
            <a:endParaRPr b="0" lang="fr-FR" sz="1300" spc="-1" strike="noStrike">
              <a:latin typeface="Arial"/>
            </a:endParaRPr>
          </a:p>
        </p:txBody>
      </p:sp>
      <p:sp>
        <p:nvSpPr>
          <p:cNvPr id="632" name="TextBox 32"/>
          <p:cNvSpPr/>
          <p:nvPr/>
        </p:nvSpPr>
        <p:spPr>
          <a:xfrm>
            <a:off x="640080" y="28688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SEUILS RETENUS ET JUSTIFICATION</a:t>
            </a:r>
            <a:endParaRPr b="0" lang="fr-FR" sz="1100" spc="-1" strike="noStrike">
              <a:latin typeface="Arial"/>
            </a:endParaRPr>
          </a:p>
        </p:txBody>
      </p:sp>
      <p:sp>
        <p:nvSpPr>
          <p:cNvPr id="633" name="Zone à rédiger"/>
          <p:cNvSpPr/>
          <p:nvPr/>
        </p:nvSpPr>
        <p:spPr>
          <a:xfrm>
            <a:off x="640080" y="3124440"/>
            <a:ext cx="5347800" cy="1077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[Renvoi au journal, numéros]</a:t>
            </a:r>
            <a:endParaRPr b="0" lang="fr-FR" sz="1200" spc="-1" strike="noStrike">
              <a:latin typeface="Arial"/>
            </a:endParaRPr>
          </a:p>
        </p:txBody>
      </p:sp>
      <p:sp>
        <p:nvSpPr>
          <p:cNvPr id="634" name="TextBox 34"/>
          <p:cNvSpPr/>
          <p:nvPr/>
        </p:nvSpPr>
        <p:spPr>
          <a:xfrm>
            <a:off x="6199560" y="2868840"/>
            <a:ext cx="534780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RÔLES : DÉCIDE, CONTRÔLE, EXÉCUTE</a:t>
            </a:r>
            <a:endParaRPr b="0" lang="fr-FR" sz="1100" spc="-1" strike="noStrike">
              <a:latin typeface="Arial"/>
            </a:endParaRPr>
          </a:p>
        </p:txBody>
      </p:sp>
      <p:sp>
        <p:nvSpPr>
          <p:cNvPr id="635" name="Zone à rédiger"/>
          <p:cNvSpPr/>
          <p:nvPr/>
        </p:nvSpPr>
        <p:spPr>
          <a:xfrm>
            <a:off x="6199560" y="3124440"/>
            <a:ext cx="5347800" cy="107748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[Rédigez ici]</a:t>
            </a:r>
            <a:endParaRPr b="0" lang="fr-FR" sz="1200" spc="-1" strike="noStrike">
              <a:latin typeface="Arial"/>
            </a:endParaRPr>
          </a:p>
        </p:txBody>
      </p:sp>
      <p:graphicFrame>
        <p:nvGraphicFramePr>
          <p:cNvPr id="636" name="Table 36"/>
          <p:cNvGraphicFramePr/>
          <p:nvPr/>
        </p:nvGraphicFramePr>
        <p:xfrm>
          <a:off x="640080" y="4340520"/>
          <a:ext cx="10908360" cy="1041840"/>
        </p:xfrm>
        <a:graphic>
          <a:graphicData uri="http://schemas.openxmlformats.org/drawingml/2006/table">
            <a:tbl>
              <a:tblPr/>
              <a:tblGrid>
                <a:gridCol w="6217920"/>
                <a:gridCol w="2560320"/>
                <a:gridCol w="2130480"/>
              </a:tblGrid>
              <a:tr h="347400">
                <a:tc>
                  <a:txBody>
                    <a:bodyPr lIns="73080" rIns="73080" anchor="ctr">
                      <a:noAutofit/>
                    </a:bodyPr>
                    <a:p>
                      <a:pPr>
                        <a:lnSpc>
                          <a:spcPct val="100000"/>
                        </a:lnSpc>
                        <a:buNone/>
                      </a:pPr>
                      <a:r>
                        <a:rPr b="1" lang="en-US" sz="1050" spc="49" strike="noStrike">
                          <a:solidFill>
                            <a:srgbClr val="f5a623"/>
                          </a:solidFill>
                          <a:latin typeface="Inter"/>
                        </a:rPr>
                        <a:t>Condition à lever avant migration</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Responsable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050" spc="49" strike="noStrike">
                          <a:solidFill>
                            <a:srgbClr val="f5a623"/>
                          </a:solidFill>
                          <a:latin typeface="Inter"/>
                        </a:rPr>
                        <a:t>Échéance</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150" spc="-1" strike="noStrike">
                          <a:solidFill>
                            <a:srgbClr val="f5a623"/>
                          </a:solidFill>
                          <a:latin typeface="Inter"/>
                        </a:rPr>
                        <a:t>…</a:t>
                      </a:r>
                      <a:endParaRPr b="0" lang="fr-FR" sz="11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37" name="TextBox 37"/>
          <p:cNvSpPr/>
          <p:nvPr/>
        </p:nvSpPr>
        <p:spPr>
          <a:xfrm>
            <a:off x="640080" y="5557320"/>
            <a:ext cx="10907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09" strike="noStrike">
                <a:solidFill>
                  <a:srgbClr val="f5a623"/>
                </a:solidFill>
                <a:latin typeface="Inter"/>
                <a:ea typeface="DejaVu Sans"/>
              </a:rPr>
              <a:t>SIGNATURE DU DATA OWNER (NOM, RÔLE, DATE)</a:t>
            </a:r>
            <a:endParaRPr b="0" lang="fr-FR" sz="1100" spc="-1" strike="noStrike">
              <a:latin typeface="Arial"/>
            </a:endParaRPr>
          </a:p>
        </p:txBody>
      </p:sp>
      <p:sp>
        <p:nvSpPr>
          <p:cNvPr id="638" name="Zone à rédiger"/>
          <p:cNvSpPr/>
          <p:nvPr/>
        </p:nvSpPr>
        <p:spPr>
          <a:xfrm>
            <a:off x="640080" y="5812920"/>
            <a:ext cx="10907280" cy="312120"/>
          </a:xfrm>
          <a:prstGeom prst="rect">
            <a:avLst/>
          </a:prstGeom>
          <a:solidFill>
            <a:srgbClr val="2e2916"/>
          </a:solidFill>
          <a:ln w="12700">
            <a:solidFill>
              <a:srgbClr val="f5a623"/>
            </a:solidFill>
            <a:prstDash val="dash"/>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137160" rIns="137160" tIns="73080" bIns="73080" anchor="t">
            <a:noAutofit/>
          </a:bodyPr>
          <a:p>
            <a:pPr>
              <a:lnSpc>
                <a:spcPct val="100000"/>
              </a:lnSpc>
              <a:buNone/>
            </a:pPr>
            <a:r>
              <a:rPr b="0" i="1" lang="fr-FR" sz="1200" spc="-1" strike="noStrike">
                <a:solidFill>
                  <a:srgbClr val="8e99a4"/>
                </a:solidFill>
                <a:latin typeface="Inter"/>
                <a:ea typeface="DejaVu Sans"/>
              </a:rPr>
              <a:t>[Nom, rôle, date]</a:t>
            </a:r>
            <a:endParaRPr b="0" lang="fr-FR" sz="1200" spc="-1" strike="noStrike">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9" name="PlaceHolder 1"/>
          <p:cNvSpPr>
            <a:spLocks noGrp="1"/>
          </p:cNvSpPr>
          <p:nvPr>
            <p:ph/>
          </p:nvPr>
        </p:nvSpPr>
        <p:spPr>
          <a:xfrm>
            <a:off x="640080" y="2011680"/>
            <a:ext cx="2741760" cy="1187280"/>
          </a:xfrm>
          <a:prstGeom prst="rect">
            <a:avLst/>
          </a:prstGeom>
          <a:noFill/>
          <a:ln w="0">
            <a:noFill/>
          </a:ln>
        </p:spPr>
        <p:txBody>
          <a:bodyPr lIns="90000" rIns="90000" tIns="45000" bIns="45000" anchor="t">
            <a:noAutofit/>
          </a:bodyPr>
          <a:p>
            <a:pPr>
              <a:lnSpc>
                <a:spcPct val="100000"/>
              </a:lnSpc>
              <a:spcBef>
                <a:spcPts val="1440"/>
              </a:spcBef>
              <a:buNone/>
              <a:tabLst>
                <a:tab algn="l" pos="0"/>
              </a:tabLst>
            </a:pPr>
            <a:r>
              <a:rPr b="0" lang="en-US" sz="7200" spc="-1" strike="noStrike">
                <a:solidFill>
                  <a:srgbClr val="f5a623"/>
                </a:solidFill>
                <a:latin typeface="Fraunces SemiBold"/>
                <a:ea typeface="Fraunces SemiBold"/>
              </a:rPr>
              <a:t>07</a:t>
            </a:r>
            <a:endParaRPr b="0" lang="fr-FR" sz="7200" spc="-1" strike="noStrike">
              <a:latin typeface="Arial"/>
            </a:endParaRPr>
          </a:p>
        </p:txBody>
      </p:sp>
      <p:sp>
        <p:nvSpPr>
          <p:cNvPr id="640" name="PlaceHolder 2"/>
          <p:cNvSpPr>
            <a:spLocks noGrp="1"/>
          </p:cNvSpPr>
          <p:nvPr>
            <p:ph type="title"/>
          </p:nvPr>
        </p:nvSpPr>
        <p:spPr>
          <a:xfrm>
            <a:off x="640080" y="3200400"/>
            <a:ext cx="6582240" cy="1644480"/>
          </a:xfrm>
          <a:prstGeom prst="rect">
            <a:avLst/>
          </a:prstGeom>
          <a:noFill/>
          <a:ln w="0">
            <a:noFill/>
          </a:ln>
        </p:spPr>
        <p:txBody>
          <a:bodyPr lIns="90000" rIns="90000" tIns="45000" bIns="45000" anchor="t">
            <a:noAutofit/>
          </a:bodyPr>
          <a:p>
            <a:pPr>
              <a:lnSpc>
                <a:spcPct val="100000"/>
              </a:lnSpc>
              <a:buNone/>
              <a:tabLst>
                <a:tab algn="l" pos="0"/>
              </a:tabLst>
            </a:pPr>
            <a:r>
              <a:rPr b="0" lang="en-US" sz="4200" spc="-1" strike="noStrike">
                <a:solidFill>
                  <a:srgbClr val="f7f6f2"/>
                </a:solidFill>
                <a:latin typeface="Fraunces SemiBold"/>
                <a:ea typeface="Fraunces SemiBold"/>
              </a:rPr>
              <a:t>Annexes</a:t>
            </a:r>
            <a:endParaRPr b="0" lang="fr-FR" sz="4200" spc="-1" strike="noStrike">
              <a:latin typeface="Arial"/>
            </a:endParaRPr>
          </a:p>
        </p:txBody>
      </p:sp>
      <p:sp>
        <p:nvSpPr>
          <p:cNvPr id="641" name="PlaceHolder 3"/>
          <p:cNvSpPr>
            <a:spLocks noGrp="1"/>
          </p:cNvSpPr>
          <p:nvPr>
            <p:ph type="sldNum" idx="47"/>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0BCF66F2-63DB-4810-93D2-D79A6FC5141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42" name="TextBox 25"/>
          <p:cNvSpPr/>
          <p:nvPr/>
        </p:nvSpPr>
        <p:spPr>
          <a:xfrm>
            <a:off x="640080" y="4892040"/>
            <a:ext cx="6399360" cy="559080"/>
          </a:xfrm>
          <a:prstGeom prst="rect">
            <a:avLst/>
          </a:prstGeom>
          <a:noFill/>
          <a:ln w="0">
            <a:noFill/>
          </a:ln>
        </p:spPr>
        <p:style>
          <a:lnRef idx="0"/>
          <a:fillRef idx="0"/>
          <a:effectRef idx="0"/>
          <a:fontRef idx="minor"/>
        </p:style>
        <p:txBody>
          <a:bodyPr lIns="0" rIns="0" tIns="0" bIns="0" anchor="t">
            <a:spAutoFit/>
          </a:bodyPr>
          <a:p>
            <a:pPr>
              <a:lnSpc>
                <a:spcPct val="115000"/>
              </a:lnSpc>
              <a:spcAft>
                <a:spcPts val="400"/>
              </a:spcAft>
              <a:buNone/>
            </a:pPr>
            <a:r>
              <a:rPr b="0" lang="fr-FR" sz="1600" spc="-1" strike="noStrike">
                <a:solidFill>
                  <a:srgbClr val="b8c0c8"/>
                </a:solidFill>
                <a:latin typeface="Inter"/>
                <a:ea typeface="DejaVu Sans"/>
              </a:rPr>
              <a:t>Journal des décisions, avancement par story, liens vers le dépôt.</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3"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Journal des décisions</a:t>
            </a:r>
            <a:endParaRPr b="0" lang="fr-FR" sz="2800" spc="-1" strike="noStrike">
              <a:latin typeface="Arial"/>
            </a:endParaRPr>
          </a:p>
        </p:txBody>
      </p:sp>
      <p:sp>
        <p:nvSpPr>
          <p:cNvPr id="644" name="PlaceHolder 2"/>
          <p:cNvSpPr>
            <a:spLocks noGrp="1"/>
          </p:cNvSpPr>
          <p:nvPr>
            <p:ph type="sldNum" idx="48"/>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5C77C590-08CF-4998-875B-7EF414CA16A9}"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45"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ANNEXE A</a:t>
            </a:r>
            <a:endParaRPr b="0" lang="fr-FR" sz="1100" spc="-1" strike="noStrike">
              <a:latin typeface="Arial"/>
            </a:endParaRPr>
          </a:p>
        </p:txBody>
      </p:sp>
      <p:sp>
        <p:nvSpPr>
          <p:cNvPr id="646"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47" name="Attendu"/>
          <p:cNvSpPr/>
          <p:nvPr/>
        </p:nvSpPr>
        <p:spPr>
          <a:xfrm>
            <a:off x="640080" y="1325880"/>
            <a:ext cx="10907280" cy="12837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48" name="Attendu barre"/>
          <p:cNvSpPr/>
          <p:nvPr/>
        </p:nvSpPr>
        <p:spPr>
          <a:xfrm>
            <a:off x="640080" y="1325880"/>
            <a:ext cx="81000" cy="12837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49" name="Icône target" descr="Icône target"/>
          <p:cNvPicPr/>
          <p:nvPr/>
        </p:nvPicPr>
        <p:blipFill>
          <a:blip r:embed="rId1"/>
          <a:stretch/>
        </p:blipFill>
        <p:spPr>
          <a:xfrm>
            <a:off x="896040" y="1435680"/>
            <a:ext cx="272880" cy="272880"/>
          </a:xfrm>
          <a:prstGeom prst="rect">
            <a:avLst/>
          </a:prstGeom>
          <a:ln w="0">
            <a:noFill/>
          </a:ln>
        </p:spPr>
      </p:pic>
      <p:sp>
        <p:nvSpPr>
          <p:cNvPr id="650"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51" name="TextBox 31"/>
          <p:cNvSpPr/>
          <p:nvPr/>
        </p:nvSpPr>
        <p:spPr>
          <a:xfrm>
            <a:off x="914400" y="1783080"/>
            <a:ext cx="10358640" cy="67932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seuil, sévérité, définition ou règle de survie</a:t>
            </a:r>
            <a:r>
              <a:rPr b="0" lang="fr-FR" sz="1300" spc="-1" strike="noStrike">
                <a:solidFill>
                  <a:srgbClr val="f7f6f2"/>
                </a:solidFill>
                <a:latin typeface="Inter"/>
                <a:ea typeface="DejaVu Sans"/>
              </a:rPr>
              <a:t> : date, séance, règle, décision, </a:t>
            </a:r>
            <a:r>
              <a:rPr b="1" lang="fr-FR" sz="1300" spc="-1" strike="noStrike">
                <a:solidFill>
                  <a:srgbClr val="f5a623"/>
                </a:solidFill>
                <a:latin typeface="Inter"/>
                <a:ea typeface="DejaVu Sans"/>
              </a:rPr>
              <a:t>justification chiffrée</a:t>
            </a:r>
            <a:r>
              <a:rPr b="0" lang="fr-FR" sz="1300" spc="-1" strike="noStrike">
                <a:solidFill>
                  <a:srgbClr val="f7f6f2"/>
                </a:solidFill>
                <a:latin typeface="Inter"/>
                <a:ea typeface="DejaVu Sans"/>
              </a:rPr>
              <a:t>, </a:t>
            </a:r>
            <a:r>
              <a:rPr b="1" lang="fr-FR" sz="1300" spc="-1" strike="noStrike">
                <a:solidFill>
                  <a:srgbClr val="f5a623"/>
                </a:solidFill>
                <a:latin typeface="Inter"/>
                <a:ea typeface="DejaVu Sans"/>
              </a:rPr>
              <a:t>rôle décideur</a:t>
            </a:r>
            <a:r>
              <a:rPr b="0" lang="fr-FR" sz="1300" spc="-1" strike="noStrike">
                <a:solidFill>
                  <a:srgbClr val="f7f6f2"/>
                </a:solidFill>
                <a:latin typeface="Inter"/>
                <a:ea typeface="DejaVu Sans"/>
              </a:rPr>
              <a:t>, alternative écartée.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décision sans rôle ni chiffre n'est pas une décision.</a:t>
            </a:r>
            <a:endParaRPr b="0" lang="fr-FR" sz="1300" spc="-1" strike="noStrike">
              <a:latin typeface="Arial"/>
            </a:endParaRPr>
          </a:p>
        </p:txBody>
      </p:sp>
      <p:graphicFrame>
        <p:nvGraphicFramePr>
          <p:cNvPr id="652" name="Table 32"/>
          <p:cNvGraphicFramePr/>
          <p:nvPr/>
        </p:nvGraphicFramePr>
        <p:xfrm>
          <a:off x="640080" y="2748240"/>
          <a:ext cx="10908360" cy="2431440"/>
        </p:xfrm>
        <a:graphic>
          <a:graphicData uri="http://schemas.openxmlformats.org/drawingml/2006/table">
            <a:tbl>
              <a:tblPr/>
              <a:tblGrid>
                <a:gridCol w="457200"/>
                <a:gridCol w="822960"/>
                <a:gridCol w="822960"/>
                <a:gridCol w="1371600"/>
                <a:gridCol w="2377440"/>
                <a:gridCol w="2194560"/>
                <a:gridCol w="1188720"/>
                <a:gridCol w="1673280"/>
              </a:tblGrid>
              <a:tr h="347400">
                <a:tc>
                  <a:txBody>
                    <a:bodyPr lIns="73080" rIns="73080" anchor="ctr">
                      <a:noAutofit/>
                    </a:bodyPr>
                    <a:p>
                      <a:pPr>
                        <a:lnSpc>
                          <a:spcPct val="100000"/>
                        </a:lnSpc>
                        <a:buNone/>
                      </a:pPr>
                      <a:r>
                        <a:rPr b="1" lang="en-US" sz="950" spc="49" strike="noStrike">
                          <a:solidFill>
                            <a:srgbClr val="f5a623"/>
                          </a:solidFill>
                          <a:latin typeface="Inter"/>
                        </a:rPr>
                        <a:t>N°</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Date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Séance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Règle ou objet</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Décision</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Justification chiffrée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Rôle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950" spc="49" strike="noStrike">
                          <a:solidFill>
                            <a:srgbClr val="f5a623"/>
                          </a:solidFill>
                          <a:latin typeface="Inter"/>
                        </a:rPr>
                        <a:t>Alternative écartée</a:t>
                      </a:r>
                      <a:endParaRPr b="0" lang="fr-FR" sz="9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47400">
                <a:tc>
                  <a:txBody>
                    <a:bodyPr lIns="73080" rIns="73080" anchor="ctr">
                      <a:noAutofit/>
                    </a:bodyPr>
                    <a:p>
                      <a:pPr>
                        <a:lnSpc>
                          <a:spcPct val="100000"/>
                        </a:lnSpc>
                        <a:buNone/>
                      </a:pPr>
                      <a:r>
                        <a:rPr b="1" lang="en-US" sz="1050" spc="-1" strike="noStrike">
                          <a:solidFill>
                            <a:srgbClr val="f7f6f2"/>
                          </a:solidFill>
                          <a:latin typeface="Inter"/>
                        </a:rPr>
                        <a:t>1</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2</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3</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4</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5</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47400">
                <a:tc>
                  <a:txBody>
                    <a:bodyPr lIns="73080" rIns="73080" anchor="ctr">
                      <a:noAutofit/>
                    </a:bodyPr>
                    <a:p>
                      <a:pPr>
                        <a:lnSpc>
                          <a:spcPct val="100000"/>
                        </a:lnSpc>
                        <a:buNone/>
                      </a:pPr>
                      <a:r>
                        <a:rPr b="1" lang="en-US" sz="1050" spc="-1" strike="noStrike">
                          <a:solidFill>
                            <a:srgbClr val="f7f6f2"/>
                          </a:solidFill>
                          <a:latin typeface="Inter"/>
                        </a:rPr>
                        <a:t>6</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050" spc="-1" strike="noStrike">
                          <a:solidFill>
                            <a:srgbClr val="f5a623"/>
                          </a:solidFill>
                          <a:latin typeface="Inter"/>
                        </a:rPr>
                        <a:t>…</a:t>
                      </a:r>
                      <a:endParaRPr b="0" lang="fr-FR" sz="105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53" name="TextBox 33"/>
          <p:cNvSpPr/>
          <p:nvPr/>
        </p:nvSpPr>
        <p:spPr>
          <a:xfrm>
            <a:off x="640080" y="525348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Ajoutez des lignes si nécessaire. Exemples : sévérité d'une règle, seuil d'avertissement, convention de la sentinelle, seuils de rapprochement, règle de survie, seuil de la porte G.</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Avancement par story</a:t>
            </a:r>
            <a:endParaRPr b="0" lang="fr-FR" sz="2800" spc="-1" strike="noStrike">
              <a:latin typeface="Arial"/>
            </a:endParaRPr>
          </a:p>
        </p:txBody>
      </p:sp>
      <p:sp>
        <p:nvSpPr>
          <p:cNvPr id="655" name="PlaceHolder 2"/>
          <p:cNvSpPr>
            <a:spLocks noGrp="1"/>
          </p:cNvSpPr>
          <p:nvPr>
            <p:ph type="sldNum" idx="49"/>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8B7774E2-BFD6-47A4-B639-9A73218B92E5}"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5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ANNEXE B</a:t>
            </a:r>
            <a:endParaRPr b="0" lang="fr-FR" sz="1100" spc="-1" strike="noStrike">
              <a:latin typeface="Arial"/>
            </a:endParaRPr>
          </a:p>
        </p:txBody>
      </p:sp>
      <p:sp>
        <p:nvSpPr>
          <p:cNvPr id="657" name="TextBox 26"/>
          <p:cNvSpPr/>
          <p:nvPr/>
        </p:nvSpPr>
        <p:spPr>
          <a:xfrm>
            <a:off x="6976800" y="291960"/>
            <a:ext cx="4570560" cy="163800"/>
          </a:xfrm>
          <a:prstGeom prst="rect">
            <a:avLst/>
          </a:prstGeom>
          <a:noFill/>
          <a:ln w="0">
            <a:noFill/>
          </a:ln>
        </p:spPr>
        <p:style>
          <a:lnRef idx="0"/>
          <a:fillRef idx="0"/>
          <a:effectRef idx="0"/>
          <a:fontRef idx="minor"/>
        </p:style>
        <p:txBody>
          <a:bodyPr lIns="0" rIns="0" tIns="0" bIns="0" anchor="ctr">
            <a:spAutoFit/>
          </a:bodyPr>
          <a:p>
            <a:pPr algn="r">
              <a:lnSpc>
                <a:spcPct val="108000"/>
              </a:lnSpc>
              <a:spcAft>
                <a:spcPts val="400"/>
              </a:spcAft>
              <a:buNone/>
            </a:pPr>
            <a:r>
              <a:rPr b="1" lang="fr-FR" sz="1000" spc="109" strike="noStrike">
                <a:solidFill>
                  <a:srgbClr val="0f9b8e"/>
                </a:solidFill>
                <a:latin typeface="Inter"/>
                <a:ea typeface="DejaVu Sans"/>
              </a:rPr>
              <a:t>CRITÈRE : GOUVERNANCE ET DÉCISION · 15 %</a:t>
            </a:r>
            <a:endParaRPr b="0" lang="fr-FR" sz="1000" spc="-1" strike="noStrike">
              <a:latin typeface="Arial"/>
            </a:endParaRPr>
          </a:p>
        </p:txBody>
      </p:sp>
      <p:sp>
        <p:nvSpPr>
          <p:cNvPr id="658" name="Attendu"/>
          <p:cNvSpPr/>
          <p:nvPr/>
        </p:nvSpPr>
        <p:spPr>
          <a:xfrm>
            <a:off x="640080" y="1325880"/>
            <a:ext cx="10907280" cy="103140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59" name="Attendu barre"/>
          <p:cNvSpPr/>
          <p:nvPr/>
        </p:nvSpPr>
        <p:spPr>
          <a:xfrm>
            <a:off x="640080" y="1325880"/>
            <a:ext cx="81000" cy="103140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60" name="Icône target" descr="Icône target"/>
          <p:cNvPicPr/>
          <p:nvPr/>
        </p:nvPicPr>
        <p:blipFill>
          <a:blip r:embed="rId1"/>
          <a:stretch/>
        </p:blipFill>
        <p:spPr>
          <a:xfrm>
            <a:off x="896040" y="1435680"/>
            <a:ext cx="272880" cy="272880"/>
          </a:xfrm>
          <a:prstGeom prst="rect">
            <a:avLst/>
          </a:prstGeom>
          <a:ln w="0">
            <a:noFill/>
          </a:ln>
        </p:spPr>
      </p:pic>
      <p:sp>
        <p:nvSpPr>
          <p:cNvPr id="661" name="TextBox 30"/>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62" name="TextBox 31"/>
          <p:cNvSpPr/>
          <p:nvPr/>
        </p:nvSpPr>
        <p:spPr>
          <a:xfrm>
            <a:off x="914400" y="1783080"/>
            <a:ext cx="10358640" cy="213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Une ligne par story : </a:t>
            </a:r>
            <a:r>
              <a:rPr b="1" lang="fr-FR" sz="1300" spc="-1" strike="noStrike">
                <a:solidFill>
                  <a:srgbClr val="f5a623"/>
                </a:solidFill>
                <a:latin typeface="Inter"/>
                <a:ea typeface="DejaVu Sans"/>
              </a:rPr>
              <a:t>statut</a:t>
            </a:r>
            <a:r>
              <a:rPr b="0" lang="fr-FR" sz="1300" spc="-1" strike="noStrike">
                <a:solidFill>
                  <a:srgbClr val="f7f6f2"/>
                </a:solidFill>
                <a:latin typeface="Inter"/>
                <a:ea typeface="DejaVu Sans"/>
              </a:rPr>
              <a:t> (Fait, En cours, Bloqué, À faire) et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 (chemin du dépôt). Pas de preuve, pas de « Fait ».</a:t>
            </a:r>
            <a:endParaRPr b="0" lang="fr-FR" sz="1300" spc="-1" strike="noStrike">
              <a:latin typeface="Arial"/>
            </a:endParaRPr>
          </a:p>
        </p:txBody>
      </p:sp>
      <p:graphicFrame>
        <p:nvGraphicFramePr>
          <p:cNvPr id="663" name="Table 32"/>
          <p:cNvGraphicFramePr/>
          <p:nvPr/>
        </p:nvGraphicFramePr>
        <p:xfrm>
          <a:off x="640080" y="2541600"/>
          <a:ext cx="10908360" cy="2468520"/>
        </p:xfrm>
        <a:graphic>
          <a:graphicData uri="http://schemas.openxmlformats.org/drawingml/2006/table">
            <a:tbl>
              <a:tblPr/>
              <a:tblGrid>
                <a:gridCol w="1097280"/>
                <a:gridCol w="2560320"/>
                <a:gridCol w="1005840"/>
                <a:gridCol w="1188720"/>
                <a:gridCol w="1188720"/>
                <a:gridCol w="3867840"/>
              </a:tblGrid>
              <a:tr h="411480">
                <a:tc>
                  <a:txBody>
                    <a:bodyPr lIns="73080" rIns="73080" anchor="ctr">
                      <a:noAutofit/>
                    </a:bodyPr>
                    <a:p>
                      <a:pPr>
                        <a:lnSpc>
                          <a:spcPct val="100000"/>
                        </a:lnSpc>
                        <a:buNone/>
                      </a:pPr>
                      <a:r>
                        <a:rPr b="1" lang="en-US" sz="1100" spc="49" strike="noStrike">
                          <a:solidFill>
                            <a:srgbClr val="f5a623"/>
                          </a:solidFill>
                          <a:latin typeface="Inter"/>
                        </a:rPr>
                        <a:t>Séance</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Stories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Faites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En cours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Bloquées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Preuves principales (chemins)</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411480">
                <a:tc>
                  <a:txBody>
                    <a:bodyPr lIns="73080" rIns="73080" anchor="ctr">
                      <a:noAutofit/>
                    </a:bodyPr>
                    <a:p>
                      <a:pPr>
                        <a:lnSpc>
                          <a:spcPct val="100000"/>
                        </a:lnSpc>
                        <a:buNone/>
                      </a:pPr>
                      <a:r>
                        <a:rPr b="1" lang="en-US" sz="1200" spc="-1" strike="noStrike">
                          <a:solidFill>
                            <a:srgbClr val="f7f6f2"/>
                          </a:solidFill>
                          <a:latin typeface="Inter"/>
                        </a:rPr>
                        <a:t>S1</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US-01 à 04, 06, 07, 09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S2</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US-10, 11, 13, 15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S3</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US-12, 14, 16 à 19</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S4</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7f6f2"/>
                          </a:solidFill>
                          <a:latin typeface="Inter"/>
                        </a:rPr>
                        <a:t>US-21 à 25, 27, 28</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411480">
                <a:tc>
                  <a:txBody>
                    <a:bodyPr lIns="73080" rIns="73080" anchor="ctr">
                      <a:noAutofit/>
                    </a:bodyPr>
                    <a:p>
                      <a:pPr>
                        <a:lnSpc>
                          <a:spcPct val="100000"/>
                        </a:lnSpc>
                        <a:buNone/>
                      </a:pPr>
                      <a:r>
                        <a:rPr b="1" lang="en-US" sz="1200" spc="-1" strike="noStrike">
                          <a:solidFill>
                            <a:srgbClr val="f7f6f2"/>
                          </a:solidFill>
                          <a:latin typeface="Inter"/>
                        </a:rPr>
                        <a:t>S5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7f6f2"/>
                          </a:solidFill>
                          <a:latin typeface="Inter"/>
                        </a:rPr>
                        <a:t>US-29 à 32, 34, 35</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
        <p:nvSpPr>
          <p:cNvPr id="664" name="TextBox 33"/>
          <p:cNvSpPr/>
          <p:nvPr/>
        </p:nvSpPr>
        <p:spPr>
          <a:xfrm>
            <a:off x="640080" y="5101920"/>
            <a:ext cx="10907280" cy="180360"/>
          </a:xfrm>
          <a:prstGeom prst="rect">
            <a:avLst/>
          </a:prstGeom>
          <a:noFill/>
          <a:ln w="0">
            <a:noFill/>
          </a:ln>
        </p:spPr>
        <p:style>
          <a:lnRef idx="0"/>
          <a:fillRef idx="0"/>
          <a:effectRef idx="0"/>
          <a:fontRef idx="minor"/>
        </p:style>
        <p:txBody>
          <a:bodyPr lIns="0" rIns="0" tIns="0" bIns="0" anchor="t">
            <a:spAutoFit/>
          </a:bodyPr>
          <a:p>
            <a:pPr>
              <a:lnSpc>
                <a:spcPct val="108000"/>
              </a:lnSpc>
              <a:spcAft>
                <a:spcPts val="400"/>
              </a:spcAft>
              <a:buNone/>
            </a:pPr>
            <a:r>
              <a:rPr b="0" i="1" lang="fr-FR" sz="1100" spc="-1" strike="noStrike">
                <a:solidFill>
                  <a:srgbClr val="8e99a4"/>
                </a:solidFill>
                <a:latin typeface="Inter"/>
                <a:ea typeface="DejaVu Sans"/>
              </a:rPr>
              <a:t>Le détail story par story est dans AVANCEMENT.md à la racine du dépôt.</a:t>
            </a:r>
            <a:endParaRPr b="0" lang="fr-FR" sz="1100" spc="-1" strike="noStrike">
              <a:latin typeface="Arial"/>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5"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Dépôt Git et étiquettes</a:t>
            </a:r>
            <a:endParaRPr b="0" lang="fr-FR" sz="2800" spc="-1" strike="noStrike">
              <a:latin typeface="Arial"/>
            </a:endParaRPr>
          </a:p>
        </p:txBody>
      </p:sp>
      <p:sp>
        <p:nvSpPr>
          <p:cNvPr id="666" name="PlaceHolder 2"/>
          <p:cNvSpPr>
            <a:spLocks noGrp="1"/>
          </p:cNvSpPr>
          <p:nvPr>
            <p:ph type="sldNum" idx="50"/>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FB94D134-81E1-44FD-9614-4D2771720B5D}"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67"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ANNEXE C</a:t>
            </a:r>
            <a:endParaRPr b="0" lang="fr-FR" sz="1100" spc="-1" strike="noStrike">
              <a:latin typeface="Arial"/>
            </a:endParaRPr>
          </a:p>
        </p:txBody>
      </p:sp>
      <p:sp>
        <p:nvSpPr>
          <p:cNvPr id="668"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69"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70" name="Icône target" descr="Icône target"/>
          <p:cNvPicPr/>
          <p:nvPr/>
        </p:nvPicPr>
        <p:blipFill>
          <a:blip r:embed="rId1"/>
          <a:stretch/>
        </p:blipFill>
        <p:spPr>
          <a:xfrm>
            <a:off x="896040" y="1435680"/>
            <a:ext cx="272880" cy="272880"/>
          </a:xfrm>
          <a:prstGeom prst="rect">
            <a:avLst/>
          </a:prstGeom>
          <a:ln w="0">
            <a:noFill/>
          </a:ln>
        </p:spPr>
      </p:pic>
      <p:sp>
        <p:nvSpPr>
          <p:cNvPr id="671"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SUR CETTE PAGE</a:t>
            </a:r>
            <a:endParaRPr b="0" lang="fr-FR" sz="1200" spc="-1" strike="noStrike">
              <a:latin typeface="Arial"/>
            </a:endParaRPr>
          </a:p>
        </p:txBody>
      </p:sp>
      <p:sp>
        <p:nvSpPr>
          <p:cNvPr id="672" name="TextBox 30"/>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L'</a:t>
            </a:r>
            <a:r>
              <a:rPr b="1" lang="fr-FR" sz="1300" spc="-1" strike="noStrike">
                <a:solidFill>
                  <a:srgbClr val="f5a623"/>
                </a:solidFill>
                <a:latin typeface="Inter"/>
                <a:ea typeface="DejaVu Sans"/>
              </a:rPr>
              <a:t>adresse du dépôt</a:t>
            </a:r>
            <a:r>
              <a:rPr b="0" lang="fr-FR" sz="1300" spc="-1" strike="noStrike">
                <a:solidFill>
                  <a:srgbClr val="f7f6f2"/>
                </a:solidFill>
                <a:latin typeface="Inter"/>
                <a:ea typeface="DejaVu Sans"/>
              </a:rPr>
              <a:t> et les </a:t>
            </a:r>
            <a:r>
              <a:rPr b="1" lang="fr-FR" sz="1300" spc="-1" strike="noStrike">
                <a:solidFill>
                  <a:srgbClr val="f5a623"/>
                </a:solidFill>
                <a:latin typeface="Inter"/>
                <a:ea typeface="DejaVu Sans"/>
              </a:rPr>
              <a:t>étiquettes</a:t>
            </a:r>
            <a:r>
              <a:rPr b="0" lang="fr-FR" sz="1300" spc="-1" strike="noStrike">
                <a:solidFill>
                  <a:srgbClr val="f7f6f2"/>
                </a:solidFill>
                <a:latin typeface="Inter"/>
                <a:ea typeface="DejaVu Sans"/>
              </a:rPr>
              <a:t> posées : seance-1 à seance-5 et rendu-final.</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Aucun fichier interdit dans le dépôt (data/, CSV, sauvegardes, .env).</a:t>
            </a:r>
            <a:endParaRPr b="0" lang="fr-FR" sz="1300" spc="-1" strike="noStrike">
              <a:latin typeface="Arial"/>
            </a:endParaRPr>
          </a:p>
        </p:txBody>
      </p:sp>
      <p:graphicFrame>
        <p:nvGraphicFramePr>
          <p:cNvPr id="673" name="Table 31"/>
          <p:cNvGraphicFramePr/>
          <p:nvPr/>
        </p:nvGraphicFramePr>
        <p:xfrm>
          <a:off x="640080" y="2579760"/>
          <a:ext cx="10908360" cy="2925720"/>
        </p:xfrm>
        <a:graphic>
          <a:graphicData uri="http://schemas.openxmlformats.org/drawingml/2006/table">
            <a:tbl>
              <a:tblPr/>
              <a:tblGrid>
                <a:gridCol w="4023360"/>
                <a:gridCol w="6885360"/>
              </a:tblGrid>
              <a:tr h="365760">
                <a:tc>
                  <a:txBody>
                    <a:bodyPr lIns="73080" rIns="73080" anchor="ctr">
                      <a:noAutofit/>
                    </a:bodyPr>
                    <a:p>
                      <a:pPr>
                        <a:lnSpc>
                          <a:spcPct val="100000"/>
                        </a:lnSpc>
                        <a:buNone/>
                      </a:pPr>
                      <a:r>
                        <a:rPr b="1" lang="en-US" sz="1100" spc="49" strike="noStrike">
                          <a:solidFill>
                            <a:srgbClr val="f5a623"/>
                          </a:solidFill>
                          <a:latin typeface="Inter"/>
                        </a:rPr>
                        <a:t>Élément</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c>
                  <a:txBody>
                    <a:bodyPr lIns="73080" rIns="73080" anchor="ctr">
                      <a:noAutofit/>
                    </a:bodyPr>
                    <a:p>
                      <a:pPr>
                        <a:lnSpc>
                          <a:spcPct val="100000"/>
                        </a:lnSpc>
                        <a:buNone/>
                      </a:pPr>
                      <a:r>
                        <a:rPr b="1" lang="en-US" sz="1100" spc="49" strike="noStrike">
                          <a:solidFill>
                            <a:srgbClr val="f5a623"/>
                          </a:solidFill>
                          <a:latin typeface="Inter"/>
                        </a:rPr>
                        <a:t>Valeur</a:t>
                      </a:r>
                      <a:endParaRPr b="0" lang="fr-FR" sz="11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a4156"/>
                    </a:solidFill>
                  </a:tcPr>
                </a:tc>
              </a:tr>
              <a:tr h="365760">
                <a:tc>
                  <a:txBody>
                    <a:bodyPr lIns="73080" rIns="73080" anchor="ctr">
                      <a:noAutofit/>
                    </a:bodyPr>
                    <a:p>
                      <a:pPr>
                        <a:lnSpc>
                          <a:spcPct val="100000"/>
                        </a:lnSpc>
                        <a:buNone/>
                      </a:pPr>
                      <a:r>
                        <a:rPr b="1" lang="en-US" sz="1200" spc="-1" strike="noStrike">
                          <a:solidFill>
                            <a:srgbClr val="f7f6f2"/>
                          </a:solidFill>
                          <a:latin typeface="Inter"/>
                        </a:rPr>
                        <a:t>Adresse du dépôt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seance-1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seance-2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seance-3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seance-4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seance-5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0d1b2a"/>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r h="365760">
                <a:tc>
                  <a:txBody>
                    <a:bodyPr lIns="73080" rIns="73080" anchor="ctr">
                      <a:noAutofit/>
                    </a:bodyPr>
                    <a:p>
                      <a:pPr>
                        <a:lnSpc>
                          <a:spcPct val="100000"/>
                        </a:lnSpc>
                        <a:buNone/>
                      </a:pPr>
                      <a:r>
                        <a:rPr b="1" lang="en-US" sz="1200" spc="-1" strike="noStrike">
                          <a:solidFill>
                            <a:srgbClr val="f7f6f2"/>
                          </a:solidFill>
                          <a:latin typeface="Inter"/>
                        </a:rPr>
                        <a:t>Étiquette rendu-final (date)</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1c2e3d"/>
                    </a:solidFill>
                  </a:tcPr>
                </a:tc>
                <a:tc>
                  <a:txBody>
                    <a:bodyPr lIns="73080" rIns="73080" anchor="ctr">
                      <a:noAutofit/>
                    </a:bodyPr>
                    <a:p>
                      <a:pPr>
                        <a:lnSpc>
                          <a:spcPct val="100000"/>
                        </a:lnSpc>
                        <a:buNone/>
                      </a:pPr>
                      <a:r>
                        <a:rPr b="0" lang="en-US" sz="1200" spc="-1" strike="noStrike">
                          <a:solidFill>
                            <a:srgbClr val="f5a623"/>
                          </a:solidFill>
                          <a:latin typeface="Inter"/>
                        </a:rPr>
                        <a:t>…</a:t>
                      </a:r>
                      <a:endParaRPr b="0" lang="fr-FR" sz="1200" spc="-1" strike="noStrike">
                        <a:latin typeface="Arial"/>
                      </a:endParaRPr>
                    </a:p>
                  </a:txBody>
                  <a:tcPr anchor="ctr" marL="73080" marR="73080">
                    <a:lnL w="6480">
                      <a:solidFill>
                        <a:srgbClr val="2a4156"/>
                      </a:solidFill>
                    </a:lnL>
                    <a:lnR w="6480">
                      <a:solidFill>
                        <a:srgbClr val="2a4156"/>
                      </a:solidFill>
                    </a:lnR>
                    <a:lnT w="6480">
                      <a:solidFill>
                        <a:srgbClr val="2a4156"/>
                      </a:solidFill>
                    </a:lnT>
                    <a:lnB w="6480">
                      <a:solidFill>
                        <a:srgbClr val="2a4156"/>
                      </a:solidFill>
                    </a:lnB>
                    <a:solidFill>
                      <a:srgbClr val="2e2916"/>
                    </a:solidFill>
                  </a:tcPr>
                </a:tc>
              </a:tr>
            </a:tbl>
          </a:graphicData>
        </a:graphic>
      </p:graphicFrame>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640080" y="502920"/>
            <a:ext cx="10907280" cy="730080"/>
          </a:xfrm>
          <a:prstGeom prst="rect">
            <a:avLst/>
          </a:prstGeom>
          <a:noFill/>
          <a:ln w="0">
            <a:noFill/>
          </a:ln>
        </p:spPr>
        <p:txBody>
          <a:bodyPr lIns="0" rIns="0" tIns="0" bIns="0" anchor="t">
            <a:noAutofit/>
          </a:bodyPr>
          <a:p>
            <a:pPr>
              <a:lnSpc>
                <a:spcPct val="100000"/>
              </a:lnSpc>
              <a:buNone/>
              <a:tabLst>
                <a:tab algn="l" pos="0"/>
              </a:tabLst>
            </a:pPr>
            <a:r>
              <a:rPr b="0" lang="en-US" sz="2800" spc="-1" strike="noStrike">
                <a:solidFill>
                  <a:srgbClr val="f7f6f2"/>
                </a:solidFill>
                <a:latin typeface="Fraunces SemiBold"/>
                <a:ea typeface="Fraunces SemiBold"/>
              </a:rPr>
              <a:t>Liste de contrôle du rendu final</a:t>
            </a:r>
            <a:endParaRPr b="0" lang="fr-FR" sz="2800" spc="-1" strike="noStrike">
              <a:latin typeface="Arial"/>
            </a:endParaRPr>
          </a:p>
        </p:txBody>
      </p:sp>
      <p:sp>
        <p:nvSpPr>
          <p:cNvPr id="675" name="PlaceHolder 2"/>
          <p:cNvSpPr>
            <a:spLocks noGrp="1"/>
          </p:cNvSpPr>
          <p:nvPr>
            <p:ph type="sldNum" idx="51"/>
          </p:nvPr>
        </p:nvSpPr>
        <p:spPr>
          <a:xfrm>
            <a:off x="10820160" y="6309360"/>
            <a:ext cx="730080" cy="291240"/>
          </a:xfrm>
          <a:prstGeom prst="rect">
            <a:avLst/>
          </a:prstGeom>
          <a:noFill/>
          <a:ln w="0">
            <a:noFill/>
          </a:ln>
        </p:spPr>
        <p:txBody>
          <a:bodyPr lIns="90000" rIns="90000" tIns="45000" bIns="45000" anchor="t">
            <a:noAutofit/>
          </a:bodyPr>
          <a:lstStyle>
            <a:lvl1pPr algn="r">
              <a:lnSpc>
                <a:spcPct val="100000"/>
              </a:lnSpc>
              <a:buNone/>
              <a:defRPr b="0" lang="en-US" sz="1000" spc="-1" strike="noStrike">
                <a:solidFill>
                  <a:srgbClr val="8e99a4"/>
                </a:solidFill>
                <a:latin typeface="Inter"/>
                <a:ea typeface="Inter"/>
              </a:defRPr>
            </a:lvl1pPr>
          </a:lstStyle>
          <a:p>
            <a:pPr algn="r">
              <a:lnSpc>
                <a:spcPct val="100000"/>
              </a:lnSpc>
              <a:buNone/>
            </a:pPr>
            <a:fld id="{75F87958-FBED-4B40-AFDA-43694F93DCF8}" type="slidenum">
              <a:rPr b="0" lang="en-US" sz="1000" spc="-1" strike="noStrike">
                <a:solidFill>
                  <a:srgbClr val="8e99a4"/>
                </a:solidFill>
                <a:latin typeface="Inter"/>
                <a:ea typeface="Inter"/>
              </a:rPr>
              <a:t>&lt;numéro&gt;</a:t>
            </a:fld>
            <a:endParaRPr b="0" lang="fr-FR" sz="1000" spc="-1" strike="noStrike">
              <a:latin typeface="Times New Roman"/>
            </a:endParaRPr>
          </a:p>
        </p:txBody>
      </p:sp>
      <p:sp>
        <p:nvSpPr>
          <p:cNvPr id="676" name="TextBox 25"/>
          <p:cNvSpPr/>
          <p:nvPr/>
        </p:nvSpPr>
        <p:spPr>
          <a:xfrm>
            <a:off x="640080" y="283680"/>
            <a:ext cx="8045280" cy="1803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100" spc="191" strike="noStrike">
                <a:solidFill>
                  <a:srgbClr val="f5a623"/>
                </a:solidFill>
                <a:latin typeface="Inter"/>
                <a:ea typeface="DejaVu Sans"/>
              </a:rPr>
              <a:t>AVANT DE RENDRE</a:t>
            </a:r>
            <a:endParaRPr b="0" lang="fr-FR" sz="1100" spc="-1" strike="noStrike">
              <a:latin typeface="Arial"/>
            </a:endParaRPr>
          </a:p>
        </p:txBody>
      </p:sp>
      <p:sp>
        <p:nvSpPr>
          <p:cNvPr id="677" name="Attendu"/>
          <p:cNvSpPr/>
          <p:nvPr/>
        </p:nvSpPr>
        <p:spPr>
          <a:xfrm>
            <a:off x="640080" y="1325880"/>
            <a:ext cx="10907280" cy="1069560"/>
          </a:xfrm>
          <a:prstGeom prst="rect">
            <a:avLst/>
          </a:prstGeom>
          <a:solidFill>
            <a:srgbClr val="2b2616"/>
          </a:solidFill>
          <a:ln w="15875">
            <a:solidFill>
              <a:srgbClr val="f5a623"/>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78" name="Attendu barre"/>
          <p:cNvSpPr/>
          <p:nvPr/>
        </p:nvSpPr>
        <p:spPr>
          <a:xfrm>
            <a:off x="640080" y="1325880"/>
            <a:ext cx="81000" cy="1069560"/>
          </a:xfrm>
          <a:prstGeom prst="rect">
            <a:avLst/>
          </a:prstGeom>
          <a:solidFill>
            <a:srgbClr val="f5a623"/>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679" name="Icône target" descr="Icône target"/>
          <p:cNvPicPr/>
          <p:nvPr/>
        </p:nvPicPr>
        <p:blipFill>
          <a:blip r:embed="rId1"/>
          <a:stretch/>
        </p:blipFill>
        <p:spPr>
          <a:xfrm>
            <a:off x="896040" y="1435680"/>
            <a:ext cx="272880" cy="272880"/>
          </a:xfrm>
          <a:prstGeom prst="rect">
            <a:avLst/>
          </a:prstGeom>
          <a:ln w="0">
            <a:noFill/>
          </a:ln>
        </p:spPr>
      </p:pic>
      <p:sp>
        <p:nvSpPr>
          <p:cNvPr id="680" name="TextBox 29"/>
          <p:cNvSpPr/>
          <p:nvPr/>
        </p:nvSpPr>
        <p:spPr>
          <a:xfrm>
            <a:off x="1261800" y="1473480"/>
            <a:ext cx="7313760" cy="196560"/>
          </a:xfrm>
          <a:prstGeom prst="rect">
            <a:avLst/>
          </a:prstGeom>
          <a:noFill/>
          <a:ln w="0">
            <a:noFill/>
          </a:ln>
        </p:spPr>
        <p:style>
          <a:lnRef idx="0"/>
          <a:fillRef idx="0"/>
          <a:effectRef idx="0"/>
          <a:fontRef idx="minor"/>
        </p:style>
        <p:txBody>
          <a:bodyPr lIns="0" rIns="0" tIns="0" bIns="0" anchor="ctr">
            <a:spAutoFit/>
          </a:bodyPr>
          <a:p>
            <a:pPr>
              <a:lnSpc>
                <a:spcPct val="108000"/>
              </a:lnSpc>
              <a:spcAft>
                <a:spcPts val="400"/>
              </a:spcAft>
              <a:buNone/>
            </a:pPr>
            <a:r>
              <a:rPr b="1" lang="fr-FR" sz="1200" spc="128" strike="noStrike">
                <a:solidFill>
                  <a:srgbClr val="f5a623"/>
                </a:solidFill>
                <a:latin typeface="Inter"/>
                <a:ea typeface="DejaVu Sans"/>
              </a:rPr>
              <a:t>ATTENDU AVANT LE DÉPÔT</a:t>
            </a:r>
            <a:endParaRPr b="0" lang="fr-FR" sz="1200" spc="-1" strike="noStrike">
              <a:latin typeface="Arial"/>
            </a:endParaRPr>
          </a:p>
        </p:txBody>
      </p:sp>
      <p:sp>
        <p:nvSpPr>
          <p:cNvPr id="681" name="TextBox 30"/>
          <p:cNvSpPr/>
          <p:nvPr/>
        </p:nvSpPr>
        <p:spPr>
          <a:xfrm>
            <a:off x="914400" y="1783080"/>
            <a:ext cx="10358640" cy="465480"/>
          </a:xfrm>
          <a:prstGeom prst="rect">
            <a:avLst/>
          </a:prstGeom>
          <a:noFill/>
          <a:ln w="0">
            <a:noFill/>
          </a:ln>
        </p:spPr>
        <p:style>
          <a:lnRef idx="0"/>
          <a:fillRef idx="0"/>
          <a:effectRef idx="0"/>
          <a:fontRef idx="minor"/>
        </p:style>
        <p:txBody>
          <a:bodyPr lIns="0" rIns="0" tIns="0" bIns="0" anchor="t">
            <a:spAutoFit/>
          </a:bodyPr>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zone ambre</a:t>
            </a:r>
            <a:r>
              <a:rPr b="0" lang="fr-FR" sz="1300" spc="-1" strike="noStrike">
                <a:solidFill>
                  <a:srgbClr val="f7f6f2"/>
                </a:solidFill>
                <a:latin typeface="Inter"/>
                <a:ea typeface="DejaVu Sans"/>
              </a:rPr>
              <a:t> est complétée, ou le manque est </a:t>
            </a:r>
            <a:r>
              <a:rPr b="1" lang="fr-FR" sz="1300" spc="-1" strike="noStrike">
                <a:solidFill>
                  <a:srgbClr val="f5a623"/>
                </a:solidFill>
                <a:latin typeface="Inter"/>
                <a:ea typeface="DejaVu Sans"/>
              </a:rPr>
              <a:t>déclaré</a:t>
            </a:r>
            <a:r>
              <a:rPr b="0" lang="fr-FR" sz="1300" spc="-1" strike="noStrike">
                <a:solidFill>
                  <a:srgbClr val="f7f6f2"/>
                </a:solidFill>
                <a:latin typeface="Inter"/>
                <a:ea typeface="DejaVu Sans"/>
              </a:rPr>
              <a:t> dans le bilan de la séance.</a:t>
            </a:r>
            <a:endParaRPr b="0" lang="fr-FR" sz="1300" spc="-1" strike="noStrike">
              <a:latin typeface="Arial"/>
            </a:endParaRPr>
          </a:p>
          <a:p>
            <a:pPr marL="182880" indent="-182880">
              <a:lnSpc>
                <a:spcPct val="108000"/>
              </a:lnSpc>
              <a:spcAft>
                <a:spcPts val="300"/>
              </a:spcAft>
              <a:buClr>
                <a:srgbClr val="f5a623"/>
              </a:buClr>
              <a:buFont typeface="Symbol"/>
              <a:buChar char=""/>
            </a:pPr>
            <a:r>
              <a:rPr b="0" lang="fr-FR" sz="1300" spc="-1" strike="noStrike">
                <a:solidFill>
                  <a:srgbClr val="f7f6f2"/>
                </a:solidFill>
                <a:latin typeface="Inter"/>
                <a:ea typeface="DejaVu Sans"/>
              </a:rPr>
              <a:t>Chaque </a:t>
            </a:r>
            <a:r>
              <a:rPr b="1" lang="fr-FR" sz="1300" spc="-1" strike="noStrike">
                <a:solidFill>
                  <a:srgbClr val="f5a623"/>
                </a:solidFill>
                <a:latin typeface="Inter"/>
                <a:ea typeface="DejaVu Sans"/>
              </a:rPr>
              <a:t>chiffre</a:t>
            </a:r>
            <a:r>
              <a:rPr b="0" lang="fr-FR" sz="1300" spc="-1" strike="noStrike">
                <a:solidFill>
                  <a:srgbClr val="f7f6f2"/>
                </a:solidFill>
                <a:latin typeface="Inter"/>
                <a:ea typeface="DejaVu Sans"/>
              </a:rPr>
              <a:t> a sa </a:t>
            </a:r>
            <a:r>
              <a:rPr b="1" lang="fr-FR" sz="1300" spc="-1" strike="noStrike">
                <a:solidFill>
                  <a:srgbClr val="f5a623"/>
                </a:solidFill>
                <a:latin typeface="Inter"/>
                <a:ea typeface="DejaVu Sans"/>
              </a:rPr>
              <a:t>preuve</a:t>
            </a:r>
            <a:r>
              <a:rPr b="0" lang="fr-FR" sz="1300" spc="-1" strike="noStrike">
                <a:solidFill>
                  <a:srgbClr val="f7f6f2"/>
                </a:solidFill>
                <a:latin typeface="Inter"/>
                <a:ea typeface="DejaVu Sans"/>
              </a:rPr>
              <a:t> dans le dépôt.</a:t>
            </a:r>
            <a:endParaRPr b="0" lang="fr-FR" sz="1300" spc="-1" strike="noStrike">
              <a:latin typeface="Arial"/>
            </a:endParaRPr>
          </a:p>
        </p:txBody>
      </p:sp>
      <p:sp>
        <p:nvSpPr>
          <p:cNvPr id="682" name="Rectangle 31"/>
          <p:cNvSpPr/>
          <p:nvPr/>
        </p:nvSpPr>
        <p:spPr>
          <a:xfrm>
            <a:off x="640080" y="2579760"/>
            <a:ext cx="10907280" cy="3545280"/>
          </a:xfrm>
          <a:prstGeom prst="rect">
            <a:avLst/>
          </a:prstGeom>
          <a:solidFill>
            <a:srgbClr val="1c2e3d"/>
          </a:solidFill>
          <a:ln>
            <a:solidFill>
              <a:srgbClr val="2a4156"/>
            </a:solid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683" name="TextBox 32"/>
          <p:cNvSpPr/>
          <p:nvPr/>
        </p:nvSpPr>
        <p:spPr>
          <a:xfrm>
            <a:off x="914400" y="2762640"/>
            <a:ext cx="10331280" cy="2296800"/>
          </a:xfrm>
          <a:prstGeom prst="rect">
            <a:avLst/>
          </a:prstGeom>
          <a:noFill/>
          <a:ln w="0">
            <a:noFill/>
          </a:ln>
        </p:spPr>
        <p:style>
          <a:lnRef idx="0"/>
          <a:fillRef idx="0"/>
          <a:effectRef idx="0"/>
          <a:fontRef idx="minor"/>
        </p:style>
        <p:txBody>
          <a:bodyPr lIns="0" rIns="0" tIns="0" bIns="0" anchor="t">
            <a:spAutoFit/>
          </a:bodyPr>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Couverture : numéro du groupe, noms, date.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Équipe : rôles par séance et contribution de chaque membre.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Chaque page de séance : chiffres mesurés, preuve citée, conséquence attribuée à un rôle.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Les cinq bilans de séance : critères cochés avec preuve, difficultés chiffrées en temps.</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Journal des décisions identique à celui du dépôt.</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Dossier go/no-go : recommandation, preuves, écarts, décision signée.</a:t>
            </a:r>
            <a:endParaRPr b="0" lang="fr-FR" sz="1400" spc="-1" strike="noStrike">
              <a:latin typeface="Arial"/>
            </a:endParaRPr>
          </a:p>
          <a:p>
            <a:pPr>
              <a:lnSpc>
                <a:spcPct val="108000"/>
              </a:lnSpc>
              <a:spcAft>
                <a:spcPts val="901"/>
              </a:spcAft>
              <a:buNone/>
            </a:pPr>
            <a:r>
              <a:rPr b="0" lang="fr-FR" sz="1400" spc="-1" strike="noStrike">
                <a:solidFill>
                  <a:srgbClr val="f7f6f2"/>
                </a:solidFill>
                <a:latin typeface="Consolas"/>
                <a:ea typeface="DejaVu Sans"/>
              </a:rPr>
              <a:t>[ ]</a:t>
            </a:r>
            <a:r>
              <a:rPr b="0" lang="fr-FR" sz="1400" spc="-1" strike="noStrike">
                <a:solidFill>
                  <a:srgbClr val="f7f6f2"/>
                </a:solidFill>
                <a:latin typeface="Inter"/>
                <a:ea typeface="DejaVu Sans"/>
              </a:rPr>
              <a:t> Étiquette rendu-final posée et poussée ; export PDF du livrable joint au dépôt.</a:t>
            </a:r>
            <a:endParaRPr b="0" lang="fr-FR" sz="14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b8c0c8"/>
      </a:dk2>
      <a:lt2>
        <a:srgbClr val="1c2e3d"/>
      </a:lt2>
      <a:accent1>
        <a:srgbClr val="f5a623"/>
      </a:accent1>
      <a:accent2>
        <a:srgbClr val="f5a623"/>
      </a:accent2>
      <a:accent3>
        <a:srgbClr val="8e99a4"/>
      </a:accent3>
      <a:accent4>
        <a:srgbClr val="5e6e7c"/>
      </a:accent4>
      <a:accent5>
        <a:srgbClr val="b8c0c8"/>
      </a:accent5>
      <a:accent6>
        <a:srgbClr val="f7f6f2"/>
      </a:accent6>
      <a:hlink>
        <a:srgbClr val="f5a623"/>
      </a:hlink>
      <a:folHlink>
        <a:srgbClr val="8e99a4"/>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83</TotalTime>
  <Application>LibreOffice/7.3.1.3$Windows_X86_64 LibreOffice_project/a69ca51ded25f3eefd52d7bf9a5fad8c90b87951</Application>
  <AppVersion>15.0000</AppVersion>
  <Words>0</Words>
  <Paragraphs>0</Paragraphs>
  <Company>Decimal Insights Consulting</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2026-10-12T11:18:29Z</dcterms:created>
  <dc:creator>Decimal Insights Consulting</dc:creator>
  <dc:description/>
  <dc:language>fr-FR</dc:language>
  <cp:lastModifiedBy/>
  <dcterms:modified xsi:type="dcterms:W3CDTF">2026-10-16T11:13:18Z</dcterms:modified>
  <cp:revision>34</cp:revision>
  <dc:subject>Gouvernance, profilage et qualité des données</dc:subject>
  <dc:title>Livrable de groupe : TD AssurConnect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8</vt:i4>
  </property>
  <property fmtid="{D5CDD505-2E9C-101B-9397-08002B2CF9AE}" pid="3" name="PresentationFormat">
    <vt:lpwstr>On-screen Show (16:9)</vt:lpwstr>
  </property>
  <property fmtid="{D5CDD505-2E9C-101B-9397-08002B2CF9AE}" pid="4" name="Slides">
    <vt:i4>8</vt:i4>
  </property>
</Properties>
</file>