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2.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37.xml" ContentType="application/vnd.openxmlformats-officedocument.theme+xml"/>
  <Override PartName="/ppt/slideLayouts/slideLayout1.xml" ContentType="application/vnd.openxmlformats-officedocument.presentationml.slideLayout+xml"/>
  <Override PartName="/ppt/slideLayouts/slideLayout3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9.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6.xml" ContentType="application/vnd.openxmlformats-officedocument.presentationml.slideLayout+xml"/>
  <Override PartName="/ppt/slideLayouts/slideLayout20.xml" ContentType="application/vnd.openxmlformats-officedocument.presentationml.slideLayout+xml"/>
  <Override PartName="/ppt/slideLayouts/slideLayout11.xml" ContentType="application/vnd.openxmlformats-officedocument.presentationml.slideLayout+xml"/>
  <Override PartName="/ppt/slideLayouts/slideLayout22.xml" ContentType="application/vnd.openxmlformats-officedocument.presentationml.slideLayout+xml"/>
  <Override PartName="/ppt/slideLayouts/slideLayout25.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28.xml" ContentType="application/vnd.openxmlformats-officedocument.presentationml.slideLayout+xml"/>
  <Override PartName="/ppt/slideLayouts/slideLayout34.xml" ContentType="application/vnd.openxmlformats-officedocument.presentationml.slideLayout+xml"/>
  <Override PartName="/ppt/slideLayouts/slideLayout29.xml" ContentType="application/vnd.openxmlformats-officedocument.presentationml.slideLayout+xml"/>
  <Override PartName="/ppt/slideLayouts/slideLayout26.xml" ContentType="application/vnd.openxmlformats-officedocument.presentationml.slideLayout+xml"/>
  <Override PartName="/ppt/slideLayouts/slideLayout31.xml" ContentType="application/vnd.openxmlformats-officedocument.presentationml.slideLayout+xml"/>
  <Override PartName="/ppt/slideLayouts/slideLayout27.xml" ContentType="application/vnd.openxmlformats-officedocument.presentationml.slideLayout+xml"/>
  <Override PartName="/ppt/slideLayouts/slideLayout30.xml" ContentType="application/vnd.openxmlformats-officedocument.presentationml.slideLayout+xml"/>
  <Override PartName="/ppt/slideLayouts/slideLayout21.xml" ContentType="application/vnd.openxmlformats-officedocument.presentationml.slideLayout+xml"/>
  <Override PartName="/ppt/slideLayouts/slideLayout2.xml" ContentType="application/vnd.openxmlformats-officedocument.presentationml.slideLayout+xml"/>
  <Override PartName="/ppt/slideLayouts/slideLayout12.xml" ContentType="application/vnd.openxmlformats-officedocument.presentationml.slideLayout+xml"/>
  <Override PartName="/ppt/slideLayouts/slideLayout24.xml" ContentType="application/vnd.openxmlformats-officedocument.presentationml.slideLayout+xml"/>
  <Override PartName="/ppt/slideLayouts/slideLayout32.xml" ContentType="application/vnd.openxmlformats-officedocument.presentationml.slideLayout+xml"/>
  <Override PartName="/ppt/slideLayouts/slideLayout16.xml" ContentType="application/vnd.openxmlformats-officedocument.presentationml.slideLayout+xml"/>
  <Override PartName="/ppt/slideLayouts/slideLayout35.xml" ContentType="application/vnd.openxmlformats-officedocument.presentationml.slideLayout+xml"/>
  <Override PartName="/ppt/slideLayouts/slideLayout15.xml" ContentType="application/vnd.openxmlformats-officedocument.presentationml.slideLayout+xml"/>
  <Override PartName="/ppt/slideLayouts/slideLayout19.xml" ContentType="application/vnd.openxmlformats-officedocument.presentationml.slideLayout+xml"/>
  <Override PartName="/ppt/slideLayouts/slideLayout33.xml" ContentType="application/vnd.openxmlformats-officedocument.presentationml.slideLayout+xml"/>
  <Override PartName="/ppt/slideMasters/slideMaster1.xml" ContentType="application/vnd.openxmlformats-officedocument.presentationml.slideMaster+xml"/>
  <Override PartName="/ppt/slideMasters/slideMaster25.xml" ContentType="application/vnd.openxmlformats-officedocument.presentationml.slideMaster+xml"/>
  <Override PartName="/ppt/slideMasters/slideMaster13.xml" ContentType="application/vnd.openxmlformats-officedocument.presentationml.slideMaster+xml"/>
  <Override PartName="/ppt/slides/slide38.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5.xml" ContentType="application/vnd.openxmlformats-officedocument.presentationml.slide+xml"/>
  <Override PartName="/ppt/slides/slide33.xml" ContentType="application/vnd.openxmlformats-officedocument.presentationml.slide+xml"/>
  <Override PartName="/ppt/slides/slide2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slides/slide2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8.xml" ContentType="application/vnd.openxmlformats-officedocument.presentationml.slide+xml"/>
  <Override PartName="/ppt/slides/slide36.xml" ContentType="application/vnd.openxmlformats-officedocument.presentationml.slide+xml"/>
  <Override PartName="/ppt/slides/slide1.xml" ContentType="application/vnd.openxmlformats-officedocument.presentationml.slide+xml"/>
  <Override PartName="/ppt/slides/slide13.xml" ContentType="application/vnd.openxmlformats-officedocument.presentationml.slide+xml"/>
  <Override PartName="/ppt/slides/slide23.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27.xml" ContentType="application/vnd.openxmlformats-officedocument.presentationml.slide+xml"/>
  <Override PartName="/ppt/slides/slide30.xml" ContentType="application/vnd.openxmlformats-officedocument.presentationml.slide+xml"/>
  <Override PartName="/ppt/slides/slide19.xml" ContentType="application/vnd.openxmlformats-officedocument.presentationml.slide+xml"/>
  <Override PartName="/ppt/slides/slide25.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22.xml" ContentType="application/vnd.openxmlformats-officedocument.presentationml.slide+xml"/>
  <Override PartName="/ppt/slides/slide29.xml" ContentType="application/vnd.openxmlformats-officedocument.presentationml.slide+xml"/>
  <Override PartName="/ppt/slides/slide35.xml" ContentType="application/vnd.openxmlformats-officedocument.presentationml.slide+xml"/>
  <Override PartName="/ppt/slides/slide10.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34.xml" ContentType="application/vnd.openxmlformats-officedocument.presentationml.slide+xml"/>
  <Override PartName="/ppt/slides/slide41.xml" ContentType="application/vnd.openxmlformats-officedocument.presentationml.slide+xml"/>
  <Override PartName="/ppt/slides/slide47.xml" ContentType="application/vnd.openxmlformats-officedocument.presentationml.slide+xml"/>
  <Override PartName="/ppt/slides/slide42.xml" ContentType="application/vnd.openxmlformats-officedocument.presentationml.slide+xml"/>
  <Override PartName="/ppt/slides/slide31.xml" ContentType="application/vnd.openxmlformats-officedocument.presentationml.slide+xml"/>
  <Override PartName="/ppt/slides/slide8.xml" ContentType="application/vnd.openxmlformats-officedocument.presentationml.slide+xml"/>
  <Override PartName="/ppt/slides/slide43.xml" ContentType="application/vnd.openxmlformats-officedocument.presentationml.slide+xml"/>
  <Override PartName="/ppt/slides/slide26.xml" ContentType="application/vnd.openxmlformats-officedocument.presentationml.slide+xml"/>
  <Override PartName="/ppt/slides/slide24.xml" ContentType="application/vnd.openxmlformats-officedocument.presentationml.slide+xml"/>
  <Override PartName="/ppt/slides/slide3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notesSlides/notesSlide47.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2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9.xml" ContentType="application/vnd.openxmlformats-officedocument.presentationml.notesSlide+xml"/>
  <Override PartName="/ppt/notesSlides/notesSlide37.xml" ContentType="application/vnd.openxmlformats-officedocument.presentationml.notesSlide+xml"/>
  <Override PartName="/ppt/notesSlides/notesSlide24.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6.xml" ContentType="application/vnd.openxmlformats-officedocument.presentationml.notesSlide+xml"/>
  <Override PartName="/ppt/notesSlides/notesSlide38.xml" ContentType="application/vnd.openxmlformats-officedocument.presentationml.notesSlide+xml"/>
  <Override PartName="/ppt/notesSlides/notesSlide17.xml" ContentType="application/vnd.openxmlformats-officedocument.presentationml.notesSlide+xml"/>
  <Override PartName="/ppt/notesSlides/notesSlide23.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9.xml" ContentType="application/vnd.openxmlformats-officedocument.presentationml.notesSlide+xml"/>
  <Override PartName="/ppt/notesSlides/notesSlide40.xml" ContentType="application/vnd.openxmlformats-officedocument.presentationml.notesSlide+xml"/>
  <Override PartName="/ppt/notesSlides/notesSlide29.xml" ContentType="application/vnd.openxmlformats-officedocument.presentationml.notesSlide+xml"/>
  <Override PartName="/ppt/notesSlides/notesSlide2.xml" ContentType="application/vnd.openxmlformats-officedocument.presentationml.notesSlide+xml"/>
  <Override PartName="/ppt/notesSlides/notesSlide28.xml" ContentType="application/vnd.openxmlformats-officedocument.presentationml.notesSlide+xml"/>
  <Override PartName="/ppt/notesSlides/notesSlide32.xml" ContentType="application/vnd.openxmlformats-officedocument.presentationml.notesSlide+xml"/>
  <Override PartName="/ppt/notesSlides/notesSlide43.xml" ContentType="application/vnd.openxmlformats-officedocument.presentationml.notesSlide+xml"/>
  <Override PartName="/ppt/notesSlides/notesSlide36.xml" ContentType="application/vnd.openxmlformats-officedocument.presentationml.notesSlide+xml"/>
  <Override PartName="/ppt/notesSlides/notesSlide34.xml" ContentType="application/vnd.openxmlformats-officedocument.presentationml.notesSlide+xml"/>
  <Override PartName="/ppt/notesSlides/notesSlide41.xml" ContentType="application/vnd.openxmlformats-officedocument.presentationml.notesSlide+xml"/>
  <Override PartName="/ppt/notesSlides/notesSlide33.xml" ContentType="application/vnd.openxmlformats-officedocument.presentationml.notesSlide+xml"/>
  <Override PartName="/ppt/notesSlides/notesSlide25.xml" ContentType="application/vnd.openxmlformats-officedocument.presentationml.notesSlide+xml"/>
  <Override PartName="/ppt/notesSlides/notesSlide22.xml" ContentType="application/vnd.openxmlformats-officedocument.presentationml.notesSlide+xml"/>
  <Override PartName="/ppt/notesSlides/notesSlide18.xml" ContentType="application/vnd.openxmlformats-officedocument.presentationml.notesSlide+xml"/>
  <Override PartName="/ppt/notesSlides/notesSlide35.xml" ContentType="application/vnd.openxmlformats-officedocument.presentationml.notesSlide+xml"/>
  <Override PartName="/ppt/notesSlides/notesSlide30.xml" ContentType="application/vnd.openxmlformats-officedocument.presentationml.notesSlide+xml"/>
  <Override PartName="/ppt/notesSlides/notesSlide39.xml" ContentType="application/vnd.openxmlformats-officedocument.presentationml.notesSlide+xml"/>
  <Override PartName="/ppt/notesSlides/notesSlide45.xml" ContentType="application/vnd.openxmlformats-officedocument.presentationml.notesSlide+xml"/>
  <Override PartName="/ppt/notesSlides/notesSlide15.xml" ContentType="application/vnd.openxmlformats-officedocument.presentationml.notesSlide+xml"/>
  <Override PartName="/ppt/notesSlides/notesSlide42.xml" ContentType="application/vnd.openxmlformats-officedocument.presentationml.notesSlide+xml"/>
  <Override PartName="/ppt/notesSlides/notesSlide26.xml" ContentType="application/vnd.openxmlformats-officedocument.presentationml.notesSlide+xml"/>
  <Override PartName="/ppt/notesSlides/notesSlide44.xml" ContentType="application/vnd.openxmlformats-officedocument.presentationml.notesSlide+xml"/>
  <Override PartName="/ppt/notesSlides/notesSlide31.xml" ContentType="application/vnd.openxmlformats-officedocument.presentationml.notesSlide+xml"/>
  <Override PartName="/ppt/notesSlides/notesSlide5.xml" ContentType="application/vnd.openxmlformats-officedocument.presentationml.notesSlide+xml"/>
  <Override PartName="/ppt/notesSlides/notesSlide46.xml" ContentType="application/vnd.openxmlformats-officedocument.presentationml.notesSlide+xml"/>
  <Override PartName="/ppt/notesSlides/notesSlide14.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3.xml"/><Relationship Id="rId4" Type="http://schemas.openxmlformats.org/officeDocument/2006/relationships/slideMaster" Target="slideMasters/slideMaster25.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7.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0" y="812520"/>
            <a:ext cx="0" cy="0"/>
          </a:xfrm>
          <a:prstGeom prst="rect">
            <a:avLst/>
          </a:prstGeom>
          <a:noFill/>
          <a:ln w="0">
            <a:noFill/>
          </a:ln>
        </p:spPr>
        <p:txBody>
          <a:bodyPr lIns="0" tIns="0" rIns="0" bIns="0" anchor="ctr">
            <a:noAutofit/>
          </a:bodyPr>
          <a:p>
            <a:r>
              <a:rPr lang="fr-FR" sz="4400" b="0" u="none" strike="noStrike">
                <a:solidFill>
                  <a:srgbClr val="FFFFFF"/>
                </a:solidFill>
                <a:effectLst/>
                <a:uFillTx/>
                <a:latin typeface="Arial"/>
              </a:rPr>
              <a:t>Click to move the slide</a:t>
            </a:r>
            <a:endParaRPr lang="fr-FR" sz="4400" b="0" u="none" strike="noStrike">
              <a:solidFill>
                <a:srgbClr val="FFFFFF"/>
              </a:solidFill>
              <a:effectLst/>
              <a:uFillTx/>
              <a:latin typeface="Arial"/>
            </a:endParaRPr>
          </a:p>
        </p:txBody>
      </p:sp>
      <p:sp>
        <p:nvSpPr>
          <p:cNvPr id="24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fr-FR" sz="2000" b="0" u="none" strike="noStrike">
                <a:solidFill>
                  <a:srgbClr val="000000"/>
                </a:solidFill>
                <a:effectLst/>
                <a:uFillTx/>
                <a:latin typeface="Arial"/>
              </a:rPr>
              <a:t>Click to edit the notes format</a:t>
            </a:r>
            <a:endParaRPr lang="fr-FR" sz="2000" b="0" u="none" strike="noStrike">
              <a:solidFill>
                <a:srgbClr val="000000"/>
              </a:solidFill>
              <a:effectLst/>
              <a:uFillTx/>
              <a:latin typeface="Arial"/>
            </a:endParaRPr>
          </a:p>
        </p:txBody>
      </p:sp>
      <p:sp>
        <p:nvSpPr>
          <p:cNvPr id="24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fr-FR" sz="1400" b="0" u="none" strike="noStrike">
                <a:solidFill>
                  <a:srgbClr val="000000"/>
                </a:solidFill>
                <a:effectLst/>
                <a:uFillTx/>
                <a:latin typeface="Times New Roman"/>
              </a:rPr>
              <a:t>&lt;header&gt;</a:t>
            </a:r>
            <a:endParaRPr lang="fr-FR" sz="1400" b="0" u="none" strike="noStrike">
              <a:solidFill>
                <a:srgbClr val="000000"/>
              </a:solidFill>
              <a:effectLst/>
              <a:uFillTx/>
              <a:latin typeface="Times New Roman"/>
            </a:endParaRPr>
          </a:p>
        </p:txBody>
      </p:sp>
      <p:sp>
        <p:nvSpPr>
          <p:cNvPr id="245" name="PlaceHolder 4"/>
          <p:cNvSpPr>
            <a:spLocks noGrp="1"/>
          </p:cNvSpPr>
          <p:nvPr>
            <p:ph type="dt" idx="25"/>
          </p:nvPr>
        </p:nvSpPr>
        <p:spPr>
          <a:xfrm>
            <a:off x="4278960" y="0"/>
            <a:ext cx="3280680" cy="534240"/>
          </a:xfrm>
          <a:prstGeom prst="rect">
            <a:avLst/>
          </a:prstGeom>
          <a:noFill/>
          <a:ln w="0">
            <a:noFill/>
          </a:ln>
        </p:spPr>
        <p:txBody>
          <a:bodyPr lIns="0" tIns="0" rIns="0" bIns="0" anchor="t">
            <a:noAutofit/>
          </a:bodyPr>
          <a:lstStyle>
            <a:lvl1pPr indent="0" algn="r">
              <a:buNone/>
              <a:defRPr lang="fr-FR" sz="1400" b="0" u="none" strike="noStrike">
                <a:solidFill>
                  <a:srgbClr val="000000"/>
                </a:solidFill>
                <a:effectLst/>
                <a:uFillTx/>
                <a:latin typeface="Times New Roman"/>
              </a:defRPr>
            </a:lvl1pPr>
          </a:lstStyle>
          <a:p>
            <a:pPr indent="0" algn="r">
              <a:buNone/>
            </a:pPr>
            <a:r>
              <a:rPr lang="fr-FR" sz="1400" b="0" u="none" strike="noStrike">
                <a:solidFill>
                  <a:srgbClr val="000000"/>
                </a:solidFill>
                <a:effectLst/>
                <a:uFillTx/>
                <a:latin typeface="Times New Roman"/>
              </a:rPr>
              <a:t>&lt;date/time&gt;</a:t>
            </a:r>
            <a:endParaRPr lang="fr-FR" sz="1400" b="0" u="none" strike="noStrike">
              <a:solidFill>
                <a:srgbClr val="000000"/>
              </a:solidFill>
              <a:effectLst/>
              <a:uFillTx/>
              <a:latin typeface="Times New Roman"/>
            </a:endParaRPr>
          </a:p>
        </p:txBody>
      </p:sp>
      <p:sp>
        <p:nvSpPr>
          <p:cNvPr id="246" name="PlaceHolder 5"/>
          <p:cNvSpPr>
            <a:spLocks noGrp="1"/>
          </p:cNvSpPr>
          <p:nvPr>
            <p:ph type="ftr" idx="26"/>
          </p:nvPr>
        </p:nvSpPr>
        <p:spPr>
          <a:xfrm>
            <a:off x="0" y="10157400"/>
            <a:ext cx="3280680" cy="534240"/>
          </a:xfrm>
          <a:prstGeom prst="rect">
            <a:avLst/>
          </a:prstGeom>
          <a:noFill/>
          <a:ln w="0">
            <a:noFill/>
          </a:ln>
        </p:spPr>
        <p:txBody>
          <a:bodyPr lIns="0" tIns="0" rIns="0" bIns="0" anchor="b">
            <a:noAutofit/>
          </a:bodyPr>
          <a:lstStyle>
            <a:lvl1pPr indent="0" algn="l">
              <a:buNone/>
              <a:defRPr lang="fr-FR" sz="1400" b="0" u="none" strike="noStrike">
                <a:solidFill>
                  <a:srgbClr val="000000"/>
                </a:solidFill>
                <a:effectLst/>
                <a:uFillTx/>
                <a:latin typeface="Times New Roman"/>
              </a:defRPr>
            </a:lvl1pPr>
          </a:lstStyle>
          <a:p>
            <a:pPr indent="0" algn="l">
              <a:buNone/>
            </a:pPr>
            <a:r>
              <a:rPr lang="fr-FR" sz="1400" b="0" u="none" strike="noStrike">
                <a:solidFill>
                  <a:srgbClr val="000000"/>
                </a:solidFill>
                <a:effectLst/>
                <a:uFillTx/>
                <a:latin typeface="Times New Roman"/>
              </a:rPr>
              <a:t>&lt;footer&gt;</a:t>
            </a:r>
            <a:endParaRPr lang="fr-FR" sz="1400" b="0" u="none" strike="noStrike">
              <a:solidFill>
                <a:srgbClr val="000000"/>
              </a:solidFill>
              <a:effectLst/>
              <a:uFillTx/>
              <a:latin typeface="Times New Roman"/>
            </a:endParaRPr>
          </a:p>
        </p:txBody>
      </p:sp>
      <p:sp>
        <p:nvSpPr>
          <p:cNvPr id="247" name="PlaceHolder 6"/>
          <p:cNvSpPr>
            <a:spLocks noGrp="1"/>
          </p:cNvSpPr>
          <p:nvPr>
            <p:ph type="sldNum" idx="27"/>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u="none" strike="noStrike">
                <a:solidFill>
                  <a:srgbClr val="000000"/>
                </a:solidFill>
                <a:effectLst/>
                <a:uFillTx/>
                <a:latin typeface="Times New Roman"/>
              </a:defRPr>
            </a:lvl1pPr>
          </a:lstStyle>
          <a:p>
            <a:pPr indent="0" algn="r">
              <a:buNone/>
            </a:pPr>
            <a:fld id="{AB6CC98E-8343-4531-9F1A-983B7CCB895A}" type="slidenum">
              <a:rPr lang="fr-FR" sz="1400" b="0" u="none" strike="noStrike">
                <a:solidFill>
                  <a:srgbClr val="000000"/>
                </a:solidFill>
                <a:effectLst/>
                <a:uFillTx/>
                <a:latin typeface="Times New Roman"/>
              </a:rPr>
              <a:t>&lt;number&gt;</a:t>
            </a:fld>
            <a:endParaRPr lang="fr-FR"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685800" y="1143000"/>
            <a:ext cx="5483880" cy="3083760"/>
          </a:xfrm>
          <a:prstGeom prst="rect">
            <a:avLst/>
          </a:prstGeom>
          <a:ln w="0">
            <a:noFill/>
          </a:ln>
        </p:spPr>
      </p:sp>
      <p:sp>
        <p:nvSpPr>
          <p:cNvPr id="802"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Modèle à compléter par chaque groupe. Remplacez les crochets de la couverture. Ne supprimez aucun encadré « Attendu » : la grille de notation s'y réfère.</a:t>
            </a:r>
            <a:endParaRPr lang="fr-FR" sz="2000" b="0" u="none" strike="noStrike">
              <a:solidFill>
                <a:srgbClr val="000000"/>
              </a:solidFill>
              <a:effectLst/>
              <a:uFillTx/>
              <a:latin typeface="Arial"/>
            </a:endParaRPr>
          </a:p>
        </p:txBody>
      </p:sp>
      <p:sp>
        <p:nvSpPr>
          <p:cNvPr id="803" name="PlaceHolder 3"/>
          <p:cNvSpPr>
            <a:spLocks noGrp="1"/>
          </p:cNvSpPr>
          <p:nvPr>
            <p:ph type="sldNum" idx="74"/>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0E50F8B-3161-4C10-95B6-E5D4E2E3461C}"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685800" y="1143000"/>
            <a:ext cx="5483880" cy="3083760"/>
          </a:xfrm>
          <a:prstGeom prst="rect">
            <a:avLst/>
          </a:prstGeom>
          <a:ln w="0">
            <a:noFill/>
          </a:ln>
        </p:spPr>
      </p:sp>
      <p:sp>
        <p:nvSpPr>
          <p:cNvPr id="805"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Lisez cette page avant de rédiger. Les chiffres que vous reportez viennent de vos mesures (dq.dq_history, scans Soda, requêtes du notebook), jamais d'un autre groupe ni d'un tutoriel.</a:t>
            </a:r>
            <a:endParaRPr lang="fr-FR" sz="2000" b="0" u="none" strike="noStrike">
              <a:solidFill>
                <a:srgbClr val="000000"/>
              </a:solidFill>
              <a:effectLst/>
              <a:uFillTx/>
              <a:latin typeface="Arial"/>
            </a:endParaRPr>
          </a:p>
        </p:txBody>
      </p:sp>
      <p:sp>
        <p:nvSpPr>
          <p:cNvPr id="806" name="PlaceHolder 3"/>
          <p:cNvSpPr>
            <a:spLocks noGrp="1"/>
          </p:cNvSpPr>
          <p:nvPr>
            <p:ph type="sldNum" idx="75"/>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72D6402-AC10-4BA3-B463-F8B1C46454C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7" name="PlaceHolder 1"/>
          <p:cNvSpPr>
            <a:spLocks noGrp="1"/>
          </p:cNvSpPr>
          <p:nvPr>
            <p:ph type="sldImg"/>
          </p:nvPr>
        </p:nvSpPr>
        <p:spPr>
          <a:xfrm>
            <a:off x="685800" y="1143000"/>
            <a:ext cx="5483880" cy="3083760"/>
          </a:xfrm>
          <a:prstGeom prst="rect">
            <a:avLst/>
          </a:prstGeom>
          <a:ln w="0">
            <a:noFill/>
          </a:ln>
        </p:spPr>
      </p:sp>
      <p:sp>
        <p:nvSpPr>
          <p:cNvPr id="808"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La grille est celle du dossier go/no-go. Le livrable de séance et le dossier final sont évalués ensemble.</a:t>
            </a:r>
            <a:endParaRPr lang="fr-FR" sz="2000" b="0" u="none" strike="noStrike">
              <a:solidFill>
                <a:srgbClr val="000000"/>
              </a:solidFill>
              <a:effectLst/>
              <a:uFillTx/>
              <a:latin typeface="Arial"/>
            </a:endParaRPr>
          </a:p>
        </p:txBody>
      </p:sp>
      <p:sp>
        <p:nvSpPr>
          <p:cNvPr id="809" name="PlaceHolder 3"/>
          <p:cNvSpPr>
            <a:spLocks noGrp="1"/>
          </p:cNvSpPr>
          <p:nvPr>
            <p:ph type="sldNum" idx="76"/>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4C02EC1-64A7-47A0-97B6-693C855ED44E}"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0" name="PlaceHolder 1"/>
          <p:cNvSpPr>
            <a:spLocks noGrp="1"/>
          </p:cNvSpPr>
          <p:nvPr>
            <p:ph type="sldImg"/>
          </p:nvPr>
        </p:nvSpPr>
        <p:spPr>
          <a:xfrm>
            <a:off x="685800" y="1143000"/>
            <a:ext cx="5483880" cy="3083760"/>
          </a:xfrm>
          <a:prstGeom prst="rect">
            <a:avLst/>
          </a:prstGeom>
          <a:ln w="0">
            <a:noFill/>
          </a:ln>
        </p:spPr>
      </p:sp>
      <p:sp>
        <p:nvSpPr>
          <p:cNvPr id="811"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Renseignez cette page dès la fin de l'ouverture de S1, puis mettez-la à jour à chaque séance.</a:t>
            </a:r>
            <a:endParaRPr lang="fr-FR" sz="2000" b="0" u="none" strike="noStrike">
              <a:solidFill>
                <a:srgbClr val="000000"/>
              </a:solidFill>
              <a:effectLst/>
              <a:uFillTx/>
              <a:latin typeface="Arial"/>
            </a:endParaRPr>
          </a:p>
        </p:txBody>
      </p:sp>
      <p:sp>
        <p:nvSpPr>
          <p:cNvPr id="812" name="PlaceHolder 3"/>
          <p:cNvSpPr>
            <a:spLocks noGrp="1"/>
          </p:cNvSpPr>
          <p:nvPr>
            <p:ph type="sldNum" idx="77"/>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74C658F-7E5C-487F-94EE-FA477513694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3" name="PlaceHolder 1"/>
          <p:cNvSpPr>
            <a:spLocks noGrp="1"/>
          </p:cNvSpPr>
          <p:nvPr>
            <p:ph type="sldImg"/>
          </p:nvPr>
        </p:nvSpPr>
        <p:spPr>
          <a:xfrm>
            <a:off x="685800" y="1143000"/>
            <a:ext cx="5483880" cy="3083760"/>
          </a:xfrm>
          <a:prstGeom prst="rect">
            <a:avLst/>
          </a:prstGeom>
          <a:ln w="0">
            <a:noFill/>
          </a:ln>
        </p:spPr>
      </p:sp>
      <p:sp>
        <p:nvSpPr>
          <p:cNvPr id="814"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Cinq lignes par zone. Pas de copier-coller de l'énoncé : reformulez.</a:t>
            </a:r>
            <a:endParaRPr lang="fr-FR" sz="2000" b="0" u="none" strike="noStrike">
              <a:solidFill>
                <a:srgbClr val="000000"/>
              </a:solidFill>
              <a:effectLst/>
              <a:uFillTx/>
              <a:latin typeface="Arial"/>
            </a:endParaRPr>
          </a:p>
        </p:txBody>
      </p:sp>
      <p:sp>
        <p:nvSpPr>
          <p:cNvPr id="815" name="PlaceHolder 3"/>
          <p:cNvSpPr>
            <a:spLocks noGrp="1"/>
          </p:cNvSpPr>
          <p:nvPr>
            <p:ph type="sldNum" idx="78"/>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03F1111-5490-4C86-8CFF-FD83230F7CC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PlaceHolder 1"/>
          <p:cNvSpPr>
            <a:spLocks noGrp="1"/>
          </p:cNvSpPr>
          <p:nvPr>
            <p:ph type="sldImg"/>
          </p:nvPr>
        </p:nvSpPr>
        <p:spPr>
          <a:xfrm>
            <a:off x="685800" y="1143000"/>
            <a:ext cx="5483880" cy="3083760"/>
          </a:xfrm>
          <a:prstGeom prst="rect">
            <a:avLst/>
          </a:prstGeom>
          <a:ln w="0">
            <a:noFill/>
          </a:ln>
        </p:spPr>
      </p:sp>
      <p:sp>
        <p:nvSpPr>
          <p:cNvPr id="817"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18" name="PlaceHolder 3"/>
          <p:cNvSpPr>
            <a:spLocks noGrp="1"/>
          </p:cNvSpPr>
          <p:nvPr>
            <p:ph type="sldNum" idx="79"/>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1B4FB2C-31A6-48EE-9DA4-DAD968DE181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3880" cy="3083760"/>
          </a:xfrm>
          <a:prstGeom prst="rect">
            <a:avLst/>
          </a:prstGeom>
          <a:ln w="0">
            <a:noFill/>
          </a:ln>
        </p:spPr>
      </p:sp>
      <p:sp>
        <p:nvSpPr>
          <p:cNvPr id="820"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comptez avec une requête, pas à l'œil. Indiquez le notebook qui contient la requête.</a:t>
            </a:r>
            <a:endParaRPr lang="fr-FR" sz="2000" b="0" u="none" strike="noStrike">
              <a:solidFill>
                <a:srgbClr val="000000"/>
              </a:solidFill>
              <a:effectLst/>
              <a:uFillTx/>
              <a:latin typeface="Arial"/>
            </a:endParaRPr>
          </a:p>
        </p:txBody>
      </p:sp>
      <p:sp>
        <p:nvSpPr>
          <p:cNvPr id="821" name="PlaceHolder 3"/>
          <p:cNvSpPr>
            <a:spLocks noGrp="1"/>
          </p:cNvSpPr>
          <p:nvPr>
            <p:ph type="sldNum" idx="80"/>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FB4587C-38FD-490C-8183-1EC4AD1C2B9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3880" cy="3083760"/>
          </a:xfrm>
          <a:prstGeom prst="rect">
            <a:avLst/>
          </a:prstGeom>
          <a:ln w="0">
            <a:noFill/>
          </a:ln>
        </p:spPr>
      </p:sp>
      <p:sp>
        <p:nvSpPr>
          <p:cNvPr id="823"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porte B juge la fidélité de la copie, pas la qualité des valeurs. Un écart nul est un résultat à documenter.</a:t>
            </a:r>
            <a:endParaRPr lang="fr-FR" sz="2000" b="0" u="none" strike="noStrike">
              <a:solidFill>
                <a:srgbClr val="000000"/>
              </a:solidFill>
              <a:effectLst/>
              <a:uFillTx/>
              <a:latin typeface="Arial"/>
            </a:endParaRPr>
          </a:p>
        </p:txBody>
      </p:sp>
      <p:sp>
        <p:nvSpPr>
          <p:cNvPr id="824" name="PlaceHolder 3"/>
          <p:cNvSpPr>
            <a:spLocks noGrp="1"/>
          </p:cNvSpPr>
          <p:nvPr>
            <p:ph type="sldNum" idx="81"/>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F47EFC5-875F-4304-91FB-02860B44CE4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3880" cy="3083760"/>
          </a:xfrm>
          <a:prstGeom prst="rect">
            <a:avLst/>
          </a:prstGeom>
          <a:ln w="0">
            <a:noFill/>
          </a:ln>
        </p:spPr>
      </p:sp>
      <p:sp>
        <p:nvSpPr>
          <p:cNvPr id="82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l'épreuve de l'écart volontaire prouve que votre porte détecte quelque chose. Sans elle, une porte toujours verte ne prouve rien.</a:t>
            </a:r>
            <a:endParaRPr lang="fr-FR" sz="2000" b="0" u="none" strike="noStrike">
              <a:solidFill>
                <a:srgbClr val="000000"/>
              </a:solidFill>
              <a:effectLst/>
              <a:uFillTx/>
              <a:latin typeface="Arial"/>
            </a:endParaRPr>
          </a:p>
        </p:txBody>
      </p:sp>
      <p:sp>
        <p:nvSpPr>
          <p:cNvPr id="827" name="PlaceHolder 3"/>
          <p:cNvSpPr>
            <a:spLocks noGrp="1"/>
          </p:cNvSpPr>
          <p:nvPr>
            <p:ph type="sldNum" idx="82"/>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51306BA-70B7-41E6-A568-7E8CE3A38F2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3880" cy="3083760"/>
          </a:xfrm>
          <a:prstGeom prst="rect">
            <a:avLst/>
          </a:prstGeom>
          <a:ln w="0">
            <a:noFill/>
          </a:ln>
        </p:spPr>
      </p:sp>
      <p:sp>
        <p:nvSpPr>
          <p:cNvPr id="829"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distinguez NULL, vide et blanc. Un constat sans valeur mesurée n'en est pas un.</a:t>
            </a:r>
            <a:endParaRPr lang="fr-FR" sz="2000" b="0" u="none" strike="noStrike">
              <a:solidFill>
                <a:srgbClr val="000000"/>
              </a:solidFill>
              <a:effectLst/>
              <a:uFillTx/>
              <a:latin typeface="Arial"/>
            </a:endParaRPr>
          </a:p>
        </p:txBody>
      </p:sp>
      <p:sp>
        <p:nvSpPr>
          <p:cNvPr id="830" name="PlaceHolder 3"/>
          <p:cNvSpPr>
            <a:spLocks noGrp="1"/>
          </p:cNvSpPr>
          <p:nvPr>
            <p:ph type="sldNum" idx="83"/>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16BB71E-BA2F-4E2D-AB9B-4345FE70331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3880" cy="3083760"/>
          </a:xfrm>
          <a:prstGeom prst="rect">
            <a:avLst/>
          </a:prstGeom>
          <a:ln w="0">
            <a:noFill/>
          </a:ln>
        </p:spPr>
      </p:sp>
      <p:sp>
        <p:nvSpPr>
          <p:cNvPr id="832"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justification est un chiffre (taux de valeurs au format X, nombre de distincts, plage), pas une impression.</a:t>
            </a:r>
            <a:endParaRPr lang="fr-FR" sz="2000" b="0" u="none" strike="noStrike">
              <a:solidFill>
                <a:srgbClr val="000000"/>
              </a:solidFill>
              <a:effectLst/>
              <a:uFillTx/>
              <a:latin typeface="Arial"/>
            </a:endParaRPr>
          </a:p>
        </p:txBody>
      </p:sp>
      <p:sp>
        <p:nvSpPr>
          <p:cNvPr id="833" name="PlaceHolder 3"/>
          <p:cNvSpPr>
            <a:spLocks noGrp="1"/>
          </p:cNvSpPr>
          <p:nvPr>
            <p:ph type="sldNum" idx="84"/>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CC60FDE-15A4-415E-8A20-EDFAB0A1ED9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3880" cy="3083760"/>
          </a:xfrm>
          <a:prstGeom prst="rect">
            <a:avLst/>
          </a:prstGeom>
          <a:ln w="0">
            <a:noFill/>
          </a:ln>
        </p:spPr>
      </p:sp>
      <p:sp>
        <p:nvSpPr>
          <p:cNvPr id="835"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trois chiffres sont vrais pour trois questions différentes. Le problème est la définition.</a:t>
            </a:r>
            <a:endParaRPr lang="fr-FR" sz="2000" b="0" u="none" strike="noStrike">
              <a:solidFill>
                <a:srgbClr val="000000"/>
              </a:solidFill>
              <a:effectLst/>
              <a:uFillTx/>
              <a:latin typeface="Arial"/>
            </a:endParaRPr>
          </a:p>
        </p:txBody>
      </p:sp>
      <p:sp>
        <p:nvSpPr>
          <p:cNvPr id="836" name="PlaceHolder 3"/>
          <p:cNvSpPr>
            <a:spLocks noGrp="1"/>
          </p:cNvSpPr>
          <p:nvPr>
            <p:ph type="sldNum" idx="85"/>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802C078-A409-4FCD-9A95-481C3440A7D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3880" cy="3083760"/>
          </a:xfrm>
          <a:prstGeom prst="rect">
            <a:avLst/>
          </a:prstGeom>
          <a:ln w="0">
            <a:noFill/>
          </a:ln>
        </p:spPr>
      </p:sp>
      <p:sp>
        <p:nvSpPr>
          <p:cNvPr id="838"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39" name="PlaceHolder 3"/>
          <p:cNvSpPr>
            <a:spLocks noGrp="1"/>
          </p:cNvSpPr>
          <p:nvPr>
            <p:ph type="sldNum" idx="86"/>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A50173D-67FE-4670-BC81-160E16D5705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3880" cy="3083760"/>
          </a:xfrm>
          <a:prstGeom prst="rect">
            <a:avLst/>
          </a:prstGeom>
          <a:ln w="0">
            <a:noFill/>
          </a:ln>
        </p:spPr>
      </p:sp>
      <p:sp>
        <p:nvSpPr>
          <p:cNvPr id="841"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42" name="PlaceHolder 3"/>
          <p:cNvSpPr>
            <a:spLocks noGrp="1"/>
          </p:cNvSpPr>
          <p:nvPr>
            <p:ph type="sldNum" idx="87"/>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95037AC-0AD4-43D2-A6BD-903CB2E91481}"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3880" cy="3083760"/>
          </a:xfrm>
          <a:prstGeom prst="rect">
            <a:avLst/>
          </a:prstGeom>
          <a:ln w="0">
            <a:noFill/>
          </a:ln>
        </p:spPr>
      </p:sp>
      <p:sp>
        <p:nvSpPr>
          <p:cNvPr id="844"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taux sans nombre de lignes testées est ininterprétable. Reportez les deux.</a:t>
            </a:r>
            <a:endParaRPr lang="fr-FR" sz="2000" b="0" u="none" strike="noStrike">
              <a:solidFill>
                <a:srgbClr val="000000"/>
              </a:solidFill>
              <a:effectLst/>
              <a:uFillTx/>
              <a:latin typeface="Arial"/>
            </a:endParaRPr>
          </a:p>
        </p:txBody>
      </p:sp>
      <p:sp>
        <p:nvSpPr>
          <p:cNvPr id="845" name="PlaceHolder 3"/>
          <p:cNvSpPr>
            <a:spLocks noGrp="1"/>
          </p:cNvSpPr>
          <p:nvPr>
            <p:ph type="sldNum" idx="88"/>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8245C199-0735-4C72-8304-648BCD74D65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3880" cy="3083760"/>
          </a:xfrm>
          <a:prstGeom prst="rect">
            <a:avLst/>
          </a:prstGeom>
          <a:ln w="0">
            <a:noFill/>
          </a:ln>
        </p:spPr>
      </p:sp>
      <p:sp>
        <p:nvSpPr>
          <p:cNvPr id="847"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nommez la famille d'erreur. « Valeurs incorrectes » n'est pas une famille.</a:t>
            </a:r>
            <a:endParaRPr lang="fr-FR" sz="2000" b="0" u="none" strike="noStrike">
              <a:solidFill>
                <a:srgbClr val="000000"/>
              </a:solidFill>
              <a:effectLst/>
              <a:uFillTx/>
              <a:latin typeface="Arial"/>
            </a:endParaRPr>
          </a:p>
        </p:txBody>
      </p:sp>
      <p:sp>
        <p:nvSpPr>
          <p:cNvPr id="848" name="PlaceHolder 3"/>
          <p:cNvSpPr>
            <a:spLocks noGrp="1"/>
          </p:cNvSpPr>
          <p:nvPr>
            <p:ph type="sldNum" idx="89"/>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595E2EB-C6A5-47F4-BABC-7B4DDED8000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3880" cy="3083760"/>
          </a:xfrm>
          <a:prstGeom prst="rect">
            <a:avLst/>
          </a:prstGeom>
          <a:ln w="0">
            <a:noFill/>
          </a:ln>
        </p:spPr>
      </p:sp>
      <p:sp>
        <p:nvSpPr>
          <p:cNvPr id="850"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phrase de synthèse doit contenir un chiffre et la couche concernée.</a:t>
            </a:r>
            <a:endParaRPr lang="fr-FR" sz="2000" b="0" u="none" strike="noStrike">
              <a:solidFill>
                <a:srgbClr val="000000"/>
              </a:solidFill>
              <a:effectLst/>
              <a:uFillTx/>
              <a:latin typeface="Arial"/>
            </a:endParaRPr>
          </a:p>
        </p:txBody>
      </p:sp>
      <p:sp>
        <p:nvSpPr>
          <p:cNvPr id="851" name="PlaceHolder 3"/>
          <p:cNvSpPr>
            <a:spLocks noGrp="1"/>
          </p:cNvSpPr>
          <p:nvPr>
            <p:ph type="sldNum" idx="90"/>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971C4B4-AAEB-4BD1-A719-BB6CF8ABC10B}"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3880" cy="3083760"/>
          </a:xfrm>
          <a:prstGeom prst="rect">
            <a:avLst/>
          </a:prstGeom>
          <a:ln w="0">
            <a:noFill/>
          </a:ln>
        </p:spPr>
      </p:sp>
      <p:sp>
        <p:nvSpPr>
          <p:cNvPr id="853"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54" name="PlaceHolder 3"/>
          <p:cNvSpPr>
            <a:spLocks noGrp="1"/>
          </p:cNvSpPr>
          <p:nvPr>
            <p:ph type="sldNum" idx="91"/>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BD98751-0A26-45F2-96D9-AB4B4B65594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3880" cy="3083760"/>
          </a:xfrm>
          <a:prstGeom prst="rect">
            <a:avLst/>
          </a:prstGeom>
          <a:ln w="0">
            <a:noFill/>
          </a:ln>
        </p:spPr>
      </p:sp>
      <p:sp>
        <p:nvSpPr>
          <p:cNvPr id="85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57" name="PlaceHolder 3"/>
          <p:cNvSpPr>
            <a:spLocks noGrp="1"/>
          </p:cNvSpPr>
          <p:nvPr>
            <p:ph type="sldNum" idx="92"/>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FC1F9D1-FDC0-4697-BEAB-C5DC413144B1}"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3880" cy="3083760"/>
          </a:xfrm>
          <a:prstGeom prst="rect">
            <a:avLst/>
          </a:prstGeom>
          <a:ln w="0">
            <a:noFill/>
          </a:ln>
        </p:spPr>
      </p:sp>
      <p:sp>
        <p:nvSpPr>
          <p:cNvPr id="859"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si Soda et Great Expectations donnent des chiffres différents pour la même règle, expliquez pourquoi avant de conclure.</a:t>
            </a:r>
            <a:endParaRPr lang="fr-FR" sz="2000" b="0" u="none" strike="noStrike">
              <a:solidFill>
                <a:srgbClr val="000000"/>
              </a:solidFill>
              <a:effectLst/>
              <a:uFillTx/>
              <a:latin typeface="Arial"/>
            </a:endParaRPr>
          </a:p>
        </p:txBody>
      </p:sp>
      <p:sp>
        <p:nvSpPr>
          <p:cNvPr id="860" name="PlaceHolder 3"/>
          <p:cNvSpPr>
            <a:spLocks noGrp="1"/>
          </p:cNvSpPr>
          <p:nvPr>
            <p:ph type="sldNum" idx="93"/>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496077E-6C92-4C5B-A406-BDC7A354D009}"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3880" cy="3083760"/>
          </a:xfrm>
          <a:prstGeom prst="rect">
            <a:avLst/>
          </a:prstGeom>
          <a:ln w="0">
            <a:noFill/>
          </a:ln>
        </p:spPr>
      </p:sp>
      <p:sp>
        <p:nvSpPr>
          <p:cNvPr id="862"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taux élevé de lignes en échec sur une clé étrangère est un indice de valeur sentinelle avant d'être une anomalie.</a:t>
            </a:r>
            <a:endParaRPr lang="fr-FR" sz="2000" b="0" u="none" strike="noStrike">
              <a:solidFill>
                <a:srgbClr val="000000"/>
              </a:solidFill>
              <a:effectLst/>
              <a:uFillTx/>
              <a:latin typeface="Arial"/>
            </a:endParaRPr>
          </a:p>
        </p:txBody>
      </p:sp>
      <p:sp>
        <p:nvSpPr>
          <p:cNvPr id="863" name="PlaceHolder 3"/>
          <p:cNvSpPr>
            <a:spLocks noGrp="1"/>
          </p:cNvSpPr>
          <p:nvPr>
            <p:ph type="sldNum" idx="94"/>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14AD489-CE11-4C43-B6D2-A617E1A87E76}"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3880" cy="3083760"/>
          </a:xfrm>
          <a:prstGeom prst="rect">
            <a:avLst/>
          </a:prstGeom>
          <a:ln w="0">
            <a:noFill/>
          </a:ln>
        </p:spPr>
      </p:sp>
      <p:sp>
        <p:nvSpPr>
          <p:cNvPr id="865"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règle de correction proposée sans rôle destinataire n'est pas une décision.</a:t>
            </a:r>
            <a:endParaRPr lang="fr-FR" sz="2000" b="0" u="none" strike="noStrike">
              <a:solidFill>
                <a:srgbClr val="000000"/>
              </a:solidFill>
              <a:effectLst/>
              <a:uFillTx/>
              <a:latin typeface="Arial"/>
            </a:endParaRPr>
          </a:p>
        </p:txBody>
      </p:sp>
      <p:sp>
        <p:nvSpPr>
          <p:cNvPr id="866" name="PlaceHolder 3"/>
          <p:cNvSpPr>
            <a:spLocks noGrp="1"/>
          </p:cNvSpPr>
          <p:nvPr>
            <p:ph type="sldNum" idx="95"/>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F615BDD-FF73-4C05-841E-B56BF39601C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3880" cy="3083760"/>
          </a:xfrm>
          <a:prstGeom prst="rect">
            <a:avLst/>
          </a:prstGeom>
          <a:ln w="0">
            <a:noFill/>
          </a:ln>
        </p:spPr>
      </p:sp>
      <p:sp>
        <p:nvSpPr>
          <p:cNvPr id="868"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69" name="PlaceHolder 3"/>
          <p:cNvSpPr>
            <a:spLocks noGrp="1"/>
          </p:cNvSpPr>
          <p:nvPr>
            <p:ph type="sldNum" idx="96"/>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C27CE40A-A078-4B6D-B672-9E44F011E87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3880" cy="3083760"/>
          </a:xfrm>
          <a:prstGeom prst="rect">
            <a:avLst/>
          </a:prstGeom>
          <a:ln w="0">
            <a:noFill/>
          </a:ln>
        </p:spPr>
      </p:sp>
      <p:sp>
        <p:nvSpPr>
          <p:cNvPr id="871"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72" name="PlaceHolder 3"/>
          <p:cNvSpPr>
            <a:spLocks noGrp="1"/>
          </p:cNvSpPr>
          <p:nvPr>
            <p:ph type="sldNum" idx="97"/>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E0900EC-EF42-4BD9-BA22-3D61F588D5A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3880" cy="3083760"/>
          </a:xfrm>
          <a:prstGeom prst="rect">
            <a:avLst/>
          </a:prstGeom>
          <a:ln w="0">
            <a:noFill/>
          </a:ln>
        </p:spPr>
      </p:sp>
      <p:sp>
        <p:nvSpPr>
          <p:cNvPr id="874"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rien n'est supprimé en silence. Chaque ligne absente de silver est dans dq.rejets avec le code de sa règle.</a:t>
            </a:r>
            <a:endParaRPr lang="fr-FR" sz="2000" b="0" u="none" strike="noStrike">
              <a:solidFill>
                <a:srgbClr val="000000"/>
              </a:solidFill>
              <a:effectLst/>
              <a:uFillTx/>
              <a:latin typeface="Arial"/>
            </a:endParaRPr>
          </a:p>
        </p:txBody>
      </p:sp>
      <p:sp>
        <p:nvSpPr>
          <p:cNvPr id="875" name="PlaceHolder 3"/>
          <p:cNvSpPr>
            <a:spLocks noGrp="1"/>
          </p:cNvSpPr>
          <p:nvPr>
            <p:ph type="sldNum" idx="98"/>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4B3FA06-2D4F-4425-9E36-2C6D1A0631D9}"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6" name="PlaceHolder 1"/>
          <p:cNvSpPr>
            <a:spLocks noGrp="1"/>
          </p:cNvSpPr>
          <p:nvPr>
            <p:ph type="sldImg"/>
          </p:nvPr>
        </p:nvSpPr>
        <p:spPr>
          <a:xfrm>
            <a:off x="685800" y="1143000"/>
            <a:ext cx="5483880" cy="3083760"/>
          </a:xfrm>
          <a:prstGeom prst="rect">
            <a:avLst/>
          </a:prstGeom>
          <a:ln w="0">
            <a:noFill/>
          </a:ln>
        </p:spPr>
      </p:sp>
      <p:sp>
        <p:nvSpPr>
          <p:cNvPr id="877"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une règle qui baisse de bronze à silver n'est pas forcément un bug. Cherchez d'abord un effet de la quarantaine (lignes devenues orphelines).</a:t>
            </a:r>
            <a:endParaRPr lang="fr-FR" sz="2000" b="0" u="none" strike="noStrike">
              <a:solidFill>
                <a:srgbClr val="000000"/>
              </a:solidFill>
              <a:effectLst/>
              <a:uFillTx/>
              <a:latin typeface="Arial"/>
            </a:endParaRPr>
          </a:p>
        </p:txBody>
      </p:sp>
      <p:sp>
        <p:nvSpPr>
          <p:cNvPr id="878" name="PlaceHolder 3"/>
          <p:cNvSpPr>
            <a:spLocks noGrp="1"/>
          </p:cNvSpPr>
          <p:nvPr>
            <p:ph type="sldNum" idx="99"/>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ECE77B1-6908-4081-B8A9-A3E892AA3791}"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9" name="PlaceHolder 1"/>
          <p:cNvSpPr>
            <a:spLocks noGrp="1"/>
          </p:cNvSpPr>
          <p:nvPr>
            <p:ph type="sldImg"/>
          </p:nvPr>
        </p:nvSpPr>
        <p:spPr>
          <a:xfrm>
            <a:off x="685800" y="1143000"/>
            <a:ext cx="5483880" cy="3083760"/>
          </a:xfrm>
          <a:prstGeom prst="rect">
            <a:avLst/>
          </a:prstGeom>
          <a:ln w="0">
            <a:noFill/>
          </a:ln>
        </p:spPr>
      </p:sp>
      <p:sp>
        <p:nvSpPr>
          <p:cNvPr id="880"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seuils se défendent par la précision et le rappel mesurés, pas par un ressenti. Reportez-les dans le journal des décisions.</a:t>
            </a:r>
            <a:endParaRPr lang="fr-FR" sz="2000" b="0" u="none" strike="noStrike">
              <a:solidFill>
                <a:srgbClr val="000000"/>
              </a:solidFill>
              <a:effectLst/>
              <a:uFillTx/>
              <a:latin typeface="Arial"/>
            </a:endParaRPr>
          </a:p>
        </p:txBody>
      </p:sp>
      <p:sp>
        <p:nvSpPr>
          <p:cNvPr id="881" name="PlaceHolder 3"/>
          <p:cNvSpPr>
            <a:spLocks noGrp="1"/>
          </p:cNvSpPr>
          <p:nvPr>
            <p:ph type="sldNum" idx="100"/>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1B63A0E-6A60-4B12-99E7-42DAEFD984CA}"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2" name="PlaceHolder 1"/>
          <p:cNvSpPr>
            <a:spLocks noGrp="1"/>
          </p:cNvSpPr>
          <p:nvPr>
            <p:ph type="sldImg"/>
          </p:nvPr>
        </p:nvSpPr>
        <p:spPr>
          <a:xfrm>
            <a:off x="685800" y="1143000"/>
            <a:ext cx="5483880" cy="3083760"/>
          </a:xfrm>
          <a:prstGeom prst="rect">
            <a:avLst/>
          </a:prstGeom>
          <a:ln w="0">
            <a:noFill/>
          </a:ln>
        </p:spPr>
      </p:sp>
      <p:sp>
        <p:nvSpPr>
          <p:cNvPr id="883"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règle de survie est une décision de gouvernance, pas un détail technique.</a:t>
            </a:r>
            <a:endParaRPr lang="fr-FR" sz="2000" b="0" u="none" strike="noStrike">
              <a:solidFill>
                <a:srgbClr val="000000"/>
              </a:solidFill>
              <a:effectLst/>
              <a:uFillTx/>
              <a:latin typeface="Arial"/>
            </a:endParaRPr>
          </a:p>
        </p:txBody>
      </p:sp>
      <p:sp>
        <p:nvSpPr>
          <p:cNvPr id="884" name="PlaceHolder 3"/>
          <p:cNvSpPr>
            <a:spLocks noGrp="1"/>
          </p:cNvSpPr>
          <p:nvPr>
            <p:ph type="sldNum" idx="101"/>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3A979EE-4204-4BE0-AC71-EB9A44AB315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5" name="PlaceHolder 1"/>
          <p:cNvSpPr>
            <a:spLocks noGrp="1"/>
          </p:cNvSpPr>
          <p:nvPr>
            <p:ph type="sldImg"/>
          </p:nvPr>
        </p:nvSpPr>
        <p:spPr>
          <a:xfrm>
            <a:off x="685800" y="1143000"/>
            <a:ext cx="5483880" cy="3083760"/>
          </a:xfrm>
          <a:prstGeom prst="rect">
            <a:avLst/>
          </a:prstGeom>
          <a:ln w="0">
            <a:noFill/>
          </a:ln>
        </p:spPr>
      </p:sp>
      <p:sp>
        <p:nvSpPr>
          <p:cNvPr id="88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constat expliqué (un contrat orphelin parce que son client a été mis en quarantaine) est un résultat, pas une erreur.</a:t>
            </a:r>
            <a:endParaRPr lang="fr-FR" sz="2000" b="0" u="none" strike="noStrike">
              <a:solidFill>
                <a:srgbClr val="000000"/>
              </a:solidFill>
              <a:effectLst/>
              <a:uFillTx/>
              <a:latin typeface="Arial"/>
            </a:endParaRPr>
          </a:p>
        </p:txBody>
      </p:sp>
      <p:sp>
        <p:nvSpPr>
          <p:cNvPr id="887" name="PlaceHolder 3"/>
          <p:cNvSpPr>
            <a:spLocks noGrp="1"/>
          </p:cNvSpPr>
          <p:nvPr>
            <p:ph type="sldNum" idx="102"/>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815919B-7C1D-4F03-BFFE-8680F1446EBB}"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8" name="PlaceHolder 1"/>
          <p:cNvSpPr>
            <a:spLocks noGrp="1"/>
          </p:cNvSpPr>
          <p:nvPr>
            <p:ph type="sldImg"/>
          </p:nvPr>
        </p:nvSpPr>
        <p:spPr>
          <a:xfrm>
            <a:off x="685800" y="1143000"/>
            <a:ext cx="5483880" cy="3083760"/>
          </a:xfrm>
          <a:prstGeom prst="rect">
            <a:avLst/>
          </a:prstGeom>
          <a:ln w="0">
            <a:noFill/>
          </a:ln>
        </p:spPr>
      </p:sp>
      <p:sp>
        <p:nvSpPr>
          <p:cNvPr id="889"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trois lignes par cas suffisent : gold, silver, bronze, source. Un identifiant de lot est obligatoire.</a:t>
            </a:r>
            <a:endParaRPr lang="fr-FR" sz="2000" b="0" u="none" strike="noStrike">
              <a:solidFill>
                <a:srgbClr val="000000"/>
              </a:solidFill>
              <a:effectLst/>
              <a:uFillTx/>
              <a:latin typeface="Arial"/>
            </a:endParaRPr>
          </a:p>
        </p:txBody>
      </p:sp>
      <p:sp>
        <p:nvSpPr>
          <p:cNvPr id="890" name="PlaceHolder 3"/>
          <p:cNvSpPr>
            <a:spLocks noGrp="1"/>
          </p:cNvSpPr>
          <p:nvPr>
            <p:ph type="sldNum" idx="103"/>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050DF18-DC81-4562-96B8-ABB6130F7F54}"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1" name="PlaceHolder 1"/>
          <p:cNvSpPr>
            <a:spLocks noGrp="1"/>
          </p:cNvSpPr>
          <p:nvPr>
            <p:ph type="sldImg"/>
          </p:nvPr>
        </p:nvSpPr>
        <p:spPr>
          <a:xfrm>
            <a:off x="685800" y="1143000"/>
            <a:ext cx="5483880" cy="3083760"/>
          </a:xfrm>
          <a:prstGeom prst="rect">
            <a:avLst/>
          </a:prstGeom>
          <a:ln w="0">
            <a:noFill/>
          </a:ln>
        </p:spPr>
      </p:sp>
      <p:sp>
        <p:nvSpPr>
          <p:cNvPr id="892"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893" name="PlaceHolder 3"/>
          <p:cNvSpPr>
            <a:spLocks noGrp="1"/>
          </p:cNvSpPr>
          <p:nvPr>
            <p:ph type="sldNum" idx="104"/>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01B2C20-4D5A-4CFC-B39D-A605466B2CB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4" name="PlaceHolder 1"/>
          <p:cNvSpPr>
            <a:spLocks noGrp="1"/>
          </p:cNvSpPr>
          <p:nvPr>
            <p:ph type="sldImg"/>
          </p:nvPr>
        </p:nvSpPr>
        <p:spPr>
          <a:xfrm>
            <a:off x="685800" y="1143000"/>
            <a:ext cx="5483880" cy="3083760"/>
          </a:xfrm>
          <a:prstGeom prst="rect">
            <a:avLst/>
          </a:prstGeom>
          <a:ln w="0">
            <a:noFill/>
          </a:ln>
        </p:spPr>
      </p:sp>
      <p:sp>
        <p:nvSpPr>
          <p:cNvPr id="895"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896" name="PlaceHolder 3"/>
          <p:cNvSpPr>
            <a:spLocks noGrp="1"/>
          </p:cNvSpPr>
          <p:nvPr>
            <p:ph type="sldNum" idx="105"/>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C6C40933-E410-4546-9341-A01EA9136122}"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7" name="PlaceHolder 1"/>
          <p:cNvSpPr>
            <a:spLocks noGrp="1"/>
          </p:cNvSpPr>
          <p:nvPr>
            <p:ph type="sldImg"/>
          </p:nvPr>
        </p:nvSpPr>
        <p:spPr>
          <a:xfrm>
            <a:off x="685800" y="1143000"/>
            <a:ext cx="5483880" cy="3083760"/>
          </a:xfrm>
          <a:prstGeom prst="rect">
            <a:avLst/>
          </a:prstGeom>
          <a:ln w="0">
            <a:noFill/>
          </a:ln>
        </p:spPr>
      </p:sp>
      <p:sp>
        <p:nvSpPr>
          <p:cNvPr id="898"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insérez l'image des courbes dans la zone. Une courbe sans légende ni axe nommé n'est pas lisible par un non-technicien.</a:t>
            </a:r>
            <a:endParaRPr lang="fr-FR" sz="2000" b="0" u="none" strike="noStrike">
              <a:solidFill>
                <a:srgbClr val="000000"/>
              </a:solidFill>
              <a:effectLst/>
              <a:uFillTx/>
              <a:latin typeface="Arial"/>
            </a:endParaRPr>
          </a:p>
        </p:txBody>
      </p:sp>
      <p:sp>
        <p:nvSpPr>
          <p:cNvPr id="899" name="PlaceHolder 3"/>
          <p:cNvSpPr>
            <a:spLocks noGrp="1"/>
          </p:cNvSpPr>
          <p:nvPr>
            <p:ph type="sldNum" idx="106"/>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EE43260-D519-4C40-9471-56630D788748}"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0" name="PlaceHolder 1"/>
          <p:cNvSpPr>
            <a:spLocks noGrp="1"/>
          </p:cNvSpPr>
          <p:nvPr>
            <p:ph type="sldImg"/>
          </p:nvPr>
        </p:nvSpPr>
        <p:spPr>
          <a:xfrm>
            <a:off x="685800" y="1143000"/>
            <a:ext cx="5483880" cy="3083760"/>
          </a:xfrm>
          <a:prstGeom prst="rect">
            <a:avLst/>
          </a:prstGeom>
          <a:ln w="0">
            <a:noFill/>
          </a:ln>
        </p:spPr>
      </p:sp>
      <p:sp>
        <p:nvSpPr>
          <p:cNvPr id="901"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certificat qui ne mentionne pas ce qu'il ne couvre pas est trompeur. Listez les règles non mesurées.</a:t>
            </a:r>
            <a:endParaRPr lang="fr-FR" sz="2000" b="0" u="none" strike="noStrike">
              <a:solidFill>
                <a:srgbClr val="000000"/>
              </a:solidFill>
              <a:effectLst/>
              <a:uFillTx/>
              <a:latin typeface="Arial"/>
            </a:endParaRPr>
          </a:p>
        </p:txBody>
      </p:sp>
      <p:sp>
        <p:nvSpPr>
          <p:cNvPr id="902" name="PlaceHolder 3"/>
          <p:cNvSpPr>
            <a:spLocks noGrp="1"/>
          </p:cNvSpPr>
          <p:nvPr>
            <p:ph type="sldNum" idx="107"/>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709C0F3-8180-48B3-A5EA-3A30D16424F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3" name="PlaceHolder 1"/>
          <p:cNvSpPr>
            <a:spLocks noGrp="1"/>
          </p:cNvSpPr>
          <p:nvPr>
            <p:ph type="sldImg"/>
          </p:nvPr>
        </p:nvSpPr>
        <p:spPr>
          <a:xfrm>
            <a:off x="685800" y="1143000"/>
            <a:ext cx="5483880" cy="3083760"/>
          </a:xfrm>
          <a:prstGeom prst="rect">
            <a:avLst/>
          </a:prstGeom>
          <a:ln w="0">
            <a:noFill/>
          </a:ln>
        </p:spPr>
      </p:sp>
      <p:sp>
        <p:nvSpPr>
          <p:cNvPr id="904"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preuve d'un refus est le message du script, pas une capture du code.</a:t>
            </a:r>
            <a:endParaRPr lang="fr-FR" sz="2000" b="0" u="none" strike="noStrike">
              <a:solidFill>
                <a:srgbClr val="000000"/>
              </a:solidFill>
              <a:effectLst/>
              <a:uFillTx/>
              <a:latin typeface="Arial"/>
            </a:endParaRPr>
          </a:p>
        </p:txBody>
      </p:sp>
      <p:sp>
        <p:nvSpPr>
          <p:cNvPr id="905" name="PlaceHolder 3"/>
          <p:cNvSpPr>
            <a:spLocks noGrp="1"/>
          </p:cNvSpPr>
          <p:nvPr>
            <p:ph type="sldNum" idx="108"/>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B176460-E9FA-4A39-9339-5732CA40A1D3}"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6" name="PlaceHolder 1"/>
          <p:cNvSpPr>
            <a:spLocks noGrp="1"/>
          </p:cNvSpPr>
          <p:nvPr>
            <p:ph type="sldImg"/>
          </p:nvPr>
        </p:nvSpPr>
        <p:spPr>
          <a:xfrm>
            <a:off x="685800" y="1143000"/>
            <a:ext cx="5483880" cy="3083760"/>
          </a:xfrm>
          <a:prstGeom prst="rect">
            <a:avLst/>
          </a:prstGeom>
          <a:ln w="0">
            <a:noFill/>
          </a:ln>
        </p:spPr>
      </p:sp>
      <p:sp>
        <p:nvSpPr>
          <p:cNvPr id="907"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lineage lisible va des sources à la table gold sans saut.</a:t>
            </a:r>
            <a:endParaRPr lang="fr-FR" sz="2000" b="0" u="none" strike="noStrike">
              <a:solidFill>
                <a:srgbClr val="000000"/>
              </a:solidFill>
              <a:effectLst/>
              <a:uFillTx/>
              <a:latin typeface="Arial"/>
            </a:endParaRPr>
          </a:p>
        </p:txBody>
      </p:sp>
      <p:sp>
        <p:nvSpPr>
          <p:cNvPr id="908" name="PlaceHolder 3"/>
          <p:cNvSpPr>
            <a:spLocks noGrp="1"/>
          </p:cNvSpPr>
          <p:nvPr>
            <p:ph type="sldNum" idx="109"/>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815AD55-0FD2-4B0A-9C3D-F0F188626BE9}"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9" name="PlaceHolder 1"/>
          <p:cNvSpPr>
            <a:spLocks noGrp="1"/>
          </p:cNvSpPr>
          <p:nvPr>
            <p:ph type="sldImg"/>
          </p:nvPr>
        </p:nvSpPr>
        <p:spPr>
          <a:xfrm>
            <a:off x="685800" y="1143000"/>
            <a:ext cx="5483880" cy="3083760"/>
          </a:xfrm>
          <a:prstGeom prst="rect">
            <a:avLst/>
          </a:prstGeom>
          <a:ln w="0">
            <a:noFill/>
          </a:ln>
        </p:spPr>
      </p:sp>
      <p:sp>
        <p:nvSpPr>
          <p:cNvPr id="910"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cochez uniquement ce que vous pouvez montrer. Une case non cochée et expliquée vaut mieux qu'une case cochée sans preuve.</a:t>
            </a:r>
            <a:endParaRPr lang="fr-FR" sz="2000" b="0" u="none" strike="noStrike">
              <a:solidFill>
                <a:srgbClr val="000000"/>
              </a:solidFill>
              <a:effectLst/>
              <a:uFillTx/>
              <a:latin typeface="Arial"/>
            </a:endParaRPr>
          </a:p>
        </p:txBody>
      </p:sp>
      <p:sp>
        <p:nvSpPr>
          <p:cNvPr id="911" name="PlaceHolder 3"/>
          <p:cNvSpPr>
            <a:spLocks noGrp="1"/>
          </p:cNvSpPr>
          <p:nvPr>
            <p:ph type="sldNum" idx="110"/>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6E02E4A-E159-4FB5-8DDE-BC9E56ECD49F}"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2" name="PlaceHolder 1"/>
          <p:cNvSpPr>
            <a:spLocks noGrp="1"/>
          </p:cNvSpPr>
          <p:nvPr>
            <p:ph type="sldImg"/>
          </p:nvPr>
        </p:nvSpPr>
        <p:spPr>
          <a:xfrm>
            <a:off x="685800" y="1143000"/>
            <a:ext cx="5483880" cy="3083760"/>
          </a:xfrm>
          <a:prstGeom prst="rect">
            <a:avLst/>
          </a:prstGeom>
          <a:ln w="0">
            <a:noFill/>
          </a:ln>
        </p:spPr>
      </p:sp>
      <p:sp>
        <p:nvSpPr>
          <p:cNvPr id="913"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914" name="PlaceHolder 3"/>
          <p:cNvSpPr>
            <a:spLocks noGrp="1"/>
          </p:cNvSpPr>
          <p:nvPr>
            <p:ph type="sldNum" idx="111"/>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C7DD23C-7A1D-4951-8C57-CA91C97C50F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5" name="PlaceHolder 1"/>
          <p:cNvSpPr>
            <a:spLocks noGrp="1"/>
          </p:cNvSpPr>
          <p:nvPr>
            <p:ph type="sldImg"/>
          </p:nvPr>
        </p:nvSpPr>
        <p:spPr>
          <a:xfrm>
            <a:off x="685800" y="1143000"/>
            <a:ext cx="5483880" cy="3083760"/>
          </a:xfrm>
          <a:prstGeom prst="rect">
            <a:avLst/>
          </a:prstGeom>
          <a:ln w="0">
            <a:noFill/>
          </a:ln>
        </p:spPr>
      </p:sp>
      <p:sp>
        <p:nvSpPr>
          <p:cNvPr id="916"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ne présentez pas un GO que le certificat contredit. Un NO-GO bien argumenté vaut un GO bien argumenté.</a:t>
            </a:r>
            <a:endParaRPr lang="fr-FR" sz="2000" b="0" u="none" strike="noStrike">
              <a:solidFill>
                <a:srgbClr val="000000"/>
              </a:solidFill>
              <a:effectLst/>
              <a:uFillTx/>
              <a:latin typeface="Arial"/>
            </a:endParaRPr>
          </a:p>
        </p:txBody>
      </p:sp>
      <p:sp>
        <p:nvSpPr>
          <p:cNvPr id="917" name="PlaceHolder 3"/>
          <p:cNvSpPr>
            <a:spLocks noGrp="1"/>
          </p:cNvSpPr>
          <p:nvPr>
            <p:ph type="sldNum" idx="112"/>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93C8F64-D068-42C3-B600-CC78C316F72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8" name="PlaceHolder 1"/>
          <p:cNvSpPr>
            <a:spLocks noGrp="1"/>
          </p:cNvSpPr>
          <p:nvPr>
            <p:ph type="sldImg"/>
          </p:nvPr>
        </p:nvSpPr>
        <p:spPr>
          <a:xfrm>
            <a:off x="685800" y="1143000"/>
            <a:ext cx="5483880" cy="3083760"/>
          </a:xfrm>
          <a:prstGeom prst="rect">
            <a:avLst/>
          </a:prstGeom>
          <a:ln w="0">
            <a:noFill/>
          </a:ln>
        </p:spPr>
      </p:sp>
      <p:sp>
        <p:nvSpPr>
          <p:cNvPr id="919"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les chiffres de cette page sont ceux de S5, sans retouche.</a:t>
            </a:r>
            <a:endParaRPr lang="fr-FR" sz="2000" b="0" u="none" strike="noStrike">
              <a:solidFill>
                <a:srgbClr val="000000"/>
              </a:solidFill>
              <a:effectLst/>
              <a:uFillTx/>
              <a:latin typeface="Arial"/>
            </a:endParaRPr>
          </a:p>
        </p:txBody>
      </p:sp>
      <p:sp>
        <p:nvSpPr>
          <p:cNvPr id="920" name="PlaceHolder 3"/>
          <p:cNvSpPr>
            <a:spLocks noGrp="1"/>
          </p:cNvSpPr>
          <p:nvPr>
            <p:ph type="sldNum" idx="113"/>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6297D1C-9C22-4444-9062-D1F7E3495DE7}"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1" name="PlaceHolder 1"/>
          <p:cNvSpPr>
            <a:spLocks noGrp="1"/>
          </p:cNvSpPr>
          <p:nvPr>
            <p:ph type="sldImg"/>
          </p:nvPr>
        </p:nvSpPr>
        <p:spPr>
          <a:xfrm>
            <a:off x="685800" y="1143000"/>
            <a:ext cx="5483880" cy="3083760"/>
          </a:xfrm>
          <a:prstGeom prst="rect">
            <a:avLst/>
          </a:prstGeom>
          <a:ln w="0">
            <a:noFill/>
          </a:ln>
        </p:spPr>
      </p:sp>
      <p:sp>
        <p:nvSpPr>
          <p:cNvPr id="922"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un écart non chiffré n'est pas un écart, c'est une impression.</a:t>
            </a:r>
            <a:endParaRPr lang="fr-FR" sz="2000" b="0" u="none" strike="noStrike">
              <a:solidFill>
                <a:srgbClr val="000000"/>
              </a:solidFill>
              <a:effectLst/>
              <a:uFillTx/>
              <a:latin typeface="Arial"/>
            </a:endParaRPr>
          </a:p>
        </p:txBody>
      </p:sp>
      <p:sp>
        <p:nvSpPr>
          <p:cNvPr id="923" name="PlaceHolder 3"/>
          <p:cNvSpPr>
            <a:spLocks noGrp="1"/>
          </p:cNvSpPr>
          <p:nvPr>
            <p:ph type="sldNum" idx="114"/>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055678F-801B-45D8-BD13-B91BBEFFAC85}"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4" name="PlaceHolder 1"/>
          <p:cNvSpPr>
            <a:spLocks noGrp="1"/>
          </p:cNvSpPr>
          <p:nvPr>
            <p:ph type="sldImg"/>
          </p:nvPr>
        </p:nvSpPr>
        <p:spPr>
          <a:xfrm>
            <a:off x="685800" y="1143000"/>
            <a:ext cx="5483880" cy="3083760"/>
          </a:xfrm>
          <a:prstGeom prst="rect">
            <a:avLst/>
          </a:prstGeom>
          <a:ln w="0">
            <a:noFill/>
          </a:ln>
        </p:spPr>
      </p:sp>
      <p:sp>
        <p:nvSpPr>
          <p:cNvPr id="925"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Consigne : la décision est attribuée à un rôle, pas au groupe.</a:t>
            </a:r>
            <a:endParaRPr lang="fr-FR" sz="2000" b="0" u="none" strike="noStrike">
              <a:solidFill>
                <a:srgbClr val="000000"/>
              </a:solidFill>
              <a:effectLst/>
              <a:uFillTx/>
              <a:latin typeface="Arial"/>
            </a:endParaRPr>
          </a:p>
        </p:txBody>
      </p:sp>
      <p:sp>
        <p:nvSpPr>
          <p:cNvPr id="926" name="PlaceHolder 3"/>
          <p:cNvSpPr>
            <a:spLocks noGrp="1"/>
          </p:cNvSpPr>
          <p:nvPr>
            <p:ph type="sldNum" idx="115"/>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70BD79A-1F1E-4383-96E3-10E314683BB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7" name="PlaceHolder 1"/>
          <p:cNvSpPr>
            <a:spLocks noGrp="1"/>
          </p:cNvSpPr>
          <p:nvPr>
            <p:ph type="sldImg"/>
          </p:nvPr>
        </p:nvSpPr>
        <p:spPr>
          <a:xfrm>
            <a:off x="685800" y="1143000"/>
            <a:ext cx="5483880" cy="3083760"/>
          </a:xfrm>
          <a:prstGeom prst="rect">
            <a:avLst/>
          </a:prstGeom>
          <a:ln w="0">
            <a:noFill/>
          </a:ln>
        </p:spPr>
      </p:sp>
      <p:sp>
        <p:nvSpPr>
          <p:cNvPr id="928"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indent="0" algn="l">
              <a:buNone/>
            </a:pPr>
            <a:endParaRPr lang="fr-FR" sz="1800" b="0" u="none" strike="noStrike">
              <a:solidFill>
                <a:srgbClr val="000000"/>
              </a:solidFill>
              <a:effectLst/>
              <a:uFillTx/>
              <a:latin typeface="Arial"/>
            </a:endParaRPr>
          </a:p>
        </p:txBody>
      </p:sp>
      <p:sp>
        <p:nvSpPr>
          <p:cNvPr id="929" name="PlaceHolder 3"/>
          <p:cNvSpPr>
            <a:spLocks noGrp="1"/>
          </p:cNvSpPr>
          <p:nvPr>
            <p:ph type="sldNum" idx="116"/>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B0C6210-58FC-4C7B-9680-65CFA6472FE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0" name="PlaceHolder 1"/>
          <p:cNvSpPr>
            <a:spLocks noGrp="1"/>
          </p:cNvSpPr>
          <p:nvPr>
            <p:ph type="sldImg"/>
          </p:nvPr>
        </p:nvSpPr>
        <p:spPr>
          <a:xfrm>
            <a:off x="685800" y="1143000"/>
            <a:ext cx="5483880" cy="3083760"/>
          </a:xfrm>
          <a:prstGeom prst="rect">
            <a:avLst/>
          </a:prstGeom>
          <a:ln w="0">
            <a:noFill/>
          </a:ln>
        </p:spPr>
      </p:sp>
      <p:sp>
        <p:nvSpPr>
          <p:cNvPr id="931"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Ce journal doit être identique à celui du dépôt (livrables/JOURNAL_DECISIONS.md).</a:t>
            </a:r>
            <a:endParaRPr lang="fr-FR" sz="2000" b="0" u="none" strike="noStrike">
              <a:solidFill>
                <a:srgbClr val="000000"/>
              </a:solidFill>
              <a:effectLst/>
              <a:uFillTx/>
              <a:latin typeface="Arial"/>
            </a:endParaRPr>
          </a:p>
        </p:txBody>
      </p:sp>
      <p:sp>
        <p:nvSpPr>
          <p:cNvPr id="932" name="PlaceHolder 3"/>
          <p:cNvSpPr>
            <a:spLocks noGrp="1"/>
          </p:cNvSpPr>
          <p:nvPr>
            <p:ph type="sldNum" idx="117"/>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5E53F05-31F5-4AAD-BDA7-2D55782C53B0}"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3" name="PlaceHolder 1"/>
          <p:cNvSpPr>
            <a:spLocks noGrp="1"/>
          </p:cNvSpPr>
          <p:nvPr>
            <p:ph type="sldImg"/>
          </p:nvPr>
        </p:nvSpPr>
        <p:spPr>
          <a:xfrm>
            <a:off x="685800" y="1143000"/>
            <a:ext cx="5483880" cy="3083760"/>
          </a:xfrm>
          <a:prstGeom prst="rect">
            <a:avLst/>
          </a:prstGeom>
          <a:ln w="0">
            <a:noFill/>
          </a:ln>
        </p:spPr>
      </p:sp>
      <p:sp>
        <p:nvSpPr>
          <p:cNvPr id="934"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Reprenez les totaux de AVANCEMENT.md.</a:t>
            </a:r>
            <a:endParaRPr lang="fr-FR" sz="2000" b="0" u="none" strike="noStrike">
              <a:solidFill>
                <a:srgbClr val="000000"/>
              </a:solidFill>
              <a:effectLst/>
              <a:uFillTx/>
              <a:latin typeface="Arial"/>
            </a:endParaRPr>
          </a:p>
        </p:txBody>
      </p:sp>
      <p:sp>
        <p:nvSpPr>
          <p:cNvPr id="935" name="PlaceHolder 3"/>
          <p:cNvSpPr>
            <a:spLocks noGrp="1"/>
          </p:cNvSpPr>
          <p:nvPr>
            <p:ph type="sldNum" idx="118"/>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011F89F-6006-4B22-A7F9-43936A5B006E}"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6" name="PlaceHolder 1"/>
          <p:cNvSpPr>
            <a:spLocks noGrp="1"/>
          </p:cNvSpPr>
          <p:nvPr>
            <p:ph type="sldImg"/>
          </p:nvPr>
        </p:nvSpPr>
        <p:spPr>
          <a:xfrm>
            <a:off x="685800" y="1143000"/>
            <a:ext cx="5483880" cy="3083760"/>
          </a:xfrm>
          <a:prstGeom prst="rect">
            <a:avLst/>
          </a:prstGeom>
          <a:ln w="0">
            <a:noFill/>
          </a:ln>
        </p:spPr>
      </p:sp>
      <p:sp>
        <p:nvSpPr>
          <p:cNvPr id="937"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Les étiquettes fixent l'état rendu à la fin de chaque séance.</a:t>
            </a:r>
            <a:endParaRPr lang="fr-FR" sz="2000" b="0" u="none" strike="noStrike">
              <a:solidFill>
                <a:srgbClr val="000000"/>
              </a:solidFill>
              <a:effectLst/>
              <a:uFillTx/>
              <a:latin typeface="Arial"/>
            </a:endParaRPr>
          </a:p>
        </p:txBody>
      </p:sp>
      <p:sp>
        <p:nvSpPr>
          <p:cNvPr id="938" name="PlaceHolder 3"/>
          <p:cNvSpPr>
            <a:spLocks noGrp="1"/>
          </p:cNvSpPr>
          <p:nvPr>
            <p:ph type="sldNum" idx="119"/>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D24EACE2-0358-4261-BE06-B8E1CCC1310B}"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9" name="PlaceHolder 1"/>
          <p:cNvSpPr>
            <a:spLocks noGrp="1"/>
          </p:cNvSpPr>
          <p:nvPr>
            <p:ph type="sldImg"/>
          </p:nvPr>
        </p:nvSpPr>
        <p:spPr>
          <a:xfrm>
            <a:off x="685800" y="1143000"/>
            <a:ext cx="5483880" cy="3083760"/>
          </a:xfrm>
          <a:prstGeom prst="rect">
            <a:avLst/>
          </a:prstGeom>
          <a:ln w="0">
            <a:noFill/>
          </a:ln>
        </p:spPr>
      </p:sp>
      <p:sp>
        <p:nvSpPr>
          <p:cNvPr id="940" name="PlaceHolder 2"/>
          <p:cNvSpPr>
            <a:spLocks noGrp="1"/>
          </p:cNvSpPr>
          <p:nvPr>
            <p:ph type="body"/>
          </p:nvPr>
        </p:nvSpPr>
        <p:spPr>
          <a:xfrm>
            <a:off x="685800" y="4400640"/>
            <a:ext cx="5483880" cy="3597840"/>
          </a:xfrm>
          <a:prstGeom prst="rect">
            <a:avLst/>
          </a:prstGeom>
          <a:noFill/>
          <a:ln w="0">
            <a:noFill/>
          </a:ln>
        </p:spPr>
        <p:txBody>
          <a:bodyPr lIns="0" tIns="0" rIns="0" bIns="0" anchor="t">
            <a:noAutofit/>
          </a:bodyPr>
          <a:p>
            <a:pPr marL="216000" indent="-216000" algn="l">
              <a:lnSpc>
                <a:spcPct val="100000"/>
              </a:lnSpc>
              <a:buNone/>
              <a:tabLst>
                <a:tab pos="0" algn="l"/>
              </a:tabLst>
            </a:pPr>
            <a:r>
              <a:rPr lang="fr-FR" sz="2000" b="0" u="none" strike="noStrike">
                <a:solidFill>
                  <a:srgbClr val="000000"/>
                </a:solidFill>
                <a:effectLst/>
                <a:uFillTx/>
                <a:latin typeface="Arial"/>
              </a:rPr>
              <a:t>Cochez en remplaçant [ ] par [x].</a:t>
            </a:r>
            <a:endParaRPr lang="fr-FR" sz="2000" b="0" u="none" strike="noStrike">
              <a:solidFill>
                <a:srgbClr val="000000"/>
              </a:solidFill>
              <a:effectLst/>
              <a:uFillTx/>
              <a:latin typeface="Arial"/>
            </a:endParaRPr>
          </a:p>
        </p:txBody>
      </p:sp>
      <p:sp>
        <p:nvSpPr>
          <p:cNvPr id="941" name="PlaceHolder 3"/>
          <p:cNvSpPr>
            <a:spLocks noGrp="1"/>
          </p:cNvSpPr>
          <p:nvPr>
            <p:ph type="sldNum" idx="120"/>
          </p:nvPr>
        </p:nvSpPr>
        <p:spPr>
          <a:xfrm>
            <a:off x="3884760" y="8685360"/>
            <a:ext cx="2969280" cy="456120"/>
          </a:xfrm>
          <a:prstGeom prst="rect">
            <a:avLst/>
          </a:prstGeom>
          <a:noFill/>
          <a:ln w="0">
            <a:noFill/>
          </a:ln>
        </p:spPr>
        <p:txBody>
          <a:bodyPr lIns="0" tIns="0" rIns="0" bIns="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2195FE2A-7021-4743-A029-A1C83232C90D}" type="slidenum">
              <a:rPr lang="en-US" sz="1200" b="0" u="none" strike="noStrike">
                <a:solidFill>
                  <a:srgbClr val="000000"/>
                </a:solidFill>
                <a:effectLst/>
                <a:uFillTx/>
                <a:latin typeface="Times New Roman"/>
              </a:rPr>
              <a:t>&lt;number&gt;</a:t>
            </a:fld>
            <a:endParaRPr lang="fr-FR"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25.xml"/><Relationship Id="rId2" Type="http://schemas.openxmlformats.org/officeDocument/2006/relationships/image" Target="../media/image1.png"/><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0D1B2A"/>
        </a:solidFill>
      </p:bgPr>
    </p:bg>
    <p:spTree>
      <p:nvGrpSpPr>
        <p:cNvPr id="1" name=""/>
        <p:cNvGrpSpPr/>
        <p:nvPr/>
      </p:nvGrpSpPr>
      <p:grpSpPr>
        <a:xfrm>
          <a:off x="0" y="0"/>
          <a:ext cx="0" cy="0"/>
          <a:chOff x="0" y="0"/>
          <a:chExt cx="0" cy="0"/>
        </a:xfrm>
      </p:grpSpPr>
      <p:pic>
        <p:nvPicPr>
          <p:cNvPr id="2" name="Image 0" descr="img/deco_dark.png"/>
          <p:cNvPicPr/>
          <p:nvPr/>
        </p:nvPicPr>
        <p:blipFill>
          <a:blip r:embed="rId2"/>
          <a:stretch/>
        </p:blipFill>
        <p:spPr>
          <a:xfrm>
            <a:off x="6949440" y="1097280"/>
            <a:ext cx="4752360" cy="4752360"/>
          </a:xfrm>
          <a:prstGeom prst="rect">
            <a:avLst/>
          </a:prstGeom>
          <a:noFill/>
          <a:ln w="0">
            <a:noFill/>
          </a:ln>
        </p:spPr>
      </p:pic>
      <p:pic>
        <p:nvPicPr>
          <p:cNvPr id="3" name="Image 1" descr="img/logo_dark.png"/>
          <p:cNvPicPr/>
          <p:nvPr/>
        </p:nvPicPr>
        <p:blipFill>
          <a:blip r:embed="rId3"/>
          <a:stretch/>
        </p:blipFill>
        <p:spPr>
          <a:xfrm>
            <a:off x="640080" y="640080"/>
            <a:ext cx="3472200" cy="729000"/>
          </a:xfrm>
          <a:prstGeom prst="rect">
            <a:avLst/>
          </a:prstGeom>
          <a:noFill/>
          <a:ln w="0">
            <a:noFill/>
          </a:ln>
        </p:spPr>
      </p:pic>
      <p:sp>
        <p:nvSpPr>
          <p:cNvPr id="4"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6"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0D1B2A"/>
        </a:solidFill>
      </p:bgPr>
    </p:bg>
    <p:spTree>
      <p:nvGrpSpPr>
        <p:cNvPr id="1" name=""/>
        <p:cNvGrpSpPr/>
        <p:nvPr/>
      </p:nvGrpSpPr>
      <p:grpSpPr>
        <a:xfrm>
          <a:off x="0" y="0"/>
          <a:ext cx="0" cy="0"/>
          <a:chOff x="0" y="0"/>
          <a:chExt cx="0" cy="0"/>
        </a:xfrm>
      </p:grpSpPr>
      <p:pic>
        <p:nvPicPr>
          <p:cNvPr id="7" name="Image 0" descr="img/deco_dark.png"/>
          <p:cNvPicPr/>
          <p:nvPr/>
        </p:nvPicPr>
        <p:blipFill>
          <a:blip r:embed="rId2"/>
          <a:stretch/>
        </p:blipFill>
        <p:spPr>
          <a:xfrm>
            <a:off x="6949440" y="1097280"/>
            <a:ext cx="4752360" cy="4752360"/>
          </a:xfrm>
          <a:prstGeom prst="rect">
            <a:avLst/>
          </a:prstGeom>
          <a:noFill/>
          <a:ln w="0">
            <a:noFill/>
          </a:ln>
        </p:spPr>
      </p:pic>
      <p:pic>
        <p:nvPicPr>
          <p:cNvPr id="8" name="Image 1" descr="img/logo_dark.png"/>
          <p:cNvPicPr/>
          <p:nvPr/>
        </p:nvPicPr>
        <p:blipFill>
          <a:blip r:embed="rId3"/>
          <a:stretch/>
        </p:blipFill>
        <p:spPr>
          <a:xfrm>
            <a:off x="640080" y="640080"/>
            <a:ext cx="3472200" cy="729000"/>
          </a:xfrm>
          <a:prstGeom prst="rect">
            <a:avLst/>
          </a:prstGeom>
          <a:noFill/>
          <a:ln w="0">
            <a:noFill/>
          </a:ln>
        </p:spPr>
      </p:pic>
      <p:sp>
        <p:nvSpPr>
          <p:cNvPr id="9"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1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1"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0D1B2A"/>
        </a:solidFill>
      </p:bgPr>
    </p:bg>
    <p:spTree>
      <p:nvGrpSpPr>
        <p:cNvPr id="1" name=""/>
        <p:cNvGrpSpPr/>
        <p:nvPr/>
      </p:nvGrpSpPr>
      <p:grpSpPr>
        <a:xfrm>
          <a:off x="0" y="0"/>
          <a:ext cx="0" cy="0"/>
          <a:chOff x="0" y="0"/>
          <a:chExt cx="0" cy="0"/>
        </a:xfrm>
      </p:grpSpPr>
      <p:pic>
        <p:nvPicPr>
          <p:cNvPr id="13" name="Image 0" descr="img/deco_dark.png"/>
          <p:cNvPicPr/>
          <p:nvPr/>
        </p:nvPicPr>
        <p:blipFill>
          <a:blip r:embed="rId2"/>
          <a:stretch/>
        </p:blipFill>
        <p:spPr>
          <a:xfrm>
            <a:off x="6949440" y="1097280"/>
            <a:ext cx="4752360" cy="4752360"/>
          </a:xfrm>
          <a:prstGeom prst="rect">
            <a:avLst/>
          </a:prstGeom>
          <a:noFill/>
          <a:ln w="0">
            <a:noFill/>
          </a:ln>
        </p:spPr>
      </p:pic>
      <p:pic>
        <p:nvPicPr>
          <p:cNvPr id="14" name="Image 1" descr="img/logo_dark.png"/>
          <p:cNvPicPr/>
          <p:nvPr/>
        </p:nvPicPr>
        <p:blipFill>
          <a:blip r:embed="rId3"/>
          <a:stretch/>
        </p:blipFill>
        <p:spPr>
          <a:xfrm>
            <a:off x="640080" y="640080"/>
            <a:ext cx="3472200" cy="729000"/>
          </a:xfrm>
          <a:prstGeom prst="rect">
            <a:avLst/>
          </a:prstGeom>
          <a:noFill/>
          <a:ln w="0">
            <a:noFill/>
          </a:ln>
        </p:spPr>
      </p:pic>
      <p:sp>
        <p:nvSpPr>
          <p:cNvPr id="15"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1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bg>
      <p:bgPr>
        <a:solidFill>
          <a:srgbClr val="0D1B2A"/>
        </a:solidFill>
      </p:bgPr>
    </p:bg>
    <p:spTree>
      <p:nvGrpSpPr>
        <p:cNvPr id="1" name=""/>
        <p:cNvGrpSpPr/>
        <p:nvPr/>
      </p:nvGrpSpPr>
      <p:grpSpPr>
        <a:xfrm>
          <a:off x="0" y="0"/>
          <a:ext cx="0" cy="0"/>
          <a:chOff x="0" y="0"/>
          <a:chExt cx="0" cy="0"/>
        </a:xfrm>
      </p:grpSpPr>
      <p:pic>
        <p:nvPicPr>
          <p:cNvPr id="17" name="Image 0" descr="img/deco_dark.png"/>
          <p:cNvPicPr/>
          <p:nvPr/>
        </p:nvPicPr>
        <p:blipFill>
          <a:blip r:embed="rId2"/>
          <a:stretch/>
        </p:blipFill>
        <p:spPr>
          <a:xfrm>
            <a:off x="6949440" y="1097280"/>
            <a:ext cx="4752360" cy="4752360"/>
          </a:xfrm>
          <a:prstGeom prst="rect">
            <a:avLst/>
          </a:prstGeom>
          <a:noFill/>
          <a:ln w="0">
            <a:noFill/>
          </a:ln>
        </p:spPr>
      </p:pic>
      <p:pic>
        <p:nvPicPr>
          <p:cNvPr id="18" name="Image 1" descr="img/logo_dark.png"/>
          <p:cNvPicPr/>
          <p:nvPr/>
        </p:nvPicPr>
        <p:blipFill>
          <a:blip r:embed="rId3"/>
          <a:stretch/>
        </p:blipFill>
        <p:spPr>
          <a:xfrm>
            <a:off x="640080" y="640080"/>
            <a:ext cx="3472200" cy="729000"/>
          </a:xfrm>
          <a:prstGeom prst="rect">
            <a:avLst/>
          </a:prstGeom>
          <a:noFill/>
          <a:ln w="0">
            <a:noFill/>
          </a:ln>
        </p:spPr>
      </p:pic>
      <p:sp>
        <p:nvSpPr>
          <p:cNvPr id="19"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Tree>
  </p:cSld>
  <p:clrMapOvr>
    <a:masterClrMapping/>
  </p:clrMapOvr>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0D1B2A"/>
        </a:solidFill>
      </p:bgPr>
    </p:bg>
    <p:spTree>
      <p:nvGrpSpPr>
        <p:cNvPr id="1" name=""/>
        <p:cNvGrpSpPr/>
        <p:nvPr/>
      </p:nvGrpSpPr>
      <p:grpSpPr>
        <a:xfrm>
          <a:off x="0" y="0"/>
          <a:ext cx="0" cy="0"/>
          <a:chOff x="0" y="0"/>
          <a:chExt cx="0" cy="0"/>
        </a:xfrm>
      </p:grpSpPr>
      <p:pic>
        <p:nvPicPr>
          <p:cNvPr id="20" name="Image 0" descr="img/deco_dark.png"/>
          <p:cNvPicPr/>
          <p:nvPr/>
        </p:nvPicPr>
        <p:blipFill>
          <a:blip r:embed="rId2"/>
          <a:stretch/>
        </p:blipFill>
        <p:spPr>
          <a:xfrm>
            <a:off x="6949440" y="1097280"/>
            <a:ext cx="4752360" cy="4752360"/>
          </a:xfrm>
          <a:prstGeom prst="rect">
            <a:avLst/>
          </a:prstGeom>
          <a:noFill/>
          <a:ln w="0">
            <a:noFill/>
          </a:ln>
        </p:spPr>
      </p:pic>
      <p:pic>
        <p:nvPicPr>
          <p:cNvPr id="21" name="Image 1" descr="img/logo_dark.png"/>
          <p:cNvPicPr/>
          <p:nvPr/>
        </p:nvPicPr>
        <p:blipFill>
          <a:blip r:embed="rId3"/>
          <a:stretch/>
        </p:blipFill>
        <p:spPr>
          <a:xfrm>
            <a:off x="640080" y="640080"/>
            <a:ext cx="3472200" cy="729000"/>
          </a:xfrm>
          <a:prstGeom prst="rect">
            <a:avLst/>
          </a:prstGeom>
          <a:noFill/>
          <a:ln w="0">
            <a:noFill/>
          </a:ln>
        </p:spPr>
      </p:pic>
      <p:sp>
        <p:nvSpPr>
          <p:cNvPr id="22"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2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4"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5"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6"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0D1B2A"/>
        </a:solidFill>
      </p:bgPr>
    </p:bg>
    <p:spTree>
      <p:nvGrpSpPr>
        <p:cNvPr id="1" name=""/>
        <p:cNvGrpSpPr/>
        <p:nvPr/>
      </p:nvGrpSpPr>
      <p:grpSpPr>
        <a:xfrm>
          <a:off x="0" y="0"/>
          <a:ext cx="0" cy="0"/>
          <a:chOff x="0" y="0"/>
          <a:chExt cx="0" cy="0"/>
        </a:xfrm>
      </p:grpSpPr>
      <p:pic>
        <p:nvPicPr>
          <p:cNvPr id="27" name="Image 0" descr="img/deco_dark.png"/>
          <p:cNvPicPr/>
          <p:nvPr/>
        </p:nvPicPr>
        <p:blipFill>
          <a:blip r:embed="rId2"/>
          <a:stretch/>
        </p:blipFill>
        <p:spPr>
          <a:xfrm>
            <a:off x="6949440" y="1097280"/>
            <a:ext cx="4752360" cy="4752360"/>
          </a:xfrm>
          <a:prstGeom prst="rect">
            <a:avLst/>
          </a:prstGeom>
          <a:noFill/>
          <a:ln w="0">
            <a:noFill/>
          </a:ln>
        </p:spPr>
      </p:pic>
      <p:pic>
        <p:nvPicPr>
          <p:cNvPr id="28" name="Image 1" descr="img/logo_dark.png"/>
          <p:cNvPicPr/>
          <p:nvPr/>
        </p:nvPicPr>
        <p:blipFill>
          <a:blip r:embed="rId3"/>
          <a:stretch/>
        </p:blipFill>
        <p:spPr>
          <a:xfrm>
            <a:off x="640080" y="640080"/>
            <a:ext cx="3472200" cy="729000"/>
          </a:xfrm>
          <a:prstGeom prst="rect">
            <a:avLst/>
          </a:prstGeom>
          <a:noFill/>
          <a:ln w="0">
            <a:noFill/>
          </a:ln>
        </p:spPr>
      </p:pic>
      <p:sp>
        <p:nvSpPr>
          <p:cNvPr id="29"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3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31"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2"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3"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0D1B2A"/>
        </a:solidFill>
      </p:bgPr>
    </p:bg>
    <p:spTree>
      <p:nvGrpSpPr>
        <p:cNvPr id="1" name=""/>
        <p:cNvGrpSpPr/>
        <p:nvPr/>
      </p:nvGrpSpPr>
      <p:grpSpPr>
        <a:xfrm>
          <a:off x="0" y="0"/>
          <a:ext cx="0" cy="0"/>
          <a:chOff x="0" y="0"/>
          <a:chExt cx="0" cy="0"/>
        </a:xfrm>
      </p:grpSpPr>
      <p:pic>
        <p:nvPicPr>
          <p:cNvPr id="34" name="Image 0" descr="img/deco_dark.png"/>
          <p:cNvPicPr/>
          <p:nvPr/>
        </p:nvPicPr>
        <p:blipFill>
          <a:blip r:embed="rId2"/>
          <a:stretch/>
        </p:blipFill>
        <p:spPr>
          <a:xfrm>
            <a:off x="6949440" y="1097280"/>
            <a:ext cx="4752360" cy="4752360"/>
          </a:xfrm>
          <a:prstGeom prst="rect">
            <a:avLst/>
          </a:prstGeom>
          <a:noFill/>
          <a:ln w="0">
            <a:noFill/>
          </a:ln>
        </p:spPr>
      </p:pic>
      <p:pic>
        <p:nvPicPr>
          <p:cNvPr id="35" name="Image 1" descr="img/logo_dark.png"/>
          <p:cNvPicPr/>
          <p:nvPr/>
        </p:nvPicPr>
        <p:blipFill>
          <a:blip r:embed="rId3"/>
          <a:stretch/>
        </p:blipFill>
        <p:spPr>
          <a:xfrm>
            <a:off x="640080" y="640080"/>
            <a:ext cx="3472200" cy="729000"/>
          </a:xfrm>
          <a:prstGeom prst="rect">
            <a:avLst/>
          </a:prstGeom>
          <a:noFill/>
          <a:ln w="0">
            <a:noFill/>
          </a:ln>
        </p:spPr>
      </p:pic>
      <p:sp>
        <p:nvSpPr>
          <p:cNvPr id="36"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37"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38"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39"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0"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0D1B2A"/>
        </a:solidFill>
      </p:bgPr>
    </p:bg>
    <p:spTree>
      <p:nvGrpSpPr>
        <p:cNvPr id="1" name=""/>
        <p:cNvGrpSpPr/>
        <p:nvPr/>
      </p:nvGrpSpPr>
      <p:grpSpPr>
        <a:xfrm>
          <a:off x="0" y="0"/>
          <a:ext cx="0" cy="0"/>
          <a:chOff x="0" y="0"/>
          <a:chExt cx="0" cy="0"/>
        </a:xfrm>
      </p:grpSpPr>
      <p:pic>
        <p:nvPicPr>
          <p:cNvPr id="41" name="Image 0" descr="img/deco_dark.png"/>
          <p:cNvPicPr/>
          <p:nvPr/>
        </p:nvPicPr>
        <p:blipFill>
          <a:blip r:embed="rId2"/>
          <a:stretch/>
        </p:blipFill>
        <p:spPr>
          <a:xfrm>
            <a:off x="6949440" y="1097280"/>
            <a:ext cx="4752360" cy="4752360"/>
          </a:xfrm>
          <a:prstGeom prst="rect">
            <a:avLst/>
          </a:prstGeom>
          <a:noFill/>
          <a:ln w="0">
            <a:noFill/>
          </a:ln>
        </p:spPr>
      </p:pic>
      <p:pic>
        <p:nvPicPr>
          <p:cNvPr id="42" name="Image 1" descr="img/logo_dark.png"/>
          <p:cNvPicPr/>
          <p:nvPr/>
        </p:nvPicPr>
        <p:blipFill>
          <a:blip r:embed="rId3"/>
          <a:stretch/>
        </p:blipFill>
        <p:spPr>
          <a:xfrm>
            <a:off x="640080" y="640080"/>
            <a:ext cx="3472200" cy="729000"/>
          </a:xfrm>
          <a:prstGeom prst="rect">
            <a:avLst/>
          </a:prstGeom>
          <a:noFill/>
          <a:ln w="0">
            <a:noFill/>
          </a:ln>
        </p:spPr>
      </p:pic>
      <p:sp>
        <p:nvSpPr>
          <p:cNvPr id="43"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4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45"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46"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0D1B2A"/>
        </a:solidFill>
      </p:bgPr>
    </p:bg>
    <p:spTree>
      <p:nvGrpSpPr>
        <p:cNvPr id="1" name=""/>
        <p:cNvGrpSpPr/>
        <p:nvPr/>
      </p:nvGrpSpPr>
      <p:grpSpPr>
        <a:xfrm>
          <a:off x="0" y="0"/>
          <a:ext cx="0" cy="0"/>
          <a:chOff x="0" y="0"/>
          <a:chExt cx="0" cy="0"/>
        </a:xfrm>
      </p:grpSpPr>
      <p:pic>
        <p:nvPicPr>
          <p:cNvPr id="47" name="Image 0" descr="img/deco_dark.png"/>
          <p:cNvPicPr/>
          <p:nvPr/>
        </p:nvPicPr>
        <p:blipFill>
          <a:blip r:embed="rId2"/>
          <a:stretch/>
        </p:blipFill>
        <p:spPr>
          <a:xfrm>
            <a:off x="6949440" y="1097280"/>
            <a:ext cx="4752360" cy="4752360"/>
          </a:xfrm>
          <a:prstGeom prst="rect">
            <a:avLst/>
          </a:prstGeom>
          <a:noFill/>
          <a:ln w="0">
            <a:noFill/>
          </a:ln>
        </p:spPr>
      </p:pic>
      <p:pic>
        <p:nvPicPr>
          <p:cNvPr id="48" name="Image 1" descr="img/logo_dark.png"/>
          <p:cNvPicPr/>
          <p:nvPr/>
        </p:nvPicPr>
        <p:blipFill>
          <a:blip r:embed="rId3"/>
          <a:stretch/>
        </p:blipFill>
        <p:spPr>
          <a:xfrm>
            <a:off x="640080" y="640080"/>
            <a:ext cx="3472200" cy="729000"/>
          </a:xfrm>
          <a:prstGeom prst="rect">
            <a:avLst/>
          </a:prstGeom>
          <a:noFill/>
          <a:ln w="0">
            <a:noFill/>
          </a:ln>
        </p:spPr>
      </p:pic>
      <p:sp>
        <p:nvSpPr>
          <p:cNvPr id="49"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51"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52"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53"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54"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0D1B2A"/>
        </a:solidFill>
      </p:bgPr>
    </p:bg>
    <p:spTree>
      <p:nvGrpSpPr>
        <p:cNvPr id="1" name=""/>
        <p:cNvGrpSpPr/>
        <p:nvPr/>
      </p:nvGrpSpPr>
      <p:grpSpPr>
        <a:xfrm>
          <a:off x="0" y="0"/>
          <a:ext cx="0" cy="0"/>
          <a:chOff x="0" y="0"/>
          <a:chExt cx="0" cy="0"/>
        </a:xfrm>
      </p:grpSpPr>
      <p:pic>
        <p:nvPicPr>
          <p:cNvPr id="55" name="Image 0" descr="img/deco_dark.png"/>
          <p:cNvPicPr/>
          <p:nvPr/>
        </p:nvPicPr>
        <p:blipFill>
          <a:blip r:embed="rId2"/>
          <a:stretch/>
        </p:blipFill>
        <p:spPr>
          <a:xfrm>
            <a:off x="6949440" y="1097280"/>
            <a:ext cx="4752360" cy="4752360"/>
          </a:xfrm>
          <a:prstGeom prst="rect">
            <a:avLst/>
          </a:prstGeom>
          <a:noFill/>
          <a:ln w="0">
            <a:noFill/>
          </a:ln>
        </p:spPr>
      </p:pic>
      <p:pic>
        <p:nvPicPr>
          <p:cNvPr id="56" name="Image 1" descr="img/logo_dark.png"/>
          <p:cNvPicPr/>
          <p:nvPr/>
        </p:nvPicPr>
        <p:blipFill>
          <a:blip r:embed="rId3"/>
          <a:stretch/>
        </p:blipFill>
        <p:spPr>
          <a:xfrm>
            <a:off x="640080" y="640080"/>
            <a:ext cx="3472200" cy="729000"/>
          </a:xfrm>
          <a:prstGeom prst="rect">
            <a:avLst/>
          </a:prstGeom>
          <a:noFill/>
          <a:ln w="0">
            <a:noFill/>
          </a:ln>
        </p:spPr>
      </p:pic>
      <p:sp>
        <p:nvSpPr>
          <p:cNvPr id="57"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58"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59"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0"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1"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2"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3"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64"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0D1B2A"/>
        </a:solidFill>
      </p:bgPr>
    </p:bg>
    <p:spTree>
      <p:nvGrpSpPr>
        <p:cNvPr id="1" name=""/>
        <p:cNvGrpSpPr/>
        <p:nvPr/>
      </p:nvGrpSpPr>
      <p:grpSpPr>
        <a:xfrm>
          <a:off x="0" y="0"/>
          <a:ext cx="0" cy="0"/>
          <a:chOff x="0" y="0"/>
          <a:chExt cx="0" cy="0"/>
        </a:xfrm>
      </p:grpSpPr>
      <p:pic>
        <p:nvPicPr>
          <p:cNvPr id="65" name="Image 0" descr="img/deco_dark.png"/>
          <p:cNvPicPr/>
          <p:nvPr/>
        </p:nvPicPr>
        <p:blipFill>
          <a:blip r:embed="rId2"/>
          <a:stretch/>
        </p:blipFill>
        <p:spPr>
          <a:xfrm>
            <a:off x="6949440" y="1097280"/>
            <a:ext cx="4752360" cy="4752360"/>
          </a:xfrm>
          <a:prstGeom prst="rect">
            <a:avLst/>
          </a:prstGeom>
          <a:noFill/>
          <a:ln w="0">
            <a:noFill/>
          </a:ln>
        </p:spPr>
      </p:pic>
      <p:pic>
        <p:nvPicPr>
          <p:cNvPr id="66" name="Image 1" descr="img/logo_dark.png"/>
          <p:cNvPicPr/>
          <p:nvPr/>
        </p:nvPicPr>
        <p:blipFill>
          <a:blip r:embed="rId3"/>
          <a:stretch/>
        </p:blipFill>
        <p:spPr>
          <a:xfrm>
            <a:off x="640080" y="640080"/>
            <a:ext cx="3472200" cy="729000"/>
          </a:xfrm>
          <a:prstGeom prst="rect">
            <a:avLst/>
          </a:prstGeom>
          <a:noFill/>
          <a:ln w="0">
            <a:noFill/>
          </a:ln>
        </p:spPr>
      </p:pic>
      <p:sp>
        <p:nvSpPr>
          <p:cNvPr id="67"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68" name="PlaceHolder 1"/>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fr-FR" sz="4400" b="0" u="none" strike="noStrike">
                <a:solidFill>
                  <a:srgbClr val="FFFFFF"/>
                </a:solidFill>
                <a:effectLst/>
                <a:uFillTx/>
                <a:latin typeface="Arial"/>
              </a:defRPr>
            </a:lvl1pPr>
          </a:lstStyle>
          <a:p>
            <a:pPr indent="0" algn="l">
              <a:lnSpc>
                <a:spcPct val="100000"/>
              </a:lnSpc>
              <a:buNone/>
              <a:tabLst>
                <a:tab pos="0" algn="l"/>
              </a:tabLst>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69" name="PlaceHolder 2"/>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32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2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24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20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0D1B2A"/>
        </a:solidFill>
      </p:bgPr>
    </p:bg>
    <p:spTree>
      <p:nvGrpSpPr>
        <p:cNvPr id="1" name=""/>
        <p:cNvGrpSpPr/>
        <p:nvPr/>
      </p:nvGrpSpPr>
      <p:grpSpPr>
        <a:xfrm>
          <a:off x="0" y="0"/>
          <a:ext cx="0" cy="0"/>
          <a:chOff x="0" y="0"/>
          <a:chExt cx="0" cy="0"/>
        </a:xfrm>
      </p:grpSpPr>
      <p:pic>
        <p:nvPicPr>
          <p:cNvPr id="70" name="Image 0" descr="img/deco_dark.png"/>
          <p:cNvPicPr/>
          <p:nvPr/>
        </p:nvPicPr>
        <p:blipFill>
          <a:blip r:embed="rId2"/>
          <a:stretch/>
        </p:blipFill>
        <p:spPr>
          <a:xfrm>
            <a:off x="6949440" y="1097280"/>
            <a:ext cx="4752360" cy="4752360"/>
          </a:xfrm>
          <a:prstGeom prst="rect">
            <a:avLst/>
          </a:prstGeom>
          <a:noFill/>
          <a:ln w="0">
            <a:noFill/>
          </a:ln>
        </p:spPr>
      </p:pic>
      <p:pic>
        <p:nvPicPr>
          <p:cNvPr id="71" name="Image 1" descr="img/logo_dark.png"/>
          <p:cNvPicPr/>
          <p:nvPr/>
        </p:nvPicPr>
        <p:blipFill>
          <a:blip r:embed="rId3"/>
          <a:stretch/>
        </p:blipFill>
        <p:spPr>
          <a:xfrm>
            <a:off x="640080" y="640080"/>
            <a:ext cx="3472200" cy="729000"/>
          </a:xfrm>
          <a:prstGeom prst="rect">
            <a:avLst/>
          </a:prstGeom>
          <a:noFill/>
          <a:ln w="0">
            <a:noFill/>
          </a:ln>
        </p:spPr>
      </p:pic>
      <p:sp>
        <p:nvSpPr>
          <p:cNvPr id="72" name="Shape 0"/>
          <p:cNvSpPr/>
          <p:nvPr/>
        </p:nvSpPr>
        <p:spPr>
          <a:xfrm>
            <a:off x="640080" y="214884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sp>
        <p:nvSpPr>
          <p:cNvPr id="7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Tree>
  </p:cSld>
  <p:clrMapOvr>
    <a:masterClrMapping/>
  </p:clrMapOvr>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8">
    <p:bg>
      <p:bgPr>
        <a:solidFill>
          <a:srgbClr val="0D1B2A"/>
        </a:solidFill>
      </p:bgPr>
    </p:bg>
    <p:spTree>
      <p:nvGrpSpPr>
        <p:cNvPr id="1" name=""/>
        <p:cNvGrpSpPr/>
        <p:nvPr/>
      </p:nvGrpSpPr>
      <p:grpSpPr>
        <a:xfrm>
          <a:off x="0" y="0"/>
          <a:ext cx="0" cy="0"/>
          <a:chOff x="0" y="0"/>
          <a:chExt cx="0" cy="0"/>
        </a:xfrm>
      </p:grpSpPr>
      <p:pic>
        <p:nvPicPr>
          <p:cNvPr id="74" name="Image 0" descr="img/mark_dark.png"/>
          <p:cNvPicPr/>
          <p:nvPr/>
        </p:nvPicPr>
        <p:blipFill>
          <a:blip r:embed="rId2"/>
          <a:stretch/>
        </p:blipFill>
        <p:spPr>
          <a:xfrm>
            <a:off x="640080" y="6336720"/>
            <a:ext cx="235080" cy="235080"/>
          </a:xfrm>
          <a:prstGeom prst="rect">
            <a:avLst/>
          </a:prstGeom>
          <a:noFill/>
          <a:ln w="0">
            <a:noFill/>
          </a:ln>
        </p:spPr>
      </p:pic>
      <p:sp>
        <p:nvSpPr>
          <p:cNvPr id="75"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7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77"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78"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79" name="PlaceHolder 4"/>
          <p:cNvSpPr>
            <a:spLocks noGrp="1"/>
          </p:cNvSpPr>
          <p:nvPr>
            <p:ph type="sldNum" idx="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DB054293-3128-4287-96ED-78DF700A841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9">
    <p:bg>
      <p:bgPr>
        <a:solidFill>
          <a:srgbClr val="0D1B2A"/>
        </a:solidFill>
      </p:bgPr>
    </p:bg>
    <p:spTree>
      <p:nvGrpSpPr>
        <p:cNvPr id="1" name=""/>
        <p:cNvGrpSpPr/>
        <p:nvPr/>
      </p:nvGrpSpPr>
      <p:grpSpPr>
        <a:xfrm>
          <a:off x="0" y="0"/>
          <a:ext cx="0" cy="0"/>
          <a:chOff x="0" y="0"/>
          <a:chExt cx="0" cy="0"/>
        </a:xfrm>
      </p:grpSpPr>
      <p:pic>
        <p:nvPicPr>
          <p:cNvPr id="80" name="Image 0" descr="img/mark_dark.png"/>
          <p:cNvPicPr/>
          <p:nvPr/>
        </p:nvPicPr>
        <p:blipFill>
          <a:blip r:embed="rId2"/>
          <a:stretch/>
        </p:blipFill>
        <p:spPr>
          <a:xfrm>
            <a:off x="640080" y="6336720"/>
            <a:ext cx="235080" cy="235080"/>
          </a:xfrm>
          <a:prstGeom prst="rect">
            <a:avLst/>
          </a:prstGeom>
          <a:noFill/>
          <a:ln w="0">
            <a:noFill/>
          </a:ln>
        </p:spPr>
      </p:pic>
      <p:sp>
        <p:nvSpPr>
          <p:cNvPr id="81"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82"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83" name="PlaceHolder 2"/>
          <p:cNvSpPr>
            <a:spLocks noGrp="1"/>
          </p:cNvSpPr>
          <p:nvPr>
            <p:ph type="sldNum" idx="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A4A152E6-4A1F-48EC-A6E7-D27025EC10F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Default 10">
    <p:bg>
      <p:bgPr>
        <a:solidFill>
          <a:srgbClr val="0D1B2A"/>
        </a:solidFill>
      </p:bgPr>
    </p:bg>
    <p:spTree>
      <p:nvGrpSpPr>
        <p:cNvPr id="1" name=""/>
        <p:cNvGrpSpPr/>
        <p:nvPr/>
      </p:nvGrpSpPr>
      <p:grpSpPr>
        <a:xfrm>
          <a:off x="0" y="0"/>
          <a:ext cx="0" cy="0"/>
          <a:chOff x="0" y="0"/>
          <a:chExt cx="0" cy="0"/>
        </a:xfrm>
      </p:grpSpPr>
      <p:pic>
        <p:nvPicPr>
          <p:cNvPr id="84" name="Image 0" descr="img/mark_dark.png"/>
          <p:cNvPicPr/>
          <p:nvPr/>
        </p:nvPicPr>
        <p:blipFill>
          <a:blip r:embed="rId2"/>
          <a:stretch/>
        </p:blipFill>
        <p:spPr>
          <a:xfrm>
            <a:off x="640080" y="6336720"/>
            <a:ext cx="235080" cy="235080"/>
          </a:xfrm>
          <a:prstGeom prst="rect">
            <a:avLst/>
          </a:prstGeom>
          <a:noFill/>
          <a:ln w="0">
            <a:noFill/>
          </a:ln>
        </p:spPr>
      </p:pic>
      <p:sp>
        <p:nvSpPr>
          <p:cNvPr id="85"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86" name="PlaceHolder 1"/>
          <p:cNvSpPr>
            <a:spLocks noGrp="1"/>
          </p:cNvSpPr>
          <p:nvPr>
            <p:ph type="sldNum" idx="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6FF12144-AC54-46F7-AA78-A3C58EC0AA0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1">
    <p:bg>
      <p:bgPr>
        <a:solidFill>
          <a:srgbClr val="0D1B2A"/>
        </a:solidFill>
      </p:bgPr>
    </p:bg>
    <p:spTree>
      <p:nvGrpSpPr>
        <p:cNvPr id="1" name=""/>
        <p:cNvGrpSpPr/>
        <p:nvPr/>
      </p:nvGrpSpPr>
      <p:grpSpPr>
        <a:xfrm>
          <a:off x="0" y="0"/>
          <a:ext cx="0" cy="0"/>
          <a:chOff x="0" y="0"/>
          <a:chExt cx="0" cy="0"/>
        </a:xfrm>
      </p:grpSpPr>
      <p:pic>
        <p:nvPicPr>
          <p:cNvPr id="87" name="Image 0" descr="img/mark_dark.png"/>
          <p:cNvPicPr/>
          <p:nvPr/>
        </p:nvPicPr>
        <p:blipFill>
          <a:blip r:embed="rId2"/>
          <a:stretch/>
        </p:blipFill>
        <p:spPr>
          <a:xfrm>
            <a:off x="640080" y="6336720"/>
            <a:ext cx="235080" cy="235080"/>
          </a:xfrm>
          <a:prstGeom prst="rect">
            <a:avLst/>
          </a:prstGeom>
          <a:noFill/>
          <a:ln w="0">
            <a:noFill/>
          </a:ln>
        </p:spPr>
      </p:pic>
      <p:sp>
        <p:nvSpPr>
          <p:cNvPr id="88"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8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90"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1"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2"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3" name="PlaceHolder 5"/>
          <p:cNvSpPr>
            <a:spLocks noGrp="1"/>
          </p:cNvSpPr>
          <p:nvPr>
            <p:ph type="sldNum" idx="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70FCFFD5-C876-4DD3-83C7-2569CA8E05F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p:bg>
      <p:bgPr>
        <a:solidFill>
          <a:srgbClr val="0D1B2A"/>
        </a:solidFill>
      </p:bgPr>
    </p:bg>
    <p:spTree>
      <p:nvGrpSpPr>
        <p:cNvPr id="1" name=""/>
        <p:cNvGrpSpPr/>
        <p:nvPr/>
      </p:nvGrpSpPr>
      <p:grpSpPr>
        <a:xfrm>
          <a:off x="0" y="0"/>
          <a:ext cx="0" cy="0"/>
          <a:chOff x="0" y="0"/>
          <a:chExt cx="0" cy="0"/>
        </a:xfrm>
      </p:grpSpPr>
      <p:pic>
        <p:nvPicPr>
          <p:cNvPr id="94" name="Image 0" descr="img/mark_dark.png"/>
          <p:cNvPicPr/>
          <p:nvPr/>
        </p:nvPicPr>
        <p:blipFill>
          <a:blip r:embed="rId2"/>
          <a:stretch/>
        </p:blipFill>
        <p:spPr>
          <a:xfrm>
            <a:off x="640080" y="6336720"/>
            <a:ext cx="235080" cy="235080"/>
          </a:xfrm>
          <a:prstGeom prst="rect">
            <a:avLst/>
          </a:prstGeom>
          <a:noFill/>
          <a:ln w="0">
            <a:noFill/>
          </a:ln>
        </p:spPr>
      </p:pic>
      <p:sp>
        <p:nvSpPr>
          <p:cNvPr id="95"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9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97"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8"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99"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0" name="PlaceHolder 5"/>
          <p:cNvSpPr>
            <a:spLocks noGrp="1"/>
          </p:cNvSpPr>
          <p:nvPr>
            <p:ph type="sldNum" idx="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BB8E849F-1022-4AEC-A5D4-51E8A76F96B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
    <p:bg>
      <p:bgPr>
        <a:solidFill>
          <a:srgbClr val="0D1B2A"/>
        </a:solidFill>
      </p:bgPr>
    </p:bg>
    <p:spTree>
      <p:nvGrpSpPr>
        <p:cNvPr id="1" name=""/>
        <p:cNvGrpSpPr/>
        <p:nvPr/>
      </p:nvGrpSpPr>
      <p:grpSpPr>
        <a:xfrm>
          <a:off x="0" y="0"/>
          <a:ext cx="0" cy="0"/>
          <a:chOff x="0" y="0"/>
          <a:chExt cx="0" cy="0"/>
        </a:xfrm>
      </p:grpSpPr>
      <p:pic>
        <p:nvPicPr>
          <p:cNvPr id="101" name="Image 0" descr="img/mark_dark.png"/>
          <p:cNvPicPr/>
          <p:nvPr/>
        </p:nvPicPr>
        <p:blipFill>
          <a:blip r:embed="rId2"/>
          <a:stretch/>
        </p:blipFill>
        <p:spPr>
          <a:xfrm>
            <a:off x="640080" y="6336720"/>
            <a:ext cx="235080" cy="235080"/>
          </a:xfrm>
          <a:prstGeom prst="rect">
            <a:avLst/>
          </a:prstGeom>
          <a:noFill/>
          <a:ln w="0">
            <a:noFill/>
          </a:ln>
        </p:spPr>
      </p:pic>
      <p:sp>
        <p:nvSpPr>
          <p:cNvPr id="102"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0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04"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5"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6"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07" name="PlaceHolder 5"/>
          <p:cNvSpPr>
            <a:spLocks noGrp="1"/>
          </p:cNvSpPr>
          <p:nvPr>
            <p:ph type="sldNum" idx="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B355A00-E36D-4998-B7F0-4949A9949DA9}"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2">
    <p:bg>
      <p:bgPr>
        <a:solidFill>
          <a:srgbClr val="0D1B2A"/>
        </a:solidFill>
      </p:bgPr>
    </p:bg>
    <p:spTree>
      <p:nvGrpSpPr>
        <p:cNvPr id="1" name=""/>
        <p:cNvGrpSpPr/>
        <p:nvPr/>
      </p:nvGrpSpPr>
      <p:grpSpPr>
        <a:xfrm>
          <a:off x="0" y="0"/>
          <a:ext cx="0" cy="0"/>
          <a:chOff x="0" y="0"/>
          <a:chExt cx="0" cy="0"/>
        </a:xfrm>
      </p:grpSpPr>
      <p:pic>
        <p:nvPicPr>
          <p:cNvPr id="108" name="Image 0" descr="img/mark_dark.png"/>
          <p:cNvPicPr/>
          <p:nvPr/>
        </p:nvPicPr>
        <p:blipFill>
          <a:blip r:embed="rId2"/>
          <a:stretch/>
        </p:blipFill>
        <p:spPr>
          <a:xfrm>
            <a:off x="640080" y="6336720"/>
            <a:ext cx="235080" cy="235080"/>
          </a:xfrm>
          <a:prstGeom prst="rect">
            <a:avLst/>
          </a:prstGeom>
          <a:noFill/>
          <a:ln w="0">
            <a:noFill/>
          </a:ln>
        </p:spPr>
      </p:pic>
      <p:sp>
        <p:nvSpPr>
          <p:cNvPr id="109"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1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11"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2"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3" name="PlaceHolder 4"/>
          <p:cNvSpPr>
            <a:spLocks noGrp="1"/>
          </p:cNvSpPr>
          <p:nvPr>
            <p:ph type="sldNum" idx="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DBFBB01D-314B-42DB-8033-FA26BA3A8DA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3">
    <p:bg>
      <p:bgPr>
        <a:solidFill>
          <a:srgbClr val="0D1B2A"/>
        </a:solidFill>
      </p:bgPr>
    </p:bg>
    <p:spTree>
      <p:nvGrpSpPr>
        <p:cNvPr id="1" name=""/>
        <p:cNvGrpSpPr/>
        <p:nvPr/>
      </p:nvGrpSpPr>
      <p:grpSpPr>
        <a:xfrm>
          <a:off x="0" y="0"/>
          <a:ext cx="0" cy="0"/>
          <a:chOff x="0" y="0"/>
          <a:chExt cx="0" cy="0"/>
        </a:xfrm>
      </p:grpSpPr>
      <p:pic>
        <p:nvPicPr>
          <p:cNvPr id="114" name="Image 0" descr="img/mark_dark.png"/>
          <p:cNvPicPr/>
          <p:nvPr/>
        </p:nvPicPr>
        <p:blipFill>
          <a:blip r:embed="rId2"/>
          <a:stretch/>
        </p:blipFill>
        <p:spPr>
          <a:xfrm>
            <a:off x="640080" y="6336720"/>
            <a:ext cx="235080" cy="235080"/>
          </a:xfrm>
          <a:prstGeom prst="rect">
            <a:avLst/>
          </a:prstGeom>
          <a:noFill/>
          <a:ln w="0">
            <a:noFill/>
          </a:ln>
        </p:spPr>
      </p:pic>
      <p:sp>
        <p:nvSpPr>
          <p:cNvPr id="115"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1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17"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8"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19"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0"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1" name="PlaceHolder 6"/>
          <p:cNvSpPr>
            <a:spLocks noGrp="1"/>
          </p:cNvSpPr>
          <p:nvPr>
            <p:ph type="sldNum" idx="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5BFAB27-7C97-445A-8994-FDE03CB72E5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bg>
      <p:bgPr>
        <a:solidFill>
          <a:srgbClr val="0D1B2A"/>
        </a:solidFill>
      </p:bgPr>
    </p:bg>
    <p:spTree>
      <p:nvGrpSpPr>
        <p:cNvPr id="1" name=""/>
        <p:cNvGrpSpPr/>
        <p:nvPr/>
      </p:nvGrpSpPr>
      <p:grpSpPr>
        <a:xfrm>
          <a:off x="0" y="0"/>
          <a:ext cx="0" cy="0"/>
          <a:chOff x="0" y="0"/>
          <a:chExt cx="0" cy="0"/>
        </a:xfrm>
      </p:grpSpPr>
      <p:pic>
        <p:nvPicPr>
          <p:cNvPr id="122" name="Image 0" descr="img/mark_dark.png"/>
          <p:cNvPicPr/>
          <p:nvPr/>
        </p:nvPicPr>
        <p:blipFill>
          <a:blip r:embed="rId2"/>
          <a:stretch/>
        </p:blipFill>
        <p:spPr>
          <a:xfrm>
            <a:off x="640080" y="6336720"/>
            <a:ext cx="235080" cy="235080"/>
          </a:xfrm>
          <a:prstGeom prst="rect">
            <a:avLst/>
          </a:prstGeom>
          <a:noFill/>
          <a:ln w="0">
            <a:noFill/>
          </a:ln>
        </p:spPr>
      </p:pic>
      <p:sp>
        <p:nvSpPr>
          <p:cNvPr id="123"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2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25"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6"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7"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8"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29"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30"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31" name="PlaceHolder 8"/>
          <p:cNvSpPr>
            <a:spLocks noGrp="1"/>
          </p:cNvSpPr>
          <p:nvPr>
            <p:ph type="sldNum" idx="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D820330-223F-4174-B303-1554D875FD6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5">
    <p:bg>
      <p:bgPr>
        <a:solidFill>
          <a:srgbClr val="0D1B2A"/>
        </a:solidFill>
      </p:bgPr>
    </p:bg>
    <p:spTree>
      <p:nvGrpSpPr>
        <p:cNvPr id="1" name=""/>
        <p:cNvGrpSpPr/>
        <p:nvPr/>
      </p:nvGrpSpPr>
      <p:grpSpPr>
        <a:xfrm>
          <a:off x="0" y="0"/>
          <a:ext cx="0" cy="0"/>
          <a:chOff x="0" y="0"/>
          <a:chExt cx="0" cy="0"/>
        </a:xfrm>
      </p:grpSpPr>
      <p:pic>
        <p:nvPicPr>
          <p:cNvPr id="132" name="Image 0" descr="img/mark_dark.png"/>
          <p:cNvPicPr/>
          <p:nvPr/>
        </p:nvPicPr>
        <p:blipFill>
          <a:blip r:embed="rId2"/>
          <a:stretch/>
        </p:blipFill>
        <p:spPr>
          <a:xfrm>
            <a:off x="640080" y="6336720"/>
            <a:ext cx="235080" cy="235080"/>
          </a:xfrm>
          <a:prstGeom prst="rect">
            <a:avLst/>
          </a:prstGeom>
          <a:noFill/>
          <a:ln w="0">
            <a:noFill/>
          </a:ln>
        </p:spPr>
      </p:pic>
      <p:sp>
        <p:nvSpPr>
          <p:cNvPr id="133"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34" name="PlaceHolder 1"/>
          <p:cNvSpPr>
            <a:spLocks noGrp="1"/>
          </p:cNvSpPr>
          <p:nvPr>
            <p:ph type="sldNum" idx="1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8B90FA98-CCEF-4A5B-806B-E04A4CDED84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135" name="PlaceHolder 2"/>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fr-FR" sz="4400" b="0" u="none" strike="noStrike">
                <a:solidFill>
                  <a:srgbClr val="FFFFFF"/>
                </a:solidFill>
                <a:effectLst/>
                <a:uFillTx/>
                <a:latin typeface="Arial"/>
              </a:defRPr>
            </a:lvl1pPr>
          </a:lstStyle>
          <a:p>
            <a:pPr indent="0" algn="l">
              <a:lnSpc>
                <a:spcPct val="100000"/>
              </a:lnSpc>
              <a:buNone/>
              <a:tabLst>
                <a:tab pos="0" algn="l"/>
              </a:tabLst>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136" name="PlaceHolder 3"/>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32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2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24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20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6">
    <p:bg>
      <p:bgPr>
        <a:solidFill>
          <a:srgbClr val="0D1B2A"/>
        </a:solidFill>
      </p:bgPr>
    </p:bg>
    <p:spTree>
      <p:nvGrpSpPr>
        <p:cNvPr id="1" name=""/>
        <p:cNvGrpSpPr/>
        <p:nvPr/>
      </p:nvGrpSpPr>
      <p:grpSpPr>
        <a:xfrm>
          <a:off x="0" y="0"/>
          <a:ext cx="0" cy="0"/>
          <a:chOff x="0" y="0"/>
          <a:chExt cx="0" cy="0"/>
        </a:xfrm>
      </p:grpSpPr>
      <p:pic>
        <p:nvPicPr>
          <p:cNvPr id="137" name="Image 0" descr="img/mark_dark.png"/>
          <p:cNvPicPr/>
          <p:nvPr/>
        </p:nvPicPr>
        <p:blipFill>
          <a:blip r:embed="rId2"/>
          <a:stretch/>
        </p:blipFill>
        <p:spPr>
          <a:xfrm>
            <a:off x="640080" y="6336720"/>
            <a:ext cx="235080" cy="235080"/>
          </a:xfrm>
          <a:prstGeom prst="rect">
            <a:avLst/>
          </a:prstGeom>
          <a:noFill/>
          <a:ln w="0">
            <a:noFill/>
          </a:ln>
        </p:spPr>
      </p:pic>
      <p:sp>
        <p:nvSpPr>
          <p:cNvPr id="138"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39"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40" name="PlaceHolder 2"/>
          <p:cNvSpPr>
            <a:spLocks noGrp="1"/>
          </p:cNvSpPr>
          <p:nvPr>
            <p:ph type="sldNum" idx="1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FC13C751-3DB8-433E-BEED-AF377E60CD6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7">
    <p:bg>
      <p:bgPr>
        <a:solidFill>
          <a:srgbClr val="0D1B2A"/>
        </a:solidFill>
      </p:bgPr>
    </p:bg>
    <p:spTree>
      <p:nvGrpSpPr>
        <p:cNvPr id="1" name=""/>
        <p:cNvGrpSpPr/>
        <p:nvPr/>
      </p:nvGrpSpPr>
      <p:grpSpPr>
        <a:xfrm>
          <a:off x="0" y="0"/>
          <a:ext cx="0" cy="0"/>
          <a:chOff x="0" y="0"/>
          <a:chExt cx="0" cy="0"/>
        </a:xfrm>
      </p:grpSpPr>
      <p:pic>
        <p:nvPicPr>
          <p:cNvPr id="141" name="Image 0" descr="img/mark_dark.png"/>
          <p:cNvPicPr/>
          <p:nvPr/>
        </p:nvPicPr>
        <p:blipFill>
          <a:blip r:embed="rId2"/>
          <a:stretch/>
        </p:blipFill>
        <p:spPr>
          <a:xfrm>
            <a:off x="640080" y="6336720"/>
            <a:ext cx="235080" cy="235080"/>
          </a:xfrm>
          <a:prstGeom prst="rect">
            <a:avLst/>
          </a:prstGeom>
          <a:noFill/>
          <a:ln w="0">
            <a:noFill/>
          </a:ln>
        </p:spPr>
      </p:pic>
      <p:sp>
        <p:nvSpPr>
          <p:cNvPr id="142" name="Text 0"/>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4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44"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45" name="PlaceHolder 3"/>
          <p:cNvSpPr>
            <a:spLocks noGrp="1"/>
          </p:cNvSpPr>
          <p:nvPr>
            <p:ph type="sldNum" idx="1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9687972D-84C4-429E-BDC6-663BD4F57D6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20">
    <p:bg>
      <p:bgPr>
        <a:solidFill>
          <a:srgbClr val="0D1B2A"/>
        </a:solidFill>
      </p:bgPr>
    </p:bg>
    <p:spTree>
      <p:nvGrpSpPr>
        <p:cNvPr id="1" name=""/>
        <p:cNvGrpSpPr/>
        <p:nvPr/>
      </p:nvGrpSpPr>
      <p:grpSpPr>
        <a:xfrm>
          <a:off x="0" y="0"/>
          <a:ext cx="0" cy="0"/>
          <a:chOff x="0" y="0"/>
          <a:chExt cx="0" cy="0"/>
        </a:xfrm>
      </p:grpSpPr>
      <p:pic>
        <p:nvPicPr>
          <p:cNvPr id="146" name="Image 0" descr="img/deco_dark.png"/>
          <p:cNvPicPr/>
          <p:nvPr/>
        </p:nvPicPr>
        <p:blipFill>
          <a:blip r:embed="rId2"/>
          <a:stretch/>
        </p:blipFill>
        <p:spPr>
          <a:xfrm>
            <a:off x="7498080" y="1828800"/>
            <a:ext cx="4203720" cy="4203720"/>
          </a:xfrm>
          <a:prstGeom prst="rect">
            <a:avLst/>
          </a:prstGeom>
          <a:noFill/>
          <a:ln w="0">
            <a:noFill/>
          </a:ln>
        </p:spPr>
      </p:pic>
      <p:sp>
        <p:nvSpPr>
          <p:cNvPr id="147"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48" name="Image 1" descr="img/mark_dark.png"/>
          <p:cNvPicPr/>
          <p:nvPr/>
        </p:nvPicPr>
        <p:blipFill>
          <a:blip r:embed="rId3"/>
          <a:stretch/>
        </p:blipFill>
        <p:spPr>
          <a:xfrm>
            <a:off x="640080" y="6336720"/>
            <a:ext cx="235080" cy="235080"/>
          </a:xfrm>
          <a:prstGeom prst="rect">
            <a:avLst/>
          </a:prstGeom>
          <a:noFill/>
          <a:ln w="0">
            <a:noFill/>
          </a:ln>
        </p:spPr>
      </p:pic>
      <p:sp>
        <p:nvSpPr>
          <p:cNvPr id="149"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5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51" name="PlaceHolder 2"/>
          <p:cNvSpPr>
            <a:spLocks noGrp="1"/>
          </p:cNvSpPr>
          <p:nvPr>
            <p:ph type="body"/>
          </p:nvPr>
        </p:nvSpPr>
        <p:spPr>
          <a:xfrm>
            <a:off x="609480" y="1604520"/>
            <a:ext cx="1097172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2" name="PlaceHolder 3"/>
          <p:cNvSpPr>
            <a:spLocks noGrp="1"/>
          </p:cNvSpPr>
          <p:nvPr>
            <p:ph type="sldNum" idx="1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24CE72C3-2ABC-42C6-89A4-7B1801E4133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21">
    <p:bg>
      <p:bgPr>
        <a:solidFill>
          <a:srgbClr val="0D1B2A"/>
        </a:solidFill>
      </p:bgPr>
    </p:bg>
    <p:spTree>
      <p:nvGrpSpPr>
        <p:cNvPr id="1" name=""/>
        <p:cNvGrpSpPr/>
        <p:nvPr/>
      </p:nvGrpSpPr>
      <p:grpSpPr>
        <a:xfrm>
          <a:off x="0" y="0"/>
          <a:ext cx="0" cy="0"/>
          <a:chOff x="0" y="0"/>
          <a:chExt cx="0" cy="0"/>
        </a:xfrm>
      </p:grpSpPr>
      <p:pic>
        <p:nvPicPr>
          <p:cNvPr id="153" name="Image 0" descr="img/deco_dark.png"/>
          <p:cNvPicPr/>
          <p:nvPr/>
        </p:nvPicPr>
        <p:blipFill>
          <a:blip r:embed="rId2"/>
          <a:stretch/>
        </p:blipFill>
        <p:spPr>
          <a:xfrm>
            <a:off x="7498080" y="1828800"/>
            <a:ext cx="4203720" cy="4203720"/>
          </a:xfrm>
          <a:prstGeom prst="rect">
            <a:avLst/>
          </a:prstGeom>
          <a:noFill/>
          <a:ln w="0">
            <a:noFill/>
          </a:ln>
        </p:spPr>
      </p:pic>
      <p:sp>
        <p:nvSpPr>
          <p:cNvPr id="154"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55" name="Image 1" descr="img/mark_dark.png"/>
          <p:cNvPicPr/>
          <p:nvPr/>
        </p:nvPicPr>
        <p:blipFill>
          <a:blip r:embed="rId3"/>
          <a:stretch/>
        </p:blipFill>
        <p:spPr>
          <a:xfrm>
            <a:off x="640080" y="6336720"/>
            <a:ext cx="235080" cy="235080"/>
          </a:xfrm>
          <a:prstGeom prst="rect">
            <a:avLst/>
          </a:prstGeom>
          <a:noFill/>
          <a:ln w="0">
            <a:noFill/>
          </a:ln>
        </p:spPr>
      </p:pic>
      <p:sp>
        <p:nvSpPr>
          <p:cNvPr id="156"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57"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58"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59"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60" name="PlaceHolder 4"/>
          <p:cNvSpPr>
            <a:spLocks noGrp="1"/>
          </p:cNvSpPr>
          <p:nvPr>
            <p:ph type="sldNum" idx="1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E48D980-7917-426B-B472-381665CF7349}"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22">
    <p:bg>
      <p:bgPr>
        <a:solidFill>
          <a:srgbClr val="0D1B2A"/>
        </a:solidFill>
      </p:bgPr>
    </p:bg>
    <p:spTree>
      <p:nvGrpSpPr>
        <p:cNvPr id="1" name=""/>
        <p:cNvGrpSpPr/>
        <p:nvPr/>
      </p:nvGrpSpPr>
      <p:grpSpPr>
        <a:xfrm>
          <a:off x="0" y="0"/>
          <a:ext cx="0" cy="0"/>
          <a:chOff x="0" y="0"/>
          <a:chExt cx="0" cy="0"/>
        </a:xfrm>
      </p:grpSpPr>
      <p:pic>
        <p:nvPicPr>
          <p:cNvPr id="161" name="Image 0" descr="img/deco_dark.png"/>
          <p:cNvPicPr/>
          <p:nvPr/>
        </p:nvPicPr>
        <p:blipFill>
          <a:blip r:embed="rId2"/>
          <a:stretch/>
        </p:blipFill>
        <p:spPr>
          <a:xfrm>
            <a:off x="7498080" y="1828800"/>
            <a:ext cx="4203720" cy="4203720"/>
          </a:xfrm>
          <a:prstGeom prst="rect">
            <a:avLst/>
          </a:prstGeom>
          <a:noFill/>
          <a:ln w="0">
            <a:noFill/>
          </a:ln>
        </p:spPr>
      </p:pic>
      <p:sp>
        <p:nvSpPr>
          <p:cNvPr id="162"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63" name="Image 1" descr="img/mark_dark.png"/>
          <p:cNvPicPr/>
          <p:nvPr/>
        </p:nvPicPr>
        <p:blipFill>
          <a:blip r:embed="rId3"/>
          <a:stretch/>
        </p:blipFill>
        <p:spPr>
          <a:xfrm>
            <a:off x="640080" y="6336720"/>
            <a:ext cx="235080" cy="235080"/>
          </a:xfrm>
          <a:prstGeom prst="rect">
            <a:avLst/>
          </a:prstGeom>
          <a:noFill/>
          <a:ln w="0">
            <a:noFill/>
          </a:ln>
        </p:spPr>
      </p:pic>
      <p:sp>
        <p:nvSpPr>
          <p:cNvPr id="164"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65"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66" name="PlaceHolder 2"/>
          <p:cNvSpPr>
            <a:spLocks noGrp="1"/>
          </p:cNvSpPr>
          <p:nvPr>
            <p:ph type="sldNum" idx="1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885C0FED-0FC4-492F-9344-3D4D5B734D2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Default 23">
    <p:bg>
      <p:bgPr>
        <a:solidFill>
          <a:srgbClr val="0D1B2A"/>
        </a:solidFill>
      </p:bgPr>
    </p:bg>
    <p:spTree>
      <p:nvGrpSpPr>
        <p:cNvPr id="1" name=""/>
        <p:cNvGrpSpPr/>
        <p:nvPr/>
      </p:nvGrpSpPr>
      <p:grpSpPr>
        <a:xfrm>
          <a:off x="0" y="0"/>
          <a:ext cx="0" cy="0"/>
          <a:chOff x="0" y="0"/>
          <a:chExt cx="0" cy="0"/>
        </a:xfrm>
      </p:grpSpPr>
      <p:pic>
        <p:nvPicPr>
          <p:cNvPr id="167" name="Image 0" descr="img/deco_dark.png"/>
          <p:cNvPicPr/>
          <p:nvPr/>
        </p:nvPicPr>
        <p:blipFill>
          <a:blip r:embed="rId2"/>
          <a:stretch/>
        </p:blipFill>
        <p:spPr>
          <a:xfrm>
            <a:off x="7498080" y="1828800"/>
            <a:ext cx="4203720" cy="4203720"/>
          </a:xfrm>
          <a:prstGeom prst="rect">
            <a:avLst/>
          </a:prstGeom>
          <a:noFill/>
          <a:ln w="0">
            <a:noFill/>
          </a:ln>
        </p:spPr>
      </p:pic>
      <p:sp>
        <p:nvSpPr>
          <p:cNvPr id="168"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69" name="Image 1" descr="img/mark_dark.png"/>
          <p:cNvPicPr/>
          <p:nvPr/>
        </p:nvPicPr>
        <p:blipFill>
          <a:blip r:embed="rId3"/>
          <a:stretch/>
        </p:blipFill>
        <p:spPr>
          <a:xfrm>
            <a:off x="640080" y="6336720"/>
            <a:ext cx="235080" cy="235080"/>
          </a:xfrm>
          <a:prstGeom prst="rect">
            <a:avLst/>
          </a:prstGeom>
          <a:noFill/>
          <a:ln w="0">
            <a:noFill/>
          </a:ln>
        </p:spPr>
      </p:pic>
      <p:sp>
        <p:nvSpPr>
          <p:cNvPr id="170"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71" name="PlaceHolder 1"/>
          <p:cNvSpPr>
            <a:spLocks noGrp="1"/>
          </p:cNvSpPr>
          <p:nvPr>
            <p:ph type="sldNum" idx="1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D88764B-783B-4790-921B-A687F2DE1BD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2">
    <p:bg>
      <p:bgPr>
        <a:solidFill>
          <a:srgbClr val="0D1B2A"/>
        </a:solidFill>
      </p:bgPr>
    </p:bg>
    <p:spTree>
      <p:nvGrpSpPr>
        <p:cNvPr id="1" name=""/>
        <p:cNvGrpSpPr/>
        <p:nvPr/>
      </p:nvGrpSpPr>
      <p:grpSpPr>
        <a:xfrm>
          <a:off x="0" y="0"/>
          <a:ext cx="0" cy="0"/>
          <a:chOff x="0" y="0"/>
          <a:chExt cx="0" cy="0"/>
        </a:xfrm>
      </p:grpSpPr>
      <p:pic>
        <p:nvPicPr>
          <p:cNvPr id="172" name="Image 0" descr="img/deco_dark.png"/>
          <p:cNvPicPr/>
          <p:nvPr/>
        </p:nvPicPr>
        <p:blipFill>
          <a:blip r:embed="rId2"/>
          <a:stretch/>
        </p:blipFill>
        <p:spPr>
          <a:xfrm>
            <a:off x="7498080" y="1828800"/>
            <a:ext cx="4203720" cy="4203720"/>
          </a:xfrm>
          <a:prstGeom prst="rect">
            <a:avLst/>
          </a:prstGeom>
          <a:noFill/>
          <a:ln w="0">
            <a:noFill/>
          </a:ln>
        </p:spPr>
      </p:pic>
      <p:sp>
        <p:nvSpPr>
          <p:cNvPr id="173"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74" name="Image 1" descr="img/mark_dark.png"/>
          <p:cNvPicPr/>
          <p:nvPr/>
        </p:nvPicPr>
        <p:blipFill>
          <a:blip r:embed="rId3"/>
          <a:stretch/>
        </p:blipFill>
        <p:spPr>
          <a:xfrm>
            <a:off x="640080" y="6336720"/>
            <a:ext cx="235080" cy="235080"/>
          </a:xfrm>
          <a:prstGeom prst="rect">
            <a:avLst/>
          </a:prstGeom>
          <a:noFill/>
          <a:ln w="0">
            <a:noFill/>
          </a:ln>
        </p:spPr>
      </p:pic>
      <p:sp>
        <p:nvSpPr>
          <p:cNvPr id="175"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76"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77"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8" name="PlaceHolder 3"/>
          <p:cNvSpPr>
            <a:spLocks noGrp="1"/>
          </p:cNvSpPr>
          <p:nvPr>
            <p:ph type="body"/>
          </p:nvPr>
        </p:nvSpPr>
        <p:spPr>
          <a:xfrm>
            <a:off x="623196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79"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0" name="PlaceHolder 5"/>
          <p:cNvSpPr>
            <a:spLocks noGrp="1"/>
          </p:cNvSpPr>
          <p:nvPr>
            <p:ph type="sldNum" idx="1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332E54B-5E81-4D5E-AA78-986103DD56E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3">
    <p:bg>
      <p:bgPr>
        <a:solidFill>
          <a:srgbClr val="0D1B2A"/>
        </a:solidFill>
      </p:bgPr>
    </p:bg>
    <p:spTree>
      <p:nvGrpSpPr>
        <p:cNvPr id="1" name=""/>
        <p:cNvGrpSpPr/>
        <p:nvPr/>
      </p:nvGrpSpPr>
      <p:grpSpPr>
        <a:xfrm>
          <a:off x="0" y="0"/>
          <a:ext cx="0" cy="0"/>
          <a:chOff x="0" y="0"/>
          <a:chExt cx="0" cy="0"/>
        </a:xfrm>
      </p:grpSpPr>
      <p:pic>
        <p:nvPicPr>
          <p:cNvPr id="181" name="Image 0" descr="img/deco_dark.png"/>
          <p:cNvPicPr/>
          <p:nvPr/>
        </p:nvPicPr>
        <p:blipFill>
          <a:blip r:embed="rId2"/>
          <a:stretch/>
        </p:blipFill>
        <p:spPr>
          <a:xfrm>
            <a:off x="7498080" y="1828800"/>
            <a:ext cx="4203720" cy="4203720"/>
          </a:xfrm>
          <a:prstGeom prst="rect">
            <a:avLst/>
          </a:prstGeom>
          <a:noFill/>
          <a:ln w="0">
            <a:noFill/>
          </a:ln>
        </p:spPr>
      </p:pic>
      <p:sp>
        <p:nvSpPr>
          <p:cNvPr id="182"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83" name="Image 1" descr="img/mark_dark.png"/>
          <p:cNvPicPr/>
          <p:nvPr/>
        </p:nvPicPr>
        <p:blipFill>
          <a:blip r:embed="rId3"/>
          <a:stretch/>
        </p:blipFill>
        <p:spPr>
          <a:xfrm>
            <a:off x="640080" y="6336720"/>
            <a:ext cx="235080" cy="235080"/>
          </a:xfrm>
          <a:prstGeom prst="rect">
            <a:avLst/>
          </a:prstGeom>
          <a:noFill/>
          <a:ln w="0">
            <a:noFill/>
          </a:ln>
        </p:spPr>
      </p:pic>
      <p:sp>
        <p:nvSpPr>
          <p:cNvPr id="184"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85"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86" name="PlaceHolder 2"/>
          <p:cNvSpPr>
            <a:spLocks noGrp="1"/>
          </p:cNvSpPr>
          <p:nvPr>
            <p:ph type="body"/>
          </p:nvPr>
        </p:nvSpPr>
        <p:spPr>
          <a:xfrm>
            <a:off x="609480" y="1604520"/>
            <a:ext cx="5353560" cy="397656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7"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8" name="PlaceHolder 4"/>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89" name="PlaceHolder 5"/>
          <p:cNvSpPr>
            <a:spLocks noGrp="1"/>
          </p:cNvSpPr>
          <p:nvPr>
            <p:ph type="sldNum" idx="1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44B418C-660F-4B73-853B-A4BE372D80D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4">
    <p:bg>
      <p:bgPr>
        <a:solidFill>
          <a:srgbClr val="0D1B2A"/>
        </a:solidFill>
      </p:bgPr>
    </p:bg>
    <p:spTree>
      <p:nvGrpSpPr>
        <p:cNvPr id="1" name=""/>
        <p:cNvGrpSpPr/>
        <p:nvPr/>
      </p:nvGrpSpPr>
      <p:grpSpPr>
        <a:xfrm>
          <a:off x="0" y="0"/>
          <a:ext cx="0" cy="0"/>
          <a:chOff x="0" y="0"/>
          <a:chExt cx="0" cy="0"/>
        </a:xfrm>
      </p:grpSpPr>
      <p:pic>
        <p:nvPicPr>
          <p:cNvPr id="190" name="Image 0" descr="img/deco_dark.png"/>
          <p:cNvPicPr/>
          <p:nvPr/>
        </p:nvPicPr>
        <p:blipFill>
          <a:blip r:embed="rId2"/>
          <a:stretch/>
        </p:blipFill>
        <p:spPr>
          <a:xfrm>
            <a:off x="7498080" y="1828800"/>
            <a:ext cx="4203720" cy="4203720"/>
          </a:xfrm>
          <a:prstGeom prst="rect">
            <a:avLst/>
          </a:prstGeom>
          <a:noFill/>
          <a:ln w="0">
            <a:noFill/>
          </a:ln>
        </p:spPr>
      </p:pic>
      <p:sp>
        <p:nvSpPr>
          <p:cNvPr id="191"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192" name="Image 1" descr="img/mark_dark.png"/>
          <p:cNvPicPr/>
          <p:nvPr/>
        </p:nvPicPr>
        <p:blipFill>
          <a:blip r:embed="rId3"/>
          <a:stretch/>
        </p:blipFill>
        <p:spPr>
          <a:xfrm>
            <a:off x="640080" y="6336720"/>
            <a:ext cx="235080" cy="235080"/>
          </a:xfrm>
          <a:prstGeom prst="rect">
            <a:avLst/>
          </a:prstGeom>
          <a:noFill/>
          <a:ln w="0">
            <a:noFill/>
          </a:ln>
        </p:spPr>
      </p:pic>
      <p:sp>
        <p:nvSpPr>
          <p:cNvPr id="193"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194"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195"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6"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7" name="PlaceHolder 4"/>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198" name="PlaceHolder 5"/>
          <p:cNvSpPr>
            <a:spLocks noGrp="1"/>
          </p:cNvSpPr>
          <p:nvPr>
            <p:ph type="sldNum" idx="1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7444C59E-52D5-42C9-8AB0-E050064D5CC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5">
    <p:bg>
      <p:bgPr>
        <a:solidFill>
          <a:srgbClr val="0D1B2A"/>
        </a:solidFill>
      </p:bgPr>
    </p:bg>
    <p:spTree>
      <p:nvGrpSpPr>
        <p:cNvPr id="1" name=""/>
        <p:cNvGrpSpPr/>
        <p:nvPr/>
      </p:nvGrpSpPr>
      <p:grpSpPr>
        <a:xfrm>
          <a:off x="0" y="0"/>
          <a:ext cx="0" cy="0"/>
          <a:chOff x="0" y="0"/>
          <a:chExt cx="0" cy="0"/>
        </a:xfrm>
      </p:grpSpPr>
      <p:pic>
        <p:nvPicPr>
          <p:cNvPr id="199" name="Image 0" descr="img/deco_dark.png"/>
          <p:cNvPicPr/>
          <p:nvPr/>
        </p:nvPicPr>
        <p:blipFill>
          <a:blip r:embed="rId2"/>
          <a:stretch/>
        </p:blipFill>
        <p:spPr>
          <a:xfrm>
            <a:off x="7498080" y="1828800"/>
            <a:ext cx="4203720" cy="4203720"/>
          </a:xfrm>
          <a:prstGeom prst="rect">
            <a:avLst/>
          </a:prstGeom>
          <a:noFill/>
          <a:ln w="0">
            <a:noFill/>
          </a:ln>
        </p:spPr>
      </p:pic>
      <p:sp>
        <p:nvSpPr>
          <p:cNvPr id="200"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01" name="Image 1" descr="img/mark_dark.png"/>
          <p:cNvPicPr/>
          <p:nvPr/>
        </p:nvPicPr>
        <p:blipFill>
          <a:blip r:embed="rId3"/>
          <a:stretch/>
        </p:blipFill>
        <p:spPr>
          <a:xfrm>
            <a:off x="640080" y="6336720"/>
            <a:ext cx="235080" cy="235080"/>
          </a:xfrm>
          <a:prstGeom prst="rect">
            <a:avLst/>
          </a:prstGeom>
          <a:noFill/>
          <a:ln w="0">
            <a:noFill/>
          </a:ln>
        </p:spPr>
      </p:pic>
      <p:sp>
        <p:nvSpPr>
          <p:cNvPr id="202"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03"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04" name="PlaceHolder 2"/>
          <p:cNvSpPr>
            <a:spLocks noGrp="1"/>
          </p:cNvSpPr>
          <p:nvPr>
            <p:ph type="body"/>
          </p:nvPr>
        </p:nvSpPr>
        <p:spPr>
          <a:xfrm>
            <a:off x="609480" y="160452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05" name="PlaceHolder 3"/>
          <p:cNvSpPr>
            <a:spLocks noGrp="1"/>
          </p:cNvSpPr>
          <p:nvPr>
            <p:ph type="body"/>
          </p:nvPr>
        </p:nvSpPr>
        <p:spPr>
          <a:xfrm>
            <a:off x="609480" y="3682080"/>
            <a:ext cx="1097172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06" name="PlaceHolder 4"/>
          <p:cNvSpPr>
            <a:spLocks noGrp="1"/>
          </p:cNvSpPr>
          <p:nvPr>
            <p:ph type="sldNum" idx="2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4351710F-CBBD-4BFB-A80F-998C7928A8F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16">
    <p:bg>
      <p:bgPr>
        <a:solidFill>
          <a:srgbClr val="0D1B2A"/>
        </a:solidFill>
      </p:bgPr>
    </p:bg>
    <p:spTree>
      <p:nvGrpSpPr>
        <p:cNvPr id="1" name=""/>
        <p:cNvGrpSpPr/>
        <p:nvPr/>
      </p:nvGrpSpPr>
      <p:grpSpPr>
        <a:xfrm>
          <a:off x="0" y="0"/>
          <a:ext cx="0" cy="0"/>
          <a:chOff x="0" y="0"/>
          <a:chExt cx="0" cy="0"/>
        </a:xfrm>
      </p:grpSpPr>
      <p:pic>
        <p:nvPicPr>
          <p:cNvPr id="207" name="Image 0" descr="img/deco_dark.png"/>
          <p:cNvPicPr/>
          <p:nvPr/>
        </p:nvPicPr>
        <p:blipFill>
          <a:blip r:embed="rId2"/>
          <a:stretch/>
        </p:blipFill>
        <p:spPr>
          <a:xfrm>
            <a:off x="7498080" y="1828800"/>
            <a:ext cx="4203720" cy="4203720"/>
          </a:xfrm>
          <a:prstGeom prst="rect">
            <a:avLst/>
          </a:prstGeom>
          <a:noFill/>
          <a:ln w="0">
            <a:noFill/>
          </a:ln>
        </p:spPr>
      </p:pic>
      <p:sp>
        <p:nvSpPr>
          <p:cNvPr id="208"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09" name="Image 1" descr="img/mark_dark.png"/>
          <p:cNvPicPr/>
          <p:nvPr/>
        </p:nvPicPr>
        <p:blipFill>
          <a:blip r:embed="rId3"/>
          <a:stretch/>
        </p:blipFill>
        <p:spPr>
          <a:xfrm>
            <a:off x="640080" y="6336720"/>
            <a:ext cx="235080" cy="235080"/>
          </a:xfrm>
          <a:prstGeom prst="rect">
            <a:avLst/>
          </a:prstGeom>
          <a:noFill/>
          <a:ln w="0">
            <a:noFill/>
          </a:ln>
        </p:spPr>
      </p:pic>
      <p:sp>
        <p:nvSpPr>
          <p:cNvPr id="210"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11"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12" name="PlaceHolder 2"/>
          <p:cNvSpPr>
            <a:spLocks noGrp="1"/>
          </p:cNvSpPr>
          <p:nvPr>
            <p:ph type="body"/>
          </p:nvPr>
        </p:nvSpPr>
        <p:spPr>
          <a:xfrm>
            <a:off x="60948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13" name="PlaceHolder 3"/>
          <p:cNvSpPr>
            <a:spLocks noGrp="1"/>
          </p:cNvSpPr>
          <p:nvPr>
            <p:ph type="body"/>
          </p:nvPr>
        </p:nvSpPr>
        <p:spPr>
          <a:xfrm>
            <a:off x="6231960" y="160452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14" name="PlaceHolder 4"/>
          <p:cNvSpPr>
            <a:spLocks noGrp="1"/>
          </p:cNvSpPr>
          <p:nvPr>
            <p:ph type="body"/>
          </p:nvPr>
        </p:nvSpPr>
        <p:spPr>
          <a:xfrm>
            <a:off x="60948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15" name="PlaceHolder 5"/>
          <p:cNvSpPr>
            <a:spLocks noGrp="1"/>
          </p:cNvSpPr>
          <p:nvPr>
            <p:ph type="body"/>
          </p:nvPr>
        </p:nvSpPr>
        <p:spPr>
          <a:xfrm>
            <a:off x="6231960" y="3682080"/>
            <a:ext cx="5353560" cy="1896120"/>
          </a:xfrm>
          <a:prstGeom prst="rect">
            <a:avLst/>
          </a:prstGeom>
          <a:noFill/>
          <a:ln w="0">
            <a:noFill/>
          </a:ln>
        </p:spPr>
        <p:txBody>
          <a:bodyPr lIns="0" tIns="0" rIns="0" bIns="0" anchor="t">
            <a:normAutofit lnSpcReduction="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16" name="PlaceHolder 6"/>
          <p:cNvSpPr>
            <a:spLocks noGrp="1"/>
          </p:cNvSpPr>
          <p:nvPr>
            <p:ph type="sldNum" idx="2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E2EA95E4-E4CB-494A-8FF8-977B31CF75C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7">
    <p:bg>
      <p:bgPr>
        <a:solidFill>
          <a:srgbClr val="0D1B2A"/>
        </a:solidFill>
      </p:bgPr>
    </p:bg>
    <p:spTree>
      <p:nvGrpSpPr>
        <p:cNvPr id="1" name=""/>
        <p:cNvGrpSpPr/>
        <p:nvPr/>
      </p:nvGrpSpPr>
      <p:grpSpPr>
        <a:xfrm>
          <a:off x="0" y="0"/>
          <a:ext cx="0" cy="0"/>
          <a:chOff x="0" y="0"/>
          <a:chExt cx="0" cy="0"/>
        </a:xfrm>
      </p:grpSpPr>
      <p:pic>
        <p:nvPicPr>
          <p:cNvPr id="217" name="Image 0" descr="img/deco_dark.png"/>
          <p:cNvPicPr/>
          <p:nvPr/>
        </p:nvPicPr>
        <p:blipFill>
          <a:blip r:embed="rId2"/>
          <a:stretch/>
        </p:blipFill>
        <p:spPr>
          <a:xfrm>
            <a:off x="7498080" y="1828800"/>
            <a:ext cx="4203720" cy="4203720"/>
          </a:xfrm>
          <a:prstGeom prst="rect">
            <a:avLst/>
          </a:prstGeom>
          <a:noFill/>
          <a:ln w="0">
            <a:noFill/>
          </a:ln>
        </p:spPr>
      </p:pic>
      <p:sp>
        <p:nvSpPr>
          <p:cNvPr id="218"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19" name="Image 1" descr="img/mark_dark.png"/>
          <p:cNvPicPr/>
          <p:nvPr/>
        </p:nvPicPr>
        <p:blipFill>
          <a:blip r:embed="rId3"/>
          <a:stretch/>
        </p:blipFill>
        <p:spPr>
          <a:xfrm>
            <a:off x="640080" y="6336720"/>
            <a:ext cx="235080" cy="235080"/>
          </a:xfrm>
          <a:prstGeom prst="rect">
            <a:avLst/>
          </a:prstGeom>
          <a:noFill/>
          <a:ln w="0">
            <a:noFill/>
          </a:ln>
        </p:spPr>
      </p:pic>
      <p:sp>
        <p:nvSpPr>
          <p:cNvPr id="220"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21"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22" name="PlaceHolder 2"/>
          <p:cNvSpPr>
            <a:spLocks noGrp="1"/>
          </p:cNvSpPr>
          <p:nvPr>
            <p:ph type="body"/>
          </p:nvPr>
        </p:nvSpPr>
        <p:spPr>
          <a:xfrm>
            <a:off x="60948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3" name="PlaceHolder 3"/>
          <p:cNvSpPr>
            <a:spLocks noGrp="1"/>
          </p:cNvSpPr>
          <p:nvPr>
            <p:ph type="body"/>
          </p:nvPr>
        </p:nvSpPr>
        <p:spPr>
          <a:xfrm>
            <a:off x="431964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4" name="PlaceHolder 4"/>
          <p:cNvSpPr>
            <a:spLocks noGrp="1"/>
          </p:cNvSpPr>
          <p:nvPr>
            <p:ph type="body"/>
          </p:nvPr>
        </p:nvSpPr>
        <p:spPr>
          <a:xfrm>
            <a:off x="8029800" y="160452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5" name="PlaceHolder 5"/>
          <p:cNvSpPr>
            <a:spLocks noGrp="1"/>
          </p:cNvSpPr>
          <p:nvPr>
            <p:ph type="body"/>
          </p:nvPr>
        </p:nvSpPr>
        <p:spPr>
          <a:xfrm>
            <a:off x="60948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6" name="PlaceHolder 6"/>
          <p:cNvSpPr>
            <a:spLocks noGrp="1"/>
          </p:cNvSpPr>
          <p:nvPr>
            <p:ph type="body"/>
          </p:nvPr>
        </p:nvSpPr>
        <p:spPr>
          <a:xfrm>
            <a:off x="431964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7" name="PlaceHolder 7"/>
          <p:cNvSpPr>
            <a:spLocks noGrp="1"/>
          </p:cNvSpPr>
          <p:nvPr>
            <p:ph type="body"/>
          </p:nvPr>
        </p:nvSpPr>
        <p:spPr>
          <a:xfrm>
            <a:off x="8029800" y="3682080"/>
            <a:ext cx="3532320" cy="1896120"/>
          </a:xfrm>
          <a:prstGeom prst="rect">
            <a:avLst/>
          </a:prstGeom>
          <a:noFill/>
          <a:ln w="0">
            <a:noFill/>
          </a:ln>
        </p:spPr>
        <p:txBody>
          <a:bodyPr lIns="0" tIns="0" rIns="0" bIns="0" anchor="t">
            <a:normAutofit fontScale="62500" lnSpcReduction="19999"/>
          </a:bodyPr>
          <a:lstStyle>
            <a:lvl1pPr algn="l">
              <a:lnSpc>
                <a:spcPct val="100000"/>
              </a:lnSpc>
              <a:buClr>
                <a:srgbClr val="FFFFFF"/>
              </a:buClr>
              <a:buFont typeface="Wingdings" charset="2"/>
              <a:buChar char=""/>
              <a:defRPr lang="fr-FR" sz="18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1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18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18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1800" b="0" u="none" strike="noStrike">
                <a:solidFill>
                  <a:srgbClr val="FFFFFF"/>
                </a:solidFill>
                <a:effectLst/>
                <a:uFillTx/>
                <a:latin typeface="Arial"/>
              </a:rPr>
              <a:t>Click to edit the outline text format</a:t>
            </a:r>
            <a:endParaRPr lang="fr-FR" sz="18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Second Outline Level</a:t>
            </a:r>
            <a:endParaRPr lang="fr-FR" sz="1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Third Outline Level</a:t>
            </a:r>
            <a:endParaRPr lang="fr-FR" sz="18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1800" b="0" u="none" strike="noStrike">
                <a:solidFill>
                  <a:srgbClr val="FFFFFF"/>
                </a:solidFill>
                <a:effectLst/>
                <a:uFillTx/>
                <a:latin typeface="Arial"/>
              </a:rPr>
              <a:t>Fourth Outline Level</a:t>
            </a:r>
            <a:endParaRPr lang="fr-FR" sz="18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Fifth Outline Level</a:t>
            </a:r>
            <a:endParaRPr lang="fr-FR" sz="18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Sixth Outline Level</a:t>
            </a:r>
            <a:endParaRPr lang="fr-FR" sz="18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1800" b="0" u="none" strike="noStrike">
                <a:solidFill>
                  <a:srgbClr val="FFFFFF"/>
                </a:solidFill>
                <a:effectLst/>
                <a:uFillTx/>
                <a:latin typeface="Arial"/>
              </a:rPr>
              <a:t>Seventh Outline Level</a:t>
            </a:r>
            <a:endParaRPr lang="fr-FR" sz="1800" b="0" u="none" strike="noStrike">
              <a:solidFill>
                <a:srgbClr val="FFFFFF"/>
              </a:solidFill>
              <a:effectLst/>
              <a:uFillTx/>
              <a:latin typeface="Arial"/>
            </a:endParaRPr>
          </a:p>
        </p:txBody>
      </p:sp>
      <p:sp>
        <p:nvSpPr>
          <p:cNvPr id="228" name="PlaceHolder 8"/>
          <p:cNvSpPr>
            <a:spLocks noGrp="1"/>
          </p:cNvSpPr>
          <p:nvPr>
            <p:ph type="sldNum" idx="2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9D52A93-5AA3-4A86-992D-6CF26218C11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8">
    <p:bg>
      <p:bgPr>
        <a:solidFill>
          <a:srgbClr val="0D1B2A"/>
        </a:solidFill>
      </p:bgPr>
    </p:bg>
    <p:spTree>
      <p:nvGrpSpPr>
        <p:cNvPr id="1" name=""/>
        <p:cNvGrpSpPr/>
        <p:nvPr/>
      </p:nvGrpSpPr>
      <p:grpSpPr>
        <a:xfrm>
          <a:off x="0" y="0"/>
          <a:ext cx="0" cy="0"/>
          <a:chOff x="0" y="0"/>
          <a:chExt cx="0" cy="0"/>
        </a:xfrm>
      </p:grpSpPr>
      <p:pic>
        <p:nvPicPr>
          <p:cNvPr id="229" name="Image 0" descr="img/deco_dark.png"/>
          <p:cNvPicPr/>
          <p:nvPr/>
        </p:nvPicPr>
        <p:blipFill>
          <a:blip r:embed="rId2"/>
          <a:stretch/>
        </p:blipFill>
        <p:spPr>
          <a:xfrm>
            <a:off x="7498080" y="1828800"/>
            <a:ext cx="4203720" cy="4203720"/>
          </a:xfrm>
          <a:prstGeom prst="rect">
            <a:avLst/>
          </a:prstGeom>
          <a:noFill/>
          <a:ln w="0">
            <a:noFill/>
          </a:ln>
        </p:spPr>
      </p:pic>
      <p:sp>
        <p:nvSpPr>
          <p:cNvPr id="230"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31" name="Image 1" descr="img/mark_dark.png"/>
          <p:cNvPicPr/>
          <p:nvPr/>
        </p:nvPicPr>
        <p:blipFill>
          <a:blip r:embed="rId3"/>
          <a:stretch/>
        </p:blipFill>
        <p:spPr>
          <a:xfrm>
            <a:off x="640080" y="6336720"/>
            <a:ext cx="235080" cy="235080"/>
          </a:xfrm>
          <a:prstGeom prst="rect">
            <a:avLst/>
          </a:prstGeom>
          <a:noFill/>
          <a:ln w="0">
            <a:noFill/>
          </a:ln>
        </p:spPr>
      </p:pic>
      <p:sp>
        <p:nvSpPr>
          <p:cNvPr id="232"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33" name="PlaceHolder 1"/>
          <p:cNvSpPr>
            <a:spLocks noGrp="1"/>
          </p:cNvSpPr>
          <p:nvPr>
            <p:ph type="sldNum" idx="2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85762F0B-AC7A-44EE-BEE9-37FF324B765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34" name="PlaceHolder 2"/>
          <p:cNvSpPr>
            <a:spLocks noGrp="1"/>
          </p:cNvSpPr>
          <p:nvPr>
            <p:ph type="title"/>
          </p:nvPr>
        </p:nvSpPr>
        <p:spPr>
          <a:xfrm>
            <a:off x="609480" y="273600"/>
            <a:ext cx="10972080" cy="1144440"/>
          </a:xfrm>
          <a:prstGeom prst="rect">
            <a:avLst/>
          </a:prstGeom>
          <a:noFill/>
          <a:ln w="0">
            <a:noFill/>
          </a:ln>
        </p:spPr>
        <p:txBody>
          <a:bodyPr lIns="0" tIns="0" rIns="0" bIns="0" anchor="ctr">
            <a:noAutofit/>
          </a:bodyPr>
          <a:lstStyle>
            <a:lvl1pPr indent="0" algn="l">
              <a:lnSpc>
                <a:spcPct val="100000"/>
              </a:lnSpc>
              <a:buNone/>
              <a:tabLst>
                <a:tab pos="0" algn="l"/>
              </a:tabLst>
              <a:defRPr lang="fr-FR" sz="4400" b="0" u="none" strike="noStrike">
                <a:solidFill>
                  <a:srgbClr val="FFFFFF"/>
                </a:solidFill>
                <a:effectLst/>
                <a:uFillTx/>
                <a:latin typeface="Arial"/>
              </a:defRPr>
            </a:lvl1pPr>
          </a:lstStyle>
          <a:p>
            <a:pPr indent="0" algn="l">
              <a:lnSpc>
                <a:spcPct val="100000"/>
              </a:lnSpc>
              <a:buNone/>
              <a:tabLst>
                <a:tab pos="0" algn="l"/>
              </a:tabLst>
            </a:pPr>
            <a:r>
              <a:rPr lang="fr-FR" sz="4400" b="0" u="none" strike="noStrike">
                <a:solidFill>
                  <a:srgbClr val="FFFFFF"/>
                </a:solidFill>
                <a:effectLst/>
                <a:uFillTx/>
                <a:latin typeface="Arial"/>
              </a:rPr>
              <a:t>Click to edit the title text format</a:t>
            </a:r>
            <a:endParaRPr lang="fr-FR" sz="4400" b="0" u="none" strike="noStrike">
              <a:solidFill>
                <a:srgbClr val="FFFFFF"/>
              </a:solidFill>
              <a:effectLst/>
              <a:uFillTx/>
              <a:latin typeface="Arial"/>
            </a:endParaRPr>
          </a:p>
        </p:txBody>
      </p:sp>
      <p:sp>
        <p:nvSpPr>
          <p:cNvPr id="235" name="PlaceHolder 3"/>
          <p:cNvSpPr>
            <a:spLocks noGrp="1"/>
          </p:cNvSpPr>
          <p:nvPr>
            <p:ph type="body"/>
          </p:nvPr>
        </p:nvSpPr>
        <p:spPr>
          <a:xfrm>
            <a:off x="609480" y="1604520"/>
            <a:ext cx="10972080" cy="3976920"/>
          </a:xfrm>
          <a:prstGeom prst="rect">
            <a:avLst/>
          </a:prstGeom>
          <a:noFill/>
          <a:ln w="0">
            <a:noFill/>
          </a:ln>
        </p:spPr>
        <p:txBody>
          <a:bodyPr lIns="0" tIns="0" rIns="0" bIns="0" anchor="t">
            <a:normAutofit/>
          </a:bodyPr>
          <a:lstStyle>
            <a:lvl1pPr algn="l">
              <a:lnSpc>
                <a:spcPct val="100000"/>
              </a:lnSpc>
              <a:buClr>
                <a:srgbClr val="FFFFFF"/>
              </a:buClr>
              <a:buFont typeface="Wingdings" charset="2"/>
              <a:buChar char=""/>
              <a:defRPr lang="fr-FR" sz="3200" b="0" u="none" strike="noStrike">
                <a:solidFill>
                  <a:srgbClr val="FFFFFF"/>
                </a:solidFill>
                <a:effectLst/>
                <a:uFillTx/>
                <a:latin typeface="Arial"/>
              </a:defRPr>
            </a:lvl1pPr>
            <a:lvl2pPr lvl="1" algn="l">
              <a:lnSpc>
                <a:spcPct val="100000"/>
              </a:lnSpc>
              <a:buClr>
                <a:srgbClr val="FFFFFF"/>
              </a:buClr>
              <a:buSzPct val="75000"/>
              <a:buFont typeface="Symbol" charset="2"/>
              <a:buChar char=""/>
              <a:defRPr lang="fr-FR" sz="2800" b="0" u="none" strike="noStrike">
                <a:solidFill>
                  <a:srgbClr val="FFFFFF"/>
                </a:solidFill>
                <a:effectLst/>
                <a:uFillTx/>
                <a:latin typeface="Arial"/>
              </a:defRPr>
            </a:lvl2pPr>
            <a:lvl3pPr lvl="2" algn="l">
              <a:lnSpc>
                <a:spcPct val="100000"/>
              </a:lnSpc>
              <a:buClr>
                <a:srgbClr val="FFFFFF"/>
              </a:buClr>
              <a:buSzPct val="45000"/>
              <a:buFont typeface="Wingdings" charset="2"/>
              <a:buChar char=""/>
              <a:defRPr lang="fr-FR" sz="2400" b="0" u="none" strike="noStrike">
                <a:solidFill>
                  <a:srgbClr val="FFFFFF"/>
                </a:solidFill>
                <a:effectLst/>
                <a:uFillTx/>
                <a:latin typeface="Arial"/>
              </a:defRPr>
            </a:lvl3pPr>
            <a:lvl4pPr lvl="3" algn="l">
              <a:lnSpc>
                <a:spcPct val="100000"/>
              </a:lnSpc>
              <a:buClr>
                <a:srgbClr val="FFFFFF"/>
              </a:buClr>
              <a:buSzPct val="75000"/>
              <a:buFont typeface="Symbol" charset="2"/>
              <a:buChar char=""/>
              <a:defRPr lang="fr-FR" sz="2000" b="0" u="none" strike="noStrike">
                <a:solidFill>
                  <a:srgbClr val="FFFFFF"/>
                </a:solidFill>
                <a:effectLst/>
                <a:uFillTx/>
                <a:latin typeface="Arial"/>
              </a:defRPr>
            </a:lvl4pPr>
            <a:lvl5pPr lvl="4"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5pPr>
            <a:lvl6pPr lvl="5"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6pPr>
            <a:lvl7pPr lvl="6" algn="l">
              <a:lnSpc>
                <a:spcPct val="100000"/>
              </a:lnSpc>
              <a:buClr>
                <a:srgbClr val="FFFFFF"/>
              </a:buClr>
              <a:buSzPct val="45000"/>
              <a:buFont typeface="Wingdings" charset="2"/>
              <a:buChar char=""/>
              <a:defRPr lang="fr-FR" sz="2000" b="0" u="none" strike="noStrike">
                <a:solidFill>
                  <a:srgbClr val="FFFFFF"/>
                </a:solidFill>
                <a:effectLst/>
                <a:uFillTx/>
                <a:latin typeface="Arial"/>
              </a:defRPr>
            </a:lvl7pPr>
          </a:lstStyle>
          <a:p>
            <a:pPr marL="324000" indent="-324000" algn="l">
              <a:lnSpc>
                <a:spcPct val="100000"/>
              </a:lnSpc>
              <a:buClr>
                <a:srgbClr val="FFFFFF"/>
              </a:buClr>
              <a:buFont typeface="Wingdings" charset="2"/>
              <a:buChar char=""/>
            </a:pPr>
            <a:r>
              <a:rPr lang="fr-FR" sz="3200" b="0" u="none" strike="noStrike">
                <a:solidFill>
                  <a:srgbClr val="FFFFFF"/>
                </a:solidFill>
                <a:effectLst/>
                <a:uFillTx/>
                <a:latin typeface="Arial"/>
              </a:rPr>
              <a:t>Click to edit the outline text format</a:t>
            </a:r>
            <a:endParaRPr lang="fr-FR" sz="3200" b="0" u="none" strike="noStrike">
              <a:solidFill>
                <a:srgbClr val="FFFFFF"/>
              </a:solidFill>
              <a:effectLst/>
              <a:uFillTx/>
              <a:latin typeface="Arial"/>
            </a:endParaRPr>
          </a:p>
          <a:p>
            <a:pPr marL="864000" lvl="1" indent="-324000" algn="l">
              <a:lnSpc>
                <a:spcPct val="100000"/>
              </a:lnSpc>
              <a:buClr>
                <a:srgbClr val="FFFFFF"/>
              </a:buClr>
              <a:buSzPct val="75000"/>
              <a:buFont typeface="Symbol" charset="2"/>
              <a:buChar char=""/>
            </a:pPr>
            <a:r>
              <a:rPr lang="fr-FR" sz="2800" b="0" u="none" strike="noStrike">
                <a:solidFill>
                  <a:srgbClr val="FFFFFF"/>
                </a:solidFill>
                <a:effectLst/>
                <a:uFillTx/>
                <a:latin typeface="Arial"/>
              </a:rPr>
              <a:t>Second Outline Level</a:t>
            </a:r>
            <a:endParaRPr lang="fr-FR" sz="2800" b="0" u="none" strike="noStrike">
              <a:solidFill>
                <a:srgbClr val="FFFFFF"/>
              </a:solidFill>
              <a:effectLst/>
              <a:uFillTx/>
              <a:latin typeface="Arial"/>
            </a:endParaRPr>
          </a:p>
          <a:p>
            <a:pPr marL="1296000" lvl="2" indent="-288000" algn="l">
              <a:lnSpc>
                <a:spcPct val="100000"/>
              </a:lnSpc>
              <a:buClr>
                <a:srgbClr val="FFFFFF"/>
              </a:buClr>
              <a:buSzPct val="45000"/>
              <a:buFont typeface="Wingdings" charset="2"/>
              <a:buChar char=""/>
            </a:pPr>
            <a:r>
              <a:rPr lang="fr-FR" sz="2400" b="0" u="none" strike="noStrike">
                <a:solidFill>
                  <a:srgbClr val="FFFFFF"/>
                </a:solidFill>
                <a:effectLst/>
                <a:uFillTx/>
                <a:latin typeface="Arial"/>
              </a:rPr>
              <a:t>Third Outline Level</a:t>
            </a:r>
            <a:endParaRPr lang="fr-FR" sz="2400" b="0" u="none" strike="noStrike">
              <a:solidFill>
                <a:srgbClr val="FFFFFF"/>
              </a:solidFill>
              <a:effectLst/>
              <a:uFillTx/>
              <a:latin typeface="Arial"/>
            </a:endParaRPr>
          </a:p>
          <a:p>
            <a:pPr marL="1728000" lvl="3" indent="-216000" algn="l">
              <a:lnSpc>
                <a:spcPct val="100000"/>
              </a:lnSpc>
              <a:buClr>
                <a:srgbClr val="FFFFFF"/>
              </a:buClr>
              <a:buSzPct val="75000"/>
              <a:buFont typeface="Symbol" charset="2"/>
              <a:buChar char=""/>
            </a:pPr>
            <a:r>
              <a:rPr lang="fr-FR" sz="2000" b="0" u="none" strike="noStrike">
                <a:solidFill>
                  <a:srgbClr val="FFFFFF"/>
                </a:solidFill>
                <a:effectLst/>
                <a:uFillTx/>
                <a:latin typeface="Arial"/>
              </a:rPr>
              <a:t>Fourth Outline Level</a:t>
            </a:r>
            <a:endParaRPr lang="fr-FR" sz="2000" b="0" u="none" strike="noStrike">
              <a:solidFill>
                <a:srgbClr val="FFFFFF"/>
              </a:solidFill>
              <a:effectLst/>
              <a:uFillTx/>
              <a:latin typeface="Arial"/>
            </a:endParaRPr>
          </a:p>
          <a:p>
            <a:pPr marL="2160000" lvl="4"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Fifth Outline Level</a:t>
            </a:r>
            <a:endParaRPr lang="fr-FR" sz="2000" b="0" u="none" strike="noStrike">
              <a:solidFill>
                <a:srgbClr val="FFFFFF"/>
              </a:solidFill>
              <a:effectLst/>
              <a:uFillTx/>
              <a:latin typeface="Arial"/>
            </a:endParaRPr>
          </a:p>
          <a:p>
            <a:pPr marL="2592000" lvl="5"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Sixth Outline Level</a:t>
            </a:r>
            <a:endParaRPr lang="fr-FR" sz="2000" b="0" u="none" strike="noStrike">
              <a:solidFill>
                <a:srgbClr val="FFFFFF"/>
              </a:solidFill>
              <a:effectLst/>
              <a:uFillTx/>
              <a:latin typeface="Arial"/>
            </a:endParaRPr>
          </a:p>
          <a:p>
            <a:pPr marL="3024000" lvl="6" indent="-216000" algn="l">
              <a:lnSpc>
                <a:spcPct val="100000"/>
              </a:lnSpc>
              <a:buClr>
                <a:srgbClr val="FFFFFF"/>
              </a:buClr>
              <a:buSzPct val="45000"/>
              <a:buFont typeface="Wingdings" charset="2"/>
              <a:buChar char=""/>
            </a:pPr>
            <a:r>
              <a:rPr lang="fr-FR" sz="2000" b="0" u="none" strike="noStrike">
                <a:solidFill>
                  <a:srgbClr val="FFFFFF"/>
                </a:solidFill>
                <a:effectLst/>
                <a:uFillTx/>
                <a:latin typeface="Arial"/>
              </a:rPr>
              <a:t>Seventh Outline Level</a:t>
            </a:r>
            <a:endParaRPr lang="fr-FR" sz="2000" b="0" u="none" strike="noStrike">
              <a:solidFill>
                <a:srgbClr val="FFFFFF"/>
              </a:solidFill>
              <a:effectLst/>
              <a:uFillTx/>
              <a:latin typeface="Arial"/>
            </a:endParaRPr>
          </a:p>
        </p:txBody>
      </p:sp>
    </p:spTree>
  </p:cSld>
  <p:clrMapOvr>
    <a:masterClrMapping/>
  </p:clrMapOvr>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9">
    <p:bg>
      <p:bgPr>
        <a:solidFill>
          <a:srgbClr val="0D1B2A"/>
        </a:solidFill>
      </p:bgPr>
    </p:bg>
    <p:spTree>
      <p:nvGrpSpPr>
        <p:cNvPr id="1" name=""/>
        <p:cNvGrpSpPr/>
        <p:nvPr/>
      </p:nvGrpSpPr>
      <p:grpSpPr>
        <a:xfrm>
          <a:off x="0" y="0"/>
          <a:ext cx="0" cy="0"/>
          <a:chOff x="0" y="0"/>
          <a:chExt cx="0" cy="0"/>
        </a:xfrm>
      </p:grpSpPr>
      <p:pic>
        <p:nvPicPr>
          <p:cNvPr id="236" name="Image 0" descr="img/deco_dark.png"/>
          <p:cNvPicPr/>
          <p:nvPr/>
        </p:nvPicPr>
        <p:blipFill>
          <a:blip r:embed="rId2"/>
          <a:stretch/>
        </p:blipFill>
        <p:spPr>
          <a:xfrm>
            <a:off x="7498080" y="1828800"/>
            <a:ext cx="4203720" cy="4203720"/>
          </a:xfrm>
          <a:prstGeom prst="rect">
            <a:avLst/>
          </a:prstGeom>
          <a:noFill/>
          <a:ln w="0">
            <a:noFill/>
          </a:ln>
        </p:spPr>
      </p:pic>
      <p:sp>
        <p:nvSpPr>
          <p:cNvPr id="237" name="Shape 0"/>
          <p:cNvSpPr/>
          <p:nvPr/>
        </p:nvSpPr>
        <p:spPr>
          <a:xfrm>
            <a:off x="640080" y="1828800"/>
            <a:ext cx="820440" cy="52200"/>
          </a:xfrm>
          <a:prstGeom prst="rect">
            <a:avLst/>
          </a:prstGeom>
          <a:solidFill>
            <a:srgbClr val="0F9B8E"/>
          </a:solidFill>
          <a:ln w="0">
            <a:noFill/>
          </a:ln>
        </p:spPr>
        <p:style>
          <a:lnRef idx="0"/>
          <a:fillRef idx="0"/>
          <a:effectRef idx="0"/>
          <a:fontRef idx="minor"/>
        </p:style>
        <p:txBody>
          <a:bodyPr lIns="90000" tIns="7920" rIns="90000" bIns="7920" anchor="t">
            <a:noAutofit/>
          </a:bodyPr>
          <a:p>
            <a:pPr/>
            <a:endParaRPr lang="fr-FR" sz="1800" b="0" u="none" strike="noStrike">
              <a:solidFill>
                <a:srgbClr val="FFFFFF"/>
              </a:solidFill>
              <a:effectLst/>
              <a:uFillTx/>
              <a:latin typeface="Arial"/>
            </a:endParaRPr>
          </a:p>
        </p:txBody>
      </p:sp>
      <p:pic>
        <p:nvPicPr>
          <p:cNvPr id="238" name="Image 1" descr="img/mark_dark.png"/>
          <p:cNvPicPr/>
          <p:nvPr/>
        </p:nvPicPr>
        <p:blipFill>
          <a:blip r:embed="rId3"/>
          <a:stretch/>
        </p:blipFill>
        <p:spPr>
          <a:xfrm>
            <a:off x="640080" y="6336720"/>
            <a:ext cx="235080" cy="235080"/>
          </a:xfrm>
          <a:prstGeom prst="rect">
            <a:avLst/>
          </a:prstGeom>
          <a:noFill/>
          <a:ln w="0">
            <a:noFill/>
          </a:ln>
        </p:spPr>
      </p:pic>
      <p:sp>
        <p:nvSpPr>
          <p:cNvPr id="239" name="Text 1"/>
          <p:cNvSpPr/>
          <p:nvPr/>
        </p:nvSpPr>
        <p:spPr>
          <a:xfrm>
            <a:off x="987480" y="6309360"/>
            <a:ext cx="4569480" cy="2901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en-US" sz="1000" b="0" u="none" spc="286" strike="noStrike">
                <a:solidFill>
                  <a:srgbClr val="8E99A4"/>
                </a:solidFill>
                <a:effectLst/>
                <a:uFillTx/>
                <a:latin typeface="Inter"/>
                <a:ea typeface="Inter"/>
              </a:rPr>
              <a:t>DECIMAL INSIGHTS CONSULTING</a:t>
            </a:r>
            <a:endParaRPr lang="fr-FR" sz="1000" b="0" u="none" strike="noStrike">
              <a:solidFill>
                <a:srgbClr val="FFFFFF"/>
              </a:solidFill>
              <a:effectLst/>
              <a:uFillTx/>
              <a:latin typeface="Arial"/>
            </a:endParaRPr>
          </a:p>
        </p:txBody>
      </p:sp>
      <p:sp>
        <p:nvSpPr>
          <p:cNvPr id="240" name="PlaceHolder 1"/>
          <p:cNvSpPr>
            <a:spLocks noGrp="1"/>
          </p:cNvSpPr>
          <p:nvPr>
            <p:ph type="title"/>
          </p:nvPr>
        </p:nvSpPr>
        <p:spPr>
          <a:xfrm>
            <a:off x="609480" y="273600"/>
            <a:ext cx="10971720" cy="1144080"/>
          </a:xfrm>
          <a:prstGeom prst="rect">
            <a:avLst/>
          </a:prstGeom>
          <a:noFill/>
          <a:ln w="0">
            <a:noFill/>
          </a:ln>
        </p:spPr>
        <p:txBody>
          <a:bodyPr lIns="0" tIns="0" rIns="0" bIns="0" anchor="ctr">
            <a:noAutofit/>
          </a:bodyPr>
          <a:lstStyle>
            <a:lvl1pPr indent="0" algn="l">
              <a:lnSpc>
                <a:spcPct val="100000"/>
              </a:lnSpc>
              <a:buNone/>
              <a:tabLst>
                <a:tab pos="0" algn="l"/>
              </a:tabLst>
              <a:defRPr lang="fr-FR" sz="1800" b="0" u="none" strike="noStrike">
                <a:solidFill>
                  <a:srgbClr val="FFFFFF"/>
                </a:solidFill>
                <a:effectLst/>
                <a:uFillTx/>
                <a:latin typeface="Arial"/>
              </a:defRPr>
            </a:lvl1pPr>
          </a:lstStyle>
          <a:p>
            <a:pPr indent="0" algn="l">
              <a:lnSpc>
                <a:spcPct val="100000"/>
              </a:lnSpc>
              <a:buNone/>
              <a:tabLst>
                <a:tab pos="0" algn="l"/>
              </a:tabLst>
            </a:pPr>
            <a:r>
              <a:rPr lang="fr-FR" sz="1800" b="0" u="none" strike="noStrike">
                <a:solidFill>
                  <a:srgbClr val="FFFFFF"/>
                </a:solidFill>
                <a:effectLst/>
                <a:uFillTx/>
                <a:latin typeface="Arial"/>
              </a:rPr>
              <a:t>Click to edit the title text format</a:t>
            </a:r>
            <a:endParaRPr lang="fr-FR" sz="1800" b="0" u="none" strike="noStrike">
              <a:solidFill>
                <a:srgbClr val="FFFFFF"/>
              </a:solidFill>
              <a:effectLst/>
              <a:uFillTx/>
              <a:latin typeface="Arial"/>
            </a:endParaRPr>
          </a:p>
        </p:txBody>
      </p:sp>
      <p:sp>
        <p:nvSpPr>
          <p:cNvPr id="241" name="PlaceHolder 2"/>
          <p:cNvSpPr>
            <a:spLocks noGrp="1"/>
          </p:cNvSpPr>
          <p:nvPr>
            <p:ph type="sldNum" idx="2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2E12BBC-0FB2-4669-B4EA-783BE338E80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slideLayout" Target="../slideLayouts/slideLayout22.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slideLayout" Target="../slideLayouts/slideLayout22.xml"/><Relationship Id="rId5"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22.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22.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22.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22.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11.png"/><Relationship Id="rId3" Type="http://schemas.openxmlformats.org/officeDocument/2006/relationships/slideLayout" Target="../slideLayouts/slideLayout22.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2.xml"/><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40080" y="2377440"/>
            <a:ext cx="6764040" cy="1734840"/>
          </a:xfrm>
          <a:prstGeom prst="rect">
            <a:avLst/>
          </a:prstGeom>
          <a:noFill/>
          <a:ln w="0">
            <a:noFill/>
          </a:ln>
        </p:spPr>
        <p:txBody>
          <a:bodyPr lIns="90000" tIns="45000" rIns="90000" bIns="45000" anchor="t">
            <a:noAutofit/>
          </a:bodyPr>
          <a:p>
            <a:pPr indent="0" algn="l">
              <a:lnSpc>
                <a:spcPct val="100000"/>
              </a:lnSpc>
              <a:buNone/>
              <a:tabLst>
                <a:tab pos="0" algn="l"/>
              </a:tabLst>
            </a:pPr>
            <a:r>
              <a:rPr lang="en-US" sz="5000" b="0" u="none" strike="noStrike">
                <a:solidFill>
                  <a:srgbClr val="F7F6F2"/>
                </a:solidFill>
                <a:effectLst/>
                <a:uFillTx/>
                <a:latin typeface="Fraunces SemiBold"/>
                <a:ea typeface="Fraunces SemiBold"/>
              </a:rPr>
              <a:t>Livrable de groupe</a:t>
            </a:r>
            <a:endParaRPr lang="fr-FR" sz="5000" b="0" u="none" strike="noStrike">
              <a:solidFill>
                <a:srgbClr val="FFFFFF"/>
              </a:solidFill>
              <a:effectLst/>
              <a:uFillTx/>
              <a:latin typeface="Arial"/>
            </a:endParaRPr>
          </a:p>
        </p:txBody>
      </p:sp>
      <p:sp>
        <p:nvSpPr>
          <p:cNvPr id="249" name="PlaceHolder 2"/>
          <p:cNvSpPr>
            <a:spLocks noGrp="1"/>
          </p:cNvSpPr>
          <p:nvPr>
            <p:ph/>
          </p:nvPr>
        </p:nvSpPr>
        <p:spPr>
          <a:xfrm>
            <a:off x="640080" y="4251960"/>
            <a:ext cx="6398280" cy="820440"/>
          </a:xfrm>
          <a:prstGeom prst="rect">
            <a:avLst/>
          </a:prstGeom>
          <a:noFill/>
          <a:ln w="0">
            <a:noFill/>
          </a:ln>
        </p:spPr>
        <p:txBody>
          <a:bodyPr lIns="90000" tIns="45000" rIns="90000" bIns="45000" anchor="t">
            <a:noAutofit/>
          </a:bodyPr>
          <a:p>
            <a:pPr indent="0" algn="l">
              <a:lnSpc>
                <a:spcPct val="100000"/>
              </a:lnSpc>
              <a:spcBef>
                <a:spcPts val="400"/>
              </a:spcBef>
              <a:buNone/>
              <a:tabLst>
                <a:tab pos="0" algn="l"/>
              </a:tabLst>
            </a:pPr>
            <a:r>
              <a:rPr lang="en-US" sz="2000" b="0" u="none" strike="noStrike">
                <a:solidFill>
                  <a:srgbClr val="B8C0C8"/>
                </a:solidFill>
                <a:effectLst/>
                <a:uFillTx/>
                <a:latin typeface="Inter"/>
                <a:ea typeface="Inter"/>
              </a:rPr>
              <a:t>TD AssurConnect : gouvernance, profilage et qualité des données</a:t>
            </a:r>
            <a:endParaRPr lang="fr-FR" sz="2000" b="0" u="none" strike="noStrike">
              <a:solidFill>
                <a:srgbClr val="FFFFFF"/>
              </a:solidFill>
              <a:effectLst/>
              <a:uFillTx/>
              <a:latin typeface="Arial"/>
            </a:endParaRPr>
          </a:p>
        </p:txBody>
      </p:sp>
      <p:sp>
        <p:nvSpPr>
          <p:cNvPr id="250" name="PlaceHolder 3"/>
          <p:cNvSpPr>
            <a:spLocks noGrp="1"/>
          </p:cNvSpPr>
          <p:nvPr>
            <p:ph/>
          </p:nvPr>
        </p:nvSpPr>
        <p:spPr>
          <a:xfrm>
            <a:off x="640080" y="5577840"/>
            <a:ext cx="6398280" cy="363240"/>
          </a:xfrm>
          <a:prstGeom prst="rect">
            <a:avLst/>
          </a:prstGeom>
          <a:noFill/>
          <a:ln w="0">
            <a:noFill/>
          </a:ln>
        </p:spPr>
        <p:txBody>
          <a:bodyPr lIns="90000" tIns="45000" rIns="90000" bIns="45000" anchor="t">
            <a:noAutofit/>
          </a:bodyPr>
          <a:p>
            <a:pPr indent="0" algn="l">
              <a:lnSpc>
                <a:spcPct val="100000"/>
              </a:lnSpc>
              <a:spcBef>
                <a:spcPts val="241"/>
              </a:spcBef>
              <a:buNone/>
              <a:tabLst>
                <a:tab pos="0" algn="l"/>
              </a:tabLst>
            </a:pPr>
            <a:r>
              <a:rPr lang="en-US" sz="1200" b="0" u="none" spc="187" strike="noStrike">
                <a:solidFill>
                  <a:srgbClr val="F5A623"/>
                </a:solidFill>
                <a:effectLst/>
                <a:uFillTx/>
                <a:latin typeface="Inter"/>
                <a:ea typeface="Inter"/>
              </a:rPr>
              <a:t>GROUPE [N°0] · [AMY Léo – MENY Nicolas - OUERGHEMNI Mongi - TRUONG David] · [14/10/2026]</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Comment remplir ce modèle</a:t>
            </a:r>
            <a:endParaRPr lang="fr-FR" sz="2800" b="0" u="none" strike="noStrike">
              <a:solidFill>
                <a:srgbClr val="FFFFFF"/>
              </a:solidFill>
              <a:effectLst/>
              <a:uFillTx/>
              <a:latin typeface="Arial"/>
            </a:endParaRPr>
          </a:p>
        </p:txBody>
      </p:sp>
      <p:sp>
        <p:nvSpPr>
          <p:cNvPr id="252" name="PlaceHolder 2"/>
          <p:cNvSpPr>
            <a:spLocks noGrp="1"/>
          </p:cNvSpPr>
          <p:nvPr>
            <p:ph type="sldNum" idx="2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A55C46C5-AC88-4518-A21D-4F37489C8FE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5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MODE D'EMPLOI</a:t>
            </a:r>
            <a:endParaRPr lang="fr-FR" sz="1100" b="0" u="none" strike="noStrike">
              <a:solidFill>
                <a:srgbClr val="FFFFFF"/>
              </a:solidFill>
              <a:effectLst/>
              <a:uFillTx/>
              <a:latin typeface="Arial"/>
            </a:endParaRPr>
          </a:p>
        </p:txBody>
      </p:sp>
      <p:sp>
        <p:nvSpPr>
          <p:cNvPr id="254" name="Rectangle 26"/>
          <p:cNvSpPr/>
          <p:nvPr/>
        </p:nvSpPr>
        <p:spPr>
          <a:xfrm>
            <a:off x="640080" y="1371600"/>
            <a:ext cx="10906200" cy="8020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55" name="Icône target" descr="Icône target"/>
          <p:cNvPicPr/>
          <p:nvPr/>
        </p:nvPicPr>
        <p:blipFill>
          <a:blip r:embed="rId1"/>
          <a:stretch/>
        </p:blipFill>
        <p:spPr>
          <a:xfrm>
            <a:off x="868680" y="1572840"/>
            <a:ext cx="399960" cy="399960"/>
          </a:xfrm>
          <a:prstGeom prst="rect">
            <a:avLst/>
          </a:prstGeom>
          <a:noFill/>
          <a:ln w="0">
            <a:noFill/>
          </a:ln>
        </p:spPr>
      </p:pic>
      <p:sp>
        <p:nvSpPr>
          <p:cNvPr id="256" name="TextBox 28"/>
          <p:cNvSpPr/>
          <p:nvPr/>
        </p:nvSpPr>
        <p:spPr>
          <a:xfrm>
            <a:off x="1463040" y="1658160"/>
            <a:ext cx="3289320" cy="228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Encadré ambre « Attendu »</a:t>
            </a:r>
            <a:endParaRPr lang="fr-FR" sz="1400" b="0" u="none" strike="noStrike">
              <a:solidFill>
                <a:srgbClr val="FFFFFF"/>
              </a:solidFill>
              <a:effectLst/>
              <a:uFillTx/>
              <a:latin typeface="Arial"/>
            </a:endParaRPr>
          </a:p>
        </p:txBody>
      </p:sp>
      <p:sp>
        <p:nvSpPr>
          <p:cNvPr id="257" name="TextBox 29"/>
          <p:cNvSpPr/>
          <p:nvPr/>
        </p:nvSpPr>
        <p:spPr>
          <a:xfrm>
            <a:off x="4846320" y="1666440"/>
            <a:ext cx="658116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Ce qui doit apparaître sur la page. À lire avant de rédiger ; ne pas supprimer.</a:t>
            </a:r>
            <a:endParaRPr lang="fr-FR" sz="1300" b="0" u="none" strike="noStrike">
              <a:solidFill>
                <a:srgbClr val="FFFFFF"/>
              </a:solidFill>
              <a:effectLst/>
              <a:uFillTx/>
              <a:latin typeface="Arial"/>
            </a:endParaRPr>
          </a:p>
        </p:txBody>
      </p:sp>
      <p:sp>
        <p:nvSpPr>
          <p:cNvPr id="258" name="Rectangle 30"/>
          <p:cNvSpPr/>
          <p:nvPr/>
        </p:nvSpPr>
        <p:spPr>
          <a:xfrm>
            <a:off x="640080" y="2286000"/>
            <a:ext cx="10906200" cy="8020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59" name="Icône pen" descr="Icône pen"/>
          <p:cNvPicPr/>
          <p:nvPr/>
        </p:nvPicPr>
        <p:blipFill>
          <a:blip r:embed="rId2"/>
          <a:stretch/>
        </p:blipFill>
        <p:spPr>
          <a:xfrm>
            <a:off x="868680" y="2487240"/>
            <a:ext cx="399960" cy="399960"/>
          </a:xfrm>
          <a:prstGeom prst="rect">
            <a:avLst/>
          </a:prstGeom>
          <a:noFill/>
          <a:ln w="0">
            <a:noFill/>
          </a:ln>
        </p:spPr>
      </p:pic>
      <p:sp>
        <p:nvSpPr>
          <p:cNvPr id="260" name="TextBox 32"/>
          <p:cNvSpPr/>
          <p:nvPr/>
        </p:nvSpPr>
        <p:spPr>
          <a:xfrm>
            <a:off x="1463040" y="2572560"/>
            <a:ext cx="3289320" cy="228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Cellule ou zone ambre sombre</a:t>
            </a:r>
            <a:endParaRPr lang="fr-FR" sz="1400" b="0" u="none" strike="noStrike">
              <a:solidFill>
                <a:srgbClr val="FFFFFF"/>
              </a:solidFill>
              <a:effectLst/>
              <a:uFillTx/>
              <a:latin typeface="Arial"/>
            </a:endParaRPr>
          </a:p>
        </p:txBody>
      </p:sp>
      <p:sp>
        <p:nvSpPr>
          <p:cNvPr id="261" name="TextBox 33"/>
          <p:cNvSpPr/>
          <p:nvPr/>
        </p:nvSpPr>
        <p:spPr>
          <a:xfrm>
            <a:off x="4846320" y="2473920"/>
            <a:ext cx="6581160" cy="4262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À compléter : remplacez « … » ou le texte gris entre crochets par votre contenu.</a:t>
            </a:r>
            <a:endParaRPr lang="fr-FR" sz="1300" b="0" u="none" strike="noStrike">
              <a:solidFill>
                <a:srgbClr val="FFFFFF"/>
              </a:solidFill>
              <a:effectLst/>
              <a:uFillTx/>
              <a:latin typeface="Arial"/>
            </a:endParaRPr>
          </a:p>
        </p:txBody>
      </p:sp>
      <p:sp>
        <p:nvSpPr>
          <p:cNvPr id="262" name="Rectangle 34"/>
          <p:cNvSpPr/>
          <p:nvPr/>
        </p:nvSpPr>
        <p:spPr>
          <a:xfrm>
            <a:off x="640080" y="3200400"/>
            <a:ext cx="10906200" cy="8020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63" name="Icône chart" descr="Icône chart"/>
          <p:cNvPicPr/>
          <p:nvPr/>
        </p:nvPicPr>
        <p:blipFill>
          <a:blip r:embed="rId3"/>
          <a:stretch/>
        </p:blipFill>
        <p:spPr>
          <a:xfrm>
            <a:off x="868680" y="3401640"/>
            <a:ext cx="399960" cy="399960"/>
          </a:xfrm>
          <a:prstGeom prst="rect">
            <a:avLst/>
          </a:prstGeom>
          <a:noFill/>
          <a:ln w="0">
            <a:noFill/>
          </a:ln>
        </p:spPr>
      </p:pic>
      <p:sp>
        <p:nvSpPr>
          <p:cNvPr id="264" name="TextBox 36"/>
          <p:cNvSpPr/>
          <p:nvPr/>
        </p:nvSpPr>
        <p:spPr>
          <a:xfrm>
            <a:off x="1463040" y="3372120"/>
            <a:ext cx="3289320" cy="4586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Une page prouve, elle ne raconte pas</a:t>
            </a:r>
            <a:endParaRPr lang="fr-FR" sz="1400" b="0" u="none" strike="noStrike">
              <a:solidFill>
                <a:srgbClr val="FFFFFF"/>
              </a:solidFill>
              <a:effectLst/>
              <a:uFillTx/>
              <a:latin typeface="Arial"/>
            </a:endParaRPr>
          </a:p>
        </p:txBody>
      </p:sp>
      <p:sp>
        <p:nvSpPr>
          <p:cNvPr id="265" name="TextBox 37"/>
          <p:cNvSpPr/>
          <p:nvPr/>
        </p:nvSpPr>
        <p:spPr>
          <a:xfrm>
            <a:off x="4846320" y="3388320"/>
            <a:ext cx="6581160" cy="4262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Pour chaque constat : un </a:t>
            </a:r>
            <a:r>
              <a:rPr lang="fr-FR" sz="1300" b="1" u="none" strike="noStrike">
                <a:solidFill>
                  <a:srgbClr val="F5A623"/>
                </a:solidFill>
                <a:effectLst/>
                <a:uFillTx/>
                <a:latin typeface="Inter"/>
                <a:ea typeface="DejaVu Sans"/>
              </a:rPr>
              <a:t>chiffre mesuré</a:t>
            </a:r>
            <a:r>
              <a:rPr lang="fr-FR" sz="1300" b="0" u="none" strike="noStrike">
                <a:solidFill>
                  <a:srgbClr val="B8C0C8"/>
                </a:solidFill>
                <a:effectLst/>
                <a:uFillTx/>
                <a:latin typeface="Inter"/>
                <a:ea typeface="DejaVu Sans"/>
              </a:rPr>
              <a:t> (règle RQ, couche), la </a:t>
            </a:r>
            <a:r>
              <a:rPr lang="fr-FR" sz="1300" b="1" u="none" strike="noStrike">
                <a:solidFill>
                  <a:srgbClr val="F5A623"/>
                </a:solidFill>
                <a:effectLst/>
                <a:uFillTx/>
                <a:latin typeface="Inter"/>
                <a:ea typeface="DejaVu Sans"/>
              </a:rPr>
              <a:t>preuve</a:t>
            </a:r>
            <a:r>
              <a:rPr lang="fr-FR" sz="1300" b="0" u="none" strike="noStrike">
                <a:solidFill>
                  <a:srgbClr val="B8C0C8"/>
                </a:solidFill>
                <a:effectLst/>
                <a:uFillTx/>
                <a:latin typeface="Inter"/>
                <a:ea typeface="DejaVu Sans"/>
              </a:rPr>
              <a:t> (chemin du dépôt), la </a:t>
            </a:r>
            <a:r>
              <a:rPr lang="fr-FR" sz="1300" b="1" u="none" strike="noStrike">
                <a:solidFill>
                  <a:srgbClr val="F5A623"/>
                </a:solidFill>
                <a:effectLst/>
                <a:uFillTx/>
                <a:latin typeface="Inter"/>
                <a:ea typeface="DejaVu Sans"/>
              </a:rPr>
              <a:t>conséquence</a:t>
            </a:r>
            <a:r>
              <a:rPr lang="fr-FR" sz="1300" b="0" u="none" strike="noStrike">
                <a:solidFill>
                  <a:srgbClr val="B8C0C8"/>
                </a:solidFill>
                <a:effectLst/>
                <a:uFillTx/>
                <a:latin typeface="Inter"/>
                <a:ea typeface="DejaVu Sans"/>
              </a:rPr>
              <a:t> attribuée à un rôle.</a:t>
            </a:r>
            <a:endParaRPr lang="fr-FR" sz="1300" b="0" u="none" strike="noStrike">
              <a:solidFill>
                <a:srgbClr val="FFFFFF"/>
              </a:solidFill>
              <a:effectLst/>
              <a:uFillTx/>
              <a:latin typeface="Arial"/>
            </a:endParaRPr>
          </a:p>
        </p:txBody>
      </p:sp>
      <p:sp>
        <p:nvSpPr>
          <p:cNvPr id="266" name="Rectangle 38"/>
          <p:cNvSpPr/>
          <p:nvPr/>
        </p:nvSpPr>
        <p:spPr>
          <a:xfrm>
            <a:off x="640080" y="4114800"/>
            <a:ext cx="10906200" cy="8020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67" name="Icône branch" descr="Icône branch"/>
          <p:cNvPicPr/>
          <p:nvPr/>
        </p:nvPicPr>
        <p:blipFill>
          <a:blip r:embed="rId4"/>
          <a:stretch/>
        </p:blipFill>
        <p:spPr>
          <a:xfrm>
            <a:off x="868680" y="4316040"/>
            <a:ext cx="399960" cy="399960"/>
          </a:xfrm>
          <a:prstGeom prst="rect">
            <a:avLst/>
          </a:prstGeom>
          <a:noFill/>
          <a:ln w="0">
            <a:noFill/>
          </a:ln>
        </p:spPr>
      </p:pic>
      <p:sp>
        <p:nvSpPr>
          <p:cNvPr id="268" name="TextBox 40"/>
          <p:cNvSpPr/>
          <p:nvPr/>
        </p:nvSpPr>
        <p:spPr>
          <a:xfrm>
            <a:off x="1463040" y="4401360"/>
            <a:ext cx="3289320" cy="228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Le dépôt Git est la preuve</a:t>
            </a:r>
            <a:endParaRPr lang="fr-FR" sz="1400" b="0" u="none" strike="noStrike">
              <a:solidFill>
                <a:srgbClr val="FFFFFF"/>
              </a:solidFill>
              <a:effectLst/>
              <a:uFillTx/>
              <a:latin typeface="Arial"/>
            </a:endParaRPr>
          </a:p>
        </p:txBody>
      </p:sp>
      <p:sp>
        <p:nvSpPr>
          <p:cNvPr id="269" name="TextBox 41"/>
          <p:cNvSpPr/>
          <p:nvPr/>
        </p:nvSpPr>
        <p:spPr>
          <a:xfrm>
            <a:off x="4846320" y="4302720"/>
            <a:ext cx="6581160" cy="4262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Chaque chemin cité existe dans votre dépôt. Étiquette </a:t>
            </a:r>
            <a:r>
              <a:rPr lang="fr-FR" sz="1300" b="0" u="none" strike="noStrike">
                <a:solidFill>
                  <a:srgbClr val="F7F6F2"/>
                </a:solidFill>
                <a:effectLst/>
                <a:uFillTx/>
                <a:latin typeface="Consolas"/>
                <a:ea typeface="DejaVu Sans"/>
              </a:rPr>
              <a:t>seance-N</a:t>
            </a:r>
            <a:r>
              <a:rPr lang="fr-FR" sz="1300" b="0" u="none" strike="noStrike">
                <a:solidFill>
                  <a:srgbClr val="B8C0C8"/>
                </a:solidFill>
                <a:effectLst/>
                <a:uFillTx/>
                <a:latin typeface="Inter"/>
                <a:ea typeface="DejaVu Sans"/>
              </a:rPr>
              <a:t> posée en fin de chaque séance.</a:t>
            </a:r>
            <a:endParaRPr lang="fr-FR" sz="1300" b="0" u="none" strike="noStrike">
              <a:solidFill>
                <a:srgbClr val="FFFFFF"/>
              </a:solidFill>
              <a:effectLst/>
              <a:uFillTx/>
              <a:latin typeface="Arial"/>
            </a:endParaRPr>
          </a:p>
        </p:txBody>
      </p:sp>
      <p:sp>
        <p:nvSpPr>
          <p:cNvPr id="270" name="Rectangle 42"/>
          <p:cNvSpPr/>
          <p:nvPr/>
        </p:nvSpPr>
        <p:spPr>
          <a:xfrm>
            <a:off x="640080" y="5029200"/>
            <a:ext cx="10906200" cy="8020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271" name="Icône warn" descr="Icône warn"/>
          <p:cNvPicPr/>
          <p:nvPr/>
        </p:nvPicPr>
        <p:blipFill>
          <a:blip r:embed="rId5"/>
          <a:stretch/>
        </p:blipFill>
        <p:spPr>
          <a:xfrm>
            <a:off x="868680" y="5230440"/>
            <a:ext cx="399960" cy="399960"/>
          </a:xfrm>
          <a:prstGeom prst="rect">
            <a:avLst/>
          </a:prstGeom>
          <a:noFill/>
          <a:ln w="0">
            <a:noFill/>
          </a:ln>
        </p:spPr>
      </p:pic>
      <p:sp>
        <p:nvSpPr>
          <p:cNvPr id="272" name="TextBox 44"/>
          <p:cNvSpPr/>
          <p:nvPr/>
        </p:nvSpPr>
        <p:spPr>
          <a:xfrm>
            <a:off x="1463040" y="5315760"/>
            <a:ext cx="3289320" cy="2286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400" b="1" u="none" strike="noStrike">
                <a:solidFill>
                  <a:srgbClr val="F7F6F2"/>
                </a:solidFill>
                <a:effectLst/>
                <a:uFillTx/>
                <a:latin typeface="Inter"/>
                <a:ea typeface="DejaVu Sans"/>
              </a:rPr>
              <a:t>Si vous n'avez pas fini</a:t>
            </a:r>
            <a:endParaRPr lang="fr-FR" sz="1400" b="0" u="none" strike="noStrike">
              <a:solidFill>
                <a:srgbClr val="FFFFFF"/>
              </a:solidFill>
              <a:effectLst/>
              <a:uFillTx/>
              <a:latin typeface="Arial"/>
            </a:endParaRPr>
          </a:p>
        </p:txBody>
      </p:sp>
      <p:sp>
        <p:nvSpPr>
          <p:cNvPr id="273" name="TextBox 45"/>
          <p:cNvSpPr/>
          <p:nvPr/>
        </p:nvSpPr>
        <p:spPr>
          <a:xfrm>
            <a:off x="4846320" y="5217120"/>
            <a:ext cx="6581160" cy="42624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0" u="none" strike="noStrike">
                <a:solidFill>
                  <a:srgbClr val="B8C0C8"/>
                </a:solidFill>
                <a:effectLst/>
                <a:uFillTx/>
                <a:latin typeface="Inter"/>
                <a:ea typeface="DejaVu Sans"/>
              </a:rPr>
              <a:t>Laissez les zones ambre visibles : un livrable inachevé doit le rester. Ne mettez jamais un chiffre sans l'avoir mesuré.</a:t>
            </a:r>
            <a:endParaRPr lang="fr-FR" sz="1300" b="0" u="none" strike="noStrike">
              <a:solidFill>
                <a:srgbClr val="FFFFFF"/>
              </a:solidFill>
              <a:effectLst/>
              <a:uFillTx/>
              <a:latin typeface="Arial"/>
            </a:endParaRPr>
          </a:p>
        </p:txBody>
      </p:sp>
      <p:sp>
        <p:nvSpPr>
          <p:cNvPr id="274" name="TextBox 46"/>
          <p:cNvSpPr/>
          <p:nvPr/>
        </p:nvSpPr>
        <p:spPr>
          <a:xfrm>
            <a:off x="640080" y="598932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Si le texte déborde d'une cellule, réduisez la police à 11 pt plutôt que d'étendre le tableau hors de la page.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Où se trouve quoi, et ce que pèse chaque critère</a:t>
            </a:r>
            <a:endParaRPr lang="fr-FR" sz="2800" b="0" u="none" strike="noStrike">
              <a:solidFill>
                <a:srgbClr val="FFFFFF"/>
              </a:solidFill>
              <a:effectLst/>
              <a:uFillTx/>
              <a:latin typeface="Arial"/>
            </a:endParaRPr>
          </a:p>
        </p:txBody>
      </p:sp>
      <p:sp>
        <p:nvSpPr>
          <p:cNvPr id="276" name="PlaceHolder 2"/>
          <p:cNvSpPr>
            <a:spLocks noGrp="1"/>
          </p:cNvSpPr>
          <p:nvPr>
            <p:ph type="sldNum" idx="2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204E1DDC-29C5-40BE-942B-A6B054818E6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77"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PLAN DU LIVRABLE</a:t>
            </a:r>
            <a:endParaRPr lang="fr-FR" sz="1100" b="0" u="none" strike="noStrike">
              <a:solidFill>
                <a:srgbClr val="FFFFFF"/>
              </a:solidFill>
              <a:effectLst/>
              <a:uFillTx/>
              <a:latin typeface="Arial"/>
            </a:endParaRPr>
          </a:p>
        </p:txBody>
      </p:sp>
      <p:graphicFrame>
        <p:nvGraphicFramePr>
          <p:cNvPr id="278" name="Table 26"/>
          <p:cNvGraphicFramePr/>
          <p:nvPr/>
        </p:nvGraphicFramePr>
        <p:xfrm>
          <a:off x="640080" y="1371600"/>
          <a:ext cx="10908360" cy="3071880"/>
        </p:xfrm>
        <a:graphic>
          <a:graphicData uri="http://schemas.openxmlformats.org/drawingml/2006/table">
            <a:tbl>
              <a:tblPr/>
              <a:tblGrid>
                <a:gridCol w="4023360"/>
                <a:gridCol w="1097280"/>
                <a:gridCol w="4690800"/>
                <a:gridCol w="1097280"/>
              </a:tblGrid>
              <a:tr h="383760">
                <a:tc>
                  <a:txBody>
                    <a:bodyPr lIns="73080" rIns="73080" anchor="ctr">
                      <a:noAutofit/>
                    </a:bodyPr>
                    <a:p>
                      <a:pPr>
                        <a:lnSpc>
                          <a:spcPct val="100000"/>
                        </a:lnSpc>
                      </a:pPr>
                      <a:r>
                        <a:rPr lang="en-US" sz="1200" b="1" u="none" spc="45" strike="noStrike">
                          <a:solidFill>
                            <a:srgbClr val="F5A623"/>
                          </a:solidFill>
                          <a:effectLst/>
                          <a:uFillTx/>
                          <a:latin typeface="Inter"/>
                        </a:rPr>
                        <a:t>Partie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Pages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Critère de la grille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200" b="1" u="none" spc="45" strike="noStrike">
                          <a:solidFill>
                            <a:srgbClr val="F5A623"/>
                          </a:solidFill>
                          <a:effectLst/>
                          <a:uFillTx/>
                          <a:latin typeface="Inter"/>
                        </a:rPr>
                        <a:t>Poids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Équipe et mandat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4 à 5</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Contribution individuelle (vérifiée dans l'historique Git)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S1 : bronze, porte B, profilage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S1</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Profilage et diagnostic</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S2 : règles en tests (Great Expectations)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S2</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Règles et tests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S3 : intégrité et portes (Soda Core)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S3</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Règles et tests (suite)</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inclus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S4 : silver, gold, traçabilité</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S4</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Silver, gold et traçabilité</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25 %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r h="383760">
                <a:tc>
                  <a:txBody>
                    <a:bodyPr lIns="73080" rIns="73080" anchor="ctr">
                      <a:noAutofit/>
                    </a:bodyPr>
                    <a:p>
                      <a:pPr>
                        <a:lnSpc>
                          <a:spcPct val="100000"/>
                        </a:lnSpc>
                      </a:pPr>
                      <a:r>
                        <a:rPr lang="en-US" sz="1300" b="1" u="none" strike="noStrike">
                          <a:solidFill>
                            <a:srgbClr val="F7F6F2"/>
                          </a:solidFill>
                          <a:effectLst/>
                          <a:uFillTx/>
                          <a:latin typeface="Inter"/>
                        </a:rPr>
                        <a:t>S5 : certificat, publication</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S5</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Preuve et certificat</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300" b="0" u="none" strike="noStrike">
                          <a:solidFill>
                            <a:srgbClr val="F7F6F2"/>
                          </a:solidFill>
                          <a:effectLst/>
                          <a:uFillTx/>
                          <a:latin typeface="Inter"/>
                        </a:rPr>
                        <a:t>20 %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r>
              <a:tr h="385560">
                <a:tc>
                  <a:txBody>
                    <a:bodyPr lIns="73080" rIns="73080" anchor="ctr">
                      <a:noAutofit/>
                    </a:bodyPr>
                    <a:p>
                      <a:pPr>
                        <a:lnSpc>
                          <a:spcPct val="100000"/>
                        </a:lnSpc>
                      </a:pPr>
                      <a:r>
                        <a:rPr lang="en-US" sz="1300" b="1" u="none" strike="noStrike">
                          <a:solidFill>
                            <a:srgbClr val="F7F6F2"/>
                          </a:solidFill>
                          <a:effectLst/>
                          <a:uFillTx/>
                          <a:latin typeface="Inter"/>
                        </a:rPr>
                        <a:t>Dossier go/no-go, journal des décisions</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Dossier</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Gouvernance et décision</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300" b="0" u="none" strike="noStrike">
                          <a:solidFill>
                            <a:srgbClr val="F7F6F2"/>
                          </a:solidFill>
                          <a:effectLst/>
                          <a:uFillTx/>
                          <a:latin typeface="Inter"/>
                        </a:rPr>
                        <a:t>15 %</a:t>
                      </a:r>
                      <a:endParaRPr lang="fr-FR" sz="13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r>
            </a:tbl>
          </a:graphicData>
        </a:graphic>
      </p:graphicFrame>
      <p:sp>
        <p:nvSpPr>
          <p:cNvPr id="279" name="TextBox 27"/>
          <p:cNvSpPr/>
          <p:nvPr/>
        </p:nvSpPr>
        <p:spPr>
          <a:xfrm>
            <a:off x="640080" y="458100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Définition de « terminé » pour une story : critères démontrés avec les chiffres, règle identifiée par son RQ et la couche mesurée, décision attribuée à un rôle, aucune donnée modifiée en place.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Membres, rôles par séance et contribution</a:t>
            </a:r>
            <a:endParaRPr lang="fr-FR" sz="2800" b="0" u="none" strike="noStrike">
              <a:solidFill>
                <a:srgbClr val="FFFFFF"/>
              </a:solidFill>
              <a:effectLst/>
              <a:uFillTx/>
              <a:latin typeface="Arial"/>
            </a:endParaRPr>
          </a:p>
        </p:txBody>
      </p:sp>
      <p:sp>
        <p:nvSpPr>
          <p:cNvPr id="281" name="PlaceHolder 2"/>
          <p:cNvSpPr>
            <a:spLocks noGrp="1"/>
          </p:cNvSpPr>
          <p:nvPr>
            <p:ph type="sldNum" idx="3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60C5C62-1109-4E3A-8625-FCE0F6D47C1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82"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ÉQUIPE</a:t>
            </a:r>
            <a:endParaRPr lang="fr-FR" sz="1100" b="0" u="none" strike="noStrike">
              <a:solidFill>
                <a:srgbClr val="FFFFFF"/>
              </a:solidFill>
              <a:effectLst/>
              <a:uFillTx/>
              <a:latin typeface="Arial"/>
            </a:endParaRPr>
          </a:p>
        </p:txBody>
      </p:sp>
      <p:sp>
        <p:nvSpPr>
          <p:cNvPr id="283"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284"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285" name="Icône target" descr="Icône target"/>
          <p:cNvPicPr/>
          <p:nvPr/>
        </p:nvPicPr>
        <p:blipFill>
          <a:blip r:embed="rId1"/>
          <a:stretch/>
        </p:blipFill>
        <p:spPr>
          <a:xfrm>
            <a:off x="896040" y="1435680"/>
            <a:ext cx="271800" cy="271800"/>
          </a:xfrm>
          <a:prstGeom prst="rect">
            <a:avLst/>
          </a:prstGeom>
          <a:noFill/>
          <a:ln w="0">
            <a:noFill/>
          </a:ln>
        </p:spPr>
      </p:pic>
      <p:sp>
        <p:nvSpPr>
          <p:cNvPr id="286" name="TextBox 29"/>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287" name="TextBox 30"/>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rôles tournent</a:t>
            </a:r>
            <a:r>
              <a:rPr lang="fr-FR" sz="1300" b="0" u="none" strike="noStrike">
                <a:solidFill>
                  <a:srgbClr val="F7F6F2"/>
                </a:solidFill>
                <a:effectLst/>
                <a:uFillTx/>
                <a:latin typeface="Inter"/>
                <a:ea typeface="DejaVu Sans"/>
              </a:rPr>
              <a:t> à chaque séance et un rôle est tenu par une personne à la fois.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contribution déclarée est </a:t>
            </a:r>
            <a:r>
              <a:rPr lang="fr-FR" sz="1300" b="1" u="none" strike="noStrike">
                <a:solidFill>
                  <a:srgbClr val="F5A623"/>
                </a:solidFill>
                <a:effectLst/>
                <a:uFillTx/>
                <a:latin typeface="Inter"/>
                <a:ea typeface="DejaVu Sans"/>
              </a:rPr>
              <a:t>vérifiable</a:t>
            </a:r>
            <a:r>
              <a:rPr lang="fr-FR" sz="1300" b="0" u="none" strike="noStrike">
                <a:solidFill>
                  <a:srgbClr val="F7F6F2"/>
                </a:solidFill>
                <a:effectLst/>
                <a:uFillTx/>
                <a:latin typeface="Inter"/>
                <a:ea typeface="DejaVu Sans"/>
              </a:rPr>
              <a:t> dans l'historique Git : une ligne par membre, deux lignes de texte.</a:t>
            </a:r>
            <a:endParaRPr lang="fr-FR" sz="1300" b="0" u="none" strike="noStrike">
              <a:solidFill>
                <a:srgbClr val="FFFFFF"/>
              </a:solidFill>
              <a:effectLst/>
              <a:uFillTx/>
              <a:latin typeface="Arial"/>
            </a:endParaRPr>
          </a:p>
        </p:txBody>
      </p:sp>
      <p:graphicFrame>
        <p:nvGraphicFramePr>
          <p:cNvPr id="288" name="Table 31"/>
          <p:cNvGraphicFramePr/>
          <p:nvPr/>
        </p:nvGraphicFramePr>
        <p:xfrm>
          <a:off x="640080" y="2579760"/>
          <a:ext cx="10908360" cy="2012400"/>
        </p:xfrm>
        <a:graphic>
          <a:graphicData uri="http://schemas.openxmlformats.org/drawingml/2006/table">
            <a:tbl>
              <a:tblPr/>
              <a:tblGrid>
                <a:gridCol w="2560320"/>
                <a:gridCol w="2194560"/>
                <a:gridCol w="1188720"/>
                <a:gridCol w="1188720"/>
                <a:gridCol w="1188720"/>
                <a:gridCol w="1280160"/>
                <a:gridCol w="130752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Membre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Identifiant Git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S4</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S5</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AMY Léo</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LeoAugustinAmy</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Rédacteur du livrable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MENY Nicolas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Tastycoole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Data Owner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OUERGHEMNI Mongi</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mongi-ouerghemmi</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Ingénieur qualité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TRUONG David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0TRDavid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Data Steward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289" name="TextBox 32"/>
          <p:cNvSpPr/>
          <p:nvPr/>
        </p:nvSpPr>
        <p:spPr>
          <a:xfrm>
            <a:off x="640440" y="45903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Rôles : Data Owner (décide des seuils et du GO) · Data Steward (définit les règles et leur sévérité) · Ingénieur qualité (mesure, implémente) · Rédacteur du livrable.</a:t>
            </a:r>
            <a:endParaRPr lang="fr-FR" sz="1100" b="0" u="none" strike="noStrike">
              <a:solidFill>
                <a:srgbClr val="FFFFFF"/>
              </a:solidFill>
              <a:effectLst/>
              <a:uFillTx/>
              <a:latin typeface="Arial"/>
            </a:endParaRPr>
          </a:p>
        </p:txBody>
      </p:sp>
      <p:graphicFrame>
        <p:nvGraphicFramePr>
          <p:cNvPr id="290" name="Table 33"/>
          <p:cNvGraphicFramePr/>
          <p:nvPr/>
        </p:nvGraphicFramePr>
        <p:xfrm>
          <a:off x="640080" y="4865760"/>
          <a:ext cx="10908360" cy="1828800"/>
        </p:xfrm>
        <a:graphic>
          <a:graphicData uri="http://schemas.openxmlformats.org/drawingml/2006/table">
            <a:tbl>
              <a:tblPr/>
              <a:tblGrid>
                <a:gridCol w="2560320"/>
                <a:gridCol w="6035040"/>
                <a:gridCol w="23133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Membre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Contribution (deux lignes)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Stories principales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Notre compréhension du mandat</a:t>
            </a:r>
            <a:endParaRPr lang="fr-FR" sz="2800" b="0" u="none" strike="noStrike">
              <a:solidFill>
                <a:srgbClr val="FFFFFF"/>
              </a:solidFill>
              <a:effectLst/>
              <a:uFillTx/>
              <a:latin typeface="Arial"/>
            </a:endParaRPr>
          </a:p>
        </p:txBody>
      </p:sp>
      <p:sp>
        <p:nvSpPr>
          <p:cNvPr id="292" name="PlaceHolder 2"/>
          <p:cNvSpPr>
            <a:spLocks noGrp="1"/>
          </p:cNvSpPr>
          <p:nvPr>
            <p:ph type="sldNum" idx="3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79E3251-27AA-40DC-B51F-916BDD856FA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29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CONTEXTE</a:t>
            </a:r>
            <a:endParaRPr lang="fr-FR" sz="1100" b="0" u="none" strike="noStrike">
              <a:solidFill>
                <a:srgbClr val="FFFFFF"/>
              </a:solidFill>
              <a:effectLst/>
              <a:uFillTx/>
              <a:latin typeface="Arial"/>
            </a:endParaRPr>
          </a:p>
        </p:txBody>
      </p:sp>
      <p:sp>
        <p:nvSpPr>
          <p:cNvPr id="294"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295"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296" name="Icône target" descr="Icône target"/>
          <p:cNvPicPr/>
          <p:nvPr/>
        </p:nvPicPr>
        <p:blipFill>
          <a:blip r:embed="rId1"/>
          <a:stretch/>
        </p:blipFill>
        <p:spPr>
          <a:xfrm>
            <a:off x="896040" y="1435680"/>
            <a:ext cx="271800" cy="271800"/>
          </a:xfrm>
          <a:prstGeom prst="rect">
            <a:avLst/>
          </a:prstGeom>
          <a:noFill/>
          <a:ln w="0">
            <a:noFill/>
          </a:ln>
        </p:spPr>
      </p:pic>
      <p:sp>
        <p:nvSpPr>
          <p:cNvPr id="297" name="TextBox 29"/>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298" name="TextBox 30"/>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condition posée par la </a:t>
            </a:r>
            <a:r>
              <a:rPr lang="fr-FR" sz="1300" b="1" u="none" strike="noStrike">
                <a:solidFill>
                  <a:srgbClr val="F5A623"/>
                </a:solidFill>
                <a:effectLst/>
                <a:uFillTx/>
                <a:latin typeface="Inter"/>
                <a:ea typeface="DejaVu Sans"/>
              </a:rPr>
              <a:t>Direction Générale</a:t>
            </a:r>
            <a:r>
              <a:rPr lang="fr-FR" sz="1300" b="0" u="none" strike="noStrike">
                <a:solidFill>
                  <a:srgbClr val="F7F6F2"/>
                </a:solidFill>
                <a:effectLst/>
                <a:uFillTx/>
                <a:latin typeface="Inter"/>
                <a:ea typeface="DejaVu Sans"/>
              </a:rPr>
              <a:t> reformulée avec vos mots.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périmètre</a:t>
            </a:r>
            <a:r>
              <a:rPr lang="fr-FR" sz="1300" b="0" u="none" strike="noStrike">
                <a:solidFill>
                  <a:srgbClr val="F7F6F2"/>
                </a:solidFill>
                <a:effectLst/>
                <a:uFillTx/>
                <a:latin typeface="Inter"/>
                <a:ea typeface="DejaVu Sans"/>
              </a:rPr>
              <a:t> : sources, couches du médaillon, portes B, S, G et C.</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trois rôles</a:t>
            </a:r>
            <a:r>
              <a:rPr lang="fr-FR" sz="1300" b="0" u="none" strike="noStrike">
                <a:solidFill>
                  <a:srgbClr val="F7F6F2"/>
                </a:solidFill>
                <a:effectLst/>
                <a:uFillTx/>
                <a:latin typeface="Inter"/>
                <a:ea typeface="DejaVu Sans"/>
              </a:rPr>
              <a:t> de gouvernance et ce que chacun décide.</a:t>
            </a:r>
            <a:endParaRPr lang="fr-FR" sz="1300" b="0" u="none" strike="noStrike">
              <a:solidFill>
                <a:srgbClr val="FFFFFF"/>
              </a:solidFill>
              <a:effectLst/>
              <a:uFillTx/>
              <a:latin typeface="Arial"/>
            </a:endParaRPr>
          </a:p>
        </p:txBody>
      </p:sp>
      <p:sp>
        <p:nvSpPr>
          <p:cNvPr id="299" name="TextBox 31"/>
          <p:cNvSpPr/>
          <p:nvPr/>
        </p:nvSpPr>
        <p:spPr>
          <a:xfrm>
            <a:off x="640080" y="2868840"/>
            <a:ext cx="53010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MANDAT ET CONDITION DE LA DG</a:t>
            </a:r>
            <a:endParaRPr lang="fr-FR" sz="1100" b="0" u="none" strike="noStrike">
              <a:solidFill>
                <a:srgbClr val="FFFFFF"/>
              </a:solidFill>
              <a:effectLst/>
              <a:uFillTx/>
              <a:latin typeface="Arial"/>
            </a:endParaRPr>
          </a:p>
        </p:txBody>
      </p:sp>
      <p:sp>
        <p:nvSpPr>
          <p:cNvPr id="300" name="Zone à rédiger"/>
          <p:cNvSpPr/>
          <p:nvPr/>
        </p:nvSpPr>
        <p:spPr>
          <a:xfrm>
            <a:off x="640080" y="3124440"/>
            <a:ext cx="5301000" cy="29995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 cinq lignes au plus]</a:t>
            </a:r>
            <a:endParaRPr lang="fr-FR" sz="1200" b="0" u="none" strike="noStrike">
              <a:solidFill>
                <a:srgbClr val="FFFFFF"/>
              </a:solidFill>
              <a:effectLst/>
              <a:uFillTx/>
              <a:latin typeface="Arial"/>
            </a:endParaRPr>
          </a:p>
        </p:txBody>
      </p:sp>
      <p:sp>
        <p:nvSpPr>
          <p:cNvPr id="301" name="TextBox 33"/>
          <p:cNvSpPr/>
          <p:nvPr/>
        </p:nvSpPr>
        <p:spPr>
          <a:xfrm>
            <a:off x="6245280" y="2868840"/>
            <a:ext cx="53010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PÉRIMÈTRE ET RÔLES</a:t>
            </a:r>
            <a:endParaRPr lang="fr-FR" sz="1100" b="0" u="none" strike="noStrike">
              <a:solidFill>
                <a:srgbClr val="FFFFFF"/>
              </a:solidFill>
              <a:effectLst/>
              <a:uFillTx/>
              <a:latin typeface="Arial"/>
            </a:endParaRPr>
          </a:p>
        </p:txBody>
      </p:sp>
      <p:sp>
        <p:nvSpPr>
          <p:cNvPr id="302" name="Zone à rédiger"/>
          <p:cNvSpPr/>
          <p:nvPr/>
        </p:nvSpPr>
        <p:spPr>
          <a:xfrm>
            <a:off x="6245280" y="3124440"/>
            <a:ext cx="5301000" cy="29995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 cinq lignes au plus]</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3"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01</a:t>
            </a:r>
            <a:endParaRPr lang="fr-FR" sz="7200" b="0" u="none" strike="noStrike">
              <a:solidFill>
                <a:srgbClr val="FFFFFF"/>
              </a:solidFill>
              <a:effectLst/>
              <a:uFillTx/>
              <a:latin typeface="Arial"/>
            </a:endParaRPr>
          </a:p>
        </p:txBody>
      </p:sp>
      <p:sp>
        <p:nvSpPr>
          <p:cNvPr id="304"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Stack, profilage, bronze</a:t>
            </a:r>
            <a:endParaRPr lang="fr-FR" sz="4200" b="0" u="none" strike="noStrike">
              <a:solidFill>
                <a:srgbClr val="FFFFFF"/>
              </a:solidFill>
              <a:effectLst/>
              <a:uFillTx/>
              <a:latin typeface="Arial"/>
            </a:endParaRPr>
          </a:p>
        </p:txBody>
      </p:sp>
      <p:sp>
        <p:nvSpPr>
          <p:cNvPr id="305" name="PlaceHolder 3"/>
          <p:cNvSpPr>
            <a:spLocks noGrp="1"/>
          </p:cNvSpPr>
          <p:nvPr>
            <p:ph type="sldNum" idx="3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FE76BF8-C2F3-4A63-B55C-0C15162DDB0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06" name="TextBox 25"/>
          <p:cNvSpPr/>
          <p:nvPr/>
        </p:nvSpPr>
        <p:spPr>
          <a:xfrm>
            <a:off x="640080" y="4892040"/>
            <a:ext cx="6398280" cy="83808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1 · Porte B · US-01 à 09. Inventaire des sources, bronze, réconciliation, profil de crm.client, dictionnaire du CIF, client actif.</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Inventaire des sources</a:t>
            </a:r>
            <a:endParaRPr lang="fr-FR" sz="2800" b="0" u="none" strike="noStrike">
              <a:solidFill>
                <a:srgbClr val="FFFFFF"/>
              </a:solidFill>
              <a:effectLst/>
              <a:uFillTx/>
              <a:latin typeface="Arial"/>
            </a:endParaRPr>
          </a:p>
        </p:txBody>
      </p:sp>
      <p:sp>
        <p:nvSpPr>
          <p:cNvPr id="308" name="PlaceHolder 2"/>
          <p:cNvSpPr>
            <a:spLocks noGrp="1"/>
          </p:cNvSpPr>
          <p:nvPr>
            <p:ph type="sldNum" idx="3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3D3E7F6-7A14-4002-9FB3-50731F93BCF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09"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US-01</a:t>
            </a:r>
            <a:endParaRPr lang="fr-FR" sz="1100" b="0" u="none" strike="noStrike">
              <a:solidFill>
                <a:srgbClr val="FFFFFF"/>
              </a:solidFill>
              <a:effectLst/>
              <a:uFillTx/>
              <a:latin typeface="Arial"/>
            </a:endParaRPr>
          </a:p>
        </p:txBody>
      </p:sp>
      <p:sp>
        <p:nvSpPr>
          <p:cNvPr id="310"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11"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12"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13" name="Icône target" descr="Icône target"/>
          <p:cNvPicPr/>
          <p:nvPr/>
        </p:nvPicPr>
        <p:blipFill>
          <a:blip r:embed="rId1"/>
          <a:stretch/>
        </p:blipFill>
        <p:spPr>
          <a:xfrm>
            <a:off x="896040" y="1435680"/>
            <a:ext cx="271800" cy="271800"/>
          </a:xfrm>
          <a:prstGeom prst="rect">
            <a:avLst/>
          </a:prstGeom>
          <a:noFill/>
          <a:ln w="0">
            <a:noFill/>
          </a:ln>
        </p:spPr>
      </p:pic>
      <p:sp>
        <p:nvSpPr>
          <p:cNvPr id="314"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15"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sept tables</a:t>
            </a:r>
            <a:r>
              <a:rPr lang="fr-FR" sz="1300" b="0" u="none" strike="noStrike">
                <a:solidFill>
                  <a:srgbClr val="F7F6F2"/>
                </a:solidFill>
                <a:effectLst/>
                <a:uFillTx/>
                <a:latin typeface="Inter"/>
                <a:ea typeface="DejaVu Sans"/>
              </a:rPr>
              <a:t> des deux sources, avec le </a:t>
            </a:r>
            <a:r>
              <a:rPr lang="fr-FR" sz="1300" b="1" u="none" strike="noStrike">
                <a:solidFill>
                  <a:srgbClr val="F5A623"/>
                </a:solidFill>
                <a:effectLst/>
                <a:uFillTx/>
                <a:latin typeface="Inter"/>
                <a:ea typeface="DejaVu Sans"/>
              </a:rPr>
              <a:t>nombre de lignes</a:t>
            </a:r>
            <a:r>
              <a:rPr lang="fr-FR" sz="1300" b="0" u="none" strike="noStrike">
                <a:solidFill>
                  <a:srgbClr val="F7F6F2"/>
                </a:solidFill>
                <a:effectLst/>
                <a:uFillTx/>
                <a:latin typeface="Inter"/>
                <a:ea typeface="DejaVu Sans"/>
              </a:rPr>
              <a:t> mesuré et la </a:t>
            </a:r>
            <a:r>
              <a:rPr lang="fr-FR" sz="1300" b="1" u="none" strike="noStrike">
                <a:solidFill>
                  <a:srgbClr val="F5A623"/>
                </a:solidFill>
                <a:effectLst/>
                <a:uFillTx/>
                <a:latin typeface="Inter"/>
                <a:ea typeface="DejaVu Sans"/>
              </a:rPr>
              <a:t>clé primaire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observation chiffrée</a:t>
            </a:r>
            <a:r>
              <a:rPr lang="fr-FR" sz="1300" b="0" u="none" strike="noStrike">
                <a:solidFill>
                  <a:srgbClr val="F7F6F2"/>
                </a:solidFill>
                <a:effectLst/>
                <a:uFillTx/>
                <a:latin typeface="Inter"/>
                <a:ea typeface="DejaVu Sans"/>
              </a:rPr>
              <a:t> par table (nulls, doublons de clé, particularités).</a:t>
            </a:r>
            <a:endParaRPr lang="fr-FR" sz="1300" b="0" u="none" strike="noStrike">
              <a:solidFill>
                <a:srgbClr val="FFFFFF"/>
              </a:solidFill>
              <a:effectLst/>
              <a:uFillTx/>
              <a:latin typeface="Arial"/>
            </a:endParaRPr>
          </a:p>
        </p:txBody>
      </p:sp>
      <p:graphicFrame>
        <p:nvGraphicFramePr>
          <p:cNvPr id="316" name="Table 32"/>
          <p:cNvGraphicFramePr/>
          <p:nvPr/>
        </p:nvGraphicFramePr>
        <p:xfrm>
          <a:off x="640080" y="2579760"/>
          <a:ext cx="10908360" cy="2926080"/>
        </p:xfrm>
        <a:graphic>
          <a:graphicData uri="http://schemas.openxmlformats.org/drawingml/2006/table">
            <a:tbl>
              <a:tblPr/>
              <a:tblGrid>
                <a:gridCol w="1188720"/>
                <a:gridCol w="2011680"/>
                <a:gridCol w="1463040"/>
                <a:gridCol w="2194560"/>
                <a:gridCol w="405072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Source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Table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Clé primaire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Observation chiffrée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client_id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133918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contrat_id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7460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sinistre_id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type_contrat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code_type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clients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column0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26486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compte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column0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code_pays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Nulls: 0 | doublons de clé: 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17" name="TextBox 33"/>
          <p:cNvSpPr/>
          <p:nvPr/>
        </p:nvSpPr>
        <p:spPr>
          <a:xfrm>
            <a:off x="640080" y="5890320"/>
            <a:ext cx="1090620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8"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Bronze et porte B : la copie est-elle fidèle ?</a:t>
            </a:r>
            <a:endParaRPr lang="fr-FR" sz="2800" b="0" u="none" strike="noStrike">
              <a:solidFill>
                <a:srgbClr val="FFFFFF"/>
              </a:solidFill>
              <a:effectLst/>
              <a:uFillTx/>
              <a:latin typeface="Arial"/>
            </a:endParaRPr>
          </a:p>
        </p:txBody>
      </p:sp>
      <p:sp>
        <p:nvSpPr>
          <p:cNvPr id="319" name="PlaceHolder 2"/>
          <p:cNvSpPr>
            <a:spLocks noGrp="1"/>
          </p:cNvSpPr>
          <p:nvPr>
            <p:ph type="sldNum" idx="3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B75C956-FE66-4740-A9CA-4D882233FF0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20"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US-02, 03</a:t>
            </a:r>
            <a:endParaRPr lang="fr-FR" sz="1100" b="0" u="none" strike="noStrike">
              <a:solidFill>
                <a:srgbClr val="FFFFFF"/>
              </a:solidFill>
              <a:effectLst/>
              <a:uFillTx/>
              <a:latin typeface="Arial"/>
            </a:endParaRPr>
          </a:p>
        </p:txBody>
      </p:sp>
      <p:sp>
        <p:nvSpPr>
          <p:cNvPr id="321"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22"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23"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24" name="Icône target" descr="Icône target"/>
          <p:cNvPicPr/>
          <p:nvPr/>
        </p:nvPicPr>
        <p:blipFill>
          <a:blip r:embed="rId1"/>
          <a:stretch/>
        </p:blipFill>
        <p:spPr>
          <a:xfrm>
            <a:off x="896040" y="1435680"/>
            <a:ext cx="271800" cy="271800"/>
          </a:xfrm>
          <a:prstGeom prst="rect">
            <a:avLst/>
          </a:prstGeom>
          <a:noFill/>
          <a:ln w="0">
            <a:noFill/>
          </a:ln>
        </p:spPr>
      </p:pic>
      <p:sp>
        <p:nvSpPr>
          <p:cNvPr id="325"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26"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RQ-021</a:t>
            </a:r>
            <a:r>
              <a:rPr lang="fr-FR" sz="1300" b="0" u="none" strike="noStrike">
                <a:solidFill>
                  <a:srgbClr val="F7F6F2"/>
                </a:solidFill>
                <a:effectLst/>
                <a:uFillTx/>
                <a:latin typeface="Inter"/>
                <a:ea typeface="DejaVu Sans"/>
              </a:rPr>
              <a:t> (comptage) et </a:t>
            </a:r>
            <a:r>
              <a:rPr lang="fr-FR" sz="1300" b="1" u="none" strike="noStrike">
                <a:solidFill>
                  <a:srgbClr val="F5A623"/>
                </a:solidFill>
                <a:effectLst/>
                <a:uFillTx/>
                <a:latin typeface="Inter"/>
                <a:ea typeface="DejaVu Sans"/>
              </a:rPr>
              <a:t>RQ-022</a:t>
            </a:r>
            <a:r>
              <a:rPr lang="fr-FR" sz="1300" b="0" u="none" strike="noStrike">
                <a:solidFill>
                  <a:srgbClr val="F7F6F2"/>
                </a:solidFill>
                <a:effectLst/>
                <a:uFillTx/>
                <a:latin typeface="Inter"/>
                <a:ea typeface="DejaVu Sans"/>
              </a:rPr>
              <a:t> (somme de contrôle) mesurées </a:t>
            </a:r>
            <a:r>
              <a:rPr lang="fr-FR" sz="1300" b="1" u="none" strike="noStrike">
                <a:solidFill>
                  <a:srgbClr val="F5A623"/>
                </a:solidFill>
                <a:effectLst/>
                <a:uFillTx/>
                <a:latin typeface="Inter"/>
                <a:ea typeface="DejaVu Sans"/>
              </a:rPr>
              <a:t>table par table</a:t>
            </a:r>
            <a:r>
              <a:rPr lang="fr-FR" sz="1300" b="0" u="none" strike="noStrike">
                <a:solidFill>
                  <a:srgbClr val="F7F6F2"/>
                </a:solidFill>
                <a:effectLst/>
                <a:uFillTx/>
                <a:latin typeface="Inter"/>
                <a:ea typeface="DejaVu Sans"/>
              </a:rPr>
              <a:t>, même quand l'écart est nul.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ligne bronze porte ses </a:t>
            </a:r>
            <a:r>
              <a:rPr lang="fr-FR" sz="1300" b="1" u="none" strike="noStrike">
                <a:solidFill>
                  <a:srgbClr val="F5A623"/>
                </a:solidFill>
                <a:effectLst/>
                <a:uFillTx/>
                <a:latin typeface="Inter"/>
                <a:ea typeface="DejaVu Sans"/>
              </a:rPr>
              <a:t>quatre métadonnées</a:t>
            </a:r>
            <a:r>
              <a:rPr lang="fr-FR" sz="1300" b="0" u="none" strike="noStrike">
                <a:solidFill>
                  <a:srgbClr val="F7F6F2"/>
                </a:solidFill>
                <a:effectLst/>
                <a:uFillTx/>
                <a:latin typeface="Inter"/>
                <a:ea typeface="DejaVu Sans"/>
              </a:rPr>
              <a:t> (lot, source, horodatage, empreinte de ligne).</a:t>
            </a:r>
            <a:endParaRPr lang="fr-FR" sz="1300" b="0" u="none" strike="noStrike">
              <a:solidFill>
                <a:srgbClr val="FFFFFF"/>
              </a:solidFill>
              <a:effectLst/>
              <a:uFillTx/>
              <a:latin typeface="Arial"/>
            </a:endParaRPr>
          </a:p>
        </p:txBody>
      </p:sp>
      <p:graphicFrame>
        <p:nvGraphicFramePr>
          <p:cNvPr id="327" name="Table 32"/>
          <p:cNvGraphicFramePr/>
          <p:nvPr/>
        </p:nvGraphicFramePr>
        <p:xfrm>
          <a:off x="640080" y="2579760"/>
          <a:ext cx="10908360" cy="2987640"/>
        </p:xfrm>
        <a:graphic>
          <a:graphicData uri="http://schemas.openxmlformats.org/drawingml/2006/table">
            <a:tbl>
              <a:tblPr/>
              <a:tblGrid>
                <a:gridCol w="2651760"/>
                <a:gridCol w="1828800"/>
                <a:gridCol w="1828800"/>
                <a:gridCol w="2194560"/>
                <a:gridCol w="240480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Table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 source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Lignes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de comptage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de somme de contrôle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ea typeface="Microsoft YaHei"/>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crm_type_contrat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cif_clients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40000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cif_compte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45000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cif_pays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250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28" name="TextBox 33"/>
          <p:cNvSpPr/>
          <p:nvPr/>
        </p:nvSpPr>
        <p:spPr>
          <a:xfrm>
            <a:off x="640080" y="5890320"/>
            <a:ext cx="1090620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9"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Épreuves de la porte B et méthode d'ingestion</a:t>
            </a:r>
            <a:endParaRPr lang="fr-FR" sz="2800" b="0" u="none" strike="noStrike">
              <a:solidFill>
                <a:srgbClr val="FFFFFF"/>
              </a:solidFill>
              <a:effectLst/>
              <a:uFillTx/>
              <a:latin typeface="Arial"/>
            </a:endParaRPr>
          </a:p>
        </p:txBody>
      </p:sp>
      <p:sp>
        <p:nvSpPr>
          <p:cNvPr id="330" name="PlaceHolder 2"/>
          <p:cNvSpPr>
            <a:spLocks noGrp="1"/>
          </p:cNvSpPr>
          <p:nvPr>
            <p:ph type="sldNum" idx="3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44855E14-148B-40E9-8C9E-44BF1F067CD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31"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US-02, 03</a:t>
            </a:r>
            <a:endParaRPr lang="fr-FR" sz="1100" b="0" u="none" strike="noStrike">
              <a:solidFill>
                <a:srgbClr val="FFFFFF"/>
              </a:solidFill>
              <a:effectLst/>
              <a:uFillTx/>
              <a:latin typeface="Arial"/>
            </a:endParaRPr>
          </a:p>
        </p:txBody>
      </p:sp>
      <p:sp>
        <p:nvSpPr>
          <p:cNvPr id="332"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33"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34"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35" name="Icône target" descr="Icône target"/>
          <p:cNvPicPr/>
          <p:nvPr/>
        </p:nvPicPr>
        <p:blipFill>
          <a:blip r:embed="rId1"/>
          <a:stretch/>
        </p:blipFill>
        <p:spPr>
          <a:xfrm>
            <a:off x="896040" y="1435680"/>
            <a:ext cx="271800" cy="271800"/>
          </a:xfrm>
          <a:prstGeom prst="rect">
            <a:avLst/>
          </a:prstGeom>
          <a:noFill/>
          <a:ln w="0">
            <a:noFill/>
          </a:ln>
        </p:spPr>
      </p:pic>
      <p:sp>
        <p:nvSpPr>
          <p:cNvPr id="336"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37"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trois épreuves</a:t>
            </a:r>
            <a:r>
              <a:rPr lang="fr-FR" sz="1300" b="0" u="none" strike="noStrike">
                <a:solidFill>
                  <a:srgbClr val="F7F6F2"/>
                </a:solidFill>
                <a:effectLst/>
                <a:uFillTx/>
                <a:latin typeface="Inter"/>
                <a:ea typeface="DejaVu Sans"/>
              </a:rPr>
              <a:t> documentées, chacune avec son </a:t>
            </a:r>
            <a:r>
              <a:rPr lang="fr-FR" sz="1300" b="1" u="none" strike="noStrike">
                <a:solidFill>
                  <a:srgbClr val="F5A623"/>
                </a:solidFill>
                <a:effectLst/>
                <a:uFillTx/>
                <a:latin typeface="Inter"/>
                <a:ea typeface="DejaVu Sans"/>
              </a:rPr>
              <a:t>résultat obtenu</a:t>
            </a:r>
            <a:r>
              <a:rPr lang="fr-FR" sz="1300" b="0" u="none" strike="noStrike">
                <a:solidFill>
                  <a:srgbClr val="F7F6F2"/>
                </a:solidFill>
                <a:effectLst/>
                <a:uFillTx/>
                <a:latin typeface="Inter"/>
                <a:ea typeface="DejaVu Sans"/>
              </a:rPr>
              <a:t> et sa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méthode d'ingestion en </a:t>
            </a:r>
            <a:r>
              <a:rPr lang="fr-FR" sz="1300" b="1" u="none" strike="noStrike">
                <a:solidFill>
                  <a:srgbClr val="F5A623"/>
                </a:solidFill>
                <a:effectLst/>
                <a:uFillTx/>
                <a:latin typeface="Inter"/>
                <a:ea typeface="DejaVu Sans"/>
              </a:rPr>
              <a:t>trois lignes</a:t>
            </a:r>
            <a:r>
              <a:rPr lang="fr-FR" sz="1300" b="0" u="none" strike="noStrike">
                <a:solidFill>
                  <a:srgbClr val="F7F6F2"/>
                </a:solidFill>
                <a:effectLst/>
                <a:uFillTx/>
                <a:latin typeface="Inter"/>
                <a:ea typeface="DejaVu Sans"/>
              </a:rPr>
              <a:t> : lecture, conversion, métadonnées, relance du lot.</a:t>
            </a:r>
            <a:endParaRPr lang="fr-FR" sz="1300" b="0" u="none" strike="noStrike">
              <a:solidFill>
                <a:srgbClr val="FFFFFF"/>
              </a:solidFill>
              <a:effectLst/>
              <a:uFillTx/>
              <a:latin typeface="Arial"/>
            </a:endParaRPr>
          </a:p>
        </p:txBody>
      </p:sp>
      <p:graphicFrame>
        <p:nvGraphicFramePr>
          <p:cNvPr id="338" name="Table 32"/>
          <p:cNvGraphicFramePr/>
          <p:nvPr/>
        </p:nvGraphicFramePr>
        <p:xfrm>
          <a:off x="640080" y="2579760"/>
          <a:ext cx="10908360" cy="2011680"/>
        </p:xfrm>
        <a:graphic>
          <a:graphicData uri="http://schemas.openxmlformats.org/drawingml/2006/table">
            <a:tbl>
              <a:tblPr/>
              <a:tblGrid>
                <a:gridCol w="5120640"/>
                <a:gridCol w="3108960"/>
                <a:gridCol w="2679120"/>
              </a:tblGrid>
              <a:tr h="502920">
                <a:tc>
                  <a:txBody>
                    <a:bodyPr lIns="73080" rIns="73080" anchor="ctr">
                      <a:noAutofit/>
                    </a:bodyPr>
                    <a:p>
                      <a:pPr>
                        <a:lnSpc>
                          <a:spcPct val="100000"/>
                        </a:lnSpc>
                      </a:pPr>
                      <a:r>
                        <a:rPr lang="en-US" sz="1100" b="1" u="none" spc="45" strike="noStrike">
                          <a:solidFill>
                            <a:srgbClr val="F5A623"/>
                          </a:solidFill>
                          <a:effectLst/>
                          <a:uFillTx/>
                          <a:latin typeface="Inter"/>
                        </a:rPr>
                        <a:t>Épreuve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Résultat obtenu</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Preuve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Relance du même lot : doublons créés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Non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Écart introduit volontairement sur une copie : la porte échoue-t-elle ?</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1 écart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502920">
                <a:tc>
                  <a:txBody>
                    <a:bodyPr lIns="73080" rIns="73080" anchor="ctr">
                      <a:noAutofit/>
                    </a:bodyPr>
                    <a:p>
                      <a:pPr>
                        <a:lnSpc>
                          <a:spcPct val="100000"/>
                        </a:lnSpc>
                      </a:pPr>
                      <a:r>
                        <a:rPr lang="en-US" sz="1200" b="1" u="none" strike="noStrike">
                          <a:solidFill>
                            <a:srgbClr val="F7F6F2"/>
                          </a:solidFill>
                          <a:effectLst/>
                          <a:uFillTx/>
                          <a:latin typeface="Inter"/>
                        </a:rPr>
                        <a:t>Un problème de conversion rencontré (décimales, NULL, accents) et sa correction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Non</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39" name="TextBox 33"/>
          <p:cNvSpPr/>
          <p:nvPr/>
        </p:nvSpPr>
        <p:spPr>
          <a:xfrm>
            <a:off x="640080" y="485712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MÉTHODE D'INGESTION EN TROIS LIGNES</a:t>
            </a:r>
            <a:endParaRPr lang="fr-FR" sz="1100" b="0" u="none" strike="noStrike">
              <a:solidFill>
                <a:srgbClr val="FFFFFF"/>
              </a:solidFill>
              <a:effectLst/>
              <a:uFillTx/>
              <a:latin typeface="Arial"/>
            </a:endParaRPr>
          </a:p>
        </p:txBody>
      </p:sp>
      <p:sp>
        <p:nvSpPr>
          <p:cNvPr id="340" name="Zone à rédiger"/>
          <p:cNvSpPr/>
          <p:nvPr/>
        </p:nvSpPr>
        <p:spPr>
          <a:xfrm>
            <a:off x="640080" y="5112720"/>
            <a:ext cx="10906200" cy="10112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pic>
        <p:nvPicPr>
          <p:cNvPr id="341" name=""/>
          <p:cNvPicPr/>
          <p:nvPr/>
        </p:nvPicPr>
        <p:blipFill>
          <a:blip r:embed="rId2"/>
          <a:stretch/>
        </p:blipFill>
        <p:spPr>
          <a:xfrm>
            <a:off x="8820000" y="3578040"/>
            <a:ext cx="2698560" cy="560520"/>
          </a:xfrm>
          <a:prstGeom prst="rect">
            <a:avLst/>
          </a:prstGeom>
          <a:noFill/>
          <a:ln w="0">
            <a:noFill/>
          </a:ln>
        </p:spPr>
      </p:pic>
      <p:pic>
        <p:nvPicPr>
          <p:cNvPr id="342" name=""/>
          <p:cNvPicPr/>
          <p:nvPr/>
        </p:nvPicPr>
        <p:blipFill>
          <a:blip r:embed="rId3"/>
          <a:stretch/>
        </p:blipFill>
        <p:spPr>
          <a:xfrm>
            <a:off x="8862840" y="3087000"/>
            <a:ext cx="1215720" cy="511560"/>
          </a:xfrm>
          <a:prstGeom prst="rect">
            <a:avLst/>
          </a:prstGeom>
          <a:noFill/>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Profil de crm.client et motifs</a:t>
            </a:r>
            <a:endParaRPr lang="fr-FR" sz="2800" b="0" u="none" strike="noStrike">
              <a:solidFill>
                <a:srgbClr val="FFFFFF"/>
              </a:solidFill>
              <a:effectLst/>
              <a:uFillTx/>
              <a:latin typeface="Arial"/>
            </a:endParaRPr>
          </a:p>
        </p:txBody>
      </p:sp>
      <p:sp>
        <p:nvSpPr>
          <p:cNvPr id="344" name="PlaceHolder 2"/>
          <p:cNvSpPr>
            <a:spLocks noGrp="1"/>
          </p:cNvSpPr>
          <p:nvPr>
            <p:ph type="sldNum" idx="3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8B359D55-3A66-4316-A4FA-53F8AAAC8694}"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45"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US-06, 07</a:t>
            </a:r>
            <a:endParaRPr lang="fr-FR" sz="1100" b="0" u="none" strike="noStrike">
              <a:solidFill>
                <a:srgbClr val="FFFFFF"/>
              </a:solidFill>
              <a:effectLst/>
              <a:uFillTx/>
              <a:latin typeface="Arial"/>
            </a:endParaRPr>
          </a:p>
        </p:txBody>
      </p:sp>
      <p:sp>
        <p:nvSpPr>
          <p:cNvPr id="346"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47"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48"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49" name="Icône target" descr="Icône target"/>
          <p:cNvPicPr/>
          <p:nvPr/>
        </p:nvPicPr>
        <p:blipFill>
          <a:blip r:embed="rId1"/>
          <a:stretch/>
        </p:blipFill>
        <p:spPr>
          <a:xfrm>
            <a:off x="896040" y="1435680"/>
            <a:ext cx="271800" cy="271800"/>
          </a:xfrm>
          <a:prstGeom prst="rect">
            <a:avLst/>
          </a:prstGeom>
          <a:noFill/>
          <a:ln w="0">
            <a:noFill/>
          </a:ln>
        </p:spPr>
      </p:pic>
      <p:sp>
        <p:nvSpPr>
          <p:cNvPr id="350"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51"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Au moins </a:t>
            </a:r>
            <a:r>
              <a:rPr lang="fr-FR" sz="1300" b="1" u="none" strike="noStrike">
                <a:solidFill>
                  <a:srgbClr val="F5A623"/>
                </a:solidFill>
                <a:effectLst/>
                <a:uFillTx/>
                <a:latin typeface="Inter"/>
                <a:ea typeface="DejaVu Sans"/>
              </a:rPr>
              <a:t>cinq constats chiffrés</a:t>
            </a:r>
            <a:r>
              <a:rPr lang="fr-FR" sz="1300" b="0" u="none" strike="noStrike">
                <a:solidFill>
                  <a:srgbClr val="F7F6F2"/>
                </a:solidFill>
                <a:effectLst/>
                <a:uFillTx/>
                <a:latin typeface="Inter"/>
                <a:ea typeface="DejaVu Sans"/>
              </a:rPr>
              <a:t> : colonne, indicateur, valeur mesurée, conséquence pour la qualité.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motifs</a:t>
            </a:r>
            <a:r>
              <a:rPr lang="fr-FR" sz="1300" b="0" u="none" strike="noStrike">
                <a:solidFill>
                  <a:srgbClr val="F7F6F2"/>
                </a:solidFill>
                <a:effectLst/>
                <a:uFillTx/>
                <a:latin typeface="Inter"/>
                <a:ea typeface="DejaVu Sans"/>
              </a:rPr>
              <a:t> de code postal, de téléphone et de pays : lignes conformes, non conformes, un exemple.</a:t>
            </a:r>
            <a:endParaRPr lang="fr-FR" sz="1300" b="0" u="none" strike="noStrike">
              <a:solidFill>
                <a:srgbClr val="FFFFFF"/>
              </a:solidFill>
              <a:effectLst/>
              <a:uFillTx/>
              <a:latin typeface="Arial"/>
            </a:endParaRPr>
          </a:p>
        </p:txBody>
      </p:sp>
      <p:graphicFrame>
        <p:nvGraphicFramePr>
          <p:cNvPr id="352" name="Table 32"/>
          <p:cNvGraphicFramePr/>
          <p:nvPr/>
        </p:nvGraphicFramePr>
        <p:xfrm>
          <a:off x="640080" y="2534040"/>
          <a:ext cx="10908360" cy="2170080"/>
        </p:xfrm>
        <a:graphic>
          <a:graphicData uri="http://schemas.openxmlformats.org/drawingml/2006/table">
            <a:tbl>
              <a:tblPr/>
              <a:tblGrid>
                <a:gridCol w="548640"/>
                <a:gridCol w="1828800"/>
                <a:gridCol w="3291840"/>
                <a:gridCol w="1737360"/>
                <a:gridCol w="3502080"/>
              </a:tblGrid>
              <a:tr h="411480">
                <a:tc>
                  <a:txBody>
                    <a:bodyPr lIns="73080" rIns="73080" anchor="ctr">
                      <a:noAutofit/>
                    </a:bodyPr>
                    <a:p>
                      <a:pPr>
                        <a:lnSpc>
                          <a:spcPct val="100000"/>
                        </a:lnSpc>
                      </a:pPr>
                      <a:r>
                        <a:rPr lang="en-US" sz="1050" b="1" u="none" spc="45" strike="noStrike">
                          <a:solidFill>
                            <a:srgbClr val="F5A623"/>
                          </a:solidFill>
                          <a:effectLst/>
                          <a:uFillTx/>
                          <a:latin typeface="Inter"/>
                        </a:rPr>
                        <a:t>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Colonne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Indicateur (nulls, vides, distincts, motif)</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Valeur mesurée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Ce que cela change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nom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4277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peut ne pas être fiable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2</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prenom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4277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peut ne pas être fiable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raison_social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nulls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95723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Cette colonne n’est pas fiable car extremement vide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4</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pays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vides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Faible manque par rapport au 100000 lignes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telephone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blancs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Faible manque par rapport au 100000 lignes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353" name="Table 33"/>
          <p:cNvGraphicFramePr/>
          <p:nvPr/>
        </p:nvGraphicFramePr>
        <p:xfrm>
          <a:off x="640080" y="4646520"/>
          <a:ext cx="10908360" cy="1429920"/>
        </p:xfrm>
        <a:graphic>
          <a:graphicData uri="http://schemas.openxmlformats.org/drawingml/2006/table">
            <a:tbl>
              <a:tblPr/>
              <a:tblGrid>
                <a:gridCol w="1828800"/>
                <a:gridCol w="3108960"/>
                <a:gridCol w="1554480"/>
                <a:gridCol w="1737360"/>
                <a:gridCol w="267912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Attribut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Motif testé</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Conformes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Non conformes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Exemple non conforme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Code postal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Code postal à 5 chiffres (RQ-05)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93981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1456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7100 (enlève le 0 devant)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Téléphone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regex r"(?:"r"0[1-9](?:[ .-]?\d{2}){4}" r"|(?:+|00)[1-9]\d{0,2}(?:[ .-]?\d){6,14}"r")")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89115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886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06289748656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1" u="none" strike="noStrike">
                          <a:solidFill>
                            <a:srgbClr val="F7F6F2"/>
                          </a:solidFill>
                          <a:effectLst/>
                          <a:uFillTx/>
                          <a:latin typeface="Inter"/>
                        </a:rPr>
                        <a:t>Pays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N’est pas dans le référentiel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97950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3050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Frnace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54" name="TextBox 34"/>
          <p:cNvSpPr/>
          <p:nvPr/>
        </p:nvSpPr>
        <p:spPr>
          <a:xfrm>
            <a:off x="642960" y="6237360"/>
            <a:ext cx="1090620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notebooks/S1_bronze_profilage.ipynb</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5"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Dictionnaire du CIF : dix colonnes anonymes</a:t>
            </a:r>
            <a:endParaRPr lang="fr-FR" sz="2800" b="0" u="none" strike="noStrike">
              <a:solidFill>
                <a:srgbClr val="FFFFFF"/>
              </a:solidFill>
              <a:effectLst/>
              <a:uFillTx/>
              <a:latin typeface="Arial"/>
            </a:endParaRPr>
          </a:p>
        </p:txBody>
      </p:sp>
      <p:sp>
        <p:nvSpPr>
          <p:cNvPr id="356" name="PlaceHolder 2"/>
          <p:cNvSpPr>
            <a:spLocks noGrp="1"/>
          </p:cNvSpPr>
          <p:nvPr>
            <p:ph type="sldNum" idx="3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49394E88-75DD-4AFB-B72B-D2AB5DE2FA7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57"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US-04</a:t>
            </a:r>
            <a:endParaRPr lang="fr-FR" sz="1100" b="0" u="none" strike="noStrike">
              <a:solidFill>
                <a:srgbClr val="FFFFFF"/>
              </a:solidFill>
              <a:effectLst/>
              <a:uFillTx/>
              <a:latin typeface="Arial"/>
            </a:endParaRPr>
          </a:p>
        </p:txBody>
      </p:sp>
      <p:sp>
        <p:nvSpPr>
          <p:cNvPr id="358"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59" name="Attendu"/>
          <p:cNvSpPr/>
          <p:nvPr/>
        </p:nvSpPr>
        <p:spPr>
          <a:xfrm>
            <a:off x="640080" y="1325880"/>
            <a:ext cx="10906200" cy="103032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60" name="Attendu barre"/>
          <p:cNvSpPr/>
          <p:nvPr/>
        </p:nvSpPr>
        <p:spPr>
          <a:xfrm>
            <a:off x="640080" y="1325880"/>
            <a:ext cx="79920" cy="103032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61" name="Icône target" descr="Icône target"/>
          <p:cNvPicPr/>
          <p:nvPr/>
        </p:nvPicPr>
        <p:blipFill>
          <a:blip r:embed="rId1"/>
          <a:stretch/>
        </p:blipFill>
        <p:spPr>
          <a:xfrm>
            <a:off x="896040" y="1435680"/>
            <a:ext cx="271800" cy="271800"/>
          </a:xfrm>
          <a:prstGeom prst="rect">
            <a:avLst/>
          </a:prstGeom>
          <a:noFill/>
          <a:ln w="0">
            <a:noFill/>
          </a:ln>
        </p:spPr>
      </p:pic>
      <p:sp>
        <p:nvSpPr>
          <p:cNvPr id="362"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63" name="TextBox 31"/>
          <p:cNvSpPr/>
          <p:nvPr/>
        </p:nvSpPr>
        <p:spPr>
          <a:xfrm>
            <a:off x="914400" y="1783080"/>
            <a:ext cx="10357560" cy="212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chacune des dix colonnes</a:t>
            </a:r>
            <a:r>
              <a:rPr lang="fr-FR" sz="1300" b="0" u="none" strike="noStrike">
                <a:solidFill>
                  <a:srgbClr val="F7F6F2"/>
                </a:solidFill>
                <a:effectLst/>
                <a:uFillTx/>
                <a:latin typeface="Inter"/>
                <a:ea typeface="DejaVu Sans"/>
              </a:rPr>
              <a:t> : un nom proposé, un type et une </a:t>
            </a:r>
            <a:r>
              <a:rPr lang="fr-FR" sz="1300" b="1" u="none" strike="noStrike">
                <a:solidFill>
                  <a:srgbClr val="F5A623"/>
                </a:solidFill>
                <a:effectLst/>
                <a:uFillTx/>
                <a:latin typeface="Inter"/>
                <a:ea typeface="DejaVu Sans"/>
              </a:rPr>
              <a:t>justification chiffrée</a:t>
            </a:r>
            <a:r>
              <a:rPr lang="fr-FR" sz="1300" b="0" u="none" strike="noStrike">
                <a:solidFill>
                  <a:srgbClr val="F7F6F2"/>
                </a:solidFill>
                <a:effectLst/>
                <a:uFillTx/>
                <a:latin typeface="Inter"/>
                <a:ea typeface="DejaVu Sans"/>
              </a:rPr>
              <a:t> (comment l'avez-vous déduit ?).</a:t>
            </a:r>
            <a:endParaRPr lang="fr-FR" sz="1300" b="0" u="none" strike="noStrike">
              <a:solidFill>
                <a:srgbClr val="FFFFFF"/>
              </a:solidFill>
              <a:effectLst/>
              <a:uFillTx/>
              <a:latin typeface="Arial"/>
            </a:endParaRPr>
          </a:p>
        </p:txBody>
      </p:sp>
      <p:graphicFrame>
        <p:nvGraphicFramePr>
          <p:cNvPr id="364" name="Table 32"/>
          <p:cNvGraphicFramePr/>
          <p:nvPr/>
        </p:nvGraphicFramePr>
        <p:xfrm>
          <a:off x="640080" y="2495880"/>
          <a:ext cx="10908360" cy="3735000"/>
        </p:xfrm>
        <a:graphic>
          <a:graphicData uri="http://schemas.openxmlformats.org/drawingml/2006/table">
            <a:tbl>
              <a:tblPr/>
              <a:tblGrid>
                <a:gridCol w="1828800"/>
                <a:gridCol w="2194560"/>
                <a:gridCol w="1463040"/>
                <a:gridCol w="5422320"/>
              </a:tblGrid>
              <a:tr h="320040">
                <a:tc>
                  <a:txBody>
                    <a:bodyPr lIns="73080" rIns="73080" anchor="ctr">
                      <a:noAutofit/>
                    </a:bodyPr>
                    <a:p>
                      <a:pPr>
                        <a:lnSpc>
                          <a:spcPct val="100000"/>
                        </a:lnSpc>
                      </a:pPr>
                      <a:r>
                        <a:rPr lang="en-US" sz="1000" b="1" u="none" spc="45" strike="noStrike">
                          <a:solidFill>
                            <a:srgbClr val="F5A623"/>
                          </a:solidFill>
                          <a:effectLst/>
                          <a:uFillTx/>
                          <a:latin typeface="Inter"/>
                        </a:rPr>
                        <a:t>Colonne d'origine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Nom proposé</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Type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Justification chiffrée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IdClient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Chaque ligne (40000) est disticte et semble aléatoire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NomClient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Des chaines courtes (3-31), peu distinctes (731), et semblable à des noms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PrénomClient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Des chaines courtes (3-10), peu distinctes (180), et semblable à des prénoms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DateDeNaissance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Uniquement des chaine de 10 caractères dans le format XX/XX/XXXX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Column4</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Adresse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Les exemples représente des adresses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Column5</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CodePostal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Uniquement des chaine de 5 chiffres dans le format 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Column6</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Ville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Peu de distincte (172) et des noms de villes dans les exemples (Nice)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CodePays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Peu de distincte (9), et des exemples de ressemblant à des abréviations de pays. Longueurs min et max de 2 (FR)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NuméroTélephone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Colonne entierement distincte sans les nulls, qui est tout le temps dans le format XXXXXXXXXX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0" u="none" strike="noStrike">
                          <a:solidFill>
                            <a:srgbClr val="F5A623"/>
                          </a:solidFill>
                          <a:effectLst/>
                          <a:uFillTx/>
                          <a:latin typeface="Inter"/>
                        </a:rPr>
                        <a:t>Column9</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Mail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String</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Colonne entierement distincte sans les nulls, et exemples possédants des @</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5"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Trois directions, trois définitions du « client actif »</a:t>
            </a:r>
            <a:endParaRPr lang="fr-FR" sz="2800" b="0" u="none" strike="noStrike">
              <a:solidFill>
                <a:srgbClr val="FFFFFF"/>
              </a:solidFill>
              <a:effectLst/>
              <a:uFillTx/>
              <a:latin typeface="Arial"/>
            </a:endParaRPr>
          </a:p>
        </p:txBody>
      </p:sp>
      <p:sp>
        <p:nvSpPr>
          <p:cNvPr id="366" name="PlaceHolder 2"/>
          <p:cNvSpPr>
            <a:spLocks noGrp="1"/>
          </p:cNvSpPr>
          <p:nvPr>
            <p:ph type="sldNum" idx="3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D53AA64A-12C5-44CC-B602-433ED681FD2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67"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US-09</a:t>
            </a:r>
            <a:endParaRPr lang="fr-FR" sz="1100" b="0" u="none" strike="noStrike">
              <a:solidFill>
                <a:srgbClr val="FFFFFF"/>
              </a:solidFill>
              <a:effectLst/>
              <a:uFillTx/>
              <a:latin typeface="Arial"/>
            </a:endParaRPr>
          </a:p>
        </p:txBody>
      </p:sp>
      <p:sp>
        <p:nvSpPr>
          <p:cNvPr id="368"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69"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70"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71" name="Icône target" descr="Icône target"/>
          <p:cNvPicPr/>
          <p:nvPr/>
        </p:nvPicPr>
        <p:blipFill>
          <a:blip r:embed="rId1"/>
          <a:stretch/>
        </p:blipFill>
        <p:spPr>
          <a:xfrm>
            <a:off x="896040" y="1435680"/>
            <a:ext cx="271800" cy="271800"/>
          </a:xfrm>
          <a:prstGeom prst="rect">
            <a:avLst/>
          </a:prstGeom>
          <a:noFill/>
          <a:ln w="0">
            <a:noFill/>
          </a:ln>
        </p:spPr>
      </p:pic>
      <p:sp>
        <p:nvSpPr>
          <p:cNvPr id="372"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73"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nombre de clients actifs</a:t>
            </a:r>
            <a:r>
              <a:rPr lang="fr-FR" sz="1300" b="0" u="none" strike="noStrike">
                <a:solidFill>
                  <a:srgbClr val="F7F6F2"/>
                </a:solidFill>
                <a:effectLst/>
                <a:uFillTx/>
                <a:latin typeface="Inter"/>
                <a:ea typeface="DejaVu Sans"/>
              </a:rPr>
              <a:t> selon chaque direction, avec la définition utilisée.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écart</a:t>
            </a:r>
            <a:r>
              <a:rPr lang="fr-FR" sz="1300" b="0" u="none" strike="noStrike">
                <a:solidFill>
                  <a:srgbClr val="F7F6F2"/>
                </a:solidFill>
                <a:effectLst/>
                <a:uFillTx/>
                <a:latin typeface="Inter"/>
                <a:ea typeface="DejaVu Sans"/>
              </a:rPr>
              <a:t> avec la définition de la fiche </a:t>
            </a:r>
            <a:r>
              <a:rPr lang="fr-FR" sz="1300" b="1" u="none" strike="noStrike">
                <a:solidFill>
                  <a:srgbClr val="F5A623"/>
                </a:solidFill>
                <a:effectLst/>
                <a:uFillTx/>
                <a:latin typeface="Inter"/>
                <a:ea typeface="DejaVu Sans"/>
              </a:rPr>
              <a:t>CD-001</a:t>
            </a:r>
            <a:r>
              <a:rPr lang="fr-FR" sz="1300" b="0" u="none" strike="noStrike">
                <a:solidFill>
                  <a:srgbClr val="F7F6F2"/>
                </a:solidFill>
                <a:effectLst/>
                <a:uFillTx/>
                <a:latin typeface="Inter"/>
                <a:ea typeface="DejaVu Sans"/>
              </a:rPr>
              <a:t>, et la conséquence pour la gouvernance.</a:t>
            </a:r>
            <a:endParaRPr lang="fr-FR" sz="1300" b="0" u="none" strike="noStrike">
              <a:solidFill>
                <a:srgbClr val="FFFFFF"/>
              </a:solidFill>
              <a:effectLst/>
              <a:uFillTx/>
              <a:latin typeface="Arial"/>
            </a:endParaRPr>
          </a:p>
        </p:txBody>
      </p:sp>
      <p:graphicFrame>
        <p:nvGraphicFramePr>
          <p:cNvPr id="374" name="Table 32"/>
          <p:cNvGraphicFramePr/>
          <p:nvPr/>
        </p:nvGraphicFramePr>
        <p:xfrm>
          <a:off x="640080" y="2579760"/>
          <a:ext cx="10908360" cy="1608840"/>
        </p:xfrm>
        <a:graphic>
          <a:graphicData uri="http://schemas.openxmlformats.org/drawingml/2006/table">
            <a:tbl>
              <a:tblPr/>
              <a:tblGrid>
                <a:gridCol w="2011680"/>
                <a:gridCol w="4754880"/>
                <a:gridCol w="2011680"/>
                <a:gridCol w="2130480"/>
              </a:tblGrid>
              <a:tr h="383760">
                <a:tc>
                  <a:txBody>
                    <a:bodyPr lIns="73080" rIns="73080" anchor="ctr">
                      <a:noAutofit/>
                    </a:bodyPr>
                    <a:p>
                      <a:pPr>
                        <a:lnSpc>
                          <a:spcPct val="100000"/>
                        </a:lnSpc>
                      </a:pPr>
                      <a:r>
                        <a:rPr lang="en-US" sz="1100" b="1" u="none" spc="45" strike="noStrike">
                          <a:solidFill>
                            <a:srgbClr val="F5A623"/>
                          </a:solidFill>
                          <a:effectLst/>
                          <a:uFillTx/>
                          <a:latin typeface="Inter"/>
                        </a:rPr>
                        <a:t>Direction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Définition utilisée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Nombre de clients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Écart avec CD-001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Commerciale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au moins un 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50508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+12459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Sinistres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un contract actif par rapport à la date de référence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44116</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+6067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4480">
                <a:tc>
                  <a:txBody>
                    <a:bodyPr lIns="73080" rIns="73080" anchor="ctr">
                      <a:noAutofit/>
                    </a:bodyPr>
                    <a:p>
                      <a:pPr>
                        <a:lnSpc>
                          <a:spcPct val="100000"/>
                        </a:lnSpc>
                      </a:pPr>
                      <a:r>
                        <a:rPr lang="en-US" sz="1200" b="1" u="none" strike="noStrike">
                          <a:solidFill>
                            <a:srgbClr val="F7F6F2"/>
                          </a:solidFill>
                          <a:effectLst/>
                          <a:uFillTx/>
                          <a:latin typeface="Inter"/>
                        </a:rPr>
                        <a:t>Risques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Un client à un contract actif par rapport à la date de référence et une cotisation sur les trois derniers mois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38049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375" name="TextBox 33"/>
          <p:cNvSpPr/>
          <p:nvPr/>
        </p:nvSpPr>
        <p:spPr>
          <a:xfrm>
            <a:off x="640080" y="438156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CONSÉQUENCE POUR LA GOUVERNANCE, EN TROIS PHRASES</a:t>
            </a:r>
            <a:endParaRPr lang="fr-FR" sz="1100" b="0" u="none" strike="noStrike">
              <a:solidFill>
                <a:srgbClr val="FFFFFF"/>
              </a:solidFill>
              <a:effectLst/>
              <a:uFillTx/>
              <a:latin typeface="Arial"/>
            </a:endParaRPr>
          </a:p>
        </p:txBody>
      </p:sp>
      <p:sp>
        <p:nvSpPr>
          <p:cNvPr id="376" name="Zone à rédiger"/>
          <p:cNvSpPr/>
          <p:nvPr/>
        </p:nvSpPr>
        <p:spPr>
          <a:xfrm>
            <a:off x="640080" y="4637160"/>
            <a:ext cx="10906200" cy="1486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Cela empêche la direction d'avoir une vision unifiée du chiffre d'affaires potentiel et de piloter les activités. De plus, cela impose de créer d'urgence un dictionnaire de données  définissant un socle commun tout en documentant ces différentes spécificitées.</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S1 : critères de fin et difficultés</a:t>
            </a:r>
            <a:endParaRPr lang="fr-FR" sz="2800" b="0" u="none" strike="noStrike">
              <a:solidFill>
                <a:srgbClr val="FFFFFF"/>
              </a:solidFill>
              <a:effectLst/>
              <a:uFillTx/>
              <a:latin typeface="Arial"/>
            </a:endParaRPr>
          </a:p>
        </p:txBody>
      </p:sp>
      <p:sp>
        <p:nvSpPr>
          <p:cNvPr id="378" name="PlaceHolder 2"/>
          <p:cNvSpPr>
            <a:spLocks noGrp="1"/>
          </p:cNvSpPr>
          <p:nvPr>
            <p:ph type="sldNum" idx="3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F7E3E73-33F4-4C87-AB76-DFD24A26069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379"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S1 · BILAN</a:t>
            </a:r>
            <a:endParaRPr lang="fr-FR" sz="1100" b="0" u="none" strike="noStrike">
              <a:solidFill>
                <a:srgbClr val="FFFFFF"/>
              </a:solidFill>
              <a:effectLst/>
              <a:uFillTx/>
              <a:latin typeface="Arial"/>
            </a:endParaRPr>
          </a:p>
        </p:txBody>
      </p:sp>
      <p:sp>
        <p:nvSpPr>
          <p:cNvPr id="380"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PROFILAGE ET DIAGNOSTIC · 20 %</a:t>
            </a:r>
            <a:endParaRPr lang="fr-FR" sz="1000" b="0" u="none" strike="noStrike">
              <a:solidFill>
                <a:srgbClr val="FFFFFF"/>
              </a:solidFill>
              <a:effectLst/>
              <a:uFillTx/>
              <a:latin typeface="Arial"/>
            </a:endParaRPr>
          </a:p>
        </p:txBody>
      </p:sp>
      <p:sp>
        <p:nvSpPr>
          <p:cNvPr id="381"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382"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383" name="Icône target" descr="Icône target"/>
          <p:cNvPicPr/>
          <p:nvPr/>
        </p:nvPicPr>
        <p:blipFill>
          <a:blip r:embed="rId1"/>
          <a:stretch/>
        </p:blipFill>
        <p:spPr>
          <a:xfrm>
            <a:off x="896040" y="1435680"/>
            <a:ext cx="271800" cy="271800"/>
          </a:xfrm>
          <a:prstGeom prst="rect">
            <a:avLst/>
          </a:prstGeom>
          <a:noFill/>
          <a:ln w="0">
            <a:noFill/>
          </a:ln>
        </p:spPr>
      </p:pic>
      <p:sp>
        <p:nvSpPr>
          <p:cNvPr id="384"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385"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386" name="Rectangle 32"/>
          <p:cNvSpPr/>
          <p:nvPr/>
        </p:nvSpPr>
        <p:spPr>
          <a:xfrm>
            <a:off x="640080" y="2579760"/>
            <a:ext cx="511812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387" name="Icône ok" descr="Icône ok"/>
          <p:cNvPicPr/>
          <p:nvPr/>
        </p:nvPicPr>
        <p:blipFill>
          <a:blip r:embed="rId2"/>
          <a:stretch/>
        </p:blipFill>
        <p:spPr>
          <a:xfrm>
            <a:off x="868680" y="2735280"/>
            <a:ext cx="308520" cy="308520"/>
          </a:xfrm>
          <a:prstGeom prst="rect">
            <a:avLst/>
          </a:prstGeom>
          <a:noFill/>
          <a:ln w="0">
            <a:noFill/>
          </a:ln>
        </p:spPr>
      </p:pic>
      <p:sp>
        <p:nvSpPr>
          <p:cNvPr id="388" name="TextBox 34"/>
          <p:cNvSpPr/>
          <p:nvPr/>
        </p:nvSpPr>
        <p:spPr>
          <a:xfrm>
            <a:off x="1289160" y="2783160"/>
            <a:ext cx="456948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389" name="TextBox 35"/>
          <p:cNvSpPr/>
          <p:nvPr/>
        </p:nvSpPr>
        <p:spPr>
          <a:xfrm>
            <a:off x="868680" y="3219840"/>
            <a:ext cx="4660920" cy="241020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Les sept tables bronze existent et chaque ligne porte ses quatre métadonnées.</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La porte B ne montre aucun écart de comptage ni de somme de contrôle.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Relancer l'ingestion du même lot ne crée aucun doublon.</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[X]</a:t>
            </a:r>
            <a:r>
              <a:rPr lang="fr-FR" sz="1250" b="0" u="none" strike="noStrike">
                <a:solidFill>
                  <a:srgbClr val="F7F6F2"/>
                </a:solidFill>
                <a:effectLst/>
                <a:uFillTx/>
                <a:latin typeface="Inter"/>
                <a:ea typeface="DejaVu Sans"/>
              </a:rPr>
              <a:t> Un écart introduit volontairement fait échouer la porte.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a:t>
            </a:r>
            <a:r>
              <a:rPr lang="fr-FR" sz="1250" b="0" u="none" strike="noStrike">
                <a:solidFill>
                  <a:srgbClr val="F7F6F2"/>
                </a:solidFill>
                <a:effectLst/>
                <a:uFillTx/>
                <a:latin typeface="Inter"/>
                <a:ea typeface="DejaVu Sans"/>
              </a:rPr>
              <a:t> RQ-021 est écrite dans dq.dq_history (couche BRONZE).</a:t>
            </a:r>
            <a:endParaRPr lang="fr-FR" sz="1250" b="0" u="none" strike="noStrike">
              <a:solidFill>
                <a:srgbClr val="FFFFFF"/>
              </a:solidFill>
              <a:effectLst/>
              <a:uFillTx/>
              <a:latin typeface="Arial"/>
            </a:endParaRPr>
          </a:p>
        </p:txBody>
      </p:sp>
      <p:sp>
        <p:nvSpPr>
          <p:cNvPr id="390" name="TextBox 36"/>
          <p:cNvSpPr/>
          <p:nvPr/>
        </p:nvSpPr>
        <p:spPr>
          <a:xfrm>
            <a:off x="640080" y="5852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391" name="TextBox 37"/>
          <p:cNvSpPr/>
          <p:nvPr/>
        </p:nvSpPr>
        <p:spPr>
          <a:xfrm>
            <a:off x="5943600" y="26168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392" name="Zone à rédiger"/>
          <p:cNvSpPr/>
          <p:nvPr/>
        </p:nvSpPr>
        <p:spPr>
          <a:xfrm>
            <a:off x="5943600" y="2872440"/>
            <a:ext cx="5602680" cy="1167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Lors du S1, nous avons principalement perdue beaucoup de temps, en pensant que nous devions développer nous même les codes pythons. Une fois que nous nous en sommes rendues compte, nous avons pu dérouller le td sans trop de difficulte (à part quelque blocage sur la compréhension des retours demandés).</a:t>
            </a:r>
            <a:endParaRPr lang="fr-FR" sz="1200" b="0" u="none" strike="noStrike">
              <a:solidFill>
                <a:srgbClr val="FFFFFF"/>
              </a:solidFill>
              <a:effectLst/>
              <a:uFillTx/>
              <a:latin typeface="Arial"/>
            </a:endParaRPr>
          </a:p>
        </p:txBody>
      </p:sp>
      <p:sp>
        <p:nvSpPr>
          <p:cNvPr id="393" name="TextBox 39"/>
          <p:cNvSpPr/>
          <p:nvPr/>
        </p:nvSpPr>
        <p:spPr>
          <a:xfrm>
            <a:off x="5943600" y="42170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394" name="Zone à rédiger"/>
          <p:cNvSpPr/>
          <p:nvPr/>
        </p:nvSpPr>
        <p:spPr>
          <a:xfrm>
            <a:off x="5943600" y="4472640"/>
            <a:ext cx="5602680" cy="619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Non</a:t>
            </a:r>
            <a:endParaRPr lang="fr-FR" sz="1200" b="0" u="none" strike="noStrike">
              <a:solidFill>
                <a:srgbClr val="FFFFFF"/>
              </a:solidFill>
              <a:effectLst/>
              <a:uFillTx/>
              <a:latin typeface="Arial"/>
            </a:endParaRPr>
          </a:p>
        </p:txBody>
      </p:sp>
      <p:sp>
        <p:nvSpPr>
          <p:cNvPr id="395" name="TextBox 41"/>
          <p:cNvSpPr/>
          <p:nvPr/>
        </p:nvSpPr>
        <p:spPr>
          <a:xfrm>
            <a:off x="5943600" y="526860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396" name="Zone à rédiger"/>
          <p:cNvSpPr/>
          <p:nvPr/>
        </p:nvSpPr>
        <p:spPr>
          <a:xfrm>
            <a:off x="5943600" y="5524200"/>
            <a:ext cx="5602680" cy="599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Être plus vigilant sur l’ensemble des documents mis à disposition pour avancer sur le TD.</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02</a:t>
            </a:r>
            <a:endParaRPr lang="fr-FR" sz="7200" b="0" u="none" strike="noStrike">
              <a:solidFill>
                <a:srgbClr val="FFFFFF"/>
              </a:solidFill>
              <a:effectLst/>
              <a:uFillTx/>
              <a:latin typeface="Arial"/>
            </a:endParaRPr>
          </a:p>
        </p:txBody>
      </p:sp>
      <p:sp>
        <p:nvSpPr>
          <p:cNvPr id="398"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Règles en tests automatisés</a:t>
            </a:r>
            <a:endParaRPr lang="fr-FR" sz="4200" b="0" u="none" strike="noStrike">
              <a:solidFill>
                <a:srgbClr val="FFFFFF"/>
              </a:solidFill>
              <a:effectLst/>
              <a:uFillTx/>
              <a:latin typeface="Arial"/>
            </a:endParaRPr>
          </a:p>
        </p:txBody>
      </p:sp>
      <p:sp>
        <p:nvSpPr>
          <p:cNvPr id="399" name="PlaceHolder 3"/>
          <p:cNvSpPr>
            <a:spLocks noGrp="1"/>
          </p:cNvSpPr>
          <p:nvPr>
            <p:ph type="sldNum" idx="4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4F040561-7562-460B-8C34-B5F71188BAB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00" name="TextBox 25"/>
          <p:cNvSpPr/>
          <p:nvPr/>
        </p:nvSpPr>
        <p:spPr>
          <a:xfrm>
            <a:off x="640080" y="4892040"/>
            <a:ext cx="6398280" cy="55836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2 · Great Expectations · US-10, 11, 13, 15. Une règle métier devient un test nommé par son identifiant RQ.</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Règles en tests : une expectation par règle</a:t>
            </a:r>
            <a:endParaRPr lang="fr-FR" sz="2800" b="0" u="none" strike="noStrike">
              <a:solidFill>
                <a:srgbClr val="FFFFFF"/>
              </a:solidFill>
              <a:effectLst/>
              <a:uFillTx/>
              <a:latin typeface="Arial"/>
            </a:endParaRPr>
          </a:p>
        </p:txBody>
      </p:sp>
      <p:sp>
        <p:nvSpPr>
          <p:cNvPr id="402" name="PlaceHolder 2"/>
          <p:cNvSpPr>
            <a:spLocks noGrp="1"/>
          </p:cNvSpPr>
          <p:nvPr>
            <p:ph type="sldNum" idx="4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8B8F0A9-0BB0-4D53-9243-53D4EABAAED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0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US-10</a:t>
            </a:r>
            <a:endParaRPr lang="fr-FR" sz="1100" b="0" u="none" strike="noStrike">
              <a:solidFill>
                <a:srgbClr val="FFFFFF"/>
              </a:solidFill>
              <a:effectLst/>
              <a:uFillTx/>
              <a:latin typeface="Arial"/>
            </a:endParaRPr>
          </a:p>
        </p:txBody>
      </p:sp>
      <p:sp>
        <p:nvSpPr>
          <p:cNvPr id="404"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05" name="Attendu"/>
          <p:cNvSpPr/>
          <p:nvPr/>
        </p:nvSpPr>
        <p:spPr>
          <a:xfrm>
            <a:off x="640080" y="1325880"/>
            <a:ext cx="10906200" cy="1282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06" name="Attendu barre"/>
          <p:cNvSpPr/>
          <p:nvPr/>
        </p:nvSpPr>
        <p:spPr>
          <a:xfrm>
            <a:off x="640080" y="1325880"/>
            <a:ext cx="79920" cy="1282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07" name="Icône target" descr="Icône target"/>
          <p:cNvPicPr/>
          <p:nvPr/>
        </p:nvPicPr>
        <p:blipFill>
          <a:blip r:embed="rId1"/>
          <a:stretch/>
        </p:blipFill>
        <p:spPr>
          <a:xfrm>
            <a:off x="896040" y="1435680"/>
            <a:ext cx="271800" cy="271800"/>
          </a:xfrm>
          <a:prstGeom prst="rect">
            <a:avLst/>
          </a:prstGeom>
          <a:noFill/>
          <a:ln w="0">
            <a:noFill/>
          </a:ln>
        </p:spPr>
      </p:pic>
      <p:sp>
        <p:nvSpPr>
          <p:cNvPr id="408"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09" name="TextBox 31"/>
          <p:cNvSpPr/>
          <p:nvPr/>
        </p:nvSpPr>
        <p:spPr>
          <a:xfrm>
            <a:off x="914400" y="1783080"/>
            <a:ext cx="10357560" cy="67860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RQ-001, 002, 003, 005, 009, 010 et 020</a:t>
            </a:r>
            <a:r>
              <a:rPr lang="fr-FR" sz="1300" b="0" u="none" strike="noStrike">
                <a:solidFill>
                  <a:srgbClr val="F7F6F2"/>
                </a:solidFill>
                <a:effectLst/>
                <a:uFillTx/>
                <a:latin typeface="Inter"/>
                <a:ea typeface="DejaVu Sans"/>
              </a:rPr>
              <a:t> : l'expectation porte son </a:t>
            </a:r>
            <a:r>
              <a:rPr lang="fr-FR" sz="1300" b="1" u="none" strike="noStrike">
                <a:solidFill>
                  <a:srgbClr val="F5A623"/>
                </a:solidFill>
                <a:effectLst/>
                <a:uFillTx/>
                <a:latin typeface="Inter"/>
                <a:ea typeface="DejaVu Sans"/>
              </a:rPr>
              <a:t>rule_id</a:t>
            </a:r>
            <a:r>
              <a:rPr lang="fr-FR" sz="1300" b="0" u="none" strike="noStrike">
                <a:solidFill>
                  <a:srgbClr val="F7F6F2"/>
                </a:solidFill>
                <a:effectLst/>
                <a:uFillTx/>
                <a:latin typeface="Inter"/>
                <a:ea typeface="DejaVu Sans"/>
              </a:rPr>
              <a:t>, avec lignes testées, échecs, taux et sévérité.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base et la table visées sont des </a:t>
            </a:r>
            <a:r>
              <a:rPr lang="fr-FR" sz="1300" b="1" u="none" strike="noStrike">
                <a:solidFill>
                  <a:srgbClr val="F5A623"/>
                </a:solidFill>
                <a:effectLst/>
                <a:uFillTx/>
                <a:latin typeface="Inter"/>
                <a:ea typeface="DejaVu Sans"/>
              </a:rPr>
              <a:t>paramètres</a:t>
            </a:r>
            <a:r>
              <a:rPr lang="fr-FR" sz="1300" b="0" u="none" strike="noStrike">
                <a:solidFill>
                  <a:srgbClr val="F7F6F2"/>
                </a:solidFill>
                <a:effectLst/>
                <a:uFillTx/>
                <a:latin typeface="Inter"/>
                <a:ea typeface="DejaVu Sans"/>
              </a:rPr>
              <a:t> : la suite se relance sur silver sans modification.</a:t>
            </a:r>
            <a:endParaRPr lang="fr-FR" sz="1300" b="0" u="none" strike="noStrike">
              <a:solidFill>
                <a:srgbClr val="FFFFFF"/>
              </a:solidFill>
              <a:effectLst/>
              <a:uFillTx/>
              <a:latin typeface="Arial"/>
            </a:endParaRPr>
          </a:p>
        </p:txBody>
      </p:sp>
      <p:graphicFrame>
        <p:nvGraphicFramePr>
          <p:cNvPr id="410" name="Table 32"/>
          <p:cNvGraphicFramePr/>
          <p:nvPr/>
        </p:nvGraphicFramePr>
        <p:xfrm>
          <a:off x="640080" y="2793960"/>
          <a:ext cx="10908360" cy="2926080"/>
        </p:xfrm>
        <a:graphic>
          <a:graphicData uri="http://schemas.openxmlformats.org/drawingml/2006/table">
            <a:tbl>
              <a:tblPr/>
              <a:tblGrid>
                <a:gridCol w="1005840"/>
                <a:gridCol w="2011680"/>
                <a:gridCol w="2926080"/>
                <a:gridCol w="1097280"/>
                <a:gridCol w="1188720"/>
                <a:gridCol w="1188720"/>
                <a:gridCol w="149040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Règle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Table 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Expectation (type)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Testées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En échec</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Taux</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Sévérité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Coherence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800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metier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301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RQ-003</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Completude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49 898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5989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88%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Avertissement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format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95 137</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1546</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98,4%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Avertissement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RQ-009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Crm_Client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domaine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200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RQ-010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Crm_contrat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Validite domaine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600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99,4%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RQ-020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Toutes les tables</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Unicite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340 000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100%</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Bloquante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11" name="TextBox 33"/>
          <p:cNvSpPr/>
          <p:nvPr/>
        </p:nvSpPr>
        <p:spPr>
          <a:xfrm>
            <a:off x="640080" y="581148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Sévérité : bloquante ou avertissement. Chemin des suites de validation : voir le dépôt, reports/ge/gx/expectations.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Pièges rencontrés et lignes en échec</a:t>
            </a:r>
            <a:endParaRPr lang="fr-FR" sz="2800" b="0" u="none" strike="noStrike">
              <a:solidFill>
                <a:srgbClr val="FFFFFF"/>
              </a:solidFill>
              <a:effectLst/>
              <a:uFillTx/>
              <a:latin typeface="Arial"/>
            </a:endParaRPr>
          </a:p>
        </p:txBody>
      </p:sp>
      <p:sp>
        <p:nvSpPr>
          <p:cNvPr id="413" name="PlaceHolder 2"/>
          <p:cNvSpPr>
            <a:spLocks noGrp="1"/>
          </p:cNvSpPr>
          <p:nvPr>
            <p:ph type="sldNum" idx="4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3ACD042-27EC-46D3-A46F-1E1DC33FFD8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14"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US-10, 11</a:t>
            </a:r>
            <a:endParaRPr lang="fr-FR" sz="1100" b="0" u="none" strike="noStrike">
              <a:solidFill>
                <a:srgbClr val="FFFFFF"/>
              </a:solidFill>
              <a:effectLst/>
              <a:uFillTx/>
              <a:latin typeface="Arial"/>
            </a:endParaRPr>
          </a:p>
        </p:txBody>
      </p:sp>
      <p:sp>
        <p:nvSpPr>
          <p:cNvPr id="415"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16" name="Attendu"/>
          <p:cNvSpPr/>
          <p:nvPr/>
        </p:nvSpPr>
        <p:spPr>
          <a:xfrm>
            <a:off x="640080" y="1325880"/>
            <a:ext cx="10906200" cy="1282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17" name="Attendu barre"/>
          <p:cNvSpPr/>
          <p:nvPr/>
        </p:nvSpPr>
        <p:spPr>
          <a:xfrm>
            <a:off x="640080" y="1325880"/>
            <a:ext cx="79920" cy="1282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18" name="Icône target" descr="Icône target"/>
          <p:cNvPicPr/>
          <p:nvPr/>
        </p:nvPicPr>
        <p:blipFill>
          <a:blip r:embed="rId1"/>
          <a:stretch/>
        </p:blipFill>
        <p:spPr>
          <a:xfrm>
            <a:off x="896040" y="1435680"/>
            <a:ext cx="271800" cy="271800"/>
          </a:xfrm>
          <a:prstGeom prst="rect">
            <a:avLst/>
          </a:prstGeom>
          <a:noFill/>
          <a:ln w="0">
            <a:noFill/>
          </a:ln>
        </p:spPr>
      </p:pic>
      <p:sp>
        <p:nvSpPr>
          <p:cNvPr id="419"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20"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pièges</a:t>
            </a:r>
            <a:r>
              <a:rPr lang="fr-FR" sz="1300" b="0" u="none" strike="noStrike">
                <a:solidFill>
                  <a:srgbClr val="F7F6F2"/>
                </a:solidFill>
                <a:effectLst/>
                <a:uFillTx/>
                <a:latin typeface="Inter"/>
                <a:ea typeface="DejaVu Sans"/>
              </a:rPr>
              <a:t> (nul, vide, blanc ; adresses étrangères ; comparaisons exactes) avec le chiffre </a:t>
            </a:r>
            <a:r>
              <a:rPr lang="fr-FR" sz="1300" b="1" u="none" strike="noStrike">
                <a:solidFill>
                  <a:srgbClr val="F5A623"/>
                </a:solidFill>
                <a:effectLst/>
                <a:uFillTx/>
                <a:latin typeface="Inter"/>
                <a:ea typeface="DejaVu Sans"/>
              </a:rPr>
              <a:t>avant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après</a:t>
            </a:r>
            <a:r>
              <a:rPr lang="fr-FR" sz="1300" b="0" u="none" strike="noStrike">
                <a:solidFill>
                  <a:srgbClr val="F7F6F2"/>
                </a:solidFill>
                <a:effectLst/>
                <a:uFillTx/>
                <a:latin typeface="Inter"/>
                <a:ea typeface="DejaVu Sans"/>
              </a:rPr>
              <a:t> correction.</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 </a:t>
            </a:r>
            <a:r>
              <a:rPr lang="fr-FR" sz="1300" b="1" u="none" strike="noStrike">
                <a:solidFill>
                  <a:srgbClr val="F5A623"/>
                </a:solidFill>
                <a:effectLst/>
                <a:uFillTx/>
                <a:latin typeface="Inter"/>
                <a:ea typeface="DejaVu Sans"/>
              </a:rPr>
              <a:t>échantillon commenté de 20 lignes</a:t>
            </a:r>
            <a:r>
              <a:rPr lang="fr-FR" sz="1300" b="0" u="none" strike="noStrike">
                <a:solidFill>
                  <a:srgbClr val="F7F6F2"/>
                </a:solidFill>
                <a:effectLst/>
                <a:uFillTx/>
                <a:latin typeface="Inter"/>
                <a:ea typeface="DejaVu Sans"/>
              </a:rPr>
              <a:t> en échec : famille d'erreur, cause probable, action proposée.</a:t>
            </a:r>
            <a:endParaRPr lang="fr-FR" sz="1300" b="0" u="none" strike="noStrike">
              <a:solidFill>
                <a:srgbClr val="FFFFFF"/>
              </a:solidFill>
              <a:effectLst/>
              <a:uFillTx/>
              <a:latin typeface="Arial"/>
            </a:endParaRPr>
          </a:p>
        </p:txBody>
      </p:sp>
      <p:graphicFrame>
        <p:nvGraphicFramePr>
          <p:cNvPr id="421" name="Table 32"/>
          <p:cNvGraphicFramePr/>
          <p:nvPr/>
        </p:nvGraphicFramePr>
        <p:xfrm>
          <a:off x="640080" y="2748240"/>
          <a:ext cx="10908360" cy="1042200"/>
        </p:xfrm>
        <a:graphic>
          <a:graphicData uri="http://schemas.openxmlformats.org/drawingml/2006/table">
            <a:tbl>
              <a:tblPr/>
              <a:tblGrid>
                <a:gridCol w="1097280"/>
                <a:gridCol w="3840480"/>
                <a:gridCol w="1737360"/>
                <a:gridCol w="1737360"/>
                <a:gridCol w="24962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Piège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Avant correction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Après correction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Preuve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Code postale &lt; 5 chiffres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1500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01500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22" name="Table 33"/>
          <p:cNvGraphicFramePr/>
          <p:nvPr/>
        </p:nvGraphicFramePr>
        <p:xfrm>
          <a:off x="640080" y="3927600"/>
          <a:ext cx="10908360" cy="1579680"/>
        </p:xfrm>
        <a:graphic>
          <a:graphicData uri="http://schemas.openxmlformats.org/drawingml/2006/table">
            <a:tbl>
              <a:tblPr/>
              <a:tblGrid>
                <a:gridCol w="1097280"/>
                <a:gridCol w="2926080"/>
                <a:gridCol w="1463040"/>
                <a:gridCol w="2926080"/>
                <a:gridCol w="24962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Famille d'erreur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(sur 20)</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Cause probable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Action proposée (à qui ?)</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Type personne hors domaine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Valeur non normalise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Formalisation, Data Engineer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Date de fin identique au debut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Mauvaise saisie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Suppression des infos incoherents,Data Engineer</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Telephones null vide ou blanc</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20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Non reinsegne dans le crm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Completer les informations, Relation Client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23" name="TextBox 34"/>
          <p:cNvSpPr/>
          <p:nvPr/>
        </p:nvSpPr>
        <p:spPr>
          <a:xfrm>
            <a:off x="640080" y="540900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Chemins : export complet des lignes en échec ; échantillon commenté de 20 lignes.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Âge à la bonne date et mesure de référence sur bronze</a:t>
            </a:r>
            <a:endParaRPr lang="fr-FR" sz="2800" b="0" u="none" strike="noStrike">
              <a:solidFill>
                <a:srgbClr val="FFFFFF"/>
              </a:solidFill>
              <a:effectLst/>
              <a:uFillTx/>
              <a:latin typeface="Arial"/>
            </a:endParaRPr>
          </a:p>
        </p:txBody>
      </p:sp>
      <p:sp>
        <p:nvSpPr>
          <p:cNvPr id="425" name="PlaceHolder 2"/>
          <p:cNvSpPr>
            <a:spLocks noGrp="1"/>
          </p:cNvSpPr>
          <p:nvPr>
            <p:ph type="sldNum" idx="4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E05D3A0F-2635-4BDA-B745-7773E47A770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26"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US-13, 15</a:t>
            </a:r>
            <a:endParaRPr lang="fr-FR" sz="1100" b="0" u="none" strike="noStrike">
              <a:solidFill>
                <a:srgbClr val="FFFFFF"/>
              </a:solidFill>
              <a:effectLst/>
              <a:uFillTx/>
              <a:latin typeface="Arial"/>
            </a:endParaRPr>
          </a:p>
        </p:txBody>
      </p:sp>
      <p:sp>
        <p:nvSpPr>
          <p:cNvPr id="427"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28"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29"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30" name="Icône target" descr="Icône target"/>
          <p:cNvPicPr/>
          <p:nvPr/>
        </p:nvPicPr>
        <p:blipFill>
          <a:blip r:embed="rId1"/>
          <a:stretch/>
        </p:blipFill>
        <p:spPr>
          <a:xfrm>
            <a:off x="896040" y="1435680"/>
            <a:ext cx="271800" cy="271800"/>
          </a:xfrm>
          <a:prstGeom prst="rect">
            <a:avLst/>
          </a:prstGeom>
          <a:noFill/>
          <a:ln w="0">
            <a:noFill/>
          </a:ln>
        </p:spPr>
      </p:pic>
      <p:sp>
        <p:nvSpPr>
          <p:cNvPr id="431"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32" name="TextBox 31"/>
          <p:cNvSpPr/>
          <p:nvPr/>
        </p:nvSpPr>
        <p:spPr>
          <a:xfrm>
            <a:off x="914400" y="1783080"/>
            <a:ext cx="10357560" cy="7185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RQ-002</a:t>
            </a:r>
            <a:r>
              <a:rPr lang="fr-FR" sz="1300" b="0" u="none" strike="noStrike">
                <a:solidFill>
                  <a:srgbClr val="F7F6F2"/>
                </a:solidFill>
                <a:effectLst/>
                <a:uFillTx/>
                <a:latin typeface="Inter"/>
                <a:ea typeface="DejaVu Sans"/>
              </a:rPr>
              <a:t> documentée avec sa </a:t>
            </a:r>
            <a:r>
              <a:rPr lang="fr-FR" sz="1300" b="1" u="none" strike="noStrike">
                <a:solidFill>
                  <a:srgbClr val="F5A623"/>
                </a:solidFill>
                <a:effectLst/>
                <a:uFillTx/>
                <a:latin typeface="Inter"/>
                <a:ea typeface="DejaVu Sans"/>
              </a:rPr>
              <a:t>date de référence</a:t>
            </a:r>
            <a:r>
              <a:rPr lang="fr-FR" sz="1300" b="0" u="none" strike="noStrike">
                <a:solidFill>
                  <a:srgbClr val="F7F6F2"/>
                </a:solidFill>
                <a:effectLst/>
                <a:uFillTx/>
                <a:latin typeface="Inter"/>
                <a:ea typeface="DejaVu Sans"/>
              </a:rPr>
              <a:t>, et un cas où « à la date du jour » donne un autre résultat.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mesure de référence</a:t>
            </a:r>
            <a:r>
              <a:rPr lang="fr-FR" sz="1300" b="0" u="none" strike="noStrike">
                <a:solidFill>
                  <a:srgbClr val="F7F6F2"/>
                </a:solidFill>
                <a:effectLst/>
                <a:uFillTx/>
                <a:latin typeface="Inter"/>
                <a:ea typeface="DejaVu Sans"/>
              </a:rPr>
              <a:t> écrite dans dq.dq_history (couche BRONZE), avec la synthèse </a:t>
            </a:r>
            <a:r>
              <a:rPr lang="fr-FR" sz="1300" b="1" u="none" strike="noStrike">
                <a:solidFill>
                  <a:srgbClr val="F5A623"/>
                </a:solidFill>
                <a:effectLst/>
                <a:uFillTx/>
                <a:latin typeface="Inter"/>
                <a:ea typeface="DejaVu Sans"/>
              </a:rPr>
              <a:t>par dimension</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phrase de synthèse</a:t>
            </a:r>
            <a:r>
              <a:rPr lang="fr-FR" sz="1300" b="0" u="none" strike="noStrike">
                <a:solidFill>
                  <a:srgbClr val="F7F6F2"/>
                </a:solidFill>
                <a:effectLst/>
                <a:uFillTx/>
                <a:latin typeface="Inter"/>
                <a:ea typeface="DejaVu Sans"/>
              </a:rPr>
              <a:t> chiffrée : « voici la qualité de ce qui nous est livré ».</a:t>
            </a:r>
            <a:endParaRPr lang="fr-FR" sz="1300" b="0" u="none" strike="noStrike">
              <a:solidFill>
                <a:srgbClr val="FFFFFF"/>
              </a:solidFill>
              <a:effectLst/>
              <a:uFillTx/>
              <a:latin typeface="Arial"/>
            </a:endParaRPr>
          </a:p>
        </p:txBody>
      </p:sp>
      <p:graphicFrame>
        <p:nvGraphicFramePr>
          <p:cNvPr id="433" name="Table 32"/>
          <p:cNvGraphicFramePr/>
          <p:nvPr/>
        </p:nvGraphicFramePr>
        <p:xfrm>
          <a:off x="640080" y="2786040"/>
          <a:ext cx="10908360" cy="905040"/>
        </p:xfrm>
        <a:graphic>
          <a:graphicData uri="http://schemas.openxmlformats.org/drawingml/2006/table">
            <a:tbl>
              <a:tblPr/>
              <a:tblGrid>
                <a:gridCol w="2743200"/>
                <a:gridCol w="3840480"/>
                <a:gridCol w="1828800"/>
                <a:gridCol w="249624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Date de référence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Définition de l'âge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Lignes en échec</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Preuve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Date de début du 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Age &lt;= 18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301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Date du jour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Age &lt;=18 a la date de reference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157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34" name="Table 33"/>
          <p:cNvGraphicFramePr/>
          <p:nvPr/>
        </p:nvGraphicFramePr>
        <p:xfrm>
          <a:off x="640080" y="3801240"/>
          <a:ext cx="10908360" cy="1634040"/>
        </p:xfrm>
        <a:graphic>
          <a:graphicData uri="http://schemas.openxmlformats.org/drawingml/2006/table">
            <a:tbl>
              <a:tblPr/>
              <a:tblGrid>
                <a:gridCol w="1828800"/>
                <a:gridCol w="2194560"/>
                <a:gridCol w="1554480"/>
                <a:gridCol w="2377440"/>
                <a:gridCol w="295344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Dimension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Taux moyen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 la plus faible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Constat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Unicité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RQ-019/020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Aucune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Les clients sont bien unique, les cles aussi</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Complétude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RQ-003/024/021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88%</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RQ-003</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Manque de numeros de telephone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Validité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RQ-002 /004/005/007/008/009/010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99,7%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Code pays mal saisi</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Cohérence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RQ-001/018/015/016/017</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99,2%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RQ-001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Date de fin mal reinsegne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35" name="TextBox 34"/>
          <p:cNvSpPr/>
          <p:nvPr/>
        </p:nvSpPr>
        <p:spPr>
          <a:xfrm>
            <a:off x="640080" y="545688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PHRASE DE SYNTHÈSE</a:t>
            </a:r>
            <a:endParaRPr lang="fr-FR" sz="1100" b="0" u="none" strike="noStrike">
              <a:solidFill>
                <a:srgbClr val="FFFFFF"/>
              </a:solidFill>
              <a:effectLst/>
              <a:uFillTx/>
              <a:latin typeface="Arial"/>
            </a:endParaRPr>
          </a:p>
        </p:txBody>
      </p:sp>
      <p:sp>
        <p:nvSpPr>
          <p:cNvPr id="436" name="Zone à rédiger"/>
          <p:cNvSpPr/>
          <p:nvPr/>
        </p:nvSpPr>
        <p:spPr>
          <a:xfrm>
            <a:off x="640080" y="5712120"/>
            <a:ext cx="10906200" cy="411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marL="182880" indent="-182880">
              <a:lnSpc>
                <a:spcPct val="108000"/>
              </a:lnSpc>
              <a:spcAft>
                <a:spcPts val="300"/>
              </a:spcAft>
              <a:buClr>
                <a:srgbClr val="F5A623"/>
              </a:buClr>
              <a:buFont typeface="Symbol"/>
              <a:buChar char=""/>
            </a:pPr>
            <a:r>
              <a:rPr lang="fr-FR" sz="1100" b="0" u="none" strike="noStrike">
                <a:solidFill>
                  <a:srgbClr val="F7F6F2"/>
                </a:solidFill>
                <a:effectLst/>
                <a:uFillTx/>
                <a:latin typeface="Inter"/>
                <a:ea typeface="DejaVu Sans"/>
              </a:rPr>
              <a:t>Voici la qualité de ce qui nous est livré : La qualite des donnees est proche de 100 % mais il manque une partie des donnees des clients (88 % de taux de completude), un conseil est celui de remplir de maniere complete les fiches clients</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7"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S2 : critères de fin et difficultés</a:t>
            </a:r>
            <a:endParaRPr lang="fr-FR" sz="2800" b="0" u="none" strike="noStrike">
              <a:solidFill>
                <a:srgbClr val="FFFFFF"/>
              </a:solidFill>
              <a:effectLst/>
              <a:uFillTx/>
              <a:latin typeface="Arial"/>
            </a:endParaRPr>
          </a:p>
        </p:txBody>
      </p:sp>
      <p:sp>
        <p:nvSpPr>
          <p:cNvPr id="438" name="PlaceHolder 2"/>
          <p:cNvSpPr>
            <a:spLocks noGrp="1"/>
          </p:cNvSpPr>
          <p:nvPr>
            <p:ph type="sldNum" idx="4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664324B-45C0-41B9-A040-F01AF71C962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39"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S2 · BILAN</a:t>
            </a:r>
            <a:endParaRPr lang="fr-FR" sz="1100" b="0" u="none" strike="noStrike">
              <a:solidFill>
                <a:srgbClr val="FFFFFF"/>
              </a:solidFill>
              <a:effectLst/>
              <a:uFillTx/>
              <a:latin typeface="Arial"/>
            </a:endParaRPr>
          </a:p>
        </p:txBody>
      </p:sp>
      <p:sp>
        <p:nvSpPr>
          <p:cNvPr id="440"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41"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42"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43" name="Icône target" descr="Icône target"/>
          <p:cNvPicPr/>
          <p:nvPr/>
        </p:nvPicPr>
        <p:blipFill>
          <a:blip r:embed="rId1"/>
          <a:stretch/>
        </p:blipFill>
        <p:spPr>
          <a:xfrm>
            <a:off x="896040" y="1435680"/>
            <a:ext cx="271800" cy="271800"/>
          </a:xfrm>
          <a:prstGeom prst="rect">
            <a:avLst/>
          </a:prstGeom>
          <a:noFill/>
          <a:ln w="0">
            <a:noFill/>
          </a:ln>
        </p:spPr>
      </p:pic>
      <p:sp>
        <p:nvSpPr>
          <p:cNvPr id="444"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45"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446" name="Rectangle 32"/>
          <p:cNvSpPr/>
          <p:nvPr/>
        </p:nvSpPr>
        <p:spPr>
          <a:xfrm>
            <a:off x="640080" y="2579760"/>
            <a:ext cx="511812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447" name="Icône ok" descr="Icône ok"/>
          <p:cNvPicPr/>
          <p:nvPr/>
        </p:nvPicPr>
        <p:blipFill>
          <a:blip r:embed="rId2"/>
          <a:stretch/>
        </p:blipFill>
        <p:spPr>
          <a:xfrm>
            <a:off x="868680" y="2735280"/>
            <a:ext cx="308520" cy="308520"/>
          </a:xfrm>
          <a:prstGeom prst="rect">
            <a:avLst/>
          </a:prstGeom>
          <a:noFill/>
          <a:ln w="0">
            <a:noFill/>
          </a:ln>
        </p:spPr>
      </p:pic>
      <p:sp>
        <p:nvSpPr>
          <p:cNvPr id="448" name="TextBox 34"/>
          <p:cNvSpPr/>
          <p:nvPr/>
        </p:nvSpPr>
        <p:spPr>
          <a:xfrm>
            <a:off x="1289160" y="2783160"/>
            <a:ext cx="456948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449" name="TextBox 35"/>
          <p:cNvSpPr/>
          <p:nvPr/>
        </p:nvSpPr>
        <p:spPr>
          <a:xfrm>
            <a:off x="868680" y="3219840"/>
            <a:ext cx="4660920" cy="170532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expectation porte l'identifiant de sa règle.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même suite se relance sur une autre base ou table sans modification de code.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mesure de référence est dans dq.dq_history (lot, couche, testées, échecs).</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règles s'exécutent d'un seul geste (notebook relançable de bout en bout).</a:t>
            </a:r>
            <a:endParaRPr lang="fr-FR" sz="1250" b="0" u="none" strike="noStrike">
              <a:solidFill>
                <a:srgbClr val="FFFFFF"/>
              </a:solidFill>
              <a:effectLst/>
              <a:uFillTx/>
              <a:latin typeface="Arial"/>
            </a:endParaRPr>
          </a:p>
        </p:txBody>
      </p:sp>
      <p:sp>
        <p:nvSpPr>
          <p:cNvPr id="450" name="TextBox 36"/>
          <p:cNvSpPr/>
          <p:nvPr/>
        </p:nvSpPr>
        <p:spPr>
          <a:xfrm>
            <a:off x="640080" y="5852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451" name="TextBox 37"/>
          <p:cNvSpPr/>
          <p:nvPr/>
        </p:nvSpPr>
        <p:spPr>
          <a:xfrm>
            <a:off x="5943600" y="26168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452" name="Zone à rédiger"/>
          <p:cNvSpPr/>
          <p:nvPr/>
        </p:nvSpPr>
        <p:spPr>
          <a:xfrm>
            <a:off x="5943600" y="2872440"/>
            <a:ext cx="5602680" cy="1167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Lors du S2 il y’a eu une mauvaise comprehension des directives  donnees.</a:t>
            </a:r>
            <a:endParaRPr lang="fr-FR" sz="1200" b="0" u="none" strike="noStrike">
              <a:solidFill>
                <a:srgbClr val="FFFFFF"/>
              </a:solidFill>
              <a:effectLst/>
              <a:uFillTx/>
              <a:latin typeface="Arial"/>
            </a:endParaRPr>
          </a:p>
          <a:p>
            <a:pPr>
              <a:lnSpc>
                <a:spcPct val="100000"/>
              </a:lnSpc>
            </a:pPr>
            <a:r>
              <a:rPr lang="fr-FR" sz="1200" b="0" i="1" u="none" strike="noStrike">
                <a:solidFill>
                  <a:srgbClr val="8E99A4"/>
                </a:solidFill>
                <a:effectLst/>
                <a:uFillTx/>
                <a:latin typeface="Inter"/>
                <a:ea typeface="DejaVu Sans"/>
              </a:rPr>
              <a:t>Avec plusieurs formulaires les informations sont confussionelles et se dispersent. </a:t>
            </a:r>
            <a:endParaRPr lang="fr-FR" sz="1200" b="0" u="none" strike="noStrike">
              <a:solidFill>
                <a:srgbClr val="FFFFFF"/>
              </a:solidFill>
              <a:effectLst/>
              <a:uFillTx/>
              <a:latin typeface="Arial"/>
            </a:endParaRPr>
          </a:p>
        </p:txBody>
      </p:sp>
      <p:sp>
        <p:nvSpPr>
          <p:cNvPr id="453" name="TextBox 39"/>
          <p:cNvSpPr/>
          <p:nvPr/>
        </p:nvSpPr>
        <p:spPr>
          <a:xfrm>
            <a:off x="5943600" y="42170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454" name="Zone à rédiger"/>
          <p:cNvSpPr/>
          <p:nvPr/>
        </p:nvSpPr>
        <p:spPr>
          <a:xfrm>
            <a:off x="5943600" y="4472640"/>
            <a:ext cx="5602680" cy="619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Non</a:t>
            </a:r>
            <a:endParaRPr lang="fr-FR" sz="1200" b="0" u="none" strike="noStrike">
              <a:solidFill>
                <a:srgbClr val="FFFFFF"/>
              </a:solidFill>
              <a:effectLst/>
              <a:uFillTx/>
              <a:latin typeface="Arial"/>
            </a:endParaRPr>
          </a:p>
        </p:txBody>
      </p:sp>
      <p:sp>
        <p:nvSpPr>
          <p:cNvPr id="455" name="TextBox 41"/>
          <p:cNvSpPr/>
          <p:nvPr/>
        </p:nvSpPr>
        <p:spPr>
          <a:xfrm>
            <a:off x="5943600" y="526860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456" name="Zone à rédiger"/>
          <p:cNvSpPr/>
          <p:nvPr/>
        </p:nvSpPr>
        <p:spPr>
          <a:xfrm>
            <a:off x="5943600" y="5524200"/>
            <a:ext cx="5602680" cy="599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Essayer prendre du temps pour analyser les resultats de maniere individuelle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03</a:t>
            </a:r>
            <a:endParaRPr lang="fr-FR" sz="7200" b="0" u="none" strike="noStrike">
              <a:solidFill>
                <a:srgbClr val="FFFFFF"/>
              </a:solidFill>
              <a:effectLst/>
              <a:uFillTx/>
              <a:latin typeface="Arial"/>
            </a:endParaRPr>
          </a:p>
        </p:txBody>
      </p:sp>
      <p:sp>
        <p:nvSpPr>
          <p:cNvPr id="458"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Intégrité et portes en SodaCL</a:t>
            </a:r>
            <a:endParaRPr lang="fr-FR" sz="4200" b="0" u="none" strike="noStrike">
              <a:solidFill>
                <a:srgbClr val="FFFFFF"/>
              </a:solidFill>
              <a:effectLst/>
              <a:uFillTx/>
              <a:latin typeface="Arial"/>
            </a:endParaRPr>
          </a:p>
        </p:txBody>
      </p:sp>
      <p:sp>
        <p:nvSpPr>
          <p:cNvPr id="459" name="PlaceHolder 3"/>
          <p:cNvSpPr>
            <a:spLocks noGrp="1"/>
          </p:cNvSpPr>
          <p:nvPr>
            <p:ph type="sldNum" idx="4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F57DE65E-6C44-426E-A10C-4682BB07F2DA}"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60" name="TextBox 25"/>
          <p:cNvSpPr/>
          <p:nvPr/>
        </p:nvSpPr>
        <p:spPr>
          <a:xfrm>
            <a:off x="640080" y="4892040"/>
            <a:ext cx="6398280" cy="83808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3 · Soda Core · US-12, 14, 16 à 20. Mêmes contrôles en SodaCL, code retour qui peut fermer une porte, intégrité entre tables.</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Checks Soda : une source de données par couche</a:t>
            </a:r>
            <a:endParaRPr lang="fr-FR" sz="2800" b="0" u="none" strike="noStrike">
              <a:solidFill>
                <a:srgbClr val="FFFFFF"/>
              </a:solidFill>
              <a:effectLst/>
              <a:uFillTx/>
              <a:latin typeface="Arial"/>
            </a:endParaRPr>
          </a:p>
        </p:txBody>
      </p:sp>
      <p:sp>
        <p:nvSpPr>
          <p:cNvPr id="462" name="PlaceHolder 2"/>
          <p:cNvSpPr>
            <a:spLocks noGrp="1"/>
          </p:cNvSpPr>
          <p:nvPr>
            <p:ph type="sldNum" idx="4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AC7DCC18-F57A-4221-AC74-932B97EA707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6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US-12</a:t>
            </a:r>
            <a:endParaRPr lang="fr-FR" sz="1100" b="0" u="none" strike="noStrike">
              <a:solidFill>
                <a:srgbClr val="FFFFFF"/>
              </a:solidFill>
              <a:effectLst/>
              <a:uFillTx/>
              <a:latin typeface="Arial"/>
            </a:endParaRPr>
          </a:p>
        </p:txBody>
      </p:sp>
      <p:sp>
        <p:nvSpPr>
          <p:cNvPr id="464"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65"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66"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67" name="Icône target" descr="Icône target"/>
          <p:cNvPicPr/>
          <p:nvPr/>
        </p:nvPicPr>
        <p:blipFill>
          <a:blip r:embed="rId1"/>
          <a:stretch/>
        </p:blipFill>
        <p:spPr>
          <a:xfrm>
            <a:off x="896040" y="1435680"/>
            <a:ext cx="271800" cy="271800"/>
          </a:xfrm>
          <a:prstGeom prst="rect">
            <a:avLst/>
          </a:prstGeom>
          <a:noFill/>
          <a:ln w="0">
            <a:noFill/>
          </a:ln>
        </p:spPr>
      </p:pic>
      <p:sp>
        <p:nvSpPr>
          <p:cNvPr id="468"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69"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contrôle porte l'identifiant de sa </a:t>
            </a:r>
            <a:r>
              <a:rPr lang="fr-FR" sz="1300" b="1" u="none" strike="noStrike">
                <a:solidFill>
                  <a:srgbClr val="F5A623"/>
                </a:solidFill>
                <a:effectLst/>
                <a:uFillTx/>
                <a:latin typeface="Inter"/>
                <a:ea typeface="DejaVu Sans"/>
              </a:rPr>
              <a:t>règle</a:t>
            </a:r>
            <a:r>
              <a:rPr lang="fr-FR" sz="1300" b="0" u="none" strike="noStrike">
                <a:solidFill>
                  <a:srgbClr val="F7F6F2"/>
                </a:solidFill>
                <a:effectLst/>
                <a:uFillTx/>
                <a:latin typeface="Inter"/>
                <a:ea typeface="DejaVu Sans"/>
              </a:rPr>
              <a:t> et la </a:t>
            </a:r>
            <a:r>
              <a:rPr lang="fr-FR" sz="1300" b="1" u="none" strike="noStrike">
                <a:solidFill>
                  <a:srgbClr val="F5A623"/>
                </a:solidFill>
                <a:effectLst/>
                <a:uFillTx/>
                <a:latin typeface="Inter"/>
                <a:ea typeface="DejaVu Sans"/>
              </a:rPr>
              <a:t>couche</a:t>
            </a:r>
            <a:r>
              <a:rPr lang="fr-FR" sz="1300" b="0" u="none" strike="noStrike">
                <a:solidFill>
                  <a:srgbClr val="F7F6F2"/>
                </a:solidFill>
                <a:effectLst/>
                <a:uFillTx/>
                <a:latin typeface="Inter"/>
                <a:ea typeface="DejaVu Sans"/>
              </a:rPr>
              <a:t> mesurée.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code retour</a:t>
            </a:r>
            <a:r>
              <a:rPr lang="fr-FR" sz="1300" b="0" u="none" strike="noStrike">
                <a:solidFill>
                  <a:srgbClr val="F7F6F2"/>
                </a:solidFill>
                <a:effectLst/>
                <a:uFillTx/>
                <a:latin typeface="Inter"/>
                <a:ea typeface="DejaVu Sans"/>
              </a:rPr>
              <a:t> du scan : à quelle condition devient-il non nul ? Distinguez </a:t>
            </a:r>
            <a:r>
              <a:rPr lang="fr-FR" sz="1300" b="1" u="none" strike="noStrike">
                <a:solidFill>
                  <a:srgbClr val="F5A623"/>
                </a:solidFill>
                <a:effectLst/>
                <a:uFillTx/>
                <a:latin typeface="Inter"/>
                <a:ea typeface="DejaVu Sans"/>
              </a:rPr>
              <a:t>avertissement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échec</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70" name="Table 32"/>
          <p:cNvGraphicFramePr/>
          <p:nvPr/>
        </p:nvGraphicFramePr>
        <p:xfrm>
          <a:off x="640080" y="2534040"/>
          <a:ext cx="10908360" cy="2148480"/>
        </p:xfrm>
        <a:graphic>
          <a:graphicData uri="http://schemas.openxmlformats.org/drawingml/2006/table">
            <a:tbl>
              <a:tblPr/>
              <a:tblGrid>
                <a:gridCol w="1005840"/>
                <a:gridCol w="2743200"/>
                <a:gridCol w="1280160"/>
                <a:gridCol w="2743200"/>
                <a:gridCol w="1280160"/>
                <a:gridCol w="1856160"/>
              </a:tblGrid>
              <a:tr h="41148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Fichier de checks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Couche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Résultat (PASSED, WARN, FAILED)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Valeur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Code retour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client_checks.yml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FAILED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5989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Avertisemment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client_checks.yml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FAILED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1456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Avertisemment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RQ-001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contrat_checks.yml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FAILED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800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Echec</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RQ-010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contrat_checks.yml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FAILED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600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Echec</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RQ-016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integrite_checks.yml</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WARN</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955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Avertisemment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71" name="TextBox 33"/>
          <p:cNvSpPr/>
          <p:nvPr/>
        </p:nvSpPr>
        <p:spPr>
          <a:xfrm>
            <a:off x="640080" y="47930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CODE RETOUR ET AVERTISSEMENTS</a:t>
            </a:r>
            <a:endParaRPr lang="fr-FR" sz="1100" b="0" u="none" strike="noStrike">
              <a:solidFill>
                <a:srgbClr val="FFFFFF"/>
              </a:solidFill>
              <a:effectLst/>
              <a:uFillTx/>
              <a:latin typeface="Arial"/>
            </a:endParaRPr>
          </a:p>
        </p:txBody>
      </p:sp>
      <p:sp>
        <p:nvSpPr>
          <p:cNvPr id="472" name="Zone à rédiger"/>
          <p:cNvSpPr/>
          <p:nvPr/>
        </p:nvSpPr>
        <p:spPr>
          <a:xfrm>
            <a:off x="640080" y="5048640"/>
            <a:ext cx="5346720" cy="1075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On a beaucoup d’echec bloquants qui ne permettent pas de passer directement a la phase finale</a:t>
            </a:r>
            <a:endParaRPr lang="fr-FR" sz="1200" b="0" u="none" strike="noStrike">
              <a:solidFill>
                <a:srgbClr val="FFFFFF"/>
              </a:solidFill>
              <a:effectLst/>
              <a:uFillTx/>
              <a:latin typeface="Arial"/>
            </a:endParaRPr>
          </a:p>
        </p:txBody>
      </p:sp>
      <p:sp>
        <p:nvSpPr>
          <p:cNvPr id="473" name="TextBox 35"/>
          <p:cNvSpPr/>
          <p:nvPr/>
        </p:nvSpPr>
        <p:spPr>
          <a:xfrm>
            <a:off x="6199560" y="47930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COHÉRENCE AVEC GREAT EXPECTATIONS (S2)</a:t>
            </a:r>
            <a:endParaRPr lang="fr-FR" sz="1100" b="0" u="none" strike="noStrike">
              <a:solidFill>
                <a:srgbClr val="FFFFFF"/>
              </a:solidFill>
              <a:effectLst/>
              <a:uFillTx/>
              <a:latin typeface="Arial"/>
            </a:endParaRPr>
          </a:p>
        </p:txBody>
      </p:sp>
      <p:sp>
        <p:nvSpPr>
          <p:cNvPr id="474" name="Zone à rédiger"/>
          <p:cNvSpPr/>
          <p:nvPr/>
        </p:nvSpPr>
        <p:spPr>
          <a:xfrm>
            <a:off x="6199560" y="5048640"/>
            <a:ext cx="5346720" cy="1075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On a pas des ecarts importants voir presque egal aux great expectations</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5"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d'intégrité et valeur sentinelle</a:t>
            </a:r>
            <a:endParaRPr lang="fr-FR" sz="2800" b="0" u="none" strike="noStrike">
              <a:solidFill>
                <a:srgbClr val="FFFFFF"/>
              </a:solidFill>
              <a:effectLst/>
              <a:uFillTx/>
              <a:latin typeface="Arial"/>
            </a:endParaRPr>
          </a:p>
        </p:txBody>
      </p:sp>
      <p:sp>
        <p:nvSpPr>
          <p:cNvPr id="476" name="PlaceHolder 2"/>
          <p:cNvSpPr>
            <a:spLocks noGrp="1"/>
          </p:cNvSpPr>
          <p:nvPr>
            <p:ph type="sldNum" idx="4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E0148D6-7A9A-414A-80A0-6BF10726639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77"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US-16, 17</a:t>
            </a:r>
            <a:endParaRPr lang="fr-FR" sz="1100" b="0" u="none" strike="noStrike">
              <a:solidFill>
                <a:srgbClr val="FFFFFF"/>
              </a:solidFill>
              <a:effectLst/>
              <a:uFillTx/>
              <a:latin typeface="Arial"/>
            </a:endParaRPr>
          </a:p>
        </p:txBody>
      </p:sp>
      <p:sp>
        <p:nvSpPr>
          <p:cNvPr id="478"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79"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80"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81" name="Icône target" descr="Icône target"/>
          <p:cNvPicPr/>
          <p:nvPr/>
        </p:nvPicPr>
        <p:blipFill>
          <a:blip r:embed="rId1"/>
          <a:stretch/>
        </p:blipFill>
        <p:spPr>
          <a:xfrm>
            <a:off x="896040" y="1435680"/>
            <a:ext cx="271800" cy="271800"/>
          </a:xfrm>
          <a:prstGeom prst="rect">
            <a:avLst/>
          </a:prstGeom>
          <a:noFill/>
          <a:ln w="0">
            <a:noFill/>
          </a:ln>
        </p:spPr>
      </p:pic>
      <p:sp>
        <p:nvSpPr>
          <p:cNvPr id="482"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83"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nombre d'orphelins</a:t>
            </a:r>
            <a:r>
              <a:rPr lang="fr-FR" sz="1300" b="0" u="none" strike="noStrike">
                <a:solidFill>
                  <a:srgbClr val="F7F6F2"/>
                </a:solidFill>
                <a:effectLst/>
                <a:uFillTx/>
                <a:latin typeface="Inter"/>
                <a:ea typeface="DejaVu Sans"/>
              </a:rPr>
              <a:t> par relation, avec une </a:t>
            </a:r>
            <a:r>
              <a:rPr lang="fr-FR" sz="1300" b="1" u="none" strike="noStrike">
                <a:solidFill>
                  <a:srgbClr val="F5A623"/>
                </a:solidFill>
                <a:effectLst/>
                <a:uFillTx/>
                <a:latin typeface="Inter"/>
                <a:ea typeface="DejaVu Sans"/>
              </a:rPr>
              <a:t>conclusion</a:t>
            </a:r>
            <a:r>
              <a:rPr lang="fr-FR" sz="1300" b="0" u="none" strike="noStrike">
                <a:solidFill>
                  <a:srgbClr val="F7F6F2"/>
                </a:solidFill>
                <a:effectLst/>
                <a:uFillTx/>
                <a:latin typeface="Inter"/>
                <a:ea typeface="DejaVu Sans"/>
              </a:rPr>
              <a:t> pour chacune (anomalie, sentinelle, normal).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valeur sentinelle</a:t>
            </a:r>
            <a:r>
              <a:rPr lang="fr-FR" sz="1300" b="0" u="none" strike="noStrike">
                <a:solidFill>
                  <a:srgbClr val="F7F6F2"/>
                </a:solidFill>
                <a:effectLst/>
                <a:uFillTx/>
                <a:latin typeface="Inter"/>
                <a:ea typeface="DejaVu Sans"/>
              </a:rPr>
              <a:t> de assure_id : contrôle </a:t>
            </a:r>
            <a:r>
              <a:rPr lang="fr-FR" sz="1300" b="1" u="none" strike="noStrike">
                <a:solidFill>
                  <a:srgbClr val="F5A623"/>
                </a:solidFill>
                <a:effectLst/>
                <a:uFillTx/>
                <a:latin typeface="Inter"/>
                <a:ea typeface="DejaVu Sans"/>
              </a:rPr>
              <a:t>avant</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après</a:t>
            </a:r>
            <a:r>
              <a:rPr lang="fr-FR" sz="1300" b="0" u="none" strike="noStrike">
                <a:solidFill>
                  <a:srgbClr val="F7F6F2"/>
                </a:solidFill>
                <a:effectLst/>
                <a:uFillTx/>
                <a:latin typeface="Inter"/>
                <a:ea typeface="DejaVu Sans"/>
              </a:rPr>
              <a:t>, écart chiffré, </a:t>
            </a:r>
            <a:r>
              <a:rPr lang="fr-FR" sz="1300" b="1" u="none" strike="noStrike">
                <a:solidFill>
                  <a:srgbClr val="F5A623"/>
                </a:solidFill>
                <a:effectLst/>
                <a:uFillTx/>
                <a:latin typeface="Inter"/>
                <a:ea typeface="DejaVu Sans"/>
              </a:rPr>
              <a:t>convention écrite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84" name="Table 32"/>
          <p:cNvGraphicFramePr/>
          <p:nvPr/>
        </p:nvGraphicFramePr>
        <p:xfrm>
          <a:off x="640080" y="2534040"/>
          <a:ext cx="10908360" cy="1634040"/>
        </p:xfrm>
        <a:graphic>
          <a:graphicData uri="http://schemas.openxmlformats.org/drawingml/2006/table">
            <a:tbl>
              <a:tblPr/>
              <a:tblGrid>
                <a:gridCol w="3657600"/>
                <a:gridCol w="1371600"/>
                <a:gridCol w="1554480"/>
                <a:gridCol w="1188720"/>
                <a:gridCol w="313632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Relation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Testées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Orphelins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Taux</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Conclusion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contrat.souscripteur_id → 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100 000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1000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1%</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Pourcentage assez faible de client orphelin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contrat.assure_id → client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60 000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300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0,5%</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Pourcentage assez faible de contrat orphelin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contrat.code_type → type_contrat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100 000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200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0,2%</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Pourcentage assez faible de type contrat orphelin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sinistre.contrat_id → contrat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100 000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Completude parfaite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85" name="Table 33"/>
          <p:cNvGraphicFramePr/>
          <p:nvPr/>
        </p:nvGraphicFramePr>
        <p:xfrm>
          <a:off x="640080" y="4152600"/>
          <a:ext cx="10908360" cy="905040"/>
        </p:xfrm>
        <a:graphic>
          <a:graphicData uri="http://schemas.openxmlformats.org/drawingml/2006/table">
            <a:tbl>
              <a:tblPr/>
              <a:tblGrid>
                <a:gridCol w="4572000"/>
                <a:gridCol w="2194560"/>
                <a:gridCol w="414216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Contrôle sur assure_id</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Orphelins</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Preuve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Avant traitement de la sentinelle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40300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1" u="none" strike="noStrike">
                          <a:solidFill>
                            <a:srgbClr val="F7F6F2"/>
                          </a:solidFill>
                          <a:effectLst/>
                          <a:uFillTx/>
                          <a:latin typeface="Inter"/>
                        </a:rPr>
                        <a:t>Après traitement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300</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script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86" name="TextBox 34"/>
          <p:cNvSpPr/>
          <p:nvPr/>
        </p:nvSpPr>
        <p:spPr>
          <a:xfrm>
            <a:off x="640080" y="5114880"/>
            <a:ext cx="10906200" cy="3600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CONVENTION (QUI TRAITE LA SENTINELLE, DANS QUELLE COUCHE) ET POURQUOI LE PREMIER CONTRÔLE EST TROMPEUR</a:t>
            </a:r>
            <a:endParaRPr lang="fr-FR" sz="1100" b="0" u="none" strike="noStrike">
              <a:solidFill>
                <a:srgbClr val="FFFFFF"/>
              </a:solidFill>
              <a:effectLst/>
              <a:uFillTx/>
              <a:latin typeface="Arial"/>
            </a:endParaRPr>
          </a:p>
        </p:txBody>
      </p:sp>
      <p:sp>
        <p:nvSpPr>
          <p:cNvPr id="487" name="Zone à rédiger"/>
          <p:cNvSpPr/>
          <p:nvPr/>
        </p:nvSpPr>
        <p:spPr>
          <a:xfrm>
            <a:off x="640080" y="5460120"/>
            <a:ext cx="10906200" cy="663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spcBef>
                <a:spcPts val="1191"/>
              </a:spcBef>
              <a:spcAft>
                <a:spcPts val="992"/>
              </a:spcAft>
            </a:pPr>
            <a:r>
              <a:rPr lang="fr-FR" sz="1200" b="0" i="1" u="none" strike="noStrike">
                <a:solidFill>
                  <a:srgbClr val="8E99A4"/>
                </a:solidFill>
                <a:effectLst/>
                <a:uFillTx/>
                <a:latin typeface="Inter"/>
                <a:ea typeface="DejaVu Sans"/>
              </a:rPr>
              <a:t>Le data owner traite la sentinelle. Le premier contrôle est trompeur car une valeur non nulle n’est pas forcément une donnée valide.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8"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Statuts, garantie et définition unique du client actif</a:t>
            </a:r>
            <a:endParaRPr lang="fr-FR" sz="2800" b="0" u="none" strike="noStrike">
              <a:solidFill>
                <a:srgbClr val="FFFFFF"/>
              </a:solidFill>
              <a:effectLst/>
              <a:uFillTx/>
              <a:latin typeface="Arial"/>
            </a:endParaRPr>
          </a:p>
        </p:txBody>
      </p:sp>
      <p:sp>
        <p:nvSpPr>
          <p:cNvPr id="489" name="PlaceHolder 2"/>
          <p:cNvSpPr>
            <a:spLocks noGrp="1"/>
          </p:cNvSpPr>
          <p:nvPr>
            <p:ph type="sldNum" idx="4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55C0A3D1-A864-4A59-954F-C58F85AAD16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490"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US-18, 19, 14</a:t>
            </a:r>
            <a:endParaRPr lang="fr-FR" sz="1100" b="0" u="none" strike="noStrike">
              <a:solidFill>
                <a:srgbClr val="FFFFFF"/>
              </a:solidFill>
              <a:effectLst/>
              <a:uFillTx/>
              <a:latin typeface="Arial"/>
            </a:endParaRPr>
          </a:p>
        </p:txBody>
      </p:sp>
      <p:sp>
        <p:nvSpPr>
          <p:cNvPr id="491"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492" name="Attendu"/>
          <p:cNvSpPr/>
          <p:nvPr/>
        </p:nvSpPr>
        <p:spPr>
          <a:xfrm>
            <a:off x="640080" y="1325880"/>
            <a:ext cx="10906200" cy="1282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493" name="Attendu barre"/>
          <p:cNvSpPr/>
          <p:nvPr/>
        </p:nvSpPr>
        <p:spPr>
          <a:xfrm>
            <a:off x="640080" y="1325880"/>
            <a:ext cx="79920" cy="1282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494" name="Icône target" descr="Icône target"/>
          <p:cNvPicPr/>
          <p:nvPr/>
        </p:nvPicPr>
        <p:blipFill>
          <a:blip r:embed="rId1"/>
          <a:stretch/>
        </p:blipFill>
        <p:spPr>
          <a:xfrm>
            <a:off x="896040" y="1435680"/>
            <a:ext cx="271800" cy="271800"/>
          </a:xfrm>
          <a:prstGeom prst="rect">
            <a:avLst/>
          </a:prstGeom>
          <a:noFill/>
          <a:ln w="0">
            <a:noFill/>
          </a:ln>
        </p:spPr>
      </p:pic>
      <p:sp>
        <p:nvSpPr>
          <p:cNvPr id="495"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496" name="TextBox 31"/>
          <p:cNvSpPr/>
          <p:nvPr/>
        </p:nvSpPr>
        <p:spPr>
          <a:xfrm>
            <a:off x="914400" y="1783080"/>
            <a:ext cx="10357560" cy="67860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RQ-015, 016, 017</a:t>
            </a:r>
            <a:r>
              <a:rPr lang="fr-FR" sz="1300" b="0" u="none" strike="noStrike">
                <a:solidFill>
                  <a:srgbClr val="F7F6F2"/>
                </a:solidFill>
                <a:effectLst/>
                <a:uFillTx/>
                <a:latin typeface="Inter"/>
                <a:ea typeface="DejaVu Sans"/>
              </a:rPr>
              <a:t> mesurées, avec une </a:t>
            </a:r>
            <a:r>
              <a:rPr lang="fr-FR" sz="1300" b="1" u="none" strike="noStrike">
                <a:solidFill>
                  <a:srgbClr val="F5A623"/>
                </a:solidFill>
                <a:effectLst/>
                <a:uFillTx/>
                <a:latin typeface="Inter"/>
                <a:ea typeface="DejaVu Sans"/>
              </a:rPr>
              <a:t>règle de correction du statut</a:t>
            </a:r>
            <a:r>
              <a:rPr lang="fr-FR" sz="1300" b="0" u="none" strike="noStrike">
                <a:solidFill>
                  <a:srgbClr val="F7F6F2"/>
                </a:solidFill>
                <a:effectLst/>
                <a:uFillTx/>
                <a:latin typeface="Inter"/>
                <a:ea typeface="DejaVu Sans"/>
              </a:rPr>
              <a:t> proposée au </a:t>
            </a:r>
            <a:r>
              <a:rPr lang="fr-FR" sz="1300" b="1" u="none" strike="noStrike">
                <a:solidFill>
                  <a:srgbClr val="F5A623"/>
                </a:solidFill>
                <a:effectLst/>
                <a:uFillTx/>
                <a:latin typeface="Inter"/>
                <a:ea typeface="DejaVu Sans"/>
              </a:rPr>
              <a:t>Data Owner</a:t>
            </a:r>
            <a:r>
              <a:rPr lang="fr-FR" sz="1300" b="0" u="none" strike="noStrike">
                <a:solidFill>
                  <a:srgbClr val="F7F6F2"/>
                </a:solidFill>
                <a:effectLst/>
                <a:uFillTx/>
                <a:latin typeface="Inter"/>
                <a:ea typeface="DejaVu Sans"/>
              </a:rPr>
              <a:t> (reportée au journal des décisions).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requête unique</a:t>
            </a:r>
            <a:r>
              <a:rPr lang="fr-FR" sz="1300" b="0" u="none" strike="noStrike">
                <a:solidFill>
                  <a:srgbClr val="F7F6F2"/>
                </a:solidFill>
                <a:effectLst/>
                <a:uFillTx/>
                <a:latin typeface="Inter"/>
                <a:ea typeface="DejaVu Sans"/>
              </a:rPr>
              <a:t> du client actif : les trois directions obtiennent le </a:t>
            </a:r>
            <a:r>
              <a:rPr lang="fr-FR" sz="1300" b="1" u="none" strike="noStrike">
                <a:solidFill>
                  <a:srgbClr val="F5A623"/>
                </a:solidFill>
                <a:effectLst/>
                <a:uFillTx/>
                <a:latin typeface="Inter"/>
                <a:ea typeface="DejaVu Sans"/>
              </a:rPr>
              <a:t>même chiffre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497" name="Table 32"/>
          <p:cNvGraphicFramePr/>
          <p:nvPr/>
        </p:nvGraphicFramePr>
        <p:xfrm>
          <a:off x="640080" y="2748240"/>
          <a:ext cx="10908360" cy="1389600"/>
        </p:xfrm>
        <a:graphic>
          <a:graphicData uri="http://schemas.openxmlformats.org/drawingml/2006/table">
            <a:tbl>
              <a:tblPr/>
              <a:tblGrid>
                <a:gridCol w="2377440"/>
                <a:gridCol w="2194560"/>
                <a:gridCol w="2103120"/>
                <a:gridCol w="2103120"/>
                <a:gridCol w="21304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Couche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Testées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Échecs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100 000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479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0,4%</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RQ-016</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49 898</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955</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RQ-017</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Bronze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100 000</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344</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0,3%</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498" name="Table 33"/>
          <p:cNvGraphicFramePr/>
          <p:nvPr/>
        </p:nvGraphicFramePr>
        <p:xfrm>
          <a:off x="640080" y="4275000"/>
          <a:ext cx="5668920" cy="1403640"/>
        </p:xfrm>
        <a:graphic>
          <a:graphicData uri="http://schemas.openxmlformats.org/drawingml/2006/table">
            <a:tbl>
              <a:tblPr/>
              <a:tblGrid>
                <a:gridCol w="2743200"/>
                <a:gridCol w="29260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Direction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Chiffre avec la requête unique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1440">
                <a:tc>
                  <a:txBody>
                    <a:bodyPr lIns="73080" rIns="73080" anchor="ctr">
                      <a:noAutofit/>
                    </a:bodyPr>
                    <a:p>
                      <a:pPr>
                        <a:lnSpc>
                          <a:spcPct val="100000"/>
                        </a:lnSpc>
                      </a:pPr>
                      <a:r>
                        <a:rPr lang="en-US" sz="1150" b="1" u="none" strike="noStrike">
                          <a:solidFill>
                            <a:srgbClr val="F7F6F2"/>
                          </a:solidFill>
                          <a:effectLst/>
                          <a:uFillTx/>
                          <a:latin typeface="Inter"/>
                        </a:rPr>
                        <a:t>Commerciale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38 049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38 049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Risques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38 049</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499" name="TextBox 34"/>
          <p:cNvSpPr/>
          <p:nvPr/>
        </p:nvSpPr>
        <p:spPr>
          <a:xfrm>
            <a:off x="6583680" y="4312080"/>
            <a:ext cx="49626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RÈGLE DE CORRECTION DU STATUT PROPOSÉE</a:t>
            </a:r>
            <a:endParaRPr lang="fr-FR" sz="1100" b="0" u="none" strike="noStrike">
              <a:solidFill>
                <a:srgbClr val="FFFFFF"/>
              </a:solidFill>
              <a:effectLst/>
              <a:uFillTx/>
              <a:latin typeface="Arial"/>
            </a:endParaRPr>
          </a:p>
        </p:txBody>
      </p:sp>
      <p:sp>
        <p:nvSpPr>
          <p:cNvPr id="500" name="Zone à rédiger"/>
          <p:cNvSpPr/>
          <p:nvPr/>
        </p:nvSpPr>
        <p:spPr>
          <a:xfrm>
            <a:off x="6583680" y="4567680"/>
            <a:ext cx="4962600" cy="1556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spcBef>
                <a:spcPts val="1191"/>
              </a:spcBef>
              <a:spcAft>
                <a:spcPts val="992"/>
              </a:spcAft>
            </a:pPr>
            <a:r>
              <a:rPr lang="fr-FR" sz="1200" b="0" i="1" u="none" strike="noStrike">
                <a:solidFill>
                  <a:srgbClr val="8E99A4"/>
                </a:solidFill>
                <a:effectLst/>
                <a:uFillTx/>
                <a:latin typeface="Inter"/>
                <a:ea typeface="DejaVu Sans"/>
              </a:rPr>
              <a:t>un contrat en cours depuis le 01/10/2026 ET une cotisation à jour depuis le 01/07/2026</a:t>
            </a:r>
            <a:endParaRPr lang="fr-FR" sz="1200" b="0" u="none" strike="noStrike">
              <a:solidFill>
                <a:srgbClr val="FFFFFF"/>
              </a:solidFill>
              <a:effectLst/>
              <a:uFillTx/>
              <a:latin typeface="Arial"/>
            </a:endParaRPr>
          </a:p>
        </p:txBody>
      </p:sp>
      <p:sp>
        <p:nvSpPr>
          <p:cNvPr id="501" name="TextBox 36"/>
          <p:cNvSpPr/>
          <p:nvPr/>
        </p:nvSpPr>
        <p:spPr>
          <a:xfrm>
            <a:off x="640080" y="573804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Chemin de la requête du client actif et contrôle RQ-018 : à indiquer dans le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S3 : critères de fin et difficultés</a:t>
            </a:r>
            <a:endParaRPr lang="fr-FR" sz="2800" b="0" u="none" strike="noStrike">
              <a:solidFill>
                <a:srgbClr val="FFFFFF"/>
              </a:solidFill>
              <a:effectLst/>
              <a:uFillTx/>
              <a:latin typeface="Arial"/>
            </a:endParaRPr>
          </a:p>
        </p:txBody>
      </p:sp>
      <p:sp>
        <p:nvSpPr>
          <p:cNvPr id="503" name="PlaceHolder 2"/>
          <p:cNvSpPr>
            <a:spLocks noGrp="1"/>
          </p:cNvSpPr>
          <p:nvPr>
            <p:ph type="sldNum" idx="4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29397845-CAE0-4847-9845-5705CF0399A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04"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S3 · BILAN</a:t>
            </a:r>
            <a:endParaRPr lang="fr-FR" sz="1100" b="0" u="none" strike="noStrike">
              <a:solidFill>
                <a:srgbClr val="FFFFFF"/>
              </a:solidFill>
              <a:effectLst/>
              <a:uFillTx/>
              <a:latin typeface="Arial"/>
            </a:endParaRPr>
          </a:p>
        </p:txBody>
      </p:sp>
      <p:sp>
        <p:nvSpPr>
          <p:cNvPr id="505"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RÈGLES ET TESTS · 20 %</a:t>
            </a:r>
            <a:endParaRPr lang="fr-FR" sz="1000" b="0" u="none" strike="noStrike">
              <a:solidFill>
                <a:srgbClr val="FFFFFF"/>
              </a:solidFill>
              <a:effectLst/>
              <a:uFillTx/>
              <a:latin typeface="Arial"/>
            </a:endParaRPr>
          </a:p>
        </p:txBody>
      </p:sp>
      <p:sp>
        <p:nvSpPr>
          <p:cNvPr id="506"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07"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08" name="Icône target" descr="Icône target"/>
          <p:cNvPicPr/>
          <p:nvPr/>
        </p:nvPicPr>
        <p:blipFill>
          <a:blip r:embed="rId1"/>
          <a:stretch/>
        </p:blipFill>
        <p:spPr>
          <a:xfrm>
            <a:off x="896040" y="1435680"/>
            <a:ext cx="271800" cy="271800"/>
          </a:xfrm>
          <a:prstGeom prst="rect">
            <a:avLst/>
          </a:prstGeom>
          <a:noFill/>
          <a:ln w="0">
            <a:noFill/>
          </a:ln>
        </p:spPr>
      </p:pic>
      <p:sp>
        <p:nvSpPr>
          <p:cNvPr id="509"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10"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511" name="Rectangle 32"/>
          <p:cNvSpPr/>
          <p:nvPr/>
        </p:nvSpPr>
        <p:spPr>
          <a:xfrm>
            <a:off x="640080" y="2579760"/>
            <a:ext cx="511812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512" name="Icône ok" descr="Icône ok"/>
          <p:cNvPicPr/>
          <p:nvPr/>
        </p:nvPicPr>
        <p:blipFill>
          <a:blip r:embed="rId2"/>
          <a:stretch/>
        </p:blipFill>
        <p:spPr>
          <a:xfrm>
            <a:off x="868680" y="2735280"/>
            <a:ext cx="308520" cy="308520"/>
          </a:xfrm>
          <a:prstGeom prst="rect">
            <a:avLst/>
          </a:prstGeom>
          <a:noFill/>
          <a:ln w="0">
            <a:noFill/>
          </a:ln>
        </p:spPr>
      </p:pic>
      <p:sp>
        <p:nvSpPr>
          <p:cNvPr id="513" name="TextBox 34"/>
          <p:cNvSpPr/>
          <p:nvPr/>
        </p:nvSpPr>
        <p:spPr>
          <a:xfrm>
            <a:off x="1289160" y="2783160"/>
            <a:ext cx="456948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514" name="TextBox 35"/>
          <p:cNvSpPr/>
          <p:nvPr/>
        </p:nvSpPr>
        <p:spPr>
          <a:xfrm>
            <a:off x="868680" y="3219840"/>
            <a:ext cx="4660920" cy="170532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Un scan renvoie un code retour non nul quand une règle bloquante échoue.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contrôle porte l'identifiant de sa règle et la couche mesurée.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trois directions obtiennent le même chiffre avec la requête unique.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valeur sentinelle est expliquée et traitée.</a:t>
            </a:r>
            <a:endParaRPr lang="fr-FR" sz="1250" b="0" u="none" strike="noStrike">
              <a:solidFill>
                <a:srgbClr val="FFFFFF"/>
              </a:solidFill>
              <a:effectLst/>
              <a:uFillTx/>
              <a:latin typeface="Arial"/>
            </a:endParaRPr>
          </a:p>
        </p:txBody>
      </p:sp>
      <p:sp>
        <p:nvSpPr>
          <p:cNvPr id="515" name="TextBox 36"/>
          <p:cNvSpPr/>
          <p:nvPr/>
        </p:nvSpPr>
        <p:spPr>
          <a:xfrm>
            <a:off x="640080" y="5852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516" name="TextBox 37"/>
          <p:cNvSpPr/>
          <p:nvPr/>
        </p:nvSpPr>
        <p:spPr>
          <a:xfrm>
            <a:off x="5943600" y="26168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517" name="Zone à rédiger"/>
          <p:cNvSpPr/>
          <p:nvPr/>
        </p:nvSpPr>
        <p:spPr>
          <a:xfrm>
            <a:off x="5943600" y="2872440"/>
            <a:ext cx="5602680" cy="1167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Comprehension des chiffres demandees.</a:t>
            </a:r>
            <a:endParaRPr lang="fr-FR" sz="1200" b="0" u="none" strike="noStrike">
              <a:solidFill>
                <a:srgbClr val="FFFFFF"/>
              </a:solidFill>
              <a:effectLst/>
              <a:uFillTx/>
              <a:latin typeface="Arial"/>
            </a:endParaRPr>
          </a:p>
        </p:txBody>
      </p:sp>
      <p:sp>
        <p:nvSpPr>
          <p:cNvPr id="518" name="TextBox 39"/>
          <p:cNvSpPr/>
          <p:nvPr/>
        </p:nvSpPr>
        <p:spPr>
          <a:xfrm>
            <a:off x="5943600" y="42170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519" name="Zone à rédiger"/>
          <p:cNvSpPr/>
          <p:nvPr/>
        </p:nvSpPr>
        <p:spPr>
          <a:xfrm>
            <a:off x="5943600" y="4472640"/>
            <a:ext cx="5602680" cy="619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Non</a:t>
            </a:r>
            <a:endParaRPr lang="fr-FR" sz="1200" b="0" u="none" strike="noStrike">
              <a:solidFill>
                <a:srgbClr val="FFFFFF"/>
              </a:solidFill>
              <a:effectLst/>
              <a:uFillTx/>
              <a:latin typeface="Arial"/>
            </a:endParaRPr>
          </a:p>
        </p:txBody>
      </p:sp>
      <p:sp>
        <p:nvSpPr>
          <p:cNvPr id="520" name="TextBox 41"/>
          <p:cNvSpPr/>
          <p:nvPr/>
        </p:nvSpPr>
        <p:spPr>
          <a:xfrm>
            <a:off x="5943600" y="526860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521" name="Zone à rédiger"/>
          <p:cNvSpPr/>
          <p:nvPr/>
        </p:nvSpPr>
        <p:spPr>
          <a:xfrm>
            <a:off x="5943600" y="5524200"/>
            <a:ext cx="5602680" cy="599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Rien</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04</a:t>
            </a:r>
            <a:endParaRPr lang="fr-FR" sz="7200" b="0" u="none" strike="noStrike">
              <a:solidFill>
                <a:srgbClr val="FFFFFF"/>
              </a:solidFill>
              <a:effectLst/>
              <a:uFillTx/>
              <a:latin typeface="Arial"/>
            </a:endParaRPr>
          </a:p>
        </p:txBody>
      </p:sp>
      <p:sp>
        <p:nvSpPr>
          <p:cNvPr id="523"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Construire silver puis gold</a:t>
            </a:r>
            <a:endParaRPr lang="fr-FR" sz="4200" b="0" u="none" strike="noStrike">
              <a:solidFill>
                <a:srgbClr val="FFFFFF"/>
              </a:solidFill>
              <a:effectLst/>
              <a:uFillTx/>
              <a:latin typeface="Arial"/>
            </a:endParaRPr>
          </a:p>
        </p:txBody>
      </p:sp>
      <p:sp>
        <p:nvSpPr>
          <p:cNvPr id="524" name="PlaceHolder 3"/>
          <p:cNvSpPr>
            <a:spLocks noGrp="1"/>
          </p:cNvSpPr>
          <p:nvPr>
            <p:ph type="sldNum" idx="5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E03C7A0B-D6CE-4EFC-A99D-0EB4624BA3B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25" name="TextBox 25"/>
          <p:cNvSpPr/>
          <p:nvPr/>
        </p:nvSpPr>
        <p:spPr>
          <a:xfrm>
            <a:off x="640080" y="4892040"/>
            <a:ext cx="6398280" cy="83808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4 · PySpark · US-21 à 28. Standardiser, mettre en quarantaine, re-mesurer, dédoublonner, construire gold, retracer.</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6"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Silver : traitements et quarantaine</a:t>
            </a:r>
            <a:endParaRPr lang="fr-FR" sz="2800" b="0" u="none" strike="noStrike">
              <a:solidFill>
                <a:srgbClr val="FFFFFF"/>
              </a:solidFill>
              <a:effectLst/>
              <a:uFillTx/>
              <a:latin typeface="Arial"/>
            </a:endParaRPr>
          </a:p>
        </p:txBody>
      </p:sp>
      <p:sp>
        <p:nvSpPr>
          <p:cNvPr id="527" name="PlaceHolder 2"/>
          <p:cNvSpPr>
            <a:spLocks noGrp="1"/>
          </p:cNvSpPr>
          <p:nvPr>
            <p:ph type="sldNum" idx="5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7EEB04D-2F35-42E2-A044-3B4206E43A8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28"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US-21, 22</a:t>
            </a:r>
            <a:endParaRPr lang="fr-FR" sz="1100" b="0" u="none" strike="noStrike">
              <a:solidFill>
                <a:srgbClr val="FFFFFF"/>
              </a:solidFill>
              <a:effectLst/>
              <a:uFillTx/>
              <a:latin typeface="Arial"/>
            </a:endParaRPr>
          </a:p>
        </p:txBody>
      </p:sp>
      <p:sp>
        <p:nvSpPr>
          <p:cNvPr id="529"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30"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31"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32" name="Icône target" descr="Icône target"/>
          <p:cNvPicPr/>
          <p:nvPr/>
        </p:nvPicPr>
        <p:blipFill>
          <a:blip r:embed="rId1"/>
          <a:stretch/>
        </p:blipFill>
        <p:spPr>
          <a:xfrm>
            <a:off x="896040" y="1435680"/>
            <a:ext cx="271800" cy="271800"/>
          </a:xfrm>
          <a:prstGeom prst="rect">
            <a:avLst/>
          </a:prstGeom>
          <a:noFill/>
          <a:ln w="0">
            <a:noFill/>
          </a:ln>
        </p:spPr>
      </p:pic>
      <p:sp>
        <p:nvSpPr>
          <p:cNvPr id="533"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34"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chaque traitement : les </a:t>
            </a:r>
            <a:r>
              <a:rPr lang="fr-FR" sz="1300" b="1" u="none" strike="noStrike">
                <a:solidFill>
                  <a:srgbClr val="F5A623"/>
                </a:solidFill>
                <a:effectLst/>
                <a:uFillTx/>
                <a:latin typeface="Inter"/>
                <a:ea typeface="DejaVu Sans"/>
              </a:rPr>
              <a:t>lignes modifiées</a:t>
            </a:r>
            <a:r>
              <a:rPr lang="fr-FR" sz="1300" b="0" u="none" strike="noStrike">
                <a:solidFill>
                  <a:srgbClr val="F7F6F2"/>
                </a:solidFill>
                <a:effectLst/>
                <a:uFillTx/>
                <a:latin typeface="Inter"/>
                <a:ea typeface="DejaVu Sans"/>
              </a:rPr>
              <a:t> et le </a:t>
            </a:r>
            <a:r>
              <a:rPr lang="fr-FR" sz="1300" b="1" u="none" strike="noStrike">
                <a:solidFill>
                  <a:srgbClr val="F5A623"/>
                </a:solidFill>
                <a:effectLst/>
                <a:uFillTx/>
                <a:latin typeface="Inter"/>
                <a:ea typeface="DejaVu Sans"/>
              </a:rPr>
              <a:t>garde-fou</a:t>
            </a:r>
            <a:r>
              <a:rPr lang="fr-FR" sz="1300" b="0" u="none" strike="noStrike">
                <a:solidFill>
                  <a:srgbClr val="F7F6F2"/>
                </a:solidFill>
                <a:effectLst/>
                <a:uFillTx/>
                <a:latin typeface="Inter"/>
                <a:ea typeface="DejaVu Sans"/>
              </a:rPr>
              <a:t> (ce qu'il ne doit pas faire).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L'invariant </a:t>
            </a:r>
            <a:r>
              <a:rPr lang="fr-FR" sz="1300" b="1" u="none" strike="noStrike">
                <a:solidFill>
                  <a:srgbClr val="F5A623"/>
                </a:solidFill>
                <a:effectLst/>
                <a:uFillTx/>
                <a:latin typeface="Inter"/>
                <a:ea typeface="DejaVu Sans"/>
              </a:rPr>
              <a:t>silver + rejets = bronze</a:t>
            </a:r>
            <a:r>
              <a:rPr lang="fr-FR" sz="1300" b="0" u="none" strike="noStrike">
                <a:solidFill>
                  <a:srgbClr val="F7F6F2"/>
                </a:solidFill>
                <a:effectLst/>
                <a:uFillTx/>
                <a:latin typeface="Inter"/>
                <a:ea typeface="DejaVu Sans"/>
              </a:rPr>
              <a:t>, </a:t>
            </a:r>
            <a:r>
              <a:rPr lang="fr-FR" sz="1300" b="1" u="none" strike="noStrike">
                <a:solidFill>
                  <a:srgbClr val="F5A623"/>
                </a:solidFill>
                <a:effectLst/>
                <a:uFillTx/>
                <a:latin typeface="Inter"/>
                <a:ea typeface="DejaVu Sans"/>
              </a:rPr>
              <a:t>table par table</a:t>
            </a:r>
            <a:r>
              <a:rPr lang="fr-FR" sz="1300" b="0" u="none" strike="noStrike">
                <a:solidFill>
                  <a:srgbClr val="F7F6F2"/>
                </a:solidFill>
                <a:effectLst/>
                <a:uFillTx/>
                <a:latin typeface="Inter"/>
                <a:ea typeface="DejaVu Sans"/>
              </a:rPr>
              <a:t>, avec l'écart.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preuve d'idempotence</a:t>
            </a:r>
            <a:r>
              <a:rPr lang="fr-FR" sz="1300" b="0" u="none" strike="noStrike">
                <a:solidFill>
                  <a:srgbClr val="F7F6F2"/>
                </a:solidFill>
                <a:effectLst/>
                <a:uFillTx/>
                <a:latin typeface="Inter"/>
                <a:ea typeface="DejaVu Sans"/>
              </a:rPr>
              <a:t> : le traitement relancé deux fois donne le même résultat.</a:t>
            </a:r>
            <a:endParaRPr lang="fr-FR" sz="1300" b="0" u="none" strike="noStrike">
              <a:solidFill>
                <a:srgbClr val="FFFFFF"/>
              </a:solidFill>
              <a:effectLst/>
              <a:uFillTx/>
              <a:latin typeface="Arial"/>
            </a:endParaRPr>
          </a:p>
        </p:txBody>
      </p:sp>
      <p:graphicFrame>
        <p:nvGraphicFramePr>
          <p:cNvPr id="535" name="Table 32"/>
          <p:cNvGraphicFramePr/>
          <p:nvPr/>
        </p:nvGraphicFramePr>
        <p:xfrm>
          <a:off x="640080" y="2786040"/>
          <a:ext cx="10908360" cy="1389600"/>
        </p:xfrm>
        <a:graphic>
          <a:graphicData uri="http://schemas.openxmlformats.org/drawingml/2006/table">
            <a:tbl>
              <a:tblPr/>
              <a:tblGrid>
                <a:gridCol w="2926080"/>
                <a:gridCol w="1645920"/>
                <a:gridCol w="2011680"/>
                <a:gridCol w="432504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Traitement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modifiées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Garde-fou</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36" name="Table 33"/>
          <p:cNvGraphicFramePr/>
          <p:nvPr/>
        </p:nvGraphicFramePr>
        <p:xfrm>
          <a:off x="640080" y="4313160"/>
          <a:ext cx="10908360" cy="1737000"/>
        </p:xfrm>
        <a:graphic>
          <a:graphicData uri="http://schemas.openxmlformats.org/drawingml/2006/table">
            <a:tbl>
              <a:tblPr/>
              <a:tblGrid>
                <a:gridCol w="2926080"/>
                <a:gridCol w="2011680"/>
                <a:gridCol w="2011680"/>
                <a:gridCol w="2011680"/>
                <a:gridCol w="194760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bronze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silver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rejetées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 (crm)</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 (cif)</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contrat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37" name="TextBox 34"/>
          <p:cNvSpPr/>
          <p:nvPr/>
        </p:nvSpPr>
        <p:spPr>
          <a:xfrm>
            <a:off x="640080" y="612360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Preuve d'idempotence et chemins des scripts : à indiquer dans le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Rejets par règle et porte S : bronze contre silver</a:t>
            </a:r>
            <a:endParaRPr lang="fr-FR" sz="2800" b="0" u="none" strike="noStrike">
              <a:solidFill>
                <a:srgbClr val="FFFFFF"/>
              </a:solidFill>
              <a:effectLst/>
              <a:uFillTx/>
              <a:latin typeface="Arial"/>
            </a:endParaRPr>
          </a:p>
        </p:txBody>
      </p:sp>
      <p:sp>
        <p:nvSpPr>
          <p:cNvPr id="539" name="PlaceHolder 2"/>
          <p:cNvSpPr>
            <a:spLocks noGrp="1"/>
          </p:cNvSpPr>
          <p:nvPr>
            <p:ph type="sldNum" idx="5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281B42D2-B938-4501-9DBA-F96BCF6E8D4D}"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40"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US-22, 23</a:t>
            </a:r>
            <a:endParaRPr lang="fr-FR" sz="1100" b="0" u="none" strike="noStrike">
              <a:solidFill>
                <a:srgbClr val="FFFFFF"/>
              </a:solidFill>
              <a:effectLst/>
              <a:uFillTx/>
              <a:latin typeface="Arial"/>
            </a:endParaRPr>
          </a:p>
        </p:txBody>
      </p:sp>
      <p:sp>
        <p:nvSpPr>
          <p:cNvPr id="541"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42"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43"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44" name="Icône target" descr="Icône target"/>
          <p:cNvPicPr/>
          <p:nvPr/>
        </p:nvPicPr>
        <p:blipFill>
          <a:blip r:embed="rId1"/>
          <a:stretch/>
        </p:blipFill>
        <p:spPr>
          <a:xfrm>
            <a:off x="896040" y="1435680"/>
            <a:ext cx="271800" cy="271800"/>
          </a:xfrm>
          <a:prstGeom prst="rect">
            <a:avLst/>
          </a:prstGeom>
          <a:noFill/>
          <a:ln w="0">
            <a:noFill/>
          </a:ln>
        </p:spPr>
      </p:pic>
      <p:sp>
        <p:nvSpPr>
          <p:cNvPr id="545"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46"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rejets par règle</a:t>
            </a:r>
            <a:r>
              <a:rPr lang="fr-FR" sz="1300" b="0" u="none" strike="noStrike">
                <a:solidFill>
                  <a:srgbClr val="F7F6F2"/>
                </a:solidFill>
                <a:effectLst/>
                <a:uFillTx/>
                <a:latin typeface="Inter"/>
                <a:ea typeface="DejaVu Sans"/>
              </a:rPr>
              <a:t> (dq.rejets) avec la raison métier.</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chaque règle : taux </a:t>
            </a:r>
            <a:r>
              <a:rPr lang="fr-FR" sz="1300" b="1" u="none" strike="noStrike">
                <a:solidFill>
                  <a:srgbClr val="F5A623"/>
                </a:solidFill>
                <a:effectLst/>
                <a:uFillTx/>
                <a:latin typeface="Inter"/>
                <a:ea typeface="DejaVu Sans"/>
              </a:rPr>
              <a:t>bronze</a:t>
            </a:r>
            <a:r>
              <a:rPr lang="fr-FR" sz="1300" b="0" u="none" strike="noStrike">
                <a:solidFill>
                  <a:srgbClr val="F7F6F2"/>
                </a:solidFill>
                <a:effectLst/>
                <a:uFillTx/>
                <a:latin typeface="Inter"/>
                <a:ea typeface="DejaVu Sans"/>
              </a:rPr>
              <a:t>, taux </a:t>
            </a:r>
            <a:r>
              <a:rPr lang="fr-FR" sz="1300" b="1" u="none" strike="noStrike">
                <a:solidFill>
                  <a:srgbClr val="F5A623"/>
                </a:solidFill>
                <a:effectLst/>
                <a:uFillTx/>
                <a:latin typeface="Inter"/>
                <a:ea typeface="DejaVu Sans"/>
              </a:rPr>
              <a:t>silver</a:t>
            </a:r>
            <a:r>
              <a:rPr lang="fr-FR" sz="1300" b="0" u="none" strike="noStrike">
                <a:solidFill>
                  <a:srgbClr val="F7F6F2"/>
                </a:solidFill>
                <a:effectLst/>
                <a:uFillTx/>
                <a:latin typeface="Inter"/>
                <a:ea typeface="DejaVu Sans"/>
              </a:rPr>
              <a:t>, écart, et l'</a:t>
            </a:r>
            <a:r>
              <a:rPr lang="fr-FR" sz="1300" b="1" u="none" strike="noStrike">
                <a:solidFill>
                  <a:srgbClr val="F5A623"/>
                </a:solidFill>
                <a:effectLst/>
                <a:uFillTx/>
                <a:latin typeface="Inter"/>
                <a:ea typeface="DejaVu Sans"/>
              </a:rPr>
              <a:t>explication</a:t>
            </a:r>
            <a:r>
              <a:rPr lang="fr-FR" sz="1300" b="0" u="none" strike="noStrike">
                <a:solidFill>
                  <a:srgbClr val="F7F6F2"/>
                </a:solidFill>
                <a:effectLst/>
                <a:uFillTx/>
                <a:latin typeface="Inter"/>
                <a:ea typeface="DejaVu Sans"/>
              </a:rPr>
              <a:t> de toute baisse.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règles </a:t>
            </a:r>
            <a:r>
              <a:rPr lang="fr-FR" sz="1300" b="1" u="none" strike="noStrike">
                <a:solidFill>
                  <a:srgbClr val="F5A623"/>
                </a:solidFill>
                <a:effectLst/>
                <a:uFillTx/>
                <a:latin typeface="Inter"/>
                <a:ea typeface="DejaVu Sans"/>
              </a:rPr>
              <a:t>bloquantes</a:t>
            </a:r>
            <a:r>
              <a:rPr lang="fr-FR" sz="1300" b="0" u="none" strike="noStrike">
                <a:solidFill>
                  <a:srgbClr val="F7F6F2"/>
                </a:solidFill>
                <a:effectLst/>
                <a:uFillTx/>
                <a:latin typeface="Inter"/>
                <a:ea typeface="DejaVu Sans"/>
              </a:rPr>
              <a:t> de la porte S : conformes sur silver, ou </a:t>
            </a:r>
            <a:r>
              <a:rPr lang="fr-FR" sz="1300" b="1" u="none" strike="noStrike">
                <a:solidFill>
                  <a:srgbClr val="F5A623"/>
                </a:solidFill>
                <a:effectLst/>
                <a:uFillTx/>
                <a:latin typeface="Inter"/>
                <a:ea typeface="DejaVu Sans"/>
              </a:rPr>
              <a:t>pourquoi pas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547" name="Table 32"/>
          <p:cNvGraphicFramePr/>
          <p:nvPr/>
        </p:nvGraphicFramePr>
        <p:xfrm>
          <a:off x="640080" y="2786040"/>
          <a:ext cx="10908360" cy="987120"/>
        </p:xfrm>
        <a:graphic>
          <a:graphicData uri="http://schemas.openxmlformats.org/drawingml/2006/table">
            <a:tbl>
              <a:tblPr/>
              <a:tblGrid>
                <a:gridCol w="1188720"/>
                <a:gridCol w="2011680"/>
                <a:gridCol w="1828800"/>
                <a:gridCol w="587952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rejetées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Raison métier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48" name="Table 33"/>
          <p:cNvGraphicFramePr/>
          <p:nvPr/>
        </p:nvGraphicFramePr>
        <p:xfrm>
          <a:off x="640080" y="3911040"/>
          <a:ext cx="10908360" cy="1974600"/>
        </p:xfrm>
        <a:graphic>
          <a:graphicData uri="http://schemas.openxmlformats.org/drawingml/2006/table">
            <a:tbl>
              <a:tblPr/>
              <a:tblGrid>
                <a:gridCol w="1097280"/>
                <a:gridCol w="1371600"/>
                <a:gridCol w="1463040"/>
                <a:gridCol w="1463040"/>
                <a:gridCol w="1188720"/>
                <a:gridCol w="432504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Sévérité</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 bronze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Taux silver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Explication de l'écart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Dédoublonnage : paramètres et mesures</a:t>
            </a:r>
            <a:endParaRPr lang="fr-FR" sz="2800" b="0" u="none" strike="noStrike">
              <a:solidFill>
                <a:srgbClr val="FFFFFF"/>
              </a:solidFill>
              <a:effectLst/>
              <a:uFillTx/>
              <a:latin typeface="Arial"/>
            </a:endParaRPr>
          </a:p>
        </p:txBody>
      </p:sp>
      <p:sp>
        <p:nvSpPr>
          <p:cNvPr id="550" name="PlaceHolder 2"/>
          <p:cNvSpPr>
            <a:spLocks noGrp="1"/>
          </p:cNvSpPr>
          <p:nvPr>
            <p:ph type="sldNum" idx="5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F356C136-3CC5-4103-956D-7AC4CD7CBFD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51"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US-24</a:t>
            </a:r>
            <a:endParaRPr lang="fr-FR" sz="1100" b="0" u="none" strike="noStrike">
              <a:solidFill>
                <a:srgbClr val="FFFFFF"/>
              </a:solidFill>
              <a:effectLst/>
              <a:uFillTx/>
              <a:latin typeface="Arial"/>
            </a:endParaRPr>
          </a:p>
        </p:txBody>
      </p:sp>
      <p:sp>
        <p:nvSpPr>
          <p:cNvPr id="552"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53"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54"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55" name="Icône target" descr="Icône target"/>
          <p:cNvPicPr/>
          <p:nvPr/>
        </p:nvPicPr>
        <p:blipFill>
          <a:blip r:embed="rId1"/>
          <a:stretch/>
        </p:blipFill>
        <p:spPr>
          <a:xfrm>
            <a:off x="896040" y="1435680"/>
            <a:ext cx="271800" cy="271800"/>
          </a:xfrm>
          <a:prstGeom prst="rect">
            <a:avLst/>
          </a:prstGeom>
          <a:noFill/>
          <a:ln w="0">
            <a:noFill/>
          </a:ln>
        </p:spPr>
      </p:pic>
      <p:sp>
        <p:nvSpPr>
          <p:cNvPr id="556"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57"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paramètres</a:t>
            </a:r>
            <a:r>
              <a:rPr lang="fr-FR" sz="1300" b="0" u="none" strike="noStrike">
                <a:solidFill>
                  <a:srgbClr val="F7F6F2"/>
                </a:solidFill>
                <a:effectLst/>
                <a:uFillTx/>
                <a:latin typeface="Inter"/>
                <a:ea typeface="DejaVu Sans"/>
              </a:rPr>
              <a:t> retenus (normalisation, clés de blocage, similarité, seuils) avec leur </a:t>
            </a:r>
            <a:r>
              <a:rPr lang="fr-FR" sz="1300" b="1" u="none" strike="noStrike">
                <a:solidFill>
                  <a:srgbClr val="F5A623"/>
                </a:solidFill>
                <a:effectLst/>
                <a:uFillTx/>
                <a:latin typeface="Inter"/>
                <a:ea typeface="DejaVu Sans"/>
              </a:rPr>
              <a:t>justification</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Précision</a:t>
            </a:r>
            <a:r>
              <a:rPr lang="fr-FR" sz="1300" b="0" u="none" strike="noStrike">
                <a:solidFill>
                  <a:srgbClr val="F7F6F2"/>
                </a:solidFill>
                <a:effectLst/>
                <a:uFillTx/>
                <a:latin typeface="Inter"/>
                <a:ea typeface="DejaVu Sans"/>
              </a:rPr>
              <a:t> et </a:t>
            </a:r>
            <a:r>
              <a:rPr lang="fr-FR" sz="1300" b="1" u="none" strike="noStrike">
                <a:solidFill>
                  <a:srgbClr val="F5A623"/>
                </a:solidFill>
                <a:effectLst/>
                <a:uFillTx/>
                <a:latin typeface="Inter"/>
                <a:ea typeface="DejaVu Sans"/>
              </a:rPr>
              <a:t>rappel</a:t>
            </a:r>
            <a:r>
              <a:rPr lang="fr-FR" sz="1300" b="0" u="none" strike="noStrike">
                <a:solidFill>
                  <a:srgbClr val="F7F6F2"/>
                </a:solidFill>
                <a:effectLst/>
                <a:uFillTx/>
                <a:latin typeface="Inter"/>
                <a:ea typeface="DejaVu Sans"/>
              </a:rPr>
              <a:t> mesurés sur les 200 paires étiquetées ; nombre d'</a:t>
            </a:r>
            <a:r>
              <a:rPr lang="fr-FR" sz="1300" b="1" u="none" strike="noStrike">
                <a:solidFill>
                  <a:srgbClr val="F5A623"/>
                </a:solidFill>
                <a:effectLst/>
                <a:uFillTx/>
                <a:latin typeface="Inter"/>
                <a:ea typeface="DejaVu Sans"/>
              </a:rPr>
              <a:t>identités distinctes</a:t>
            </a:r>
            <a:r>
              <a:rPr lang="fr-FR" sz="1300" b="0" u="none" strike="noStrike">
                <a:solidFill>
                  <a:srgbClr val="F7F6F2"/>
                </a:solidFill>
                <a:effectLst/>
                <a:uFillTx/>
                <a:latin typeface="Inter"/>
                <a:ea typeface="DejaVu Sans"/>
              </a:rPr>
              <a:t> obtenu.</a:t>
            </a:r>
            <a:endParaRPr lang="fr-FR" sz="1300" b="0" u="none" strike="noStrike">
              <a:solidFill>
                <a:srgbClr val="FFFFFF"/>
              </a:solidFill>
              <a:effectLst/>
              <a:uFillTx/>
              <a:latin typeface="Arial"/>
            </a:endParaRPr>
          </a:p>
        </p:txBody>
      </p:sp>
      <p:graphicFrame>
        <p:nvGraphicFramePr>
          <p:cNvPr id="558" name="Table 32"/>
          <p:cNvGraphicFramePr/>
          <p:nvPr/>
        </p:nvGraphicFramePr>
        <p:xfrm>
          <a:off x="640080" y="2534040"/>
          <a:ext cx="10908360" cy="1755360"/>
        </p:xfrm>
        <a:graphic>
          <a:graphicData uri="http://schemas.openxmlformats.org/drawingml/2006/table">
            <a:tbl>
              <a:tblPr/>
              <a:tblGrid>
                <a:gridCol w="3291840"/>
                <a:gridCol w="2926080"/>
                <a:gridCol w="4690800"/>
              </a:tblGrid>
              <a:tr h="292320">
                <a:tc>
                  <a:txBody>
                    <a:bodyPr lIns="73080" rIns="73080" anchor="ctr">
                      <a:noAutofit/>
                    </a:bodyPr>
                    <a:p>
                      <a:pPr>
                        <a:lnSpc>
                          <a:spcPct val="100000"/>
                        </a:lnSpc>
                      </a:pPr>
                      <a:r>
                        <a:rPr lang="en-US" sz="1000" b="1" u="none" spc="45" strike="noStrike">
                          <a:solidFill>
                            <a:srgbClr val="F5A623"/>
                          </a:solidFill>
                          <a:effectLst/>
                          <a:uFillTx/>
                          <a:latin typeface="Inter"/>
                        </a:rPr>
                        <a:t>Paramètre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 retenue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Justification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Normalisation avant comparaison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Clé(s) de blocage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Mesure de similarité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Seuil de fusion automatique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3760">
                <a:tc>
                  <a:txBody>
                    <a:bodyPr lIns="73080" rIns="73080" anchor="ctr">
                      <a:noAutofit/>
                    </a:bodyPr>
                    <a:p>
                      <a:pPr>
                        <a:lnSpc>
                          <a:spcPct val="100000"/>
                        </a:lnSpc>
                      </a:pPr>
                      <a:r>
                        <a:rPr lang="en-US" sz="1100" b="1" u="none" strike="noStrike">
                          <a:solidFill>
                            <a:srgbClr val="F7F6F2"/>
                          </a:solidFill>
                          <a:effectLst/>
                          <a:uFillTx/>
                          <a:latin typeface="Inter"/>
                        </a:rPr>
                        <a:t>Seuil de la zone de revue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59" name="Table 33"/>
          <p:cNvGraphicFramePr/>
          <p:nvPr/>
        </p:nvGraphicFramePr>
        <p:xfrm>
          <a:off x="640080" y="4399560"/>
          <a:ext cx="8229240" cy="1700280"/>
        </p:xfrm>
        <a:graphic>
          <a:graphicData uri="http://schemas.openxmlformats.org/drawingml/2006/table">
            <a:tbl>
              <a:tblPr/>
              <a:tblGrid>
                <a:gridCol w="5486400"/>
                <a:gridCol w="2743200"/>
              </a:tblGrid>
              <a:tr h="283320">
                <a:tc>
                  <a:txBody>
                    <a:bodyPr lIns="73080" rIns="73080" anchor="ctr">
                      <a:noAutofit/>
                    </a:bodyPr>
                    <a:p>
                      <a:pPr>
                        <a:lnSpc>
                          <a:spcPct val="100000"/>
                        </a:lnSpc>
                      </a:pPr>
                      <a:r>
                        <a:rPr lang="en-US" sz="1000" b="1" u="none" spc="45" strike="noStrike">
                          <a:solidFill>
                            <a:srgbClr val="F5A623"/>
                          </a:solidFill>
                          <a:effectLst/>
                          <a:uFillTx/>
                          <a:latin typeface="Inter"/>
                        </a:rPr>
                        <a:t>Mesure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Groupes de doublons trouvés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Paires fusionnées automatiquement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Paires en zone de revue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320">
                <a:tc>
                  <a:txBody>
                    <a:bodyPr lIns="73080" rIns="73080" anchor="ctr">
                      <a:noAutofit/>
                    </a:bodyPr>
                    <a:p>
                      <a:pPr>
                        <a:lnSpc>
                          <a:spcPct val="100000"/>
                        </a:lnSpc>
                      </a:pPr>
                      <a:r>
                        <a:rPr lang="en-US" sz="1100" b="1" u="none" strike="noStrike">
                          <a:solidFill>
                            <a:srgbClr val="F7F6F2"/>
                          </a:solidFill>
                          <a:effectLst/>
                          <a:uFillTx/>
                          <a:latin typeface="Inter"/>
                        </a:rPr>
                        <a:t>Précision / rappel sur les 200 paires étiquetées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83680">
                <a:tc>
                  <a:txBody>
                    <a:bodyPr lIns="73080" rIns="73080" anchor="ctr">
                      <a:noAutofit/>
                    </a:bodyPr>
                    <a:p>
                      <a:pPr>
                        <a:lnSpc>
                          <a:spcPct val="100000"/>
                        </a:lnSpc>
                      </a:pPr>
                      <a:r>
                        <a:rPr lang="en-US" sz="1100" b="1" u="none" strike="noStrike">
                          <a:solidFill>
                            <a:srgbClr val="F7F6F2"/>
                          </a:solidFill>
                          <a:effectLst/>
                          <a:uFillTx/>
                          <a:latin typeface="Inter"/>
                        </a:rPr>
                        <a:t>Identités distinctes obtenues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60" name="TextBox 34"/>
          <p:cNvSpPr/>
          <p:nvPr/>
        </p:nvSpPr>
        <p:spPr>
          <a:xfrm>
            <a:off x="9052560" y="4436640"/>
            <a:ext cx="2493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ZONE DE REVUE</a:t>
            </a:r>
            <a:endParaRPr lang="fr-FR" sz="1100" b="0" u="none" strike="noStrike">
              <a:solidFill>
                <a:srgbClr val="FFFFFF"/>
              </a:solidFill>
              <a:effectLst/>
              <a:uFillTx/>
              <a:latin typeface="Arial"/>
            </a:endParaRPr>
          </a:p>
        </p:txBody>
      </p:sp>
      <p:sp>
        <p:nvSpPr>
          <p:cNvPr id="561" name="Zone à rédiger"/>
          <p:cNvSpPr/>
          <p:nvPr/>
        </p:nvSpPr>
        <p:spPr>
          <a:xfrm>
            <a:off x="9052560" y="4692240"/>
            <a:ext cx="2493720" cy="14317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[Règle de décision proposée]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Golden record de la Société Meunier et règle de survie</a:t>
            </a:r>
            <a:endParaRPr lang="fr-FR" sz="2800" b="0" u="none" strike="noStrike">
              <a:solidFill>
                <a:srgbClr val="FFFFFF"/>
              </a:solidFill>
              <a:effectLst/>
              <a:uFillTx/>
              <a:latin typeface="Arial"/>
            </a:endParaRPr>
          </a:p>
        </p:txBody>
      </p:sp>
      <p:sp>
        <p:nvSpPr>
          <p:cNvPr id="563" name="PlaceHolder 2"/>
          <p:cNvSpPr>
            <a:spLocks noGrp="1"/>
          </p:cNvSpPr>
          <p:nvPr>
            <p:ph type="sldNum" idx="5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EA28D4D7-0BB9-4BA2-8AFC-742A548A9B3E}"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64"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US-25</a:t>
            </a:r>
            <a:endParaRPr lang="fr-FR" sz="1100" b="0" u="none" strike="noStrike">
              <a:solidFill>
                <a:srgbClr val="FFFFFF"/>
              </a:solidFill>
              <a:effectLst/>
              <a:uFillTx/>
              <a:latin typeface="Arial"/>
            </a:endParaRPr>
          </a:p>
        </p:txBody>
      </p:sp>
      <p:sp>
        <p:nvSpPr>
          <p:cNvPr id="565"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66"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67"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68" name="Icône target" descr="Icône target"/>
          <p:cNvPicPr/>
          <p:nvPr/>
        </p:nvPicPr>
        <p:blipFill>
          <a:blip r:embed="rId1"/>
          <a:stretch/>
        </p:blipFill>
        <p:spPr>
          <a:xfrm>
            <a:off x="896040" y="1435680"/>
            <a:ext cx="271800" cy="271800"/>
          </a:xfrm>
          <a:prstGeom prst="rect">
            <a:avLst/>
          </a:prstGeom>
          <a:noFill/>
          <a:ln w="0">
            <a:noFill/>
          </a:ln>
        </p:spPr>
      </p:pic>
      <p:sp>
        <p:nvSpPr>
          <p:cNvPr id="569"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70"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Un seul CLI</a:t>
            </a:r>
            <a:r>
              <a:rPr lang="fr-FR" sz="1300" b="0" u="none" strike="noStrike">
                <a:solidFill>
                  <a:srgbClr val="F7F6F2"/>
                </a:solidFill>
                <a:effectLst/>
                <a:uFillTx/>
                <a:latin typeface="Inter"/>
                <a:ea typeface="DejaVu Sans"/>
              </a:rPr>
              <a:t> pour les quatre identifiants de la Société Meunier.</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règle de survie par attribut</a:t>
            </a:r>
            <a:r>
              <a:rPr lang="fr-FR" sz="1300" b="0" u="none" strike="noStrike">
                <a:solidFill>
                  <a:srgbClr val="F7F6F2"/>
                </a:solidFill>
                <a:effectLst/>
                <a:uFillTx/>
                <a:latin typeface="Inter"/>
                <a:ea typeface="DejaVu Sans"/>
              </a:rPr>
              <a:t>, et un cas où elle se </a:t>
            </a:r>
            <a:r>
              <a:rPr lang="fr-FR" sz="1300" b="1" u="none" strike="noStrike">
                <a:solidFill>
                  <a:srgbClr val="F5A623"/>
                </a:solidFill>
                <a:effectLst/>
                <a:uFillTx/>
                <a:latin typeface="Inter"/>
                <a:ea typeface="DejaVu Sans"/>
              </a:rPr>
              <a:t>trompe</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graphicFrame>
        <p:nvGraphicFramePr>
          <p:cNvPr id="571" name="Table 32"/>
          <p:cNvGraphicFramePr/>
          <p:nvPr/>
        </p:nvGraphicFramePr>
        <p:xfrm>
          <a:off x="640080" y="2534040"/>
          <a:ext cx="6949080" cy="1508400"/>
        </p:xfrm>
        <a:graphic>
          <a:graphicData uri="http://schemas.openxmlformats.org/drawingml/2006/table">
            <a:tbl>
              <a:tblPr/>
              <a:tblGrid>
                <a:gridCol w="2926080"/>
                <a:gridCol w="1828800"/>
                <a:gridCol w="2194560"/>
              </a:tblGrid>
              <a:tr h="301680">
                <a:tc>
                  <a:txBody>
                    <a:bodyPr lIns="73080" rIns="73080" anchor="ctr">
                      <a:noAutofit/>
                    </a:bodyPr>
                    <a:p>
                      <a:pPr>
                        <a:lnSpc>
                          <a:spcPct val="100000"/>
                        </a:lnSpc>
                      </a:pPr>
                      <a:r>
                        <a:rPr lang="en-US" sz="1000" b="1" u="none" spc="45" strike="noStrike">
                          <a:solidFill>
                            <a:srgbClr val="F5A623"/>
                          </a:solidFill>
                          <a:effectLst/>
                          <a:uFillTx/>
                          <a:latin typeface="Inter"/>
                        </a:rPr>
                        <a:t>Identifiant source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Système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CLI attribué</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0168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572" name="Table 33"/>
          <p:cNvGraphicFramePr/>
          <p:nvPr/>
        </p:nvGraphicFramePr>
        <p:xfrm>
          <a:off x="640080" y="4225680"/>
          <a:ext cx="10908000" cy="1600200"/>
        </p:xfrm>
        <a:graphic>
          <a:graphicData uri="http://schemas.openxmlformats.org/drawingml/2006/table">
            <a:tbl>
              <a:tblPr/>
              <a:tblGrid>
                <a:gridCol w="1645920"/>
                <a:gridCol w="2011680"/>
                <a:gridCol w="3748680"/>
                <a:gridCol w="3502080"/>
              </a:tblGrid>
              <a:tr h="320040">
                <a:tc>
                  <a:txBody>
                    <a:bodyPr lIns="73080" rIns="73080" anchor="ctr">
                      <a:noAutofit/>
                    </a:bodyPr>
                    <a:p>
                      <a:pPr>
                        <a:lnSpc>
                          <a:spcPct val="100000"/>
                        </a:lnSpc>
                      </a:pPr>
                      <a:r>
                        <a:rPr lang="en-US" sz="1000" b="1" u="none" spc="45" strike="noStrike">
                          <a:solidFill>
                            <a:srgbClr val="F5A623"/>
                          </a:solidFill>
                          <a:effectLst/>
                          <a:uFillTx/>
                          <a:latin typeface="Inter"/>
                        </a:rPr>
                        <a:t>Attribut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Source retenue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Règle (priorité, plus récent, non nul)</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Cas où la règle se trompe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Nom</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Adresse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Téléphone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0040">
                <a:tc>
                  <a:txBody>
                    <a:bodyPr lIns="73080" rIns="73080" anchor="ctr">
                      <a:noAutofit/>
                    </a:bodyPr>
                    <a:p>
                      <a:pPr>
                        <a:lnSpc>
                          <a:spcPct val="100000"/>
                        </a:lnSpc>
                      </a:pPr>
                      <a:r>
                        <a:rPr lang="en-US" sz="1100" b="1" u="none" strike="noStrike">
                          <a:solidFill>
                            <a:srgbClr val="F7F6F2"/>
                          </a:solidFill>
                          <a:effectLst/>
                          <a:uFillTx/>
                          <a:latin typeface="Inter"/>
                        </a:rPr>
                        <a:t>Courriel</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73" name="TextBox 34"/>
          <p:cNvSpPr/>
          <p:nvPr/>
        </p:nvSpPr>
        <p:spPr>
          <a:xfrm>
            <a:off x="640080" y="589788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Reportez la règle de survie dans le journal des décisions, avec le rôle qui l'a décidée.</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4"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Gold : tables cohérentes et client actif unique</a:t>
            </a:r>
            <a:endParaRPr lang="fr-FR" sz="2800" b="0" u="none" strike="noStrike">
              <a:solidFill>
                <a:srgbClr val="FFFFFF"/>
              </a:solidFill>
              <a:effectLst/>
              <a:uFillTx/>
              <a:latin typeface="Arial"/>
            </a:endParaRPr>
          </a:p>
        </p:txBody>
      </p:sp>
      <p:sp>
        <p:nvSpPr>
          <p:cNvPr id="575" name="PlaceHolder 2"/>
          <p:cNvSpPr>
            <a:spLocks noGrp="1"/>
          </p:cNvSpPr>
          <p:nvPr>
            <p:ph type="sldNum" idx="5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608DE98C-2450-4965-A053-23E27AA8226E}"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76"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US-27</a:t>
            </a:r>
            <a:endParaRPr lang="fr-FR" sz="1100" b="0" u="none" strike="noStrike">
              <a:solidFill>
                <a:srgbClr val="FFFFFF"/>
              </a:solidFill>
              <a:effectLst/>
              <a:uFillTx/>
              <a:latin typeface="Arial"/>
            </a:endParaRPr>
          </a:p>
        </p:txBody>
      </p:sp>
      <p:sp>
        <p:nvSpPr>
          <p:cNvPr id="577"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78"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79"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80" name="Icône target" descr="Icône target"/>
          <p:cNvPicPr/>
          <p:nvPr/>
        </p:nvPicPr>
        <p:blipFill>
          <a:blip r:embed="rId1"/>
          <a:stretch/>
        </p:blipFill>
        <p:spPr>
          <a:xfrm>
            <a:off x="896040" y="1435680"/>
            <a:ext cx="271800" cy="271800"/>
          </a:xfrm>
          <a:prstGeom prst="rect">
            <a:avLst/>
          </a:prstGeom>
          <a:noFill/>
          <a:ln w="0">
            <a:noFill/>
          </a:ln>
        </p:spPr>
      </p:pic>
      <p:sp>
        <p:nvSpPr>
          <p:cNvPr id="581"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82"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lignes</a:t>
            </a:r>
            <a:r>
              <a:rPr lang="fr-FR" sz="1300" b="0" u="none" strike="noStrike">
                <a:solidFill>
                  <a:srgbClr val="F7F6F2"/>
                </a:solidFill>
                <a:effectLst/>
                <a:uFillTx/>
                <a:latin typeface="Inter"/>
                <a:ea typeface="DejaVu Sans"/>
              </a:rPr>
              <a:t> de chaque table gold, les </a:t>
            </a:r>
            <a:r>
              <a:rPr lang="fr-FR" sz="1300" b="1" u="none" strike="noStrike">
                <a:solidFill>
                  <a:srgbClr val="F5A623"/>
                </a:solidFill>
                <a:effectLst/>
                <a:uFillTx/>
                <a:latin typeface="Inter"/>
                <a:ea typeface="DejaVu Sans"/>
              </a:rPr>
              <a:t>lignes écartées</a:t>
            </a:r>
            <a:r>
              <a:rPr lang="fr-FR" sz="1300" b="0" u="none" strike="noStrike">
                <a:solidFill>
                  <a:srgbClr val="F7F6F2"/>
                </a:solidFill>
                <a:effectLst/>
                <a:uFillTx/>
                <a:latin typeface="Inter"/>
                <a:ea typeface="DejaVu Sans"/>
              </a:rPr>
              <a:t> à la porte G et les </a:t>
            </a:r>
            <a:r>
              <a:rPr lang="fr-FR" sz="1300" b="1" u="none" strike="noStrike">
                <a:solidFill>
                  <a:srgbClr val="F5A623"/>
                </a:solidFill>
                <a:effectLst/>
                <a:uFillTx/>
                <a:latin typeface="Inter"/>
                <a:ea typeface="DejaVu Sans"/>
              </a:rPr>
              <a:t>règles responsables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Aucun orphelin</a:t>
            </a:r>
            <a:r>
              <a:rPr lang="fr-FR" sz="1300" b="0" u="none" strike="noStrike">
                <a:solidFill>
                  <a:srgbClr val="F7F6F2"/>
                </a:solidFill>
                <a:effectLst/>
                <a:uFillTx/>
                <a:latin typeface="Inter"/>
                <a:ea typeface="DejaVu Sans"/>
              </a:rPr>
              <a:t> dans gold ; client actif publié par la </a:t>
            </a:r>
            <a:r>
              <a:rPr lang="fr-FR" sz="1300" b="1" u="none" strike="noStrike">
                <a:solidFill>
                  <a:srgbClr val="F5A623"/>
                </a:solidFill>
                <a:effectLst/>
                <a:uFillTx/>
                <a:latin typeface="Inter"/>
                <a:ea typeface="DejaVu Sans"/>
              </a:rPr>
              <a:t>vue unique</a:t>
            </a:r>
            <a:r>
              <a:rPr lang="fr-FR" sz="1300" b="0" u="none" strike="noStrike">
                <a:solidFill>
                  <a:srgbClr val="F7F6F2"/>
                </a:solidFill>
                <a:effectLst/>
                <a:uFillTx/>
                <a:latin typeface="Inter"/>
                <a:ea typeface="DejaVu Sans"/>
              </a:rPr>
              <a:t> v_client_actif.</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effet de la quarantaine</a:t>
            </a:r>
            <a:r>
              <a:rPr lang="fr-FR" sz="1300" b="0" u="none" strike="noStrike">
                <a:solidFill>
                  <a:srgbClr val="F7F6F2"/>
                </a:solidFill>
                <a:effectLst/>
                <a:uFillTx/>
                <a:latin typeface="Inter"/>
                <a:ea typeface="DejaVu Sans"/>
              </a:rPr>
              <a:t> en aval : un client écarté laisse-t-il des contrats orphelins ?</a:t>
            </a:r>
            <a:endParaRPr lang="fr-FR" sz="1300" b="0" u="none" strike="noStrike">
              <a:solidFill>
                <a:srgbClr val="FFFFFF"/>
              </a:solidFill>
              <a:effectLst/>
              <a:uFillTx/>
              <a:latin typeface="Arial"/>
            </a:endParaRPr>
          </a:p>
        </p:txBody>
      </p:sp>
      <p:graphicFrame>
        <p:nvGraphicFramePr>
          <p:cNvPr id="583" name="Table 32"/>
          <p:cNvGraphicFramePr/>
          <p:nvPr/>
        </p:nvGraphicFramePr>
        <p:xfrm>
          <a:off x="640080" y="2786040"/>
          <a:ext cx="10908360" cy="1737000"/>
        </p:xfrm>
        <a:graphic>
          <a:graphicData uri="http://schemas.openxmlformats.org/drawingml/2006/table">
            <a:tbl>
              <a:tblPr/>
              <a:tblGrid>
                <a:gridCol w="2743200"/>
                <a:gridCol w="1645920"/>
                <a:gridCol w="2560320"/>
                <a:gridCol w="39592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Table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écartées (porte G)</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Règles responsables</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client_unique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xref_identifiants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contrat_certifie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sinistre_certifie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84" name="TextBox 33"/>
          <p:cNvSpPr/>
          <p:nvPr/>
        </p:nvSpPr>
        <p:spPr>
          <a:xfrm>
            <a:off x="640080" y="46976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ORPHELINS ET CLIENT ACTIF PUBLIÉ</a:t>
            </a:r>
            <a:endParaRPr lang="fr-FR" sz="1100" b="0" u="none" strike="noStrike">
              <a:solidFill>
                <a:srgbClr val="FFFFFF"/>
              </a:solidFill>
              <a:effectLst/>
              <a:uFillTx/>
              <a:latin typeface="Arial"/>
            </a:endParaRPr>
          </a:p>
        </p:txBody>
      </p:sp>
      <p:sp>
        <p:nvSpPr>
          <p:cNvPr id="585" name="Zone à rédiger"/>
          <p:cNvSpPr/>
          <p:nvPr/>
        </p:nvSpPr>
        <p:spPr>
          <a:xfrm>
            <a:off x="640080" y="4953240"/>
            <a:ext cx="5346720" cy="11707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[Chiffres, écart avec CD-001]</a:t>
            </a:r>
            <a:endParaRPr lang="fr-FR" sz="1200" b="0" u="none" strike="noStrike">
              <a:solidFill>
                <a:srgbClr val="FFFFFF"/>
              </a:solidFill>
              <a:effectLst/>
              <a:uFillTx/>
              <a:latin typeface="Arial"/>
            </a:endParaRPr>
          </a:p>
        </p:txBody>
      </p:sp>
      <p:sp>
        <p:nvSpPr>
          <p:cNvPr id="586" name="TextBox 35"/>
          <p:cNvSpPr/>
          <p:nvPr/>
        </p:nvSpPr>
        <p:spPr>
          <a:xfrm>
            <a:off x="6199560" y="46976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EFFET DE LA QUARANTAINE SUR L'INTÉGRITÉ EN AVAL</a:t>
            </a:r>
            <a:endParaRPr lang="fr-FR" sz="1100" b="0" u="none" strike="noStrike">
              <a:solidFill>
                <a:srgbClr val="FFFFFF"/>
              </a:solidFill>
              <a:effectLst/>
              <a:uFillTx/>
              <a:latin typeface="Arial"/>
            </a:endParaRPr>
          </a:p>
        </p:txBody>
      </p:sp>
      <p:sp>
        <p:nvSpPr>
          <p:cNvPr id="587" name="Zone à rédiger"/>
          <p:cNvSpPr/>
          <p:nvPr/>
        </p:nvSpPr>
        <p:spPr>
          <a:xfrm>
            <a:off x="6199560" y="4953240"/>
            <a:ext cx="5346720" cy="11707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Retracer trois données de gold jusqu'à la source</a:t>
            </a:r>
            <a:endParaRPr lang="fr-FR" sz="2800" b="0" u="none" strike="noStrike">
              <a:solidFill>
                <a:srgbClr val="FFFFFF"/>
              </a:solidFill>
              <a:effectLst/>
              <a:uFillTx/>
              <a:latin typeface="Arial"/>
            </a:endParaRPr>
          </a:p>
        </p:txBody>
      </p:sp>
      <p:sp>
        <p:nvSpPr>
          <p:cNvPr id="589" name="PlaceHolder 2"/>
          <p:cNvSpPr>
            <a:spLocks noGrp="1"/>
          </p:cNvSpPr>
          <p:nvPr>
            <p:ph type="sldNum" idx="5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B4B340D7-FDA4-4412-9B6C-79D8331886F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590"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US-28</a:t>
            </a:r>
            <a:endParaRPr lang="fr-FR" sz="1100" b="0" u="none" strike="noStrike">
              <a:solidFill>
                <a:srgbClr val="FFFFFF"/>
              </a:solidFill>
              <a:effectLst/>
              <a:uFillTx/>
              <a:latin typeface="Arial"/>
            </a:endParaRPr>
          </a:p>
        </p:txBody>
      </p:sp>
      <p:sp>
        <p:nvSpPr>
          <p:cNvPr id="591"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592" name="Attendu"/>
          <p:cNvSpPr/>
          <p:nvPr/>
        </p:nvSpPr>
        <p:spPr>
          <a:xfrm>
            <a:off x="640080" y="1325880"/>
            <a:ext cx="10906200" cy="1282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593" name="Attendu barre"/>
          <p:cNvSpPr/>
          <p:nvPr/>
        </p:nvSpPr>
        <p:spPr>
          <a:xfrm>
            <a:off x="640080" y="1325880"/>
            <a:ext cx="79920" cy="1282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594" name="Icône target" descr="Icône target"/>
          <p:cNvPicPr/>
          <p:nvPr/>
        </p:nvPicPr>
        <p:blipFill>
          <a:blip r:embed="rId1"/>
          <a:stretch/>
        </p:blipFill>
        <p:spPr>
          <a:xfrm>
            <a:off x="896040" y="1435680"/>
            <a:ext cx="271800" cy="271800"/>
          </a:xfrm>
          <a:prstGeom prst="rect">
            <a:avLst/>
          </a:prstGeom>
          <a:noFill/>
          <a:ln w="0">
            <a:noFill/>
          </a:ln>
        </p:spPr>
      </p:pic>
      <p:sp>
        <p:nvSpPr>
          <p:cNvPr id="595"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596" name="TextBox 31"/>
          <p:cNvSpPr/>
          <p:nvPr/>
        </p:nvSpPr>
        <p:spPr>
          <a:xfrm>
            <a:off x="914400" y="1783080"/>
            <a:ext cx="10357560" cy="67860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Pour </a:t>
            </a:r>
            <a:r>
              <a:rPr lang="fr-FR" sz="1300" b="1" u="none" strike="noStrike">
                <a:solidFill>
                  <a:srgbClr val="F5A623"/>
                </a:solidFill>
                <a:effectLst/>
                <a:uFillTx/>
                <a:latin typeface="Inter"/>
                <a:ea typeface="DejaVu Sans"/>
              </a:rPr>
              <a:t>chacune des trois données</a:t>
            </a:r>
            <a:r>
              <a:rPr lang="fr-FR" sz="1300" b="0" u="none" strike="noStrike">
                <a:solidFill>
                  <a:srgbClr val="F7F6F2"/>
                </a:solidFill>
                <a:effectLst/>
                <a:uFillTx/>
                <a:latin typeface="Inter"/>
                <a:ea typeface="DejaVu Sans"/>
              </a:rPr>
              <a:t> : la valeur dans gold, les identifiants de ligne silver et bronze (avec le lot), la source (table, clé).</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requête de traçabilité</a:t>
            </a:r>
            <a:r>
              <a:rPr lang="fr-FR" sz="1300" b="0" u="none" strike="noStrike">
                <a:solidFill>
                  <a:srgbClr val="F7F6F2"/>
                </a:solidFill>
                <a:effectLst/>
                <a:uFillTx/>
                <a:latin typeface="Inter"/>
                <a:ea typeface="DejaVu Sans"/>
              </a:rPr>
              <a:t> est dans le dépôt.</a:t>
            </a:r>
            <a:endParaRPr lang="fr-FR" sz="1300" b="0" u="none" strike="noStrike">
              <a:solidFill>
                <a:srgbClr val="FFFFFF"/>
              </a:solidFill>
              <a:effectLst/>
              <a:uFillTx/>
              <a:latin typeface="Arial"/>
            </a:endParaRPr>
          </a:p>
        </p:txBody>
      </p:sp>
      <p:graphicFrame>
        <p:nvGraphicFramePr>
          <p:cNvPr id="597" name="Table 32"/>
          <p:cNvGraphicFramePr/>
          <p:nvPr/>
        </p:nvGraphicFramePr>
        <p:xfrm>
          <a:off x="640080" y="2793960"/>
          <a:ext cx="10908360" cy="1828800"/>
        </p:xfrm>
        <a:graphic>
          <a:graphicData uri="http://schemas.openxmlformats.org/drawingml/2006/table">
            <a:tbl>
              <a:tblPr/>
              <a:tblGrid>
                <a:gridCol w="2560320"/>
                <a:gridCol w="1828800"/>
                <a:gridCol w="2194560"/>
                <a:gridCol w="2377440"/>
                <a:gridCol w="1947600"/>
              </a:tblGrid>
              <a:tr h="457200">
                <a:tc>
                  <a:txBody>
                    <a:bodyPr lIns="73080" rIns="73080" anchor="ctr">
                      <a:noAutofit/>
                    </a:bodyPr>
                    <a:p>
                      <a:pPr>
                        <a:lnSpc>
                          <a:spcPct val="100000"/>
                        </a:lnSpc>
                      </a:pPr>
                      <a:r>
                        <a:rPr lang="en-US" sz="1100" b="1" u="none" spc="45" strike="noStrike">
                          <a:solidFill>
                            <a:srgbClr val="F5A623"/>
                          </a:solidFill>
                          <a:effectLst/>
                          <a:uFillTx/>
                          <a:latin typeface="Inter"/>
                        </a:rPr>
                        <a:t>Donnée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Silver (identifiants)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Bronze (identifiants, lot)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Source (table, clé)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Société Meunier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Un code postal à zéro initial</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57200">
                <a:tc>
                  <a:txBody>
                    <a:bodyPr lIns="73080" rIns="73080" anchor="ctr">
                      <a:noAutofit/>
                    </a:bodyPr>
                    <a:p>
                      <a:pPr>
                        <a:lnSpc>
                          <a:spcPct val="100000"/>
                        </a:lnSpc>
                      </a:pPr>
                      <a:r>
                        <a:rPr lang="en-US" sz="1200" b="1" u="none" strike="noStrike">
                          <a:solidFill>
                            <a:srgbClr val="F7F6F2"/>
                          </a:solidFill>
                          <a:effectLst/>
                          <a:uFillTx/>
                          <a:latin typeface="Inter"/>
                        </a:rPr>
                        <a:t>Une adresse de sinistre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598" name="TextBox 33"/>
          <p:cNvSpPr/>
          <p:nvPr/>
        </p:nvSpPr>
        <p:spPr>
          <a:xfrm>
            <a:off x="640080" y="5890320"/>
            <a:ext cx="1090620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0" u="none" strike="noStrike">
                <a:solidFill>
                  <a:srgbClr val="B8C0C8"/>
                </a:solidFill>
                <a:effectLst/>
                <a:uFillTx/>
                <a:latin typeface="Inter"/>
                <a:ea typeface="DejaVu Sans"/>
              </a:rPr>
              <a:t>Preuve (chemin du notebook, du fichier ou de la requête dans le dépôt) : </a:t>
            </a:r>
            <a:r>
              <a:rPr lang="fr-FR" sz="1200" b="1" u="none" strike="noStrike">
                <a:solidFill>
                  <a:srgbClr val="F5A623"/>
                </a:solidFill>
                <a:effectLst/>
                <a:uFillTx/>
                <a:latin typeface="Inter"/>
                <a:ea typeface="DejaVu Sans"/>
              </a:rPr>
              <a:t>…</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S4 : critères de fin et difficultés</a:t>
            </a:r>
            <a:endParaRPr lang="fr-FR" sz="2800" b="0" u="none" strike="noStrike">
              <a:solidFill>
                <a:srgbClr val="FFFFFF"/>
              </a:solidFill>
              <a:effectLst/>
              <a:uFillTx/>
              <a:latin typeface="Arial"/>
            </a:endParaRPr>
          </a:p>
        </p:txBody>
      </p:sp>
      <p:sp>
        <p:nvSpPr>
          <p:cNvPr id="600" name="PlaceHolder 2"/>
          <p:cNvSpPr>
            <a:spLocks noGrp="1"/>
          </p:cNvSpPr>
          <p:nvPr>
            <p:ph type="sldNum" idx="5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CD6B99C0-0EC8-471E-BE9E-353BAD2E9326}"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01"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S4 · BILAN</a:t>
            </a:r>
            <a:endParaRPr lang="fr-FR" sz="1100" b="0" u="none" strike="noStrike">
              <a:solidFill>
                <a:srgbClr val="FFFFFF"/>
              </a:solidFill>
              <a:effectLst/>
              <a:uFillTx/>
              <a:latin typeface="Arial"/>
            </a:endParaRPr>
          </a:p>
        </p:txBody>
      </p:sp>
      <p:sp>
        <p:nvSpPr>
          <p:cNvPr id="602"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SILVER, GOLD ET TRAÇABILITÉ · 25 %</a:t>
            </a:r>
            <a:endParaRPr lang="fr-FR" sz="1000" b="0" u="none" strike="noStrike">
              <a:solidFill>
                <a:srgbClr val="FFFFFF"/>
              </a:solidFill>
              <a:effectLst/>
              <a:uFillTx/>
              <a:latin typeface="Arial"/>
            </a:endParaRPr>
          </a:p>
        </p:txBody>
      </p:sp>
      <p:sp>
        <p:nvSpPr>
          <p:cNvPr id="603"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04"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05" name="Icône target" descr="Icône target"/>
          <p:cNvPicPr/>
          <p:nvPr/>
        </p:nvPicPr>
        <p:blipFill>
          <a:blip r:embed="rId1"/>
          <a:stretch/>
        </p:blipFill>
        <p:spPr>
          <a:xfrm>
            <a:off x="896040" y="1435680"/>
            <a:ext cx="271800" cy="271800"/>
          </a:xfrm>
          <a:prstGeom prst="rect">
            <a:avLst/>
          </a:prstGeom>
          <a:noFill/>
          <a:ln w="0">
            <a:noFill/>
          </a:ln>
        </p:spPr>
      </p:pic>
      <p:sp>
        <p:nvSpPr>
          <p:cNvPr id="606"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07"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608" name="Rectangle 32"/>
          <p:cNvSpPr/>
          <p:nvPr/>
        </p:nvSpPr>
        <p:spPr>
          <a:xfrm>
            <a:off x="640080" y="2579760"/>
            <a:ext cx="511812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609" name="Icône ok" descr="Icône ok"/>
          <p:cNvPicPr/>
          <p:nvPr/>
        </p:nvPicPr>
        <p:blipFill>
          <a:blip r:embed="rId2"/>
          <a:stretch/>
        </p:blipFill>
        <p:spPr>
          <a:xfrm>
            <a:off x="868680" y="2735280"/>
            <a:ext cx="308520" cy="308520"/>
          </a:xfrm>
          <a:prstGeom prst="rect">
            <a:avLst/>
          </a:prstGeom>
          <a:noFill/>
          <a:ln w="0">
            <a:noFill/>
          </a:ln>
        </p:spPr>
      </p:pic>
      <p:sp>
        <p:nvSpPr>
          <p:cNvPr id="610" name="TextBox 34"/>
          <p:cNvSpPr/>
          <p:nvPr/>
        </p:nvSpPr>
        <p:spPr>
          <a:xfrm>
            <a:off x="1289160" y="2783160"/>
            <a:ext cx="456948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611" name="TextBox 35"/>
          <p:cNvSpPr/>
          <p:nvPr/>
        </p:nvSpPr>
        <p:spPr>
          <a:xfrm>
            <a:off x="868680" y="3219840"/>
            <a:ext cx="4660920" cy="241020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Pour chaque table, silver + rejets = bronze, sans suppression silencieuse.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Relancer le traitement deux fois donne le même résultat.</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règles bloquantes de la porte S sont conformes sur silver.</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 gold ne contient aucun orphelin ; le client actif est publié par une seule vue.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Les trois traces remontent du gold à la source avec identifiants de ligne et de lot.</a:t>
            </a:r>
            <a:endParaRPr lang="fr-FR" sz="1250" b="0" u="none" strike="noStrike">
              <a:solidFill>
                <a:srgbClr val="FFFFFF"/>
              </a:solidFill>
              <a:effectLst/>
              <a:uFillTx/>
              <a:latin typeface="Arial"/>
            </a:endParaRPr>
          </a:p>
        </p:txBody>
      </p:sp>
      <p:sp>
        <p:nvSpPr>
          <p:cNvPr id="612" name="TextBox 36"/>
          <p:cNvSpPr/>
          <p:nvPr/>
        </p:nvSpPr>
        <p:spPr>
          <a:xfrm>
            <a:off x="640080" y="5852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613" name="TextBox 37"/>
          <p:cNvSpPr/>
          <p:nvPr/>
        </p:nvSpPr>
        <p:spPr>
          <a:xfrm>
            <a:off x="5943600" y="26168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614" name="Zone à rédiger"/>
          <p:cNvSpPr/>
          <p:nvPr/>
        </p:nvSpPr>
        <p:spPr>
          <a:xfrm>
            <a:off x="5943600" y="2872440"/>
            <a:ext cx="5602680" cy="1167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15" name="TextBox 39"/>
          <p:cNvSpPr/>
          <p:nvPr/>
        </p:nvSpPr>
        <p:spPr>
          <a:xfrm>
            <a:off x="5943600" y="42170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616" name="Zone à rédiger"/>
          <p:cNvSpPr/>
          <p:nvPr/>
        </p:nvSpPr>
        <p:spPr>
          <a:xfrm>
            <a:off x="5943600" y="4472640"/>
            <a:ext cx="5602680" cy="619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17" name="TextBox 41"/>
          <p:cNvSpPr/>
          <p:nvPr/>
        </p:nvSpPr>
        <p:spPr>
          <a:xfrm>
            <a:off x="5943600" y="526860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618" name="Zone à rédiger"/>
          <p:cNvSpPr/>
          <p:nvPr/>
        </p:nvSpPr>
        <p:spPr>
          <a:xfrm>
            <a:off x="5943600" y="5524200"/>
            <a:ext cx="5602680" cy="599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9"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05</a:t>
            </a:r>
            <a:endParaRPr lang="fr-FR" sz="7200" b="0" u="none" strike="noStrike">
              <a:solidFill>
                <a:srgbClr val="FFFFFF"/>
              </a:solidFill>
              <a:effectLst/>
              <a:uFillTx/>
              <a:latin typeface="Arial"/>
            </a:endParaRPr>
          </a:p>
        </p:txBody>
      </p:sp>
      <p:sp>
        <p:nvSpPr>
          <p:cNvPr id="620"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Certifier, publier, gouverner</a:t>
            </a:r>
            <a:endParaRPr lang="fr-FR" sz="4200" b="0" u="none" strike="noStrike">
              <a:solidFill>
                <a:srgbClr val="FFFFFF"/>
              </a:solidFill>
              <a:effectLst/>
              <a:uFillTx/>
              <a:latin typeface="Arial"/>
            </a:endParaRPr>
          </a:p>
        </p:txBody>
      </p:sp>
      <p:sp>
        <p:nvSpPr>
          <p:cNvPr id="621" name="PlaceHolder 3"/>
          <p:cNvSpPr>
            <a:spLocks noGrp="1"/>
          </p:cNvSpPr>
          <p:nvPr>
            <p:ph type="sldNum" idx="5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6E1517DF-F76D-47EF-BCDF-FD387EC74425}"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22" name="TextBox 25"/>
          <p:cNvSpPr/>
          <p:nvPr/>
        </p:nvSpPr>
        <p:spPr>
          <a:xfrm>
            <a:off x="640080" y="4892040"/>
            <a:ext cx="6398280" cy="55836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Séance 5 · Porte C · US-29 à 35. Historique sur trois couches, certificat, publication refusée puis acceptée, catalogue.</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Historique des mesures et courbes d'évolution</a:t>
            </a:r>
            <a:endParaRPr lang="fr-FR" sz="2800" b="0" u="none" strike="noStrike">
              <a:solidFill>
                <a:srgbClr val="FFFFFF"/>
              </a:solidFill>
              <a:effectLst/>
              <a:uFillTx/>
              <a:latin typeface="Arial"/>
            </a:endParaRPr>
          </a:p>
        </p:txBody>
      </p:sp>
      <p:sp>
        <p:nvSpPr>
          <p:cNvPr id="624" name="PlaceHolder 2"/>
          <p:cNvSpPr>
            <a:spLocks noGrp="1"/>
          </p:cNvSpPr>
          <p:nvPr>
            <p:ph type="sldNum" idx="5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78960D2-1491-46E7-8370-F3E93936F04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25"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US-29, 30</a:t>
            </a:r>
            <a:endParaRPr lang="fr-FR" sz="1100" b="0" u="none" strike="noStrike">
              <a:solidFill>
                <a:srgbClr val="FFFFFF"/>
              </a:solidFill>
              <a:effectLst/>
              <a:uFillTx/>
              <a:latin typeface="Arial"/>
            </a:endParaRPr>
          </a:p>
        </p:txBody>
      </p:sp>
      <p:sp>
        <p:nvSpPr>
          <p:cNvPr id="626"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27"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28"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29" name="Icône target" descr="Icône target"/>
          <p:cNvPicPr/>
          <p:nvPr/>
        </p:nvPicPr>
        <p:blipFill>
          <a:blip r:embed="rId1"/>
          <a:stretch/>
        </p:blipFill>
        <p:spPr>
          <a:xfrm>
            <a:off x="896040" y="1435680"/>
            <a:ext cx="271800" cy="271800"/>
          </a:xfrm>
          <a:prstGeom prst="rect">
            <a:avLst/>
          </a:prstGeom>
          <a:noFill/>
          <a:ln w="0">
            <a:noFill/>
          </a:ln>
        </p:spPr>
      </p:pic>
      <p:sp>
        <p:nvSpPr>
          <p:cNvPr id="630"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31"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Une mesure par couche</a:t>
            </a:r>
            <a:r>
              <a:rPr lang="fr-FR" sz="1300" b="0" u="none" strike="noStrike">
                <a:solidFill>
                  <a:srgbClr val="F7F6F2"/>
                </a:solidFill>
                <a:effectLst/>
                <a:uFillTx/>
                <a:latin typeface="Inter"/>
                <a:ea typeface="DejaVu Sans"/>
              </a:rPr>
              <a:t> où la règle s'applique, pour chaque règle ; les couches non applicables sont </a:t>
            </a:r>
            <a:r>
              <a:rPr lang="fr-FR" sz="1300" b="1" u="none" strike="noStrike">
                <a:solidFill>
                  <a:srgbClr val="F5A623"/>
                </a:solidFill>
                <a:effectLst/>
                <a:uFillTx/>
                <a:latin typeface="Inter"/>
                <a:ea typeface="DejaVu Sans"/>
              </a:rPr>
              <a:t>justifiées</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Toute règle qui </a:t>
            </a:r>
            <a:r>
              <a:rPr lang="fr-FR" sz="1300" b="1" u="none" strike="noStrike">
                <a:solidFill>
                  <a:srgbClr val="F5A623"/>
                </a:solidFill>
                <a:effectLst/>
                <a:uFillTx/>
                <a:latin typeface="Inter"/>
                <a:ea typeface="DejaVu Sans"/>
              </a:rPr>
              <a:t>descend</a:t>
            </a:r>
            <a:r>
              <a:rPr lang="fr-FR" sz="1300" b="0" u="none" strike="noStrike">
                <a:solidFill>
                  <a:srgbClr val="F7F6F2"/>
                </a:solidFill>
                <a:effectLst/>
                <a:uFillTx/>
                <a:latin typeface="Inter"/>
                <a:ea typeface="DejaVu Sans"/>
              </a:rPr>
              <a:t> d'une couche à l'autre est </a:t>
            </a:r>
            <a:r>
              <a:rPr lang="fr-FR" sz="1300" b="1" u="none" strike="noStrike">
                <a:solidFill>
                  <a:srgbClr val="F5A623"/>
                </a:solidFill>
                <a:effectLst/>
                <a:uFillTx/>
                <a:latin typeface="Inter"/>
                <a:ea typeface="DejaVu Sans"/>
              </a:rPr>
              <a:t>expliquée</a:t>
            </a:r>
            <a:r>
              <a:rPr lang="fr-FR" sz="1300" b="0" u="none" strike="noStrike">
                <a:solidFill>
                  <a:srgbClr val="F7F6F2"/>
                </a:solidFill>
                <a:effectLst/>
                <a:uFillTx/>
                <a:latin typeface="Inter"/>
                <a:ea typeface="DejaVu Sans"/>
              </a:rPr>
              <a:t> (filtre, conversion, effet de la quarantaine).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a:t>
            </a:r>
            <a:r>
              <a:rPr lang="fr-FR" sz="1300" b="1" u="none" strike="noStrike">
                <a:solidFill>
                  <a:srgbClr val="F5A623"/>
                </a:solidFill>
                <a:effectLst/>
                <a:uFillTx/>
                <a:latin typeface="Inter"/>
                <a:ea typeface="DejaVu Sans"/>
              </a:rPr>
              <a:t>courbe par dimension</a:t>
            </a:r>
            <a:r>
              <a:rPr lang="fr-FR" sz="1300" b="0" u="none" strike="noStrike">
                <a:solidFill>
                  <a:srgbClr val="F7F6F2"/>
                </a:solidFill>
                <a:effectLst/>
                <a:uFillTx/>
                <a:latin typeface="Inter"/>
                <a:ea typeface="DejaVu Sans"/>
              </a:rPr>
              <a:t> (image insérée ci-dessous).</a:t>
            </a:r>
            <a:endParaRPr lang="fr-FR" sz="1300" b="0" u="none" strike="noStrike">
              <a:solidFill>
                <a:srgbClr val="FFFFFF"/>
              </a:solidFill>
              <a:effectLst/>
              <a:uFillTx/>
              <a:latin typeface="Arial"/>
            </a:endParaRPr>
          </a:p>
        </p:txBody>
      </p:sp>
      <p:graphicFrame>
        <p:nvGraphicFramePr>
          <p:cNvPr id="632" name="Table 32"/>
          <p:cNvGraphicFramePr/>
          <p:nvPr/>
        </p:nvGraphicFramePr>
        <p:xfrm>
          <a:off x="640080" y="2786040"/>
          <a:ext cx="10908360" cy="1974600"/>
        </p:xfrm>
        <a:graphic>
          <a:graphicData uri="http://schemas.openxmlformats.org/drawingml/2006/table">
            <a:tbl>
              <a:tblPr/>
              <a:tblGrid>
                <a:gridCol w="1005840"/>
                <a:gridCol w="1463040"/>
                <a:gridCol w="1005840"/>
                <a:gridCol w="1005840"/>
                <a:gridCol w="1005840"/>
                <a:gridCol w="1371600"/>
                <a:gridCol w="4050720"/>
              </a:tblGrid>
              <a:tr h="329040">
                <a:tc>
                  <a:txBody>
                    <a:bodyPr lIns="73080" rIns="73080" anchor="ctr">
                      <a:noAutofit/>
                    </a:bodyPr>
                    <a:p>
                      <a:pPr>
                        <a:lnSpc>
                          <a:spcPct val="100000"/>
                        </a:lnSpc>
                      </a:pPr>
                      <a:r>
                        <a:rPr lang="en-US" sz="1000" b="1" u="none" spc="45" strike="noStrike">
                          <a:solidFill>
                            <a:srgbClr val="F5A623"/>
                          </a:solidFill>
                          <a:effectLst/>
                          <a:uFillTx/>
                          <a:latin typeface="Inter"/>
                        </a:rPr>
                        <a:t>Règle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Dimension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Bronze</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Silver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Gold</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Évolution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Explication</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33" name="TextBox 33"/>
          <p:cNvSpPr/>
          <p:nvPr/>
        </p:nvSpPr>
        <p:spPr>
          <a:xfrm>
            <a:off x="640080" y="493560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COURBES (INSÉREZ L'IMAGE, CHEMIN DU FICHIER DANS LE DÉPÔT)</a:t>
            </a:r>
            <a:endParaRPr lang="fr-FR" sz="1100" b="0" u="none" strike="noStrike">
              <a:solidFill>
                <a:srgbClr val="FFFFFF"/>
              </a:solidFill>
              <a:effectLst/>
              <a:uFillTx/>
              <a:latin typeface="Arial"/>
            </a:endParaRPr>
          </a:p>
        </p:txBody>
      </p:sp>
      <p:sp>
        <p:nvSpPr>
          <p:cNvPr id="634" name="Zone à rédiger"/>
          <p:cNvSpPr/>
          <p:nvPr/>
        </p:nvSpPr>
        <p:spPr>
          <a:xfrm>
            <a:off x="640080" y="5191200"/>
            <a:ext cx="10906200" cy="932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[Insérez ici les courbes par dimension et par couche]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5"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Certificat de qualité : GO ou NO_GO</a:t>
            </a:r>
            <a:endParaRPr lang="fr-FR" sz="2800" b="0" u="none" strike="noStrike">
              <a:solidFill>
                <a:srgbClr val="FFFFFF"/>
              </a:solidFill>
              <a:effectLst/>
              <a:uFillTx/>
              <a:latin typeface="Arial"/>
            </a:endParaRPr>
          </a:p>
        </p:txBody>
      </p:sp>
      <p:sp>
        <p:nvSpPr>
          <p:cNvPr id="636" name="PlaceHolder 2"/>
          <p:cNvSpPr>
            <a:spLocks noGrp="1"/>
          </p:cNvSpPr>
          <p:nvPr>
            <p:ph type="sldNum" idx="6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3824DF9-BDE9-41F5-AC26-E56F3B17CF3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37"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US-31</a:t>
            </a:r>
            <a:endParaRPr lang="fr-FR" sz="1100" b="0" u="none" strike="noStrike">
              <a:solidFill>
                <a:srgbClr val="FFFFFF"/>
              </a:solidFill>
              <a:effectLst/>
              <a:uFillTx/>
              <a:latin typeface="Arial"/>
            </a:endParaRPr>
          </a:p>
        </p:txBody>
      </p:sp>
      <p:sp>
        <p:nvSpPr>
          <p:cNvPr id="638"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39"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40"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41" name="Icône target" descr="Icône target"/>
          <p:cNvPicPr/>
          <p:nvPr/>
        </p:nvPicPr>
        <p:blipFill>
          <a:blip r:embed="rId1"/>
          <a:stretch/>
        </p:blipFill>
        <p:spPr>
          <a:xfrm>
            <a:off x="896040" y="1435680"/>
            <a:ext cx="271800" cy="271800"/>
          </a:xfrm>
          <a:prstGeom prst="rect">
            <a:avLst/>
          </a:prstGeom>
          <a:noFill/>
          <a:ln w="0">
            <a:noFill/>
          </a:ln>
        </p:spPr>
      </p:pic>
      <p:sp>
        <p:nvSpPr>
          <p:cNvPr id="642"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43"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certificat est </a:t>
            </a:r>
            <a:r>
              <a:rPr lang="fr-FR" sz="1300" b="1" u="none" strike="noStrike">
                <a:solidFill>
                  <a:srgbClr val="F5A623"/>
                </a:solidFill>
                <a:effectLst/>
                <a:uFillTx/>
                <a:latin typeface="Inter"/>
                <a:ea typeface="DejaVu Sans"/>
              </a:rPr>
              <a:t>produit par requête</a:t>
            </a:r>
            <a:r>
              <a:rPr lang="fr-FR" sz="1300" b="0" u="none" strike="noStrike">
                <a:solidFill>
                  <a:srgbClr val="F7F6F2"/>
                </a:solidFill>
                <a:effectLst/>
                <a:uFillTx/>
                <a:latin typeface="Inter"/>
                <a:ea typeface="DejaVu Sans"/>
              </a:rPr>
              <a:t> et lié à une </a:t>
            </a:r>
            <a:r>
              <a:rPr lang="fr-FR" sz="1300" b="1" u="none" strike="noStrike">
                <a:solidFill>
                  <a:srgbClr val="F5A623"/>
                </a:solidFill>
                <a:effectLst/>
                <a:uFillTx/>
                <a:latin typeface="Inter"/>
                <a:ea typeface="DejaVu Sans"/>
              </a:rPr>
              <a:t>empreinte</a:t>
            </a:r>
            <a:r>
              <a:rPr lang="fr-FR" sz="1300" b="0" u="none" strike="noStrike">
                <a:solidFill>
                  <a:srgbClr val="F7F6F2"/>
                </a:solidFill>
                <a:effectLst/>
                <a:uFillTx/>
                <a:latin typeface="Inter"/>
                <a:ea typeface="DejaVu Sans"/>
              </a:rPr>
              <a:t> du gold.</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épreuve du NO_GO</a:t>
            </a:r>
            <a:r>
              <a:rPr lang="fr-FR" sz="1300" b="0" u="none" strike="noStrike">
                <a:solidFill>
                  <a:srgbClr val="F7F6F2"/>
                </a:solidFill>
                <a:effectLst/>
                <a:uFillTx/>
                <a:latin typeface="Inter"/>
                <a:ea typeface="DejaVu Sans"/>
              </a:rPr>
              <a:t> : lot volontairement dégradé, décision obtenue, preuve.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règles bloquantes </a:t>
            </a:r>
            <a:r>
              <a:rPr lang="fr-FR" sz="1300" b="1" u="none" strike="noStrike">
                <a:solidFill>
                  <a:srgbClr val="F5A623"/>
                </a:solidFill>
                <a:effectLst/>
                <a:uFillTx/>
                <a:latin typeface="Inter"/>
                <a:ea typeface="DejaVu Sans"/>
              </a:rPr>
              <a:t>non mesurées</a:t>
            </a:r>
            <a:r>
              <a:rPr lang="fr-FR" sz="1300" b="0" u="none" strike="noStrike">
                <a:solidFill>
                  <a:srgbClr val="F7F6F2"/>
                </a:solidFill>
                <a:effectLst/>
                <a:uFillTx/>
                <a:latin typeface="Inter"/>
                <a:ea typeface="DejaVu Sans"/>
              </a:rPr>
              <a:t> par votre pipeline, donc non couvertes.</a:t>
            </a:r>
            <a:endParaRPr lang="fr-FR" sz="1300" b="0" u="none" strike="noStrike">
              <a:solidFill>
                <a:srgbClr val="FFFFFF"/>
              </a:solidFill>
              <a:effectLst/>
              <a:uFillTx/>
              <a:latin typeface="Arial"/>
            </a:endParaRPr>
          </a:p>
        </p:txBody>
      </p:sp>
      <p:graphicFrame>
        <p:nvGraphicFramePr>
          <p:cNvPr id="644" name="Table 32"/>
          <p:cNvGraphicFramePr/>
          <p:nvPr/>
        </p:nvGraphicFramePr>
        <p:xfrm>
          <a:off x="640080" y="2786040"/>
          <a:ext cx="6949080" cy="2340360"/>
        </p:xfrm>
        <a:graphic>
          <a:graphicData uri="http://schemas.openxmlformats.org/drawingml/2006/table">
            <a:tbl>
              <a:tblPr/>
              <a:tblGrid>
                <a:gridCol w="4023360"/>
                <a:gridCol w="2926080"/>
              </a:tblGrid>
              <a:tr h="292320">
                <a:tc>
                  <a:txBody>
                    <a:bodyPr lIns="73080" rIns="73080" anchor="ctr">
                      <a:noAutofit/>
                    </a:bodyPr>
                    <a:p>
                      <a:pPr>
                        <a:lnSpc>
                          <a:spcPct val="100000"/>
                        </a:lnSpc>
                      </a:pPr>
                      <a:r>
                        <a:rPr lang="en-US" sz="1000" b="1" u="none" spc="45" strike="noStrike">
                          <a:solidFill>
                            <a:srgbClr val="F5A623"/>
                          </a:solidFill>
                          <a:effectLst/>
                          <a:uFillTx/>
                          <a:latin typeface="Inter"/>
                        </a:rPr>
                        <a:t>Élément</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00" b="1" u="none" spc="45" strike="noStrike">
                          <a:solidFill>
                            <a:srgbClr val="F5A623"/>
                          </a:solidFill>
                          <a:effectLst/>
                          <a:uFillTx/>
                          <a:latin typeface="Inter"/>
                        </a:rPr>
                        <a:t>Valeur</a:t>
                      </a:r>
                      <a:endParaRPr lang="fr-FR" sz="10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Numéro du certificat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Lot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Décision (GO ou NO_GO)</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Règles bloquantes testées / conformes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Écarts connus (avertissements)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2320">
                <a:tc>
                  <a:txBody>
                    <a:bodyPr lIns="73080" rIns="73080" anchor="ctr">
                      <a:noAutofit/>
                    </a:bodyPr>
                    <a:p>
                      <a:pPr>
                        <a:lnSpc>
                          <a:spcPct val="100000"/>
                        </a:lnSpc>
                      </a:pPr>
                      <a:r>
                        <a:rPr lang="en-US" sz="1100" b="1" u="none" strike="noStrike">
                          <a:solidFill>
                            <a:srgbClr val="F7F6F2"/>
                          </a:solidFill>
                          <a:effectLst/>
                          <a:uFillTx/>
                          <a:latin typeface="Inter"/>
                        </a:rPr>
                        <a:t>Empreinte du 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294120">
                <a:tc>
                  <a:txBody>
                    <a:bodyPr lIns="73080" rIns="73080" anchor="ctr">
                      <a:noAutofit/>
                    </a:bodyPr>
                    <a:p>
                      <a:pPr>
                        <a:lnSpc>
                          <a:spcPct val="100000"/>
                        </a:lnSpc>
                      </a:pPr>
                      <a:r>
                        <a:rPr lang="en-US" sz="1100" b="1" u="none" strike="noStrike">
                          <a:solidFill>
                            <a:srgbClr val="F7F6F2"/>
                          </a:solidFill>
                          <a:effectLst/>
                          <a:uFillTx/>
                          <a:latin typeface="Inter"/>
                        </a:rPr>
                        <a:t>Signataire (rôle)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00" b="0" u="none" strike="noStrike">
                          <a:solidFill>
                            <a:srgbClr val="F5A623"/>
                          </a:solidFill>
                          <a:effectLst/>
                          <a:uFillTx/>
                          <a:latin typeface="Inter"/>
                        </a:rPr>
                        <a: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45" name="TextBox 33"/>
          <p:cNvSpPr/>
          <p:nvPr/>
        </p:nvSpPr>
        <p:spPr>
          <a:xfrm>
            <a:off x="7863840" y="2823120"/>
            <a:ext cx="368244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ÉPREUVE DU NO_GO</a:t>
            </a:r>
            <a:endParaRPr lang="fr-FR" sz="1100" b="0" u="none" strike="noStrike">
              <a:solidFill>
                <a:srgbClr val="FFFFFF"/>
              </a:solidFill>
              <a:effectLst/>
              <a:uFillTx/>
              <a:latin typeface="Arial"/>
            </a:endParaRPr>
          </a:p>
        </p:txBody>
      </p:sp>
      <p:sp>
        <p:nvSpPr>
          <p:cNvPr id="646" name="Zone à rédiger"/>
          <p:cNvSpPr/>
          <p:nvPr/>
        </p:nvSpPr>
        <p:spPr>
          <a:xfrm>
            <a:off x="7863840" y="3078720"/>
            <a:ext cx="3682440" cy="20822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[Comment dégradé, décision, preuve]</a:t>
            </a:r>
            <a:endParaRPr lang="fr-FR" sz="1200" b="0" u="none" strike="noStrike">
              <a:solidFill>
                <a:srgbClr val="FFFFFF"/>
              </a:solidFill>
              <a:effectLst/>
              <a:uFillTx/>
              <a:latin typeface="Arial"/>
            </a:endParaRPr>
          </a:p>
        </p:txBody>
      </p:sp>
      <p:sp>
        <p:nvSpPr>
          <p:cNvPr id="647" name="TextBox 35"/>
          <p:cNvSpPr/>
          <p:nvPr/>
        </p:nvSpPr>
        <p:spPr>
          <a:xfrm>
            <a:off x="640080" y="525564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RÈGLES NON COUVERTES PAR LE CERTIFICAT</a:t>
            </a:r>
            <a:endParaRPr lang="fr-FR" sz="1100" b="0" u="none" strike="noStrike">
              <a:solidFill>
                <a:srgbClr val="FFFFFF"/>
              </a:solidFill>
              <a:effectLst/>
              <a:uFillTx/>
              <a:latin typeface="Arial"/>
            </a:endParaRPr>
          </a:p>
        </p:txBody>
      </p:sp>
      <p:sp>
        <p:nvSpPr>
          <p:cNvPr id="648" name="Zone à rédiger"/>
          <p:cNvSpPr/>
          <p:nvPr/>
        </p:nvSpPr>
        <p:spPr>
          <a:xfrm>
            <a:off x="640080" y="5511240"/>
            <a:ext cx="10906200" cy="6127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9"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Publication vers le CRM : refus, chargement, réconciliation</a:t>
            </a:r>
            <a:endParaRPr lang="fr-FR" sz="2800" b="0" u="none" strike="noStrike">
              <a:solidFill>
                <a:srgbClr val="FFFFFF"/>
              </a:solidFill>
              <a:effectLst/>
              <a:uFillTx/>
              <a:latin typeface="Arial"/>
            </a:endParaRPr>
          </a:p>
        </p:txBody>
      </p:sp>
      <p:sp>
        <p:nvSpPr>
          <p:cNvPr id="650" name="PlaceHolder 2"/>
          <p:cNvSpPr>
            <a:spLocks noGrp="1"/>
          </p:cNvSpPr>
          <p:nvPr>
            <p:ph type="sldNum" idx="6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5D12E731-2681-41A6-A7CA-B8CE0AF648C7}"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51"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US-32</a:t>
            </a:r>
            <a:endParaRPr lang="fr-FR" sz="1100" b="0" u="none" strike="noStrike">
              <a:solidFill>
                <a:srgbClr val="FFFFFF"/>
              </a:solidFill>
              <a:effectLst/>
              <a:uFillTx/>
              <a:latin typeface="Arial"/>
            </a:endParaRPr>
          </a:p>
        </p:txBody>
      </p:sp>
      <p:sp>
        <p:nvSpPr>
          <p:cNvPr id="652"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53"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54"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55" name="Icône target" descr="Icône target"/>
          <p:cNvPicPr/>
          <p:nvPr/>
        </p:nvPicPr>
        <p:blipFill>
          <a:blip r:embed="rId1"/>
          <a:stretch/>
        </p:blipFill>
        <p:spPr>
          <a:xfrm>
            <a:off x="896040" y="1435680"/>
            <a:ext cx="271800" cy="271800"/>
          </a:xfrm>
          <a:prstGeom prst="rect">
            <a:avLst/>
          </a:prstGeom>
          <a:noFill/>
          <a:ln w="0">
            <a:noFill/>
          </a:ln>
        </p:spPr>
      </p:pic>
      <p:sp>
        <p:nvSpPr>
          <p:cNvPr id="656"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57"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quatre scénarios</a:t>
            </a:r>
            <a:r>
              <a:rPr lang="fr-FR" sz="1300" b="0" u="none" strike="noStrike">
                <a:solidFill>
                  <a:srgbClr val="F7F6F2"/>
                </a:solidFill>
                <a:effectLst/>
                <a:uFillTx/>
                <a:latin typeface="Inter"/>
                <a:ea typeface="DejaVu Sans"/>
              </a:rPr>
              <a:t> avec le </a:t>
            </a:r>
            <a:r>
              <a:rPr lang="fr-FR" sz="1300" b="1" u="none" strike="noStrike">
                <a:solidFill>
                  <a:srgbClr val="F5A623"/>
                </a:solidFill>
                <a:effectLst/>
                <a:uFillTx/>
                <a:latin typeface="Inter"/>
                <a:ea typeface="DejaVu Sans"/>
              </a:rPr>
              <a:t>message obtenu</a:t>
            </a:r>
            <a:r>
              <a:rPr lang="fr-FR" sz="1300" b="0" u="none" strike="noStrike">
                <a:solidFill>
                  <a:srgbClr val="F7F6F2"/>
                </a:solidFill>
                <a:effectLst/>
                <a:uFillTx/>
                <a:latin typeface="Inter"/>
                <a:ea typeface="DejaVu Sans"/>
              </a:rPr>
              <a:t> : sans certificat, NO_GO, gold modifié, GO.</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réconciliation RQ-025</a:t>
            </a:r>
            <a:r>
              <a:rPr lang="fr-FR" sz="1300" b="0" u="none" strike="noStrike">
                <a:solidFill>
                  <a:srgbClr val="F7F6F2"/>
                </a:solidFill>
                <a:effectLst/>
                <a:uFillTx/>
                <a:latin typeface="Inter"/>
                <a:ea typeface="DejaVu Sans"/>
              </a:rPr>
              <a:t> après chargement : comptage et somme de contrôle, gold contre CRM cible.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chargement est-il </a:t>
            </a:r>
            <a:r>
              <a:rPr lang="fr-FR" sz="1300" b="1" u="none" strike="noStrike">
                <a:solidFill>
                  <a:srgbClr val="F5A623"/>
                </a:solidFill>
                <a:effectLst/>
                <a:uFillTx/>
                <a:latin typeface="Inter"/>
                <a:ea typeface="DejaVu Sans"/>
              </a:rPr>
              <a:t>tout-ou-rien</a:t>
            </a:r>
            <a:r>
              <a:rPr lang="fr-FR" sz="1300" b="0" u="none" strike="noStrike">
                <a:solidFill>
                  <a:srgbClr val="F7F6F2"/>
                </a:solidFill>
                <a:effectLst/>
                <a:uFillTx/>
                <a:latin typeface="Inter"/>
                <a:ea typeface="DejaVu Sans"/>
              </a:rPr>
              <a:t> ? Comment l'avez-vous vérifié ?</a:t>
            </a:r>
            <a:endParaRPr lang="fr-FR" sz="1300" b="0" u="none" strike="noStrike">
              <a:solidFill>
                <a:srgbClr val="FFFFFF"/>
              </a:solidFill>
              <a:effectLst/>
              <a:uFillTx/>
              <a:latin typeface="Arial"/>
            </a:endParaRPr>
          </a:p>
        </p:txBody>
      </p:sp>
      <p:graphicFrame>
        <p:nvGraphicFramePr>
          <p:cNvPr id="658" name="Table 32"/>
          <p:cNvGraphicFramePr/>
          <p:nvPr/>
        </p:nvGraphicFramePr>
        <p:xfrm>
          <a:off x="640080" y="2786040"/>
          <a:ext cx="10908360" cy="1737000"/>
        </p:xfrm>
        <a:graphic>
          <a:graphicData uri="http://schemas.openxmlformats.org/drawingml/2006/table">
            <a:tbl>
              <a:tblPr/>
              <a:tblGrid>
                <a:gridCol w="3108960"/>
                <a:gridCol w="4023360"/>
                <a:gridCol w="1554480"/>
                <a:gridCol w="222192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Scénario</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Message obtenu</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Chargement ?</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Preuve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Sans certificat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Certificat NO_GO</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Gold modifié après émission</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1" u="none" strike="noStrike">
                          <a:solidFill>
                            <a:srgbClr val="F7F6F2"/>
                          </a:solidFill>
                          <a:effectLst/>
                          <a:uFillTx/>
                          <a:latin typeface="Inter"/>
                        </a:rPr>
                        <a:t>Certificat GO, gold intact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graphicFrame>
        <p:nvGraphicFramePr>
          <p:cNvPr id="659" name="Table 33"/>
          <p:cNvGraphicFramePr/>
          <p:nvPr/>
        </p:nvGraphicFramePr>
        <p:xfrm>
          <a:off x="640080" y="4633200"/>
          <a:ext cx="10908360" cy="1316520"/>
        </p:xfrm>
        <a:graphic>
          <a:graphicData uri="http://schemas.openxmlformats.org/drawingml/2006/table">
            <a:tbl>
              <a:tblPr/>
              <a:tblGrid>
                <a:gridCol w="1737360"/>
                <a:gridCol w="1828800"/>
                <a:gridCol w="2011680"/>
                <a:gridCol w="1828800"/>
                <a:gridCol w="2011680"/>
                <a:gridCol w="1490400"/>
              </a:tblGrid>
              <a:tr h="329040">
                <a:tc>
                  <a:txBody>
                    <a:bodyPr lIns="73080" rIns="73080" anchor="ctr">
                      <a:noAutofit/>
                    </a:bodyPr>
                    <a:p>
                      <a:pPr>
                        <a:lnSpc>
                          <a:spcPct val="100000"/>
                        </a:lnSpc>
                      </a:pPr>
                      <a:r>
                        <a:rPr lang="en-US" sz="1050" b="1" u="none" spc="45" strike="noStrike">
                          <a:solidFill>
                            <a:srgbClr val="F5A623"/>
                          </a:solidFill>
                          <a:effectLst/>
                          <a:uFillTx/>
                          <a:latin typeface="Inter"/>
                        </a:rPr>
                        <a:t>Table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Lignes CRM cible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Somme gold</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Somme CRM cible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client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040">
                <a:tc>
                  <a:txBody>
                    <a:bodyPr lIns="73080" rIns="73080" anchor="ctr">
                      <a:noAutofit/>
                    </a:bodyPr>
                    <a:p>
                      <a:pPr>
                        <a:lnSpc>
                          <a:spcPct val="100000"/>
                        </a:lnSpc>
                      </a:pPr>
                      <a:r>
                        <a:rPr lang="en-US" sz="1150" b="1" u="none" strike="noStrike">
                          <a:solidFill>
                            <a:srgbClr val="F7F6F2"/>
                          </a:solidFill>
                          <a:effectLst/>
                          <a:uFillTx/>
                          <a:latin typeface="Inter"/>
                        </a:rPr>
                        <a:t>contrat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29400">
                <a:tc>
                  <a:txBody>
                    <a:bodyPr lIns="73080" rIns="73080" anchor="ctr">
                      <a:noAutofit/>
                    </a:bodyPr>
                    <a:p>
                      <a:pPr>
                        <a:lnSpc>
                          <a:spcPct val="100000"/>
                        </a:lnSpc>
                      </a:pPr>
                      <a:r>
                        <a:rPr lang="en-US" sz="1150" b="1" u="none" strike="noStrike">
                          <a:solidFill>
                            <a:srgbClr val="F7F6F2"/>
                          </a:solidFill>
                          <a:effectLst/>
                          <a:uFillTx/>
                          <a:latin typeface="Inter"/>
                        </a:rPr>
                        <a:t>sinistre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60" name="TextBox 34"/>
          <p:cNvSpPr/>
          <p:nvPr/>
        </p:nvSpPr>
        <p:spPr>
          <a:xfrm>
            <a:off x="640080" y="6023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Tout-ou-rien : décrivez en une ligne comment vous l'avez vérifié, et le chemin du script de publication.</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Gouvernance : catalogue, propriétaires, lineage</a:t>
            </a:r>
            <a:endParaRPr lang="fr-FR" sz="2800" b="0" u="none" strike="noStrike">
              <a:solidFill>
                <a:srgbClr val="FFFFFF"/>
              </a:solidFill>
              <a:effectLst/>
              <a:uFillTx/>
              <a:latin typeface="Arial"/>
            </a:endParaRPr>
          </a:p>
        </p:txBody>
      </p:sp>
      <p:sp>
        <p:nvSpPr>
          <p:cNvPr id="662" name="PlaceHolder 2"/>
          <p:cNvSpPr>
            <a:spLocks noGrp="1"/>
          </p:cNvSpPr>
          <p:nvPr>
            <p:ph type="sldNum" idx="6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07340E4B-361B-40A9-9267-42DA76DE608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6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US-34</a:t>
            </a:r>
            <a:endParaRPr lang="fr-FR" sz="1100" b="0" u="none" strike="noStrike">
              <a:solidFill>
                <a:srgbClr val="FFFFFF"/>
              </a:solidFill>
              <a:effectLst/>
              <a:uFillTx/>
              <a:latin typeface="Arial"/>
            </a:endParaRPr>
          </a:p>
        </p:txBody>
      </p:sp>
      <p:sp>
        <p:nvSpPr>
          <p:cNvPr id="664"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65"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66"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67" name="Icône target" descr="Icône target"/>
          <p:cNvPicPr/>
          <p:nvPr/>
        </p:nvPicPr>
        <p:blipFill>
          <a:blip r:embed="rId1"/>
          <a:stretch/>
        </p:blipFill>
        <p:spPr>
          <a:xfrm>
            <a:off x="896040" y="1435680"/>
            <a:ext cx="271800" cy="271800"/>
          </a:xfrm>
          <a:prstGeom prst="rect">
            <a:avLst/>
          </a:prstGeom>
          <a:noFill/>
          <a:ln w="0">
            <a:noFill/>
          </a:ln>
        </p:spPr>
      </p:pic>
      <p:sp>
        <p:nvSpPr>
          <p:cNvPr id="668"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69"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fiche de catalogue</a:t>
            </a:r>
            <a:r>
              <a:rPr lang="fr-FR" sz="1300" b="0" u="none" strike="noStrike">
                <a:solidFill>
                  <a:srgbClr val="F7F6F2"/>
                </a:solidFill>
                <a:effectLst/>
                <a:uFillTx/>
                <a:latin typeface="Inter"/>
                <a:ea typeface="DejaVu Sans"/>
              </a:rPr>
              <a:t> de gold.client_unique : propriétaire, steward, définition, règles rattachées.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lineage</a:t>
            </a:r>
            <a:r>
              <a:rPr lang="fr-FR" sz="1300" b="0" u="none" strike="noStrike">
                <a:solidFill>
                  <a:srgbClr val="F7F6F2"/>
                </a:solidFill>
                <a:effectLst/>
                <a:uFillTx/>
                <a:latin typeface="Inter"/>
                <a:ea typeface="DejaVu Sans"/>
              </a:rPr>
              <a:t> de gold.client_unique jusqu'aux sources.</a:t>
            </a:r>
            <a:endParaRPr lang="fr-FR" sz="1300" b="0" u="none" strike="noStrike">
              <a:solidFill>
                <a:srgbClr val="FFFFFF"/>
              </a:solidFill>
              <a:effectLst/>
              <a:uFillTx/>
              <a:latin typeface="Arial"/>
            </a:endParaRPr>
          </a:p>
        </p:txBody>
      </p:sp>
      <p:graphicFrame>
        <p:nvGraphicFramePr>
          <p:cNvPr id="670" name="Table 32"/>
          <p:cNvGraphicFramePr/>
          <p:nvPr/>
        </p:nvGraphicFramePr>
        <p:xfrm>
          <a:off x="640080" y="2534040"/>
          <a:ext cx="10908360" cy="1919880"/>
        </p:xfrm>
        <a:graphic>
          <a:graphicData uri="http://schemas.openxmlformats.org/drawingml/2006/table">
            <a:tbl>
              <a:tblPr/>
              <a:tblGrid>
                <a:gridCol w="4206240"/>
                <a:gridCol w="6702480"/>
              </a:tblGrid>
              <a:tr h="383760">
                <a:tc>
                  <a:txBody>
                    <a:bodyPr lIns="73080" rIns="73080" anchor="ctr">
                      <a:noAutofit/>
                    </a:bodyPr>
                    <a:p>
                      <a:pPr>
                        <a:lnSpc>
                          <a:spcPct val="100000"/>
                        </a:lnSpc>
                      </a:pPr>
                      <a:r>
                        <a:rPr lang="en-US" sz="1100" b="1" u="none" spc="45" strike="noStrike">
                          <a:solidFill>
                            <a:srgbClr val="F5A623"/>
                          </a:solidFill>
                          <a:effectLst/>
                          <a:uFillTx/>
                          <a:latin typeface="Inter"/>
                        </a:rPr>
                        <a:t>Élément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Valeur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Propriétaire (Data Owner)</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Steward (Data Steward)</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3760">
                <a:tc>
                  <a:txBody>
                    <a:bodyPr lIns="73080" rIns="73080" anchor="ctr">
                      <a:noAutofit/>
                    </a:bodyPr>
                    <a:p>
                      <a:pPr>
                        <a:lnSpc>
                          <a:spcPct val="100000"/>
                        </a:lnSpc>
                      </a:pPr>
                      <a:r>
                        <a:rPr lang="en-US" sz="1200" b="1" u="none" strike="noStrike">
                          <a:solidFill>
                            <a:srgbClr val="F7F6F2"/>
                          </a:solidFill>
                          <a:effectLst/>
                          <a:uFillTx/>
                          <a:latin typeface="Inter"/>
                        </a:rPr>
                        <a:t>Définition de « client actif » rattachée à la fiche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84840">
                <a:tc>
                  <a:txBody>
                    <a:bodyPr lIns="73080" rIns="73080" anchor="ctr">
                      <a:noAutofit/>
                    </a:bodyPr>
                    <a:p>
                      <a:pPr>
                        <a:lnSpc>
                          <a:spcPct val="100000"/>
                        </a:lnSpc>
                      </a:pPr>
                      <a:r>
                        <a:rPr lang="en-US" sz="1200" b="1" u="none" strike="noStrike">
                          <a:solidFill>
                            <a:srgbClr val="F7F6F2"/>
                          </a:solidFill>
                          <a:effectLst/>
                          <a:uFillTx/>
                          <a:latin typeface="Inter"/>
                        </a:rPr>
                        <a:t>Règles RQ rattachées à la table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671" name="TextBox 33"/>
          <p:cNvSpPr/>
          <p:nvPr/>
        </p:nvSpPr>
        <p:spPr>
          <a:xfrm>
            <a:off x="640080" y="467424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LINEAGE DE GOLD.CLIENT_UNIQUE (LISTE OU SCHÉMA)</a:t>
            </a:r>
            <a:endParaRPr lang="fr-FR" sz="1100" b="0" u="none" strike="noStrike">
              <a:solidFill>
                <a:srgbClr val="FFFFFF"/>
              </a:solidFill>
              <a:effectLst/>
              <a:uFillTx/>
              <a:latin typeface="Arial"/>
            </a:endParaRPr>
          </a:p>
        </p:txBody>
      </p:sp>
      <p:sp>
        <p:nvSpPr>
          <p:cNvPr id="672" name="Zone à rédiger"/>
          <p:cNvSpPr/>
          <p:nvPr/>
        </p:nvSpPr>
        <p:spPr>
          <a:xfrm>
            <a:off x="640080" y="4929840"/>
            <a:ext cx="10906200" cy="1194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[Insérez un schéma ou une liste : sources, bronze, silver, xref, gold]</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3"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Bilan de S5 : critères de fin et difficultés</a:t>
            </a:r>
            <a:endParaRPr lang="fr-FR" sz="2800" b="0" u="none" strike="noStrike">
              <a:solidFill>
                <a:srgbClr val="FFFFFF"/>
              </a:solidFill>
              <a:effectLst/>
              <a:uFillTx/>
              <a:latin typeface="Arial"/>
            </a:endParaRPr>
          </a:p>
        </p:txBody>
      </p:sp>
      <p:sp>
        <p:nvSpPr>
          <p:cNvPr id="674" name="PlaceHolder 2"/>
          <p:cNvSpPr>
            <a:spLocks noGrp="1"/>
          </p:cNvSpPr>
          <p:nvPr>
            <p:ph type="sldNum" idx="6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EB4600E1-F172-484C-A787-9E33152DFC23}"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75"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S5 · BILAN</a:t>
            </a:r>
            <a:endParaRPr lang="fr-FR" sz="1100" b="0" u="none" strike="noStrike">
              <a:solidFill>
                <a:srgbClr val="FFFFFF"/>
              </a:solidFill>
              <a:effectLst/>
              <a:uFillTx/>
              <a:latin typeface="Arial"/>
            </a:endParaRPr>
          </a:p>
        </p:txBody>
      </p:sp>
      <p:sp>
        <p:nvSpPr>
          <p:cNvPr id="676"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PREUVE ET CERTIFICAT · 20 %</a:t>
            </a:r>
            <a:endParaRPr lang="fr-FR" sz="1000" b="0" u="none" strike="noStrike">
              <a:solidFill>
                <a:srgbClr val="FFFFFF"/>
              </a:solidFill>
              <a:effectLst/>
              <a:uFillTx/>
              <a:latin typeface="Arial"/>
            </a:endParaRPr>
          </a:p>
        </p:txBody>
      </p:sp>
      <p:sp>
        <p:nvSpPr>
          <p:cNvPr id="677"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678"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679" name="Icône target" descr="Icône target"/>
          <p:cNvPicPr/>
          <p:nvPr/>
        </p:nvPicPr>
        <p:blipFill>
          <a:blip r:embed="rId1"/>
          <a:stretch/>
        </p:blipFill>
        <p:spPr>
          <a:xfrm>
            <a:off x="896040" y="1435680"/>
            <a:ext cx="271800" cy="271800"/>
          </a:xfrm>
          <a:prstGeom prst="rect">
            <a:avLst/>
          </a:prstGeom>
          <a:noFill/>
          <a:ln w="0">
            <a:noFill/>
          </a:ln>
        </p:spPr>
      </p:pic>
      <p:sp>
        <p:nvSpPr>
          <p:cNvPr id="680"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681"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critère coché est </a:t>
            </a:r>
            <a:r>
              <a:rPr lang="fr-FR" sz="1300" b="1" u="none" strike="noStrike">
                <a:solidFill>
                  <a:srgbClr val="F5A623"/>
                </a:solidFill>
                <a:effectLst/>
                <a:uFillTx/>
                <a:latin typeface="Inter"/>
                <a:ea typeface="DejaVu Sans"/>
              </a:rPr>
              <a:t>démontré</a:t>
            </a:r>
            <a:r>
              <a:rPr lang="fr-FR" sz="1300" b="0" u="none" strike="noStrike">
                <a:solidFill>
                  <a:srgbClr val="F7F6F2"/>
                </a:solidFill>
                <a:effectLst/>
                <a:uFillTx/>
                <a:latin typeface="Inter"/>
                <a:ea typeface="DejaVu Sans"/>
              </a:rPr>
              <a:t> par une page de ce livrable ou par un fichier du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difficultés sont </a:t>
            </a:r>
            <a:r>
              <a:rPr lang="fr-FR" sz="1300" b="1" u="none" strike="noStrike">
                <a:solidFill>
                  <a:srgbClr val="F5A623"/>
                </a:solidFill>
                <a:effectLst/>
                <a:uFillTx/>
                <a:latin typeface="Inter"/>
                <a:ea typeface="DejaVu Sans"/>
              </a:rPr>
              <a:t>chiffrées en temps perdu</a:t>
            </a:r>
            <a:r>
              <a:rPr lang="fr-FR" sz="1300" b="0" u="none" strike="noStrike">
                <a:solidFill>
                  <a:srgbClr val="F7F6F2"/>
                </a:solidFill>
                <a:effectLst/>
                <a:uFillTx/>
                <a:latin typeface="Inter"/>
                <a:ea typeface="DejaVu Sans"/>
              </a:rPr>
              <a:t> ; un point de reprise utilisé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p:txBody>
      </p:sp>
      <p:sp>
        <p:nvSpPr>
          <p:cNvPr id="682" name="Rectangle 32"/>
          <p:cNvSpPr/>
          <p:nvPr/>
        </p:nvSpPr>
        <p:spPr>
          <a:xfrm>
            <a:off x="640080" y="2579760"/>
            <a:ext cx="511812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pic>
        <p:nvPicPr>
          <p:cNvPr id="683" name="Icône ok" descr="Icône ok"/>
          <p:cNvPicPr/>
          <p:nvPr/>
        </p:nvPicPr>
        <p:blipFill>
          <a:blip r:embed="rId2"/>
          <a:stretch/>
        </p:blipFill>
        <p:spPr>
          <a:xfrm>
            <a:off x="868680" y="2735280"/>
            <a:ext cx="308520" cy="308520"/>
          </a:xfrm>
          <a:prstGeom prst="rect">
            <a:avLst/>
          </a:prstGeom>
          <a:noFill/>
          <a:ln w="0">
            <a:noFill/>
          </a:ln>
        </p:spPr>
      </p:pic>
      <p:sp>
        <p:nvSpPr>
          <p:cNvPr id="684" name="TextBox 34"/>
          <p:cNvSpPr/>
          <p:nvPr/>
        </p:nvSpPr>
        <p:spPr>
          <a:xfrm>
            <a:off x="1289160" y="2783160"/>
            <a:ext cx="4569480" cy="21240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300" b="1" u="none" spc="105" strike="noStrike">
                <a:solidFill>
                  <a:srgbClr val="F7F6F2"/>
                </a:solidFill>
                <a:effectLst/>
                <a:uFillTx/>
                <a:latin typeface="Inter"/>
                <a:ea typeface="DejaVu Sans"/>
              </a:rPr>
              <a:t>CRITÈRES DE FIN</a:t>
            </a:r>
            <a:endParaRPr lang="fr-FR" sz="1300" b="0" u="none" strike="noStrike">
              <a:solidFill>
                <a:srgbClr val="FFFFFF"/>
              </a:solidFill>
              <a:effectLst/>
              <a:uFillTx/>
              <a:latin typeface="Arial"/>
            </a:endParaRPr>
          </a:p>
        </p:txBody>
      </p:sp>
      <p:sp>
        <p:nvSpPr>
          <p:cNvPr id="685" name="TextBox 35"/>
          <p:cNvSpPr/>
          <p:nvPr/>
        </p:nvSpPr>
        <p:spPr>
          <a:xfrm>
            <a:off x="868680" y="3219840"/>
            <a:ext cx="4660920" cy="1910880"/>
          </a:xfrm>
          <a:prstGeom prst="rect">
            <a:avLst/>
          </a:prstGeom>
          <a:noFill/>
          <a:ln w="0">
            <a:noFill/>
          </a:ln>
        </p:spPr>
        <p:style>
          <a:lnRef idx="0"/>
          <a:fillRef idx="0"/>
          <a:effectRef idx="0"/>
          <a:fontRef idx="minor"/>
        </p:style>
        <p:txBody>
          <a:bodyPr lIns="0" tIns="0" rIns="0" bIns="0" anchor="t">
            <a:spAutoFit/>
          </a:bodyPr>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Un lot volontairement dégradé produit un NO_GO, le lot nominal un GO.</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La publication refuse sans certificat, avec NO_GO, et quand le gold a changé.</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Après chargement, comptage et somme de contrôle sont égaux entre gold et CRM cible.</a:t>
            </a:r>
            <a:endParaRPr lang="fr-FR" sz="1250" b="0" u="none" strike="noStrike">
              <a:solidFill>
                <a:srgbClr val="FFFFFF"/>
              </a:solidFill>
              <a:effectLst/>
              <a:uFillTx/>
              <a:latin typeface="Arial"/>
            </a:endParaRPr>
          </a:p>
          <a:p>
            <a:pPr>
              <a:lnSpc>
                <a:spcPct val="108000"/>
              </a:lnSpc>
              <a:spcAft>
                <a:spcPts val="700"/>
              </a:spcAft>
            </a:pPr>
            <a:r>
              <a:rPr lang="fr-FR" sz="1250" b="0" u="none" strike="noStrike">
                <a:solidFill>
                  <a:srgbClr val="F7F6F2"/>
                </a:solidFill>
                <a:effectLst/>
                <a:uFillTx/>
                <a:latin typeface="Consolas"/>
                <a:ea typeface="DejaVu Sans"/>
              </a:rPr>
              <a:t>[ ]</a:t>
            </a:r>
            <a:r>
              <a:rPr lang="fr-FR" sz="1250" b="0" u="none" strike="noStrike">
                <a:solidFill>
                  <a:srgbClr val="F7F6F2"/>
                </a:solidFill>
                <a:effectLst/>
                <a:uFillTx/>
                <a:latin typeface="Inter"/>
                <a:ea typeface="DejaVu Sans"/>
              </a:rPr>
              <a:t> Chaque décision de seuil ou de sévérité est attribuée à un rôle.</a:t>
            </a:r>
            <a:endParaRPr lang="fr-FR" sz="1250" b="0" u="none" strike="noStrike">
              <a:solidFill>
                <a:srgbClr val="FFFFFF"/>
              </a:solidFill>
              <a:effectLst/>
              <a:uFillTx/>
              <a:latin typeface="Arial"/>
            </a:endParaRPr>
          </a:p>
        </p:txBody>
      </p:sp>
      <p:sp>
        <p:nvSpPr>
          <p:cNvPr id="686" name="TextBox 36"/>
          <p:cNvSpPr/>
          <p:nvPr/>
        </p:nvSpPr>
        <p:spPr>
          <a:xfrm>
            <a:off x="640080" y="585216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Remplacez [ ] par [x] une fois le critère démontré.</a:t>
            </a:r>
            <a:endParaRPr lang="fr-FR" sz="1100" b="0" u="none" strike="noStrike">
              <a:solidFill>
                <a:srgbClr val="FFFFFF"/>
              </a:solidFill>
              <a:effectLst/>
              <a:uFillTx/>
              <a:latin typeface="Arial"/>
            </a:endParaRPr>
          </a:p>
        </p:txBody>
      </p:sp>
      <p:sp>
        <p:nvSpPr>
          <p:cNvPr id="687" name="TextBox 37"/>
          <p:cNvSpPr/>
          <p:nvPr/>
        </p:nvSpPr>
        <p:spPr>
          <a:xfrm>
            <a:off x="5943600" y="26168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DIFFICULTÉS RENCONTRÉES ET TEMPS PERDU</a:t>
            </a:r>
            <a:endParaRPr lang="fr-FR" sz="1100" b="0" u="none" strike="noStrike">
              <a:solidFill>
                <a:srgbClr val="FFFFFF"/>
              </a:solidFill>
              <a:effectLst/>
              <a:uFillTx/>
              <a:latin typeface="Arial"/>
            </a:endParaRPr>
          </a:p>
        </p:txBody>
      </p:sp>
      <p:sp>
        <p:nvSpPr>
          <p:cNvPr id="688" name="Zone à rédiger"/>
          <p:cNvSpPr/>
          <p:nvPr/>
        </p:nvSpPr>
        <p:spPr>
          <a:xfrm>
            <a:off x="5943600" y="2872440"/>
            <a:ext cx="5602680" cy="1167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89" name="TextBox 39"/>
          <p:cNvSpPr/>
          <p:nvPr/>
        </p:nvSpPr>
        <p:spPr>
          <a:xfrm>
            <a:off x="5943600" y="421704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POINT DE REPRISE UTILISÉ (OUI / NON, LEQUEL)</a:t>
            </a:r>
            <a:endParaRPr lang="fr-FR" sz="1100" b="0" u="none" strike="noStrike">
              <a:solidFill>
                <a:srgbClr val="FFFFFF"/>
              </a:solidFill>
              <a:effectLst/>
              <a:uFillTx/>
              <a:latin typeface="Arial"/>
            </a:endParaRPr>
          </a:p>
        </p:txBody>
      </p:sp>
      <p:sp>
        <p:nvSpPr>
          <p:cNvPr id="690" name="Zone à rédiger"/>
          <p:cNvSpPr/>
          <p:nvPr/>
        </p:nvSpPr>
        <p:spPr>
          <a:xfrm>
            <a:off x="5943600" y="4472640"/>
            <a:ext cx="5602680" cy="619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
        <p:nvSpPr>
          <p:cNvPr id="691" name="TextBox 41"/>
          <p:cNvSpPr/>
          <p:nvPr/>
        </p:nvSpPr>
        <p:spPr>
          <a:xfrm>
            <a:off x="5943600" y="5268600"/>
            <a:ext cx="560268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 QUE NOUS FERIONS AUTREMENT</a:t>
            </a:r>
            <a:endParaRPr lang="fr-FR" sz="1100" b="0" u="none" strike="noStrike">
              <a:solidFill>
                <a:srgbClr val="FFFFFF"/>
              </a:solidFill>
              <a:effectLst/>
              <a:uFillTx/>
              <a:latin typeface="Arial"/>
            </a:endParaRPr>
          </a:p>
        </p:txBody>
      </p:sp>
      <p:sp>
        <p:nvSpPr>
          <p:cNvPr id="692" name="Zone à rédiger"/>
          <p:cNvSpPr/>
          <p:nvPr/>
        </p:nvSpPr>
        <p:spPr>
          <a:xfrm>
            <a:off x="5943600" y="5524200"/>
            <a:ext cx="5602680" cy="5997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06</a:t>
            </a:r>
            <a:endParaRPr lang="fr-FR" sz="7200" b="0" u="none" strike="noStrike">
              <a:solidFill>
                <a:srgbClr val="FFFFFF"/>
              </a:solidFill>
              <a:effectLst/>
              <a:uFillTx/>
              <a:latin typeface="Arial"/>
            </a:endParaRPr>
          </a:p>
        </p:txBody>
      </p:sp>
      <p:sp>
        <p:nvSpPr>
          <p:cNvPr id="694"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Dossier go/no-go</a:t>
            </a:r>
            <a:endParaRPr lang="fr-FR" sz="4200" b="0" u="none" strike="noStrike">
              <a:solidFill>
                <a:srgbClr val="FFFFFF"/>
              </a:solidFill>
              <a:effectLst/>
              <a:uFillTx/>
              <a:latin typeface="Arial"/>
            </a:endParaRPr>
          </a:p>
        </p:txBody>
      </p:sp>
      <p:sp>
        <p:nvSpPr>
          <p:cNvPr id="695" name="PlaceHolder 3"/>
          <p:cNvSpPr>
            <a:spLocks noGrp="1"/>
          </p:cNvSpPr>
          <p:nvPr>
            <p:ph type="sldNum" idx="64"/>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80713B69-2837-4BE7-836A-9D0F846013F1}"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96" name="TextBox 25"/>
          <p:cNvSpPr/>
          <p:nvPr/>
        </p:nvSpPr>
        <p:spPr>
          <a:xfrm>
            <a:off x="640080" y="4892040"/>
            <a:ext cx="6398280" cy="55836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Destinataire : la Directrice Générale. Un rapport court, sans jargon, quatre pages au plus hors annexes.</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7"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Recommandation</a:t>
            </a:r>
            <a:endParaRPr lang="fr-FR" sz="2800" b="0" u="none" strike="noStrike">
              <a:solidFill>
                <a:srgbClr val="FFFFFF"/>
              </a:solidFill>
              <a:effectLst/>
              <a:uFillTx/>
              <a:latin typeface="Arial"/>
            </a:endParaRPr>
          </a:p>
        </p:txBody>
      </p:sp>
      <p:sp>
        <p:nvSpPr>
          <p:cNvPr id="698" name="PlaceHolder 2"/>
          <p:cNvSpPr>
            <a:spLocks noGrp="1"/>
          </p:cNvSpPr>
          <p:nvPr>
            <p:ph type="sldNum" idx="65"/>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ABC78DE4-C6CA-421D-A8D8-3100B19B73DC}"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699"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1 SUR 4</a:t>
            </a:r>
            <a:endParaRPr lang="fr-FR" sz="1100" b="0" u="none" strike="noStrike">
              <a:solidFill>
                <a:srgbClr val="FFFFFF"/>
              </a:solidFill>
              <a:effectLst/>
              <a:uFillTx/>
              <a:latin typeface="Arial"/>
            </a:endParaRPr>
          </a:p>
        </p:txBody>
      </p:sp>
      <p:sp>
        <p:nvSpPr>
          <p:cNvPr id="700"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01"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02"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03" name="Icône target" descr="Icône target"/>
          <p:cNvPicPr/>
          <p:nvPr/>
        </p:nvPicPr>
        <p:blipFill>
          <a:blip r:embed="rId1"/>
          <a:stretch/>
        </p:blipFill>
        <p:spPr>
          <a:xfrm>
            <a:off x="896040" y="1435680"/>
            <a:ext cx="271800" cy="271800"/>
          </a:xfrm>
          <a:prstGeom prst="rect">
            <a:avLst/>
          </a:prstGeom>
          <a:noFill/>
          <a:ln w="0">
            <a:noFill/>
          </a:ln>
        </p:spPr>
      </p:pic>
      <p:sp>
        <p:nvSpPr>
          <p:cNvPr id="704"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05"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recommandation</a:t>
            </a:r>
            <a:r>
              <a:rPr lang="fr-FR" sz="1300" b="0" u="none" strike="noStrike">
                <a:solidFill>
                  <a:srgbClr val="F7F6F2"/>
                </a:solidFill>
                <a:effectLst/>
                <a:uFillTx/>
                <a:latin typeface="Inter"/>
                <a:ea typeface="DejaVu Sans"/>
              </a:rPr>
              <a:t> : GO, NO-GO ou GO sous conditions, dite en une phrase.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1" u="none" strike="noStrike">
                <a:solidFill>
                  <a:srgbClr val="F5A623"/>
                </a:solidFill>
                <a:effectLst/>
                <a:uFillTx/>
                <a:latin typeface="Inter"/>
                <a:ea typeface="DejaVu Sans"/>
              </a:rPr>
              <a:t>Trois raisons chiffrées</a:t>
            </a:r>
            <a:r>
              <a:rPr lang="fr-FR" sz="1300" b="0" u="none" strike="noStrike">
                <a:solidFill>
                  <a:srgbClr val="F7F6F2"/>
                </a:solidFill>
                <a:effectLst/>
                <a:uFillTx/>
                <a:latin typeface="Inter"/>
                <a:ea typeface="DejaVu Sans"/>
              </a:rPr>
              <a:t>, chacune avec sa preuve dans le dépôt.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Lisible par une </a:t>
            </a:r>
            <a:r>
              <a:rPr lang="fr-FR" sz="1300" b="1" u="none" strike="noStrike">
                <a:solidFill>
                  <a:srgbClr val="F5A623"/>
                </a:solidFill>
                <a:effectLst/>
                <a:uFillTx/>
                <a:latin typeface="Inter"/>
                <a:ea typeface="DejaVu Sans"/>
              </a:rPr>
              <a:t>non-technicienne</a:t>
            </a:r>
            <a:r>
              <a:rPr lang="fr-FR" sz="1300" b="0" u="none" strike="noStrike">
                <a:solidFill>
                  <a:srgbClr val="F7F6F2"/>
                </a:solidFill>
                <a:effectLst/>
                <a:uFillTx/>
                <a:latin typeface="Inter"/>
                <a:ea typeface="DejaVu Sans"/>
              </a:rPr>
              <a:t> : aucun sigle sans définition.</a:t>
            </a:r>
            <a:endParaRPr lang="fr-FR" sz="1300" b="0" u="none" strike="noStrike">
              <a:solidFill>
                <a:srgbClr val="FFFFFF"/>
              </a:solidFill>
              <a:effectLst/>
              <a:uFillTx/>
              <a:latin typeface="Arial"/>
            </a:endParaRPr>
          </a:p>
        </p:txBody>
      </p:sp>
      <p:sp>
        <p:nvSpPr>
          <p:cNvPr id="706" name="TextBox 32"/>
          <p:cNvSpPr/>
          <p:nvPr/>
        </p:nvSpPr>
        <p:spPr>
          <a:xfrm>
            <a:off x="640080" y="286884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RECOMMANDATION</a:t>
            </a:r>
            <a:endParaRPr lang="fr-FR" sz="1100" b="0" u="none" strike="noStrike">
              <a:solidFill>
                <a:srgbClr val="FFFFFF"/>
              </a:solidFill>
              <a:effectLst/>
              <a:uFillTx/>
              <a:latin typeface="Arial"/>
            </a:endParaRPr>
          </a:p>
        </p:txBody>
      </p:sp>
      <p:sp>
        <p:nvSpPr>
          <p:cNvPr id="707" name="Zone à rédiger"/>
          <p:cNvSpPr/>
          <p:nvPr/>
        </p:nvSpPr>
        <p:spPr>
          <a:xfrm>
            <a:off x="640080" y="3124440"/>
            <a:ext cx="10906200" cy="802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[GO, NO-GO ou GO sous conditions : une phrase]</a:t>
            </a:r>
            <a:endParaRPr lang="fr-FR" sz="1200" b="0" u="none" strike="noStrike">
              <a:solidFill>
                <a:srgbClr val="FFFFFF"/>
              </a:solidFill>
              <a:effectLst/>
              <a:uFillTx/>
              <a:latin typeface="Arial"/>
            </a:endParaRPr>
          </a:p>
        </p:txBody>
      </p:sp>
      <p:sp>
        <p:nvSpPr>
          <p:cNvPr id="708" name="TextBox 34"/>
          <p:cNvSpPr/>
          <p:nvPr/>
        </p:nvSpPr>
        <p:spPr>
          <a:xfrm>
            <a:off x="640080" y="4103280"/>
            <a:ext cx="35118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1</a:t>
            </a:r>
            <a:endParaRPr lang="fr-FR" sz="1100" b="0" u="none" strike="noStrike">
              <a:solidFill>
                <a:srgbClr val="FFFFFF"/>
              </a:solidFill>
              <a:effectLst/>
              <a:uFillTx/>
              <a:latin typeface="Arial"/>
            </a:endParaRPr>
          </a:p>
        </p:txBody>
      </p:sp>
      <p:sp>
        <p:nvSpPr>
          <p:cNvPr id="709" name="Zone à rédiger"/>
          <p:cNvSpPr/>
          <p:nvPr/>
        </p:nvSpPr>
        <p:spPr>
          <a:xfrm>
            <a:off x="640080" y="4358880"/>
            <a:ext cx="3511800" cy="1765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
        <p:nvSpPr>
          <p:cNvPr id="710" name="TextBox 36"/>
          <p:cNvSpPr/>
          <p:nvPr/>
        </p:nvSpPr>
        <p:spPr>
          <a:xfrm>
            <a:off x="4337280" y="4103280"/>
            <a:ext cx="35118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2</a:t>
            </a:r>
            <a:endParaRPr lang="fr-FR" sz="1100" b="0" u="none" strike="noStrike">
              <a:solidFill>
                <a:srgbClr val="FFFFFF"/>
              </a:solidFill>
              <a:effectLst/>
              <a:uFillTx/>
              <a:latin typeface="Arial"/>
            </a:endParaRPr>
          </a:p>
        </p:txBody>
      </p:sp>
      <p:sp>
        <p:nvSpPr>
          <p:cNvPr id="711" name="Zone à rédiger"/>
          <p:cNvSpPr/>
          <p:nvPr/>
        </p:nvSpPr>
        <p:spPr>
          <a:xfrm>
            <a:off x="4337280" y="4358880"/>
            <a:ext cx="3511800" cy="1765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
        <p:nvSpPr>
          <p:cNvPr id="712" name="TextBox 38"/>
          <p:cNvSpPr/>
          <p:nvPr/>
        </p:nvSpPr>
        <p:spPr>
          <a:xfrm>
            <a:off x="8034480" y="4103280"/>
            <a:ext cx="35118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RAISON CHIFFRÉE 3</a:t>
            </a:r>
            <a:endParaRPr lang="fr-FR" sz="1100" b="0" u="none" strike="noStrike">
              <a:solidFill>
                <a:srgbClr val="FFFFFF"/>
              </a:solidFill>
              <a:effectLst/>
              <a:uFillTx/>
              <a:latin typeface="Arial"/>
            </a:endParaRPr>
          </a:p>
        </p:txBody>
      </p:sp>
      <p:sp>
        <p:nvSpPr>
          <p:cNvPr id="713" name="Zone à rédiger"/>
          <p:cNvSpPr/>
          <p:nvPr/>
        </p:nvSpPr>
        <p:spPr>
          <a:xfrm>
            <a:off x="8034480" y="4358880"/>
            <a:ext cx="3511800" cy="17650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[Chiffre, couche, preuve]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Les preuves</a:t>
            </a:r>
            <a:endParaRPr lang="fr-FR" sz="2800" b="0" u="none" strike="noStrike">
              <a:solidFill>
                <a:srgbClr val="FFFFFF"/>
              </a:solidFill>
              <a:effectLst/>
              <a:uFillTx/>
              <a:latin typeface="Arial"/>
            </a:endParaRPr>
          </a:p>
        </p:txBody>
      </p:sp>
      <p:sp>
        <p:nvSpPr>
          <p:cNvPr id="715" name="PlaceHolder 2"/>
          <p:cNvSpPr>
            <a:spLocks noGrp="1"/>
          </p:cNvSpPr>
          <p:nvPr>
            <p:ph type="sldNum" idx="66"/>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70B93A74-9F8F-49C7-B88F-3BD8D64986F0}"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16"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2 SUR 4</a:t>
            </a:r>
            <a:endParaRPr lang="fr-FR" sz="1100" b="0" u="none" strike="noStrike">
              <a:solidFill>
                <a:srgbClr val="FFFFFF"/>
              </a:solidFill>
              <a:effectLst/>
              <a:uFillTx/>
              <a:latin typeface="Arial"/>
            </a:endParaRPr>
          </a:p>
        </p:txBody>
      </p:sp>
      <p:sp>
        <p:nvSpPr>
          <p:cNvPr id="717"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18"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19"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20" name="Icône target" descr="Icône target"/>
          <p:cNvPicPr/>
          <p:nvPr/>
        </p:nvPicPr>
        <p:blipFill>
          <a:blip r:embed="rId1"/>
          <a:stretch/>
        </p:blipFill>
        <p:spPr>
          <a:xfrm>
            <a:off x="896040" y="1435680"/>
            <a:ext cx="271800" cy="271800"/>
          </a:xfrm>
          <a:prstGeom prst="rect">
            <a:avLst/>
          </a:prstGeom>
          <a:noFill/>
          <a:ln w="0">
            <a:noFill/>
          </a:ln>
        </p:spPr>
      </p:pic>
      <p:sp>
        <p:nvSpPr>
          <p:cNvPr id="721"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22"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qualité </a:t>
            </a:r>
            <a:r>
              <a:rPr lang="fr-FR" sz="1300" b="1" u="none" strike="noStrike">
                <a:solidFill>
                  <a:srgbClr val="F5A623"/>
                </a:solidFill>
                <a:effectLst/>
                <a:uFillTx/>
                <a:latin typeface="Inter"/>
                <a:ea typeface="DejaVu Sans"/>
              </a:rPr>
              <a:t>par dimension et par couche</a:t>
            </a:r>
            <a:r>
              <a:rPr lang="fr-FR" sz="1300" b="0" u="none" strike="noStrike">
                <a:solidFill>
                  <a:srgbClr val="F7F6F2"/>
                </a:solidFill>
                <a:effectLst/>
                <a:uFillTx/>
                <a:latin typeface="Inter"/>
                <a:ea typeface="DejaVu Sans"/>
              </a:rPr>
              <a:t>, face au </a:t>
            </a:r>
            <a:r>
              <a:rPr lang="fr-FR" sz="1300" b="1" u="none" strike="noStrike">
                <a:solidFill>
                  <a:srgbClr val="F5A623"/>
                </a:solidFill>
                <a:effectLst/>
                <a:uFillTx/>
                <a:latin typeface="Inter"/>
                <a:ea typeface="DejaVu Sans"/>
              </a:rPr>
              <a:t>seuil visé</a:t>
            </a:r>
            <a:r>
              <a:rPr lang="fr-FR" sz="1300" b="0" u="none" strike="noStrike">
                <a:solidFill>
                  <a:srgbClr val="F7F6F2"/>
                </a:solidFill>
                <a:effectLst/>
                <a:uFillTx/>
                <a:latin typeface="Inter"/>
                <a:ea typeface="DejaVu Sans"/>
              </a:rPr>
              <a:t>.</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 </a:t>
            </a:r>
            <a:r>
              <a:rPr lang="fr-FR" sz="1300" b="1" u="none" strike="noStrike">
                <a:solidFill>
                  <a:srgbClr val="F5A623"/>
                </a:solidFill>
                <a:effectLst/>
                <a:uFillTx/>
                <a:latin typeface="Inter"/>
                <a:ea typeface="DejaVu Sans"/>
              </a:rPr>
              <a:t>certificat</a:t>
            </a:r>
            <a:r>
              <a:rPr lang="fr-FR" sz="1300" b="0" u="none" strike="noStrike">
                <a:solidFill>
                  <a:srgbClr val="F7F6F2"/>
                </a:solidFill>
                <a:effectLst/>
                <a:uFillTx/>
                <a:latin typeface="Inter"/>
                <a:ea typeface="DejaVu Sans"/>
              </a:rPr>
              <a:t> joint (numéro, décision, empreinte) et les </a:t>
            </a:r>
            <a:r>
              <a:rPr lang="fr-FR" sz="1300" b="1" u="none" strike="noStrike">
                <a:solidFill>
                  <a:srgbClr val="F5A623"/>
                </a:solidFill>
                <a:effectLst/>
                <a:uFillTx/>
                <a:latin typeface="Inter"/>
                <a:ea typeface="DejaVu Sans"/>
              </a:rPr>
              <a:t>trois données retracées</a:t>
            </a:r>
            <a:r>
              <a:rPr lang="fr-FR" sz="1300" b="0" u="none" strike="noStrike">
                <a:solidFill>
                  <a:srgbClr val="F7F6F2"/>
                </a:solidFill>
                <a:effectLst/>
                <a:uFillTx/>
                <a:latin typeface="Inter"/>
                <a:ea typeface="DejaVu Sans"/>
              </a:rPr>
              <a:t> en trois lignes.</a:t>
            </a:r>
            <a:endParaRPr lang="fr-FR" sz="1300" b="0" u="none" strike="noStrike">
              <a:solidFill>
                <a:srgbClr val="FFFFFF"/>
              </a:solidFill>
              <a:effectLst/>
              <a:uFillTx/>
              <a:latin typeface="Arial"/>
            </a:endParaRPr>
          </a:p>
        </p:txBody>
      </p:sp>
      <p:graphicFrame>
        <p:nvGraphicFramePr>
          <p:cNvPr id="723" name="Table 32"/>
          <p:cNvGraphicFramePr/>
          <p:nvPr/>
        </p:nvGraphicFramePr>
        <p:xfrm>
          <a:off x="640080" y="2534040"/>
          <a:ext cx="10908360" cy="1828800"/>
        </p:xfrm>
        <a:graphic>
          <a:graphicData uri="http://schemas.openxmlformats.org/drawingml/2006/table">
            <a:tbl>
              <a:tblPr/>
              <a:tblGrid>
                <a:gridCol w="2377440"/>
                <a:gridCol w="1645920"/>
                <a:gridCol w="1645920"/>
                <a:gridCol w="1645920"/>
                <a:gridCol w="1737360"/>
                <a:gridCol w="18561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Dimension</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Bronze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Silver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Gold</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Seuil visé</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Atteint ?</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Unicité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Complétude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Validité</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Cohérence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24" name="TextBox 33"/>
          <p:cNvSpPr/>
          <p:nvPr/>
        </p:nvSpPr>
        <p:spPr>
          <a:xfrm>
            <a:off x="640080" y="453708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CERTIFICAT JOINT</a:t>
            </a:r>
            <a:endParaRPr lang="fr-FR" sz="1100" b="0" u="none" strike="noStrike">
              <a:solidFill>
                <a:srgbClr val="FFFFFF"/>
              </a:solidFill>
              <a:effectLst/>
              <a:uFillTx/>
              <a:latin typeface="Arial"/>
            </a:endParaRPr>
          </a:p>
        </p:txBody>
      </p:sp>
      <p:sp>
        <p:nvSpPr>
          <p:cNvPr id="725" name="Zone à rédiger"/>
          <p:cNvSpPr/>
          <p:nvPr/>
        </p:nvSpPr>
        <p:spPr>
          <a:xfrm>
            <a:off x="640080" y="4792680"/>
            <a:ext cx="5346720" cy="1331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[Numéro, décision, empreinte]</a:t>
            </a:r>
            <a:endParaRPr lang="fr-FR" sz="1200" b="0" u="none" strike="noStrike">
              <a:solidFill>
                <a:srgbClr val="FFFFFF"/>
              </a:solidFill>
              <a:effectLst/>
              <a:uFillTx/>
              <a:latin typeface="Arial"/>
            </a:endParaRPr>
          </a:p>
        </p:txBody>
      </p:sp>
      <p:sp>
        <p:nvSpPr>
          <p:cNvPr id="726" name="TextBox 35"/>
          <p:cNvSpPr/>
          <p:nvPr/>
        </p:nvSpPr>
        <p:spPr>
          <a:xfrm>
            <a:off x="6199560" y="453708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TROIS DONNÉES RETRACÉES, EN TROIS LIGNES</a:t>
            </a:r>
            <a:endParaRPr lang="fr-FR" sz="1100" b="0" u="none" strike="noStrike">
              <a:solidFill>
                <a:srgbClr val="FFFFFF"/>
              </a:solidFill>
              <a:effectLst/>
              <a:uFillTx/>
              <a:latin typeface="Arial"/>
            </a:endParaRPr>
          </a:p>
        </p:txBody>
      </p:sp>
      <p:sp>
        <p:nvSpPr>
          <p:cNvPr id="727" name="Zone à rédiger"/>
          <p:cNvSpPr/>
          <p:nvPr/>
        </p:nvSpPr>
        <p:spPr>
          <a:xfrm>
            <a:off x="6199560" y="4792680"/>
            <a:ext cx="5346720" cy="1331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8"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Les écarts</a:t>
            </a:r>
            <a:endParaRPr lang="fr-FR" sz="2800" b="0" u="none" strike="noStrike">
              <a:solidFill>
                <a:srgbClr val="FFFFFF"/>
              </a:solidFill>
              <a:effectLst/>
              <a:uFillTx/>
              <a:latin typeface="Arial"/>
            </a:endParaRPr>
          </a:p>
        </p:txBody>
      </p:sp>
      <p:sp>
        <p:nvSpPr>
          <p:cNvPr id="729" name="PlaceHolder 2"/>
          <p:cNvSpPr>
            <a:spLocks noGrp="1"/>
          </p:cNvSpPr>
          <p:nvPr>
            <p:ph type="sldNum" idx="67"/>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8D80A8A-382A-4269-A16C-F3BFB3736D52}"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30"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3 SUR 4</a:t>
            </a:r>
            <a:endParaRPr lang="fr-FR" sz="1100" b="0" u="none" strike="noStrike">
              <a:solidFill>
                <a:srgbClr val="FFFFFF"/>
              </a:solidFill>
              <a:effectLst/>
              <a:uFillTx/>
              <a:latin typeface="Arial"/>
            </a:endParaRPr>
          </a:p>
        </p:txBody>
      </p:sp>
      <p:sp>
        <p:nvSpPr>
          <p:cNvPr id="731"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32"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33"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34" name="Icône target" descr="Icône target"/>
          <p:cNvPicPr/>
          <p:nvPr/>
        </p:nvPicPr>
        <p:blipFill>
          <a:blip r:embed="rId1"/>
          <a:stretch/>
        </p:blipFill>
        <p:spPr>
          <a:xfrm>
            <a:off x="896040" y="1435680"/>
            <a:ext cx="271800" cy="271800"/>
          </a:xfrm>
          <a:prstGeom prst="rect">
            <a:avLst/>
          </a:prstGeom>
          <a:noFill/>
          <a:ln w="0">
            <a:noFill/>
          </a:ln>
        </p:spPr>
      </p:pic>
      <p:sp>
        <p:nvSpPr>
          <p:cNvPr id="735"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36" name="TextBox 31"/>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anomalies résiduelles</a:t>
            </a:r>
            <a:r>
              <a:rPr lang="fr-FR" sz="1300" b="0" u="none" strike="noStrike">
                <a:solidFill>
                  <a:srgbClr val="F7F6F2"/>
                </a:solidFill>
                <a:effectLst/>
                <a:uFillTx/>
                <a:latin typeface="Inter"/>
                <a:ea typeface="DejaVu Sans"/>
              </a:rPr>
              <a:t> chiffrées, les lignes en </a:t>
            </a:r>
            <a:r>
              <a:rPr lang="fr-FR" sz="1300" b="1" u="none" strike="noStrike">
                <a:solidFill>
                  <a:srgbClr val="F5A623"/>
                </a:solidFill>
                <a:effectLst/>
                <a:uFillTx/>
                <a:latin typeface="Inter"/>
                <a:ea typeface="DejaVu Sans"/>
              </a:rPr>
              <a:t>quarantaine par règle</a:t>
            </a:r>
            <a:r>
              <a:rPr lang="fr-FR" sz="1300" b="0" u="none" strike="noStrike">
                <a:solidFill>
                  <a:srgbClr val="F7F6F2"/>
                </a:solidFill>
                <a:effectLst/>
                <a:uFillTx/>
                <a:latin typeface="Inter"/>
                <a:ea typeface="DejaVu Sans"/>
              </a:rPr>
              <a:t>, les </a:t>
            </a:r>
            <a:r>
              <a:rPr lang="fr-FR" sz="1300" b="1" u="none" strike="noStrike">
                <a:solidFill>
                  <a:srgbClr val="F5A623"/>
                </a:solidFill>
                <a:effectLst/>
                <a:uFillTx/>
                <a:latin typeface="Inter"/>
                <a:ea typeface="DejaVu Sans"/>
              </a:rPr>
              <a:t>avertissements</a:t>
            </a:r>
            <a:r>
              <a:rPr lang="fr-FR" sz="1300" b="0" u="none" strike="noStrike">
                <a:solidFill>
                  <a:srgbClr val="F7F6F2"/>
                </a:solidFill>
                <a:effectLst/>
                <a:uFillTx/>
                <a:latin typeface="Inter"/>
                <a:ea typeface="DejaVu Sans"/>
              </a:rPr>
              <a:t> restants.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hypothèses à faire valider</a:t>
            </a:r>
            <a:r>
              <a:rPr lang="fr-FR" sz="1300" b="0" u="none" strike="noStrike">
                <a:solidFill>
                  <a:srgbClr val="F7F6F2"/>
                </a:solidFill>
                <a:effectLst/>
                <a:uFillTx/>
                <a:latin typeface="Inter"/>
                <a:ea typeface="DejaVu Sans"/>
              </a:rPr>
              <a:t> par le métier : listées, jamais cachées.</a:t>
            </a:r>
            <a:endParaRPr lang="fr-FR" sz="1300" b="0" u="none" strike="noStrike">
              <a:solidFill>
                <a:srgbClr val="FFFFFF"/>
              </a:solidFill>
              <a:effectLst/>
              <a:uFillTx/>
              <a:latin typeface="Arial"/>
            </a:endParaRPr>
          </a:p>
        </p:txBody>
      </p:sp>
      <p:graphicFrame>
        <p:nvGraphicFramePr>
          <p:cNvPr id="737" name="Table 32"/>
          <p:cNvGraphicFramePr/>
          <p:nvPr/>
        </p:nvGraphicFramePr>
        <p:xfrm>
          <a:off x="640080" y="2534040"/>
          <a:ext cx="10908360" cy="1828800"/>
        </p:xfrm>
        <a:graphic>
          <a:graphicData uri="http://schemas.openxmlformats.org/drawingml/2006/table">
            <a:tbl>
              <a:tblPr/>
              <a:tblGrid>
                <a:gridCol w="3200400"/>
                <a:gridCol w="1371600"/>
                <a:gridCol w="1280160"/>
                <a:gridCol w="3136320"/>
                <a:gridCol w="1920240"/>
              </a:tblGrid>
              <a:tr h="365760">
                <a:tc>
                  <a:txBody>
                    <a:bodyPr lIns="73080" rIns="73080" anchor="ctr">
                      <a:noAutofit/>
                    </a:bodyPr>
                    <a:p>
                      <a:pPr>
                        <a:lnSpc>
                          <a:spcPct val="100000"/>
                        </a:lnSpc>
                      </a:pPr>
                      <a:r>
                        <a:rPr lang="en-US" sz="1050" b="1" u="none" spc="45" strike="noStrike">
                          <a:solidFill>
                            <a:srgbClr val="F5A623"/>
                          </a:solidFill>
                          <a:effectLst/>
                          <a:uFillTx/>
                          <a:latin typeface="Inter"/>
                        </a:rPr>
                        <a:t>Écart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Chiffre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Règle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Conséquence pour le CRM</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Qui doit agir</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Anomalies résiduelles dans gold</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Lignes en quarantaine, par règle</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Avertissements restants</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150" b="1" u="none" strike="noStrike">
                          <a:solidFill>
                            <a:srgbClr val="F7F6F2"/>
                          </a:solidFill>
                          <a:effectLst/>
                          <a:uFillTx/>
                          <a:latin typeface="Inter"/>
                        </a:rPr>
                        <a:t>Règles non couvertes par le certificat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38" name="TextBox 33"/>
          <p:cNvSpPr/>
          <p:nvPr/>
        </p:nvSpPr>
        <p:spPr>
          <a:xfrm>
            <a:off x="640080" y="453708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HYPOTHÈSES À FAIRE VALIDER PAR LE MÉTIER</a:t>
            </a:r>
            <a:endParaRPr lang="fr-FR" sz="1100" b="0" u="none" strike="noStrike">
              <a:solidFill>
                <a:srgbClr val="FFFFFF"/>
              </a:solidFill>
              <a:effectLst/>
              <a:uFillTx/>
              <a:latin typeface="Arial"/>
            </a:endParaRPr>
          </a:p>
        </p:txBody>
      </p:sp>
      <p:sp>
        <p:nvSpPr>
          <p:cNvPr id="739" name="Zone à rédiger"/>
          <p:cNvSpPr/>
          <p:nvPr/>
        </p:nvSpPr>
        <p:spPr>
          <a:xfrm>
            <a:off x="640080" y="4792680"/>
            <a:ext cx="10906200" cy="1331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[Listez-les, une par ligne]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0"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La décision</a:t>
            </a:r>
            <a:endParaRPr lang="fr-FR" sz="2800" b="0" u="none" strike="noStrike">
              <a:solidFill>
                <a:srgbClr val="FFFFFF"/>
              </a:solidFill>
              <a:effectLst/>
              <a:uFillTx/>
              <a:latin typeface="Arial"/>
            </a:endParaRPr>
          </a:p>
        </p:txBody>
      </p:sp>
      <p:sp>
        <p:nvSpPr>
          <p:cNvPr id="741" name="PlaceHolder 2"/>
          <p:cNvSpPr>
            <a:spLocks noGrp="1"/>
          </p:cNvSpPr>
          <p:nvPr>
            <p:ph type="sldNum" idx="68"/>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330EF513-0B84-4A24-84FC-89A4CEA59CD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42"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DOSSIER · 4 SUR 4</a:t>
            </a:r>
            <a:endParaRPr lang="fr-FR" sz="1100" b="0" u="none" strike="noStrike">
              <a:solidFill>
                <a:srgbClr val="FFFFFF"/>
              </a:solidFill>
              <a:effectLst/>
              <a:uFillTx/>
              <a:latin typeface="Arial"/>
            </a:endParaRPr>
          </a:p>
        </p:txBody>
      </p:sp>
      <p:sp>
        <p:nvSpPr>
          <p:cNvPr id="743"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44" name="Attendu"/>
          <p:cNvSpPr/>
          <p:nvPr/>
        </p:nvSpPr>
        <p:spPr>
          <a:xfrm>
            <a:off x="640080" y="1325880"/>
            <a:ext cx="10906200" cy="1320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45" name="Attendu barre"/>
          <p:cNvSpPr/>
          <p:nvPr/>
        </p:nvSpPr>
        <p:spPr>
          <a:xfrm>
            <a:off x="640080" y="1325880"/>
            <a:ext cx="79920" cy="1320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46" name="Icône target" descr="Icône target"/>
          <p:cNvPicPr/>
          <p:nvPr/>
        </p:nvPicPr>
        <p:blipFill>
          <a:blip r:embed="rId1"/>
          <a:stretch/>
        </p:blipFill>
        <p:spPr>
          <a:xfrm>
            <a:off x="896040" y="1435680"/>
            <a:ext cx="271800" cy="271800"/>
          </a:xfrm>
          <a:prstGeom prst="rect">
            <a:avLst/>
          </a:prstGeom>
          <a:noFill/>
          <a:ln w="0">
            <a:noFill/>
          </a:ln>
        </p:spPr>
      </p:pic>
      <p:sp>
        <p:nvSpPr>
          <p:cNvPr id="747"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48" name="TextBox 31"/>
          <p:cNvSpPr/>
          <p:nvPr/>
        </p:nvSpPr>
        <p:spPr>
          <a:xfrm>
            <a:off x="914400" y="1783080"/>
            <a:ext cx="10357560" cy="716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seuils retenus</a:t>
            </a:r>
            <a:r>
              <a:rPr lang="fr-FR" sz="1300" b="0" u="none" strike="noStrike">
                <a:solidFill>
                  <a:srgbClr val="F7F6F2"/>
                </a:solidFill>
                <a:effectLst/>
                <a:uFillTx/>
                <a:latin typeface="Inter"/>
                <a:ea typeface="DejaVu Sans"/>
              </a:rPr>
              <a:t>, justifiés devant le </a:t>
            </a:r>
            <a:r>
              <a:rPr lang="fr-FR" sz="1300" b="1" u="none" strike="noStrike">
                <a:solidFill>
                  <a:srgbClr val="F5A623"/>
                </a:solidFill>
                <a:effectLst/>
                <a:uFillTx/>
                <a:latin typeface="Inter"/>
                <a:ea typeface="DejaVu Sans"/>
              </a:rPr>
              <a:t>Data Owner</a:t>
            </a:r>
            <a:r>
              <a:rPr lang="fr-FR" sz="1300" b="0" u="none" strike="noStrike">
                <a:solidFill>
                  <a:srgbClr val="F7F6F2"/>
                </a:solidFill>
                <a:effectLst/>
                <a:uFillTx/>
                <a:latin typeface="Inter"/>
                <a:ea typeface="DejaVu Sans"/>
              </a:rPr>
              <a:t> (numéros du journal des décisions).</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Les </a:t>
            </a:r>
            <a:r>
              <a:rPr lang="fr-FR" sz="1300" b="1" u="none" strike="noStrike">
                <a:solidFill>
                  <a:srgbClr val="F5A623"/>
                </a:solidFill>
                <a:effectLst/>
                <a:uFillTx/>
                <a:latin typeface="Inter"/>
                <a:ea typeface="DejaVu Sans"/>
              </a:rPr>
              <a:t>rôles</a:t>
            </a:r>
            <a:r>
              <a:rPr lang="fr-FR" sz="1300" b="0" u="none" strike="noStrike">
                <a:solidFill>
                  <a:srgbClr val="F7F6F2"/>
                </a:solidFill>
                <a:effectLst/>
                <a:uFillTx/>
                <a:latin typeface="Inter"/>
                <a:ea typeface="DejaVu Sans"/>
              </a:rPr>
              <a:t> : qui décide, qui contrôle, qui exécute ; les </a:t>
            </a:r>
            <a:r>
              <a:rPr lang="fr-FR" sz="1300" b="1" u="none" strike="noStrike">
                <a:solidFill>
                  <a:srgbClr val="F5A623"/>
                </a:solidFill>
                <a:effectLst/>
                <a:uFillTx/>
                <a:latin typeface="Inter"/>
                <a:ea typeface="DejaVu Sans"/>
              </a:rPr>
              <a:t>conditions</a:t>
            </a:r>
            <a:r>
              <a:rPr lang="fr-FR" sz="1300" b="0" u="none" strike="noStrike">
                <a:solidFill>
                  <a:srgbClr val="F7F6F2"/>
                </a:solidFill>
                <a:effectLst/>
                <a:uFillTx/>
                <a:latin typeface="Inter"/>
                <a:ea typeface="DejaVu Sans"/>
              </a:rPr>
              <a:t> à lever, avec échéance et responsable.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 </a:t>
            </a:r>
            <a:r>
              <a:rPr lang="fr-FR" sz="1300" b="1" u="none" strike="noStrike">
                <a:solidFill>
                  <a:srgbClr val="F5A623"/>
                </a:solidFill>
                <a:effectLst/>
                <a:uFillTx/>
                <a:latin typeface="Inter"/>
                <a:ea typeface="DejaVu Sans"/>
              </a:rPr>
              <a:t>signature</a:t>
            </a:r>
            <a:r>
              <a:rPr lang="fr-FR" sz="1300" b="0" u="none" strike="noStrike">
                <a:solidFill>
                  <a:srgbClr val="F7F6F2"/>
                </a:solidFill>
                <a:effectLst/>
                <a:uFillTx/>
                <a:latin typeface="Inter"/>
                <a:ea typeface="DejaVu Sans"/>
              </a:rPr>
              <a:t> du Data Owner.</a:t>
            </a:r>
            <a:endParaRPr lang="fr-FR" sz="1300" b="0" u="none" strike="noStrike">
              <a:solidFill>
                <a:srgbClr val="FFFFFF"/>
              </a:solidFill>
              <a:effectLst/>
              <a:uFillTx/>
              <a:latin typeface="Arial"/>
            </a:endParaRPr>
          </a:p>
        </p:txBody>
      </p:sp>
      <p:sp>
        <p:nvSpPr>
          <p:cNvPr id="749" name="TextBox 32"/>
          <p:cNvSpPr/>
          <p:nvPr/>
        </p:nvSpPr>
        <p:spPr>
          <a:xfrm>
            <a:off x="640080" y="28688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SEUILS RETENUS ET JUSTIFICATION</a:t>
            </a:r>
            <a:endParaRPr lang="fr-FR" sz="1100" b="0" u="none" strike="noStrike">
              <a:solidFill>
                <a:srgbClr val="FFFFFF"/>
              </a:solidFill>
              <a:effectLst/>
              <a:uFillTx/>
              <a:latin typeface="Arial"/>
            </a:endParaRPr>
          </a:p>
        </p:txBody>
      </p:sp>
      <p:sp>
        <p:nvSpPr>
          <p:cNvPr id="750" name="Zone à rédiger"/>
          <p:cNvSpPr/>
          <p:nvPr/>
        </p:nvSpPr>
        <p:spPr>
          <a:xfrm>
            <a:off x="640080" y="3124440"/>
            <a:ext cx="534672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[Renvoi au journal, numéros]</a:t>
            </a:r>
            <a:endParaRPr lang="fr-FR" sz="1200" b="0" u="none" strike="noStrike">
              <a:solidFill>
                <a:srgbClr val="FFFFFF"/>
              </a:solidFill>
              <a:effectLst/>
              <a:uFillTx/>
              <a:latin typeface="Arial"/>
            </a:endParaRPr>
          </a:p>
        </p:txBody>
      </p:sp>
      <p:sp>
        <p:nvSpPr>
          <p:cNvPr id="751" name="TextBox 34"/>
          <p:cNvSpPr/>
          <p:nvPr/>
        </p:nvSpPr>
        <p:spPr>
          <a:xfrm>
            <a:off x="6199560" y="2868840"/>
            <a:ext cx="534672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RÔLES : DÉCIDE, CONTRÔLE, EXÉCUTE</a:t>
            </a:r>
            <a:endParaRPr lang="fr-FR" sz="1100" b="0" u="none" strike="noStrike">
              <a:solidFill>
                <a:srgbClr val="FFFFFF"/>
              </a:solidFill>
              <a:effectLst/>
              <a:uFillTx/>
              <a:latin typeface="Arial"/>
            </a:endParaRPr>
          </a:p>
        </p:txBody>
      </p:sp>
      <p:sp>
        <p:nvSpPr>
          <p:cNvPr id="752" name="Zone à rédiger"/>
          <p:cNvSpPr/>
          <p:nvPr/>
        </p:nvSpPr>
        <p:spPr>
          <a:xfrm>
            <a:off x="6199560" y="3124440"/>
            <a:ext cx="534672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[Rédigez ici]</a:t>
            </a:r>
            <a:endParaRPr lang="fr-FR" sz="1200" b="0" u="none" strike="noStrike">
              <a:solidFill>
                <a:srgbClr val="FFFFFF"/>
              </a:solidFill>
              <a:effectLst/>
              <a:uFillTx/>
              <a:latin typeface="Arial"/>
            </a:endParaRPr>
          </a:p>
        </p:txBody>
      </p:sp>
      <p:graphicFrame>
        <p:nvGraphicFramePr>
          <p:cNvPr id="753" name="Table 36"/>
          <p:cNvGraphicFramePr/>
          <p:nvPr/>
        </p:nvGraphicFramePr>
        <p:xfrm>
          <a:off x="640080" y="4340520"/>
          <a:ext cx="10908360" cy="1042200"/>
        </p:xfrm>
        <a:graphic>
          <a:graphicData uri="http://schemas.openxmlformats.org/drawingml/2006/table">
            <a:tbl>
              <a:tblPr/>
              <a:tblGrid>
                <a:gridCol w="6217920"/>
                <a:gridCol w="2560320"/>
                <a:gridCol w="2130480"/>
              </a:tblGrid>
              <a:tr h="347400">
                <a:tc>
                  <a:txBody>
                    <a:bodyPr lIns="73080" rIns="73080" anchor="ctr">
                      <a:noAutofit/>
                    </a:bodyPr>
                    <a:p>
                      <a:pPr>
                        <a:lnSpc>
                          <a:spcPct val="100000"/>
                        </a:lnSpc>
                      </a:pPr>
                      <a:r>
                        <a:rPr lang="en-US" sz="1050" b="1" u="none" spc="45" strike="noStrike">
                          <a:solidFill>
                            <a:srgbClr val="F5A623"/>
                          </a:solidFill>
                          <a:effectLst/>
                          <a:uFillTx/>
                          <a:latin typeface="Inter"/>
                        </a:rPr>
                        <a:t>Condition à lever avant migration</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Responsable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050" b="1" u="none" spc="45" strike="noStrike">
                          <a:solidFill>
                            <a:srgbClr val="F5A623"/>
                          </a:solidFill>
                          <a:effectLst/>
                          <a:uFillTx/>
                          <a:latin typeface="Inter"/>
                        </a:rPr>
                        <a:t>Échéance</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150" b="0" u="none" strike="noStrike">
                          <a:solidFill>
                            <a:srgbClr val="F5A623"/>
                          </a:solidFill>
                          <a:effectLst/>
                          <a:uFillTx/>
                          <a:latin typeface="Inter"/>
                        </a:rPr>
                        <a:t>…</a:t>
                      </a:r>
                      <a:endParaRPr lang="fr-FR" sz="11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54" name="TextBox 37"/>
          <p:cNvSpPr/>
          <p:nvPr/>
        </p:nvSpPr>
        <p:spPr>
          <a:xfrm>
            <a:off x="640080" y="5557320"/>
            <a:ext cx="10906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05" strike="noStrike">
                <a:solidFill>
                  <a:srgbClr val="F5A623"/>
                </a:solidFill>
                <a:effectLst/>
                <a:uFillTx/>
                <a:latin typeface="Inter"/>
                <a:ea typeface="DejaVu Sans"/>
              </a:rPr>
              <a:t>SIGNATURE DU DATA OWNER (NOM, RÔLE, DATE)</a:t>
            </a:r>
            <a:endParaRPr lang="fr-FR" sz="1100" b="0" u="none" strike="noStrike">
              <a:solidFill>
                <a:srgbClr val="FFFFFF"/>
              </a:solidFill>
              <a:effectLst/>
              <a:uFillTx/>
              <a:latin typeface="Arial"/>
            </a:endParaRPr>
          </a:p>
        </p:txBody>
      </p:sp>
      <p:sp>
        <p:nvSpPr>
          <p:cNvPr id="755" name="Zone à rédiger"/>
          <p:cNvSpPr/>
          <p:nvPr/>
        </p:nvSpPr>
        <p:spPr>
          <a:xfrm>
            <a:off x="640080" y="5812920"/>
            <a:ext cx="10906200" cy="3110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tIns="73080" rIns="137160" bIns="73080" anchor="t">
            <a:noAutofit/>
          </a:bodyPr>
          <a:p>
            <a:pPr>
              <a:lnSpc>
                <a:spcPct val="100000"/>
              </a:lnSpc>
            </a:pPr>
            <a:r>
              <a:rPr lang="fr-FR" sz="1200" b="0" i="1" u="none" strike="noStrike">
                <a:solidFill>
                  <a:srgbClr val="8E99A4"/>
                </a:solidFill>
                <a:effectLst/>
                <a:uFillTx/>
                <a:latin typeface="Inter"/>
                <a:ea typeface="DejaVu Sans"/>
              </a:rPr>
              <a:t>[Nom, rôle, date]</a:t>
            </a:r>
            <a:endParaRPr lang="fr-FR" sz="1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p:nvPr>
        </p:nvSpPr>
        <p:spPr>
          <a:xfrm>
            <a:off x="640080" y="2011680"/>
            <a:ext cx="2740680" cy="1186200"/>
          </a:xfrm>
          <a:prstGeom prst="rect">
            <a:avLst/>
          </a:prstGeom>
          <a:noFill/>
          <a:ln w="0">
            <a:noFill/>
          </a:ln>
        </p:spPr>
        <p:txBody>
          <a:bodyPr lIns="90000" tIns="45000" rIns="90000" bIns="45000" anchor="t">
            <a:noAutofit/>
          </a:bodyPr>
          <a:p>
            <a:pPr indent="0" algn="l">
              <a:lnSpc>
                <a:spcPct val="100000"/>
              </a:lnSpc>
              <a:spcBef>
                <a:spcPts val="1440"/>
              </a:spcBef>
              <a:buNone/>
              <a:tabLst>
                <a:tab pos="0" algn="l"/>
              </a:tabLst>
            </a:pPr>
            <a:r>
              <a:rPr lang="en-US" sz="7200" b="0" u="none" strike="noStrike">
                <a:solidFill>
                  <a:srgbClr val="F5A623"/>
                </a:solidFill>
                <a:effectLst/>
                <a:uFillTx/>
                <a:latin typeface="Fraunces SemiBold"/>
                <a:ea typeface="Fraunces SemiBold"/>
              </a:rPr>
              <a:t>07</a:t>
            </a:r>
            <a:endParaRPr lang="fr-FR" sz="7200" b="0" u="none" strike="noStrike">
              <a:solidFill>
                <a:srgbClr val="FFFFFF"/>
              </a:solidFill>
              <a:effectLst/>
              <a:uFillTx/>
              <a:latin typeface="Arial"/>
            </a:endParaRPr>
          </a:p>
        </p:txBody>
      </p:sp>
      <p:sp>
        <p:nvSpPr>
          <p:cNvPr id="757" name="PlaceHolder 2"/>
          <p:cNvSpPr>
            <a:spLocks noGrp="1"/>
          </p:cNvSpPr>
          <p:nvPr>
            <p:ph type="title"/>
          </p:nvPr>
        </p:nvSpPr>
        <p:spPr>
          <a:xfrm>
            <a:off x="640080" y="3200400"/>
            <a:ext cx="6581160" cy="1643400"/>
          </a:xfrm>
          <a:prstGeom prst="rect">
            <a:avLst/>
          </a:prstGeom>
          <a:noFill/>
          <a:ln w="0">
            <a:noFill/>
          </a:ln>
        </p:spPr>
        <p:txBody>
          <a:bodyPr lIns="90000" tIns="45000" rIns="90000" bIns="45000" anchor="t">
            <a:noAutofit/>
          </a:bodyPr>
          <a:p>
            <a:pPr indent="0" algn="l">
              <a:lnSpc>
                <a:spcPct val="100000"/>
              </a:lnSpc>
              <a:buNone/>
              <a:tabLst>
                <a:tab pos="0" algn="l"/>
              </a:tabLst>
            </a:pPr>
            <a:r>
              <a:rPr lang="en-US" sz="4200" b="0" u="none" strike="noStrike">
                <a:solidFill>
                  <a:srgbClr val="F7F6F2"/>
                </a:solidFill>
                <a:effectLst/>
                <a:uFillTx/>
                <a:latin typeface="Fraunces SemiBold"/>
                <a:ea typeface="Fraunces SemiBold"/>
              </a:rPr>
              <a:t>Annexes</a:t>
            </a:r>
            <a:endParaRPr lang="fr-FR" sz="4200" b="0" u="none" strike="noStrike">
              <a:solidFill>
                <a:srgbClr val="FFFFFF"/>
              </a:solidFill>
              <a:effectLst/>
              <a:uFillTx/>
              <a:latin typeface="Arial"/>
            </a:endParaRPr>
          </a:p>
        </p:txBody>
      </p:sp>
      <p:sp>
        <p:nvSpPr>
          <p:cNvPr id="758" name="PlaceHolder 3"/>
          <p:cNvSpPr>
            <a:spLocks noGrp="1"/>
          </p:cNvSpPr>
          <p:nvPr>
            <p:ph type="sldNum" idx="69"/>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60BC5B82-AEC3-40AB-B310-36B976EE751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59" name="TextBox 25"/>
          <p:cNvSpPr/>
          <p:nvPr/>
        </p:nvSpPr>
        <p:spPr>
          <a:xfrm>
            <a:off x="640080" y="4892040"/>
            <a:ext cx="6398280" cy="558360"/>
          </a:xfrm>
          <a:prstGeom prst="rect">
            <a:avLst/>
          </a:prstGeom>
          <a:noFill/>
          <a:ln w="0">
            <a:noFill/>
          </a:ln>
        </p:spPr>
        <p:style>
          <a:lnRef idx="0"/>
          <a:fillRef idx="0"/>
          <a:effectRef idx="0"/>
          <a:fontRef idx="minor"/>
        </p:style>
        <p:txBody>
          <a:bodyPr lIns="0" tIns="0" rIns="0" bIns="0" anchor="t">
            <a:spAutoFit/>
          </a:bodyPr>
          <a:p>
            <a:pPr>
              <a:lnSpc>
                <a:spcPct val="115000"/>
              </a:lnSpc>
              <a:spcAft>
                <a:spcPts val="400"/>
              </a:spcAft>
            </a:pPr>
            <a:r>
              <a:rPr lang="fr-FR" sz="1600" b="0" u="none" strike="noStrike">
                <a:solidFill>
                  <a:srgbClr val="B8C0C8"/>
                </a:solidFill>
                <a:effectLst/>
                <a:uFillTx/>
                <a:latin typeface="Inter"/>
                <a:ea typeface="DejaVu Sans"/>
              </a:rPr>
              <a:t>Journal des décisions, avancement par story, liens vers le dépôt.</a:t>
            </a:r>
            <a:endParaRPr lang="fr-FR" sz="16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0"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Journal des décisions</a:t>
            </a:r>
            <a:endParaRPr lang="fr-FR" sz="2800" b="0" u="none" strike="noStrike">
              <a:solidFill>
                <a:srgbClr val="FFFFFF"/>
              </a:solidFill>
              <a:effectLst/>
              <a:uFillTx/>
              <a:latin typeface="Arial"/>
            </a:endParaRPr>
          </a:p>
        </p:txBody>
      </p:sp>
      <p:sp>
        <p:nvSpPr>
          <p:cNvPr id="761" name="PlaceHolder 2"/>
          <p:cNvSpPr>
            <a:spLocks noGrp="1"/>
          </p:cNvSpPr>
          <p:nvPr>
            <p:ph type="sldNum" idx="70"/>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5D8030B-8833-4F88-8AC7-E437B30C8CA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62"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A</a:t>
            </a:r>
            <a:endParaRPr lang="fr-FR" sz="1100" b="0" u="none" strike="noStrike">
              <a:solidFill>
                <a:srgbClr val="FFFFFF"/>
              </a:solidFill>
              <a:effectLst/>
              <a:uFillTx/>
              <a:latin typeface="Arial"/>
            </a:endParaRPr>
          </a:p>
        </p:txBody>
      </p:sp>
      <p:sp>
        <p:nvSpPr>
          <p:cNvPr id="763"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64" name="Attendu"/>
          <p:cNvSpPr/>
          <p:nvPr/>
        </p:nvSpPr>
        <p:spPr>
          <a:xfrm>
            <a:off x="640080" y="1325880"/>
            <a:ext cx="10906200" cy="12826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65" name="Attendu barre"/>
          <p:cNvSpPr/>
          <p:nvPr/>
        </p:nvSpPr>
        <p:spPr>
          <a:xfrm>
            <a:off x="640080" y="1325880"/>
            <a:ext cx="79920" cy="12826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66" name="Icône target" descr="Icône target"/>
          <p:cNvPicPr/>
          <p:nvPr/>
        </p:nvPicPr>
        <p:blipFill>
          <a:blip r:embed="rId1"/>
          <a:stretch/>
        </p:blipFill>
        <p:spPr>
          <a:xfrm>
            <a:off x="896040" y="1435680"/>
            <a:ext cx="271800" cy="271800"/>
          </a:xfrm>
          <a:prstGeom prst="rect">
            <a:avLst/>
          </a:prstGeom>
          <a:noFill/>
          <a:ln w="0">
            <a:noFill/>
          </a:ln>
        </p:spPr>
      </p:pic>
      <p:sp>
        <p:nvSpPr>
          <p:cNvPr id="767"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68" name="TextBox 31"/>
          <p:cNvSpPr/>
          <p:nvPr/>
        </p:nvSpPr>
        <p:spPr>
          <a:xfrm>
            <a:off x="914400" y="1783080"/>
            <a:ext cx="10357560" cy="67860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seuil, sévérité, définition ou règle de survie</a:t>
            </a:r>
            <a:r>
              <a:rPr lang="fr-FR" sz="1300" b="0" u="none" strike="noStrike">
                <a:solidFill>
                  <a:srgbClr val="F7F6F2"/>
                </a:solidFill>
                <a:effectLst/>
                <a:uFillTx/>
                <a:latin typeface="Inter"/>
                <a:ea typeface="DejaVu Sans"/>
              </a:rPr>
              <a:t> : date, séance, règle, décision, </a:t>
            </a:r>
            <a:r>
              <a:rPr lang="fr-FR" sz="1300" b="1" u="none" strike="noStrike">
                <a:solidFill>
                  <a:srgbClr val="F5A623"/>
                </a:solidFill>
                <a:effectLst/>
                <a:uFillTx/>
                <a:latin typeface="Inter"/>
                <a:ea typeface="DejaVu Sans"/>
              </a:rPr>
              <a:t>justification chiffrée</a:t>
            </a:r>
            <a:r>
              <a:rPr lang="fr-FR" sz="1300" b="0" u="none" strike="noStrike">
                <a:solidFill>
                  <a:srgbClr val="F7F6F2"/>
                </a:solidFill>
                <a:effectLst/>
                <a:uFillTx/>
                <a:latin typeface="Inter"/>
                <a:ea typeface="DejaVu Sans"/>
              </a:rPr>
              <a:t>, </a:t>
            </a:r>
            <a:r>
              <a:rPr lang="fr-FR" sz="1300" b="1" u="none" strike="noStrike">
                <a:solidFill>
                  <a:srgbClr val="F5A623"/>
                </a:solidFill>
                <a:effectLst/>
                <a:uFillTx/>
                <a:latin typeface="Inter"/>
                <a:ea typeface="DejaVu Sans"/>
              </a:rPr>
              <a:t>rôle décideur</a:t>
            </a:r>
            <a:r>
              <a:rPr lang="fr-FR" sz="1300" b="0" u="none" strike="noStrike">
                <a:solidFill>
                  <a:srgbClr val="F7F6F2"/>
                </a:solidFill>
                <a:effectLst/>
                <a:uFillTx/>
                <a:latin typeface="Inter"/>
                <a:ea typeface="DejaVu Sans"/>
              </a:rPr>
              <a:t>, alternative écartée.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décision sans rôle ni chiffre n'est pas une décision.</a:t>
            </a:r>
            <a:endParaRPr lang="fr-FR" sz="1300" b="0" u="none" strike="noStrike">
              <a:solidFill>
                <a:srgbClr val="FFFFFF"/>
              </a:solidFill>
              <a:effectLst/>
              <a:uFillTx/>
              <a:latin typeface="Arial"/>
            </a:endParaRPr>
          </a:p>
        </p:txBody>
      </p:sp>
      <p:graphicFrame>
        <p:nvGraphicFramePr>
          <p:cNvPr id="769" name="Table 32"/>
          <p:cNvGraphicFramePr/>
          <p:nvPr/>
        </p:nvGraphicFramePr>
        <p:xfrm>
          <a:off x="640080" y="2748240"/>
          <a:ext cx="10908360" cy="2431800"/>
        </p:xfrm>
        <a:graphic>
          <a:graphicData uri="http://schemas.openxmlformats.org/drawingml/2006/table">
            <a:tbl>
              <a:tblPr/>
              <a:tblGrid>
                <a:gridCol w="457200"/>
                <a:gridCol w="822960"/>
                <a:gridCol w="822960"/>
                <a:gridCol w="1371600"/>
                <a:gridCol w="2377440"/>
                <a:gridCol w="2194560"/>
                <a:gridCol w="1188720"/>
                <a:gridCol w="1673280"/>
              </a:tblGrid>
              <a:tr h="347400">
                <a:tc>
                  <a:txBody>
                    <a:bodyPr lIns="73080" rIns="73080" anchor="ctr">
                      <a:noAutofit/>
                    </a:bodyPr>
                    <a:p>
                      <a:pPr>
                        <a:lnSpc>
                          <a:spcPct val="100000"/>
                        </a:lnSpc>
                      </a:pPr>
                      <a:r>
                        <a:rPr lang="en-US" sz="950" b="1" u="none" spc="45" strike="noStrike">
                          <a:solidFill>
                            <a:srgbClr val="F5A623"/>
                          </a:solidFill>
                          <a:effectLst/>
                          <a:uFillTx/>
                          <a:latin typeface="Inter"/>
                        </a:rPr>
                        <a:t>N°</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Date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Séance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Règle ou objet</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Décision</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Justification chiffrée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Rôle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950" b="1" u="none" spc="45" strike="noStrike">
                          <a:solidFill>
                            <a:srgbClr val="F5A623"/>
                          </a:solidFill>
                          <a:effectLst/>
                          <a:uFillTx/>
                          <a:latin typeface="Inter"/>
                        </a:rPr>
                        <a:t>Alternative écartée</a:t>
                      </a:r>
                      <a:endParaRPr lang="fr-FR" sz="9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1</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2</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3</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4</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5</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47400">
                <a:tc>
                  <a:txBody>
                    <a:bodyPr lIns="73080" rIns="73080" anchor="ctr">
                      <a:noAutofit/>
                    </a:bodyPr>
                    <a:p>
                      <a:pPr>
                        <a:lnSpc>
                          <a:spcPct val="100000"/>
                        </a:lnSpc>
                      </a:pPr>
                      <a:r>
                        <a:rPr lang="en-US" sz="1050" b="1" u="none" strike="noStrike">
                          <a:solidFill>
                            <a:srgbClr val="F7F6F2"/>
                          </a:solidFill>
                          <a:effectLst/>
                          <a:uFillTx/>
                          <a:latin typeface="Inter"/>
                        </a:rPr>
                        <a:t>6</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050" b="0" u="none" strike="noStrike">
                          <a:solidFill>
                            <a:srgbClr val="F5A623"/>
                          </a:solidFill>
                          <a:effectLst/>
                          <a:uFillTx/>
                          <a:latin typeface="Inter"/>
                        </a:rPr>
                        <a:t>…</a:t>
                      </a:r>
                      <a:endParaRPr lang="fr-FR" sz="105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70" name="TextBox 33"/>
          <p:cNvSpPr/>
          <p:nvPr/>
        </p:nvSpPr>
        <p:spPr>
          <a:xfrm>
            <a:off x="640080" y="525348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Ajoutez des lignes si nécessaire. Exemples : sévérité d'une règle, seuil d'avertissement, convention de la sentinelle, seuils de rapprochement, règle de survie, seuil de la porte G.</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Avancement par story</a:t>
            </a:r>
            <a:endParaRPr lang="fr-FR" sz="2800" b="0" u="none" strike="noStrike">
              <a:solidFill>
                <a:srgbClr val="FFFFFF"/>
              </a:solidFill>
              <a:effectLst/>
              <a:uFillTx/>
              <a:latin typeface="Arial"/>
            </a:endParaRPr>
          </a:p>
        </p:txBody>
      </p:sp>
      <p:sp>
        <p:nvSpPr>
          <p:cNvPr id="772" name="PlaceHolder 2"/>
          <p:cNvSpPr>
            <a:spLocks noGrp="1"/>
          </p:cNvSpPr>
          <p:nvPr>
            <p:ph type="sldNum" idx="71"/>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D7AC969D-55B4-44CF-8D66-7F735E1524DB}"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7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B</a:t>
            </a:r>
            <a:endParaRPr lang="fr-FR" sz="1100" b="0" u="none" strike="noStrike">
              <a:solidFill>
                <a:srgbClr val="FFFFFF"/>
              </a:solidFill>
              <a:effectLst/>
              <a:uFillTx/>
              <a:latin typeface="Arial"/>
            </a:endParaRPr>
          </a:p>
        </p:txBody>
      </p:sp>
      <p:sp>
        <p:nvSpPr>
          <p:cNvPr id="774" name="TextBox 26"/>
          <p:cNvSpPr/>
          <p:nvPr/>
        </p:nvSpPr>
        <p:spPr>
          <a:xfrm>
            <a:off x="6976800" y="291960"/>
            <a:ext cx="4569480" cy="162720"/>
          </a:xfrm>
          <a:prstGeom prst="rect">
            <a:avLst/>
          </a:prstGeom>
          <a:noFill/>
          <a:ln w="0">
            <a:noFill/>
          </a:ln>
        </p:spPr>
        <p:style>
          <a:lnRef idx="0"/>
          <a:fillRef idx="0"/>
          <a:effectRef idx="0"/>
          <a:fontRef idx="minor"/>
        </p:style>
        <p:txBody>
          <a:bodyPr lIns="0" tIns="0" rIns="0" bIns="0" anchor="ctr">
            <a:spAutoFit/>
          </a:bodyPr>
          <a:p>
            <a:pPr algn="r">
              <a:lnSpc>
                <a:spcPct val="108000"/>
              </a:lnSpc>
              <a:spcAft>
                <a:spcPts val="400"/>
              </a:spcAft>
            </a:pPr>
            <a:r>
              <a:rPr lang="fr-FR" sz="1000" b="1" u="none" spc="105" strike="noStrike">
                <a:solidFill>
                  <a:srgbClr val="0F9B8E"/>
                </a:solidFill>
                <a:effectLst/>
                <a:uFillTx/>
                <a:latin typeface="Inter"/>
                <a:ea typeface="DejaVu Sans"/>
              </a:rPr>
              <a:t>CRITÈRE : GOUVERNANCE ET DÉCISION · 15 %</a:t>
            </a:r>
            <a:endParaRPr lang="fr-FR" sz="1000" b="0" u="none" strike="noStrike">
              <a:solidFill>
                <a:srgbClr val="FFFFFF"/>
              </a:solidFill>
              <a:effectLst/>
              <a:uFillTx/>
              <a:latin typeface="Arial"/>
            </a:endParaRPr>
          </a:p>
        </p:txBody>
      </p:sp>
      <p:sp>
        <p:nvSpPr>
          <p:cNvPr id="775" name="Attendu"/>
          <p:cNvSpPr/>
          <p:nvPr/>
        </p:nvSpPr>
        <p:spPr>
          <a:xfrm>
            <a:off x="640080" y="1325880"/>
            <a:ext cx="10906200" cy="103032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76" name="Attendu barre"/>
          <p:cNvSpPr/>
          <p:nvPr/>
        </p:nvSpPr>
        <p:spPr>
          <a:xfrm>
            <a:off x="640080" y="1325880"/>
            <a:ext cx="79920" cy="103032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77" name="Icône target" descr="Icône target"/>
          <p:cNvPicPr/>
          <p:nvPr/>
        </p:nvPicPr>
        <p:blipFill>
          <a:blip r:embed="rId1"/>
          <a:stretch/>
        </p:blipFill>
        <p:spPr>
          <a:xfrm>
            <a:off x="896040" y="1435680"/>
            <a:ext cx="271800" cy="271800"/>
          </a:xfrm>
          <a:prstGeom prst="rect">
            <a:avLst/>
          </a:prstGeom>
          <a:noFill/>
          <a:ln w="0">
            <a:noFill/>
          </a:ln>
        </p:spPr>
      </p:pic>
      <p:sp>
        <p:nvSpPr>
          <p:cNvPr id="778" name="TextBox 30"/>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79" name="TextBox 31"/>
          <p:cNvSpPr/>
          <p:nvPr/>
        </p:nvSpPr>
        <p:spPr>
          <a:xfrm>
            <a:off x="914400" y="1783080"/>
            <a:ext cx="10357560" cy="212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Une ligne par story : </a:t>
            </a:r>
            <a:r>
              <a:rPr lang="fr-FR" sz="1300" b="1" u="none" strike="noStrike">
                <a:solidFill>
                  <a:srgbClr val="F5A623"/>
                </a:solidFill>
                <a:effectLst/>
                <a:uFillTx/>
                <a:latin typeface="Inter"/>
                <a:ea typeface="DejaVu Sans"/>
              </a:rPr>
              <a:t>statut</a:t>
            </a:r>
            <a:r>
              <a:rPr lang="fr-FR" sz="1300" b="0" u="none" strike="noStrike">
                <a:solidFill>
                  <a:srgbClr val="F7F6F2"/>
                </a:solidFill>
                <a:effectLst/>
                <a:uFillTx/>
                <a:latin typeface="Inter"/>
                <a:ea typeface="DejaVu Sans"/>
              </a:rPr>
              <a:t> (Fait, En cours, Bloqué, À faire) et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 (chemin du dépôt). Pas de preuve, pas de « Fait ».</a:t>
            </a:r>
            <a:endParaRPr lang="fr-FR" sz="1300" b="0" u="none" strike="noStrike">
              <a:solidFill>
                <a:srgbClr val="FFFFFF"/>
              </a:solidFill>
              <a:effectLst/>
              <a:uFillTx/>
              <a:latin typeface="Arial"/>
            </a:endParaRPr>
          </a:p>
        </p:txBody>
      </p:sp>
      <p:graphicFrame>
        <p:nvGraphicFramePr>
          <p:cNvPr id="780" name="Table 32"/>
          <p:cNvGraphicFramePr/>
          <p:nvPr/>
        </p:nvGraphicFramePr>
        <p:xfrm>
          <a:off x="640080" y="2541600"/>
          <a:ext cx="10908360" cy="2468880"/>
        </p:xfrm>
        <a:graphic>
          <a:graphicData uri="http://schemas.openxmlformats.org/drawingml/2006/table">
            <a:tbl>
              <a:tblPr/>
              <a:tblGrid>
                <a:gridCol w="1097280"/>
                <a:gridCol w="2560320"/>
                <a:gridCol w="1005840"/>
                <a:gridCol w="1188720"/>
                <a:gridCol w="1188720"/>
                <a:gridCol w="3867840"/>
              </a:tblGrid>
              <a:tr h="411480">
                <a:tc>
                  <a:txBody>
                    <a:bodyPr lIns="73080" rIns="73080" anchor="ctr">
                      <a:noAutofit/>
                    </a:bodyPr>
                    <a:p>
                      <a:pPr>
                        <a:lnSpc>
                          <a:spcPct val="100000"/>
                        </a:lnSpc>
                      </a:pPr>
                      <a:r>
                        <a:rPr lang="en-US" sz="1100" b="1" u="none" spc="45" strike="noStrike">
                          <a:solidFill>
                            <a:srgbClr val="F5A623"/>
                          </a:solidFill>
                          <a:effectLst/>
                          <a:uFillTx/>
                          <a:latin typeface="Inter"/>
                        </a:rPr>
                        <a:t>Séance</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Stories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Faites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En cours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Bloquées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Preuves principales (chemins)</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S1</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US-01 à 04, 06, 07, 09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S2</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US-10, 11, 13, 15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S3</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US-12, 14, 16 à 19</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S4</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7F6F2"/>
                          </a:solidFill>
                          <a:effectLst/>
                          <a:uFillTx/>
                          <a:latin typeface="Inter"/>
                        </a:rPr>
                        <a:t>US-21 à 25, 27, 28</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411480">
                <a:tc>
                  <a:txBody>
                    <a:bodyPr lIns="73080" rIns="73080" anchor="ctr">
                      <a:noAutofit/>
                    </a:bodyPr>
                    <a:p>
                      <a:pPr>
                        <a:lnSpc>
                          <a:spcPct val="100000"/>
                        </a:lnSpc>
                      </a:pPr>
                      <a:r>
                        <a:rPr lang="en-US" sz="1200" b="1" u="none" strike="noStrike">
                          <a:solidFill>
                            <a:srgbClr val="F7F6F2"/>
                          </a:solidFill>
                          <a:effectLst/>
                          <a:uFillTx/>
                          <a:latin typeface="Inter"/>
                        </a:rPr>
                        <a:t>S5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7F6F2"/>
                          </a:solidFill>
                          <a:effectLst/>
                          <a:uFillTx/>
                          <a:latin typeface="Inter"/>
                        </a:rPr>
                        <a:t>US-29 à 32, 34, 35</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
        <p:nvSpPr>
          <p:cNvPr id="781" name="TextBox 33"/>
          <p:cNvSpPr/>
          <p:nvPr/>
        </p:nvSpPr>
        <p:spPr>
          <a:xfrm>
            <a:off x="640080" y="5101920"/>
            <a:ext cx="10906200" cy="179640"/>
          </a:xfrm>
          <a:prstGeom prst="rect">
            <a:avLst/>
          </a:prstGeom>
          <a:noFill/>
          <a:ln w="0">
            <a:noFill/>
          </a:ln>
        </p:spPr>
        <p:style>
          <a:lnRef idx="0"/>
          <a:fillRef idx="0"/>
          <a:effectRef idx="0"/>
          <a:fontRef idx="minor"/>
        </p:style>
        <p:txBody>
          <a:bodyPr lIns="0" tIns="0" rIns="0" bIns="0" anchor="t">
            <a:spAutoFit/>
          </a:bodyPr>
          <a:p>
            <a:pPr>
              <a:lnSpc>
                <a:spcPct val="108000"/>
              </a:lnSpc>
              <a:spcAft>
                <a:spcPts val="400"/>
              </a:spcAft>
            </a:pPr>
            <a:r>
              <a:rPr lang="fr-FR" sz="1100" b="0" i="1" u="none" strike="noStrike">
                <a:solidFill>
                  <a:srgbClr val="8E99A4"/>
                </a:solidFill>
                <a:effectLst/>
                <a:uFillTx/>
                <a:latin typeface="Inter"/>
                <a:ea typeface="DejaVu Sans"/>
              </a:rPr>
              <a:t>Le détail story par story est dans AVANCEMENT.md à la racine du dépôt.</a:t>
            </a:r>
            <a:endParaRPr lang="fr-FR" sz="11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2"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Dépôt Git et étiquettes</a:t>
            </a:r>
            <a:endParaRPr lang="fr-FR" sz="2800" b="0" u="none" strike="noStrike">
              <a:solidFill>
                <a:srgbClr val="FFFFFF"/>
              </a:solidFill>
              <a:effectLst/>
              <a:uFillTx/>
              <a:latin typeface="Arial"/>
            </a:endParaRPr>
          </a:p>
        </p:txBody>
      </p:sp>
      <p:sp>
        <p:nvSpPr>
          <p:cNvPr id="783" name="PlaceHolder 2"/>
          <p:cNvSpPr>
            <a:spLocks noGrp="1"/>
          </p:cNvSpPr>
          <p:nvPr>
            <p:ph type="sldNum" idx="72"/>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1C60B566-508F-4096-BD77-8B7E58248F78}"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84"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ANNEXE C</a:t>
            </a:r>
            <a:endParaRPr lang="fr-FR" sz="1100" b="0" u="none" strike="noStrike">
              <a:solidFill>
                <a:srgbClr val="FFFFFF"/>
              </a:solidFill>
              <a:effectLst/>
              <a:uFillTx/>
              <a:latin typeface="Arial"/>
            </a:endParaRPr>
          </a:p>
        </p:txBody>
      </p:sp>
      <p:sp>
        <p:nvSpPr>
          <p:cNvPr id="785"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86"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87" name="Icône target" descr="Icône target"/>
          <p:cNvPicPr/>
          <p:nvPr/>
        </p:nvPicPr>
        <p:blipFill>
          <a:blip r:embed="rId1"/>
          <a:stretch/>
        </p:blipFill>
        <p:spPr>
          <a:xfrm>
            <a:off x="896040" y="1435680"/>
            <a:ext cx="271800" cy="271800"/>
          </a:xfrm>
          <a:prstGeom prst="rect">
            <a:avLst/>
          </a:prstGeom>
          <a:noFill/>
          <a:ln w="0">
            <a:noFill/>
          </a:ln>
        </p:spPr>
      </p:pic>
      <p:sp>
        <p:nvSpPr>
          <p:cNvPr id="788" name="TextBox 29"/>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SUR CETTE PAGE</a:t>
            </a:r>
            <a:endParaRPr lang="fr-FR" sz="1200" b="0" u="none" strike="noStrike">
              <a:solidFill>
                <a:srgbClr val="FFFFFF"/>
              </a:solidFill>
              <a:effectLst/>
              <a:uFillTx/>
              <a:latin typeface="Arial"/>
            </a:endParaRPr>
          </a:p>
        </p:txBody>
      </p:sp>
      <p:sp>
        <p:nvSpPr>
          <p:cNvPr id="789" name="TextBox 30"/>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L'</a:t>
            </a:r>
            <a:r>
              <a:rPr lang="fr-FR" sz="1300" b="1" u="none" strike="noStrike">
                <a:solidFill>
                  <a:srgbClr val="F5A623"/>
                </a:solidFill>
                <a:effectLst/>
                <a:uFillTx/>
                <a:latin typeface="Inter"/>
                <a:ea typeface="DejaVu Sans"/>
              </a:rPr>
              <a:t>adresse du dépôt</a:t>
            </a:r>
            <a:r>
              <a:rPr lang="fr-FR" sz="1300" b="0" u="none" strike="noStrike">
                <a:solidFill>
                  <a:srgbClr val="F7F6F2"/>
                </a:solidFill>
                <a:effectLst/>
                <a:uFillTx/>
                <a:latin typeface="Inter"/>
                <a:ea typeface="DejaVu Sans"/>
              </a:rPr>
              <a:t> et les </a:t>
            </a:r>
            <a:r>
              <a:rPr lang="fr-FR" sz="1300" b="1" u="none" strike="noStrike">
                <a:solidFill>
                  <a:srgbClr val="F5A623"/>
                </a:solidFill>
                <a:effectLst/>
                <a:uFillTx/>
                <a:latin typeface="Inter"/>
                <a:ea typeface="DejaVu Sans"/>
              </a:rPr>
              <a:t>étiquettes</a:t>
            </a:r>
            <a:r>
              <a:rPr lang="fr-FR" sz="1300" b="0" u="none" strike="noStrike">
                <a:solidFill>
                  <a:srgbClr val="F7F6F2"/>
                </a:solidFill>
                <a:effectLst/>
                <a:uFillTx/>
                <a:latin typeface="Inter"/>
                <a:ea typeface="DejaVu Sans"/>
              </a:rPr>
              <a:t> posées : seance-1 à seance-5 et rendu-final.</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Aucun fichier interdit dans le dépôt (data/, CSV, sauvegardes, .env).</a:t>
            </a:r>
            <a:endParaRPr lang="fr-FR" sz="1300" b="0" u="none" strike="noStrike">
              <a:solidFill>
                <a:srgbClr val="FFFFFF"/>
              </a:solidFill>
              <a:effectLst/>
              <a:uFillTx/>
              <a:latin typeface="Arial"/>
            </a:endParaRPr>
          </a:p>
        </p:txBody>
      </p:sp>
      <p:graphicFrame>
        <p:nvGraphicFramePr>
          <p:cNvPr id="790" name="Table 31"/>
          <p:cNvGraphicFramePr/>
          <p:nvPr/>
        </p:nvGraphicFramePr>
        <p:xfrm>
          <a:off x="640080" y="2579760"/>
          <a:ext cx="10908360" cy="2926080"/>
        </p:xfrm>
        <a:graphic>
          <a:graphicData uri="http://schemas.openxmlformats.org/drawingml/2006/table">
            <a:tbl>
              <a:tblPr/>
              <a:tblGrid>
                <a:gridCol w="4023360"/>
                <a:gridCol w="6885360"/>
              </a:tblGrid>
              <a:tr h="365760">
                <a:tc>
                  <a:txBody>
                    <a:bodyPr lIns="73080" rIns="73080" anchor="ctr">
                      <a:noAutofit/>
                    </a:bodyPr>
                    <a:p>
                      <a:pPr>
                        <a:lnSpc>
                          <a:spcPct val="100000"/>
                        </a:lnSpc>
                      </a:pPr>
                      <a:r>
                        <a:rPr lang="en-US" sz="1100" b="1" u="none" spc="45" strike="noStrike">
                          <a:solidFill>
                            <a:srgbClr val="F5A623"/>
                          </a:solidFill>
                          <a:effectLst/>
                          <a:uFillTx/>
                          <a:latin typeface="Inter"/>
                        </a:rPr>
                        <a:t>Élément</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c>
                  <a:txBody>
                    <a:bodyPr lIns="73080" rIns="73080" anchor="ctr">
                      <a:noAutofit/>
                    </a:bodyPr>
                    <a:p>
                      <a:pPr>
                        <a:lnSpc>
                          <a:spcPct val="100000"/>
                        </a:lnSpc>
                      </a:pPr>
                      <a:r>
                        <a:rPr lang="en-US" sz="1100" b="1" u="none" spc="45" strike="noStrike">
                          <a:solidFill>
                            <a:srgbClr val="F5A623"/>
                          </a:solidFill>
                          <a:effectLst/>
                          <a:uFillTx/>
                          <a:latin typeface="Inter"/>
                        </a:rPr>
                        <a:t>Valeur</a:t>
                      </a:r>
                      <a:endParaRPr lang="fr-FR" sz="11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A415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Adresse du dépôt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seance-1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seance-2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seance-3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seance-4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seance-5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0D1B2A"/>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r h="365760">
                <a:tc>
                  <a:txBody>
                    <a:bodyPr lIns="73080" rIns="73080" anchor="ctr">
                      <a:noAutofit/>
                    </a:bodyPr>
                    <a:p>
                      <a:pPr>
                        <a:lnSpc>
                          <a:spcPct val="100000"/>
                        </a:lnSpc>
                      </a:pPr>
                      <a:r>
                        <a:rPr lang="en-US" sz="1200" b="1" u="none" strike="noStrike">
                          <a:solidFill>
                            <a:srgbClr val="F7F6F2"/>
                          </a:solidFill>
                          <a:effectLst/>
                          <a:uFillTx/>
                          <a:latin typeface="Inter"/>
                        </a:rPr>
                        <a:t>Étiquette rendu-final (date)</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1C2E3D"/>
                    </a:solidFill>
                  </a:tcPr>
                </a:tc>
                <a:tc>
                  <a:txBody>
                    <a:bodyPr lIns="73080" rIns="73080" anchor="ctr">
                      <a:noAutofit/>
                    </a:bodyPr>
                    <a:p>
                      <a:pPr>
                        <a:lnSpc>
                          <a:spcPct val="100000"/>
                        </a:lnSpc>
                      </a:pPr>
                      <a:r>
                        <a:rPr lang="en-US" sz="1200" b="0" u="none" strike="noStrike">
                          <a:solidFill>
                            <a:srgbClr val="F5A623"/>
                          </a:solidFill>
                          <a:effectLst/>
                          <a:uFillTx/>
                          <a:latin typeface="Inter"/>
                        </a:rPr>
                        <a:t>…</a:t>
                      </a:r>
                      <a:endParaRPr lang="fr-FR" sz="1200" b="0" u="none" strike="noStrike">
                        <a:solidFill>
                          <a:srgbClr val="FFFFFF"/>
                        </a:solidFill>
                        <a:effectLst/>
                        <a:uFillTx/>
                        <a:latin typeface="Arial"/>
                      </a:endParaRPr>
                    </a:p>
                  </a:txBody>
                  <a:tcPr anchor="ctr" marL="73080" marR="73080" marT="45720" marB="45720">
                    <a:lnL w="6480">
                      <a:solidFill>
                        <a:srgbClr val="2A4156"/>
                      </a:solidFill>
                      <a:prstDash val="solid"/>
                    </a:lnL>
                    <a:lnR w="6480">
                      <a:solidFill>
                        <a:srgbClr val="2A4156"/>
                      </a:solidFill>
                      <a:prstDash val="solid"/>
                    </a:lnR>
                    <a:lnT w="6480">
                      <a:solidFill>
                        <a:srgbClr val="2A4156"/>
                      </a:solidFill>
                      <a:prstDash val="solid"/>
                    </a:lnT>
                    <a:lnB w="6480">
                      <a:solidFill>
                        <a:srgbClr val="2A4156"/>
                      </a:solidFill>
                      <a:prstDash val="solid"/>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1" name="PlaceHolder 1"/>
          <p:cNvSpPr>
            <a:spLocks noGrp="1"/>
          </p:cNvSpPr>
          <p:nvPr>
            <p:ph type="title"/>
          </p:nvPr>
        </p:nvSpPr>
        <p:spPr>
          <a:xfrm>
            <a:off x="640080" y="502920"/>
            <a:ext cx="10906200" cy="729000"/>
          </a:xfrm>
          <a:prstGeom prst="rect">
            <a:avLst/>
          </a:prstGeom>
          <a:noFill/>
          <a:ln w="0">
            <a:noFill/>
          </a:ln>
        </p:spPr>
        <p:txBody>
          <a:bodyPr lIns="0" tIns="0" rIns="0" bIns="0" anchor="t">
            <a:noAutofit/>
          </a:bodyPr>
          <a:p>
            <a:pPr indent="0" algn="l">
              <a:lnSpc>
                <a:spcPct val="100000"/>
              </a:lnSpc>
              <a:buNone/>
              <a:tabLst>
                <a:tab pos="0" algn="l"/>
              </a:tabLst>
            </a:pPr>
            <a:r>
              <a:rPr lang="en-US" sz="2800" b="0" u="none" strike="noStrike">
                <a:solidFill>
                  <a:srgbClr val="F7F6F2"/>
                </a:solidFill>
                <a:effectLst/>
                <a:uFillTx/>
                <a:latin typeface="Fraunces SemiBold"/>
                <a:ea typeface="Fraunces SemiBold"/>
              </a:rPr>
              <a:t>Liste de contrôle du rendu final</a:t>
            </a:r>
            <a:endParaRPr lang="fr-FR" sz="2800" b="0" u="none" strike="noStrike">
              <a:solidFill>
                <a:srgbClr val="FFFFFF"/>
              </a:solidFill>
              <a:effectLst/>
              <a:uFillTx/>
              <a:latin typeface="Arial"/>
            </a:endParaRPr>
          </a:p>
        </p:txBody>
      </p:sp>
      <p:sp>
        <p:nvSpPr>
          <p:cNvPr id="792" name="PlaceHolder 2"/>
          <p:cNvSpPr>
            <a:spLocks noGrp="1"/>
          </p:cNvSpPr>
          <p:nvPr>
            <p:ph type="sldNum" idx="73"/>
          </p:nvPr>
        </p:nvSpPr>
        <p:spPr>
          <a:xfrm>
            <a:off x="10820160" y="6309360"/>
            <a:ext cx="729000" cy="290160"/>
          </a:xfrm>
          <a:prstGeom prst="rect">
            <a:avLst/>
          </a:prstGeom>
          <a:noFill/>
          <a:ln w="0">
            <a:noFill/>
          </a:ln>
        </p:spPr>
        <p:txBody>
          <a:bodyPr lIns="90000" tIns="45000" rIns="90000" bIns="45000" anchor="t">
            <a:noAutofit/>
          </a:bodyPr>
          <a:lstStyle>
            <a:lvl1pPr indent="0" algn="r">
              <a:lnSpc>
                <a:spcPct val="100000"/>
              </a:lnSpc>
              <a:buNone/>
              <a:tabLst>
                <a:tab pos="0" algn="l"/>
              </a:tabLst>
              <a:defRPr lang="en-US" sz="1000" b="0" u="none" strike="noStrike">
                <a:solidFill>
                  <a:srgbClr val="8E99A4"/>
                </a:solidFill>
                <a:effectLst/>
                <a:uFillTx/>
                <a:latin typeface="Inter"/>
                <a:ea typeface="Inter"/>
              </a:defRPr>
            </a:lvl1pPr>
          </a:lstStyle>
          <a:p>
            <a:pPr indent="0" algn="r">
              <a:lnSpc>
                <a:spcPct val="100000"/>
              </a:lnSpc>
              <a:buNone/>
              <a:tabLst>
                <a:tab pos="0" algn="l"/>
              </a:tabLst>
            </a:pPr>
            <a:fld id="{4B9BC044-FA37-4A04-86A1-4C8169A92B8F}" type="slidenum">
              <a:rPr lang="en-US" sz="1000" b="0" u="none" strike="noStrike">
                <a:solidFill>
                  <a:srgbClr val="8E99A4"/>
                </a:solidFill>
                <a:effectLst/>
                <a:uFillTx/>
                <a:latin typeface="Inter"/>
                <a:ea typeface="Inter"/>
              </a:rPr>
              <a:t>&lt;number&gt;</a:t>
            </a:fld>
            <a:endParaRPr lang="fr-FR" sz="1000" b="0" u="none" strike="noStrike">
              <a:solidFill>
                <a:srgbClr val="FFFFFF"/>
              </a:solidFill>
              <a:effectLst/>
              <a:uFillTx/>
              <a:latin typeface="Times New Roman"/>
            </a:endParaRPr>
          </a:p>
        </p:txBody>
      </p:sp>
      <p:sp>
        <p:nvSpPr>
          <p:cNvPr id="793" name="TextBox 25"/>
          <p:cNvSpPr/>
          <p:nvPr/>
        </p:nvSpPr>
        <p:spPr>
          <a:xfrm>
            <a:off x="640080" y="283680"/>
            <a:ext cx="8044200" cy="1792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100" b="1" u="none" spc="187" strike="noStrike">
                <a:solidFill>
                  <a:srgbClr val="F5A623"/>
                </a:solidFill>
                <a:effectLst/>
                <a:uFillTx/>
                <a:latin typeface="Inter"/>
                <a:ea typeface="DejaVu Sans"/>
              </a:rPr>
              <a:t>AVANT DE RENDRE</a:t>
            </a:r>
            <a:endParaRPr lang="fr-FR" sz="1100" b="0" u="none" strike="noStrike">
              <a:solidFill>
                <a:srgbClr val="FFFFFF"/>
              </a:solidFill>
              <a:effectLst/>
              <a:uFillTx/>
              <a:latin typeface="Arial"/>
            </a:endParaRPr>
          </a:p>
        </p:txBody>
      </p:sp>
      <p:sp>
        <p:nvSpPr>
          <p:cNvPr id="794" name="Attendu"/>
          <p:cNvSpPr/>
          <p:nvPr/>
        </p:nvSpPr>
        <p:spPr>
          <a:xfrm>
            <a:off x="640080" y="1325880"/>
            <a:ext cx="10906200" cy="106848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795" name="Attendu barre"/>
          <p:cNvSpPr/>
          <p:nvPr/>
        </p:nvSpPr>
        <p:spPr>
          <a:xfrm>
            <a:off x="640080" y="1325880"/>
            <a:ext cx="79920" cy="106848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39960" tIns="45000" rIns="39960" bIns="45000" anchor="t">
            <a:noAutofit/>
          </a:bodyPr>
          <a:p>
            <a:pPr/>
            <a:endParaRPr lang="fr-FR" sz="1800" b="0" u="none" strike="noStrike">
              <a:solidFill>
                <a:srgbClr val="000000"/>
              </a:solidFill>
              <a:effectLst/>
              <a:uFillTx/>
              <a:latin typeface="Arial"/>
            </a:endParaRPr>
          </a:p>
        </p:txBody>
      </p:sp>
      <p:pic>
        <p:nvPicPr>
          <p:cNvPr id="796" name="Icône target" descr="Icône target"/>
          <p:cNvPicPr/>
          <p:nvPr/>
        </p:nvPicPr>
        <p:blipFill>
          <a:blip r:embed="rId1"/>
          <a:stretch/>
        </p:blipFill>
        <p:spPr>
          <a:xfrm>
            <a:off x="896040" y="1435680"/>
            <a:ext cx="271800" cy="271800"/>
          </a:xfrm>
          <a:prstGeom prst="rect">
            <a:avLst/>
          </a:prstGeom>
          <a:noFill/>
          <a:ln w="0">
            <a:noFill/>
          </a:ln>
        </p:spPr>
      </p:pic>
      <p:sp>
        <p:nvSpPr>
          <p:cNvPr id="797" name="TextBox 29"/>
          <p:cNvSpPr/>
          <p:nvPr/>
        </p:nvSpPr>
        <p:spPr>
          <a:xfrm>
            <a:off x="1261800" y="1473480"/>
            <a:ext cx="7312680" cy="195480"/>
          </a:xfrm>
          <a:prstGeom prst="rect">
            <a:avLst/>
          </a:prstGeom>
          <a:noFill/>
          <a:ln w="0">
            <a:noFill/>
          </a:ln>
        </p:spPr>
        <p:style>
          <a:lnRef idx="0"/>
          <a:fillRef idx="0"/>
          <a:effectRef idx="0"/>
          <a:fontRef idx="minor"/>
        </p:style>
        <p:txBody>
          <a:bodyPr lIns="0" tIns="0" rIns="0" bIns="0" anchor="ctr">
            <a:spAutoFit/>
          </a:bodyPr>
          <a:p>
            <a:pPr>
              <a:lnSpc>
                <a:spcPct val="108000"/>
              </a:lnSpc>
              <a:spcAft>
                <a:spcPts val="400"/>
              </a:spcAft>
            </a:pPr>
            <a:r>
              <a:rPr lang="fr-FR" sz="1200" b="1" u="none" spc="125" strike="noStrike">
                <a:solidFill>
                  <a:srgbClr val="F5A623"/>
                </a:solidFill>
                <a:effectLst/>
                <a:uFillTx/>
                <a:latin typeface="Inter"/>
                <a:ea typeface="DejaVu Sans"/>
              </a:rPr>
              <a:t>ATTENDU AVANT LE DÉPÔT</a:t>
            </a:r>
            <a:endParaRPr lang="fr-FR" sz="1200" b="0" u="none" strike="noStrike">
              <a:solidFill>
                <a:srgbClr val="FFFFFF"/>
              </a:solidFill>
              <a:effectLst/>
              <a:uFillTx/>
              <a:latin typeface="Arial"/>
            </a:endParaRPr>
          </a:p>
        </p:txBody>
      </p:sp>
      <p:sp>
        <p:nvSpPr>
          <p:cNvPr id="798" name="TextBox 30"/>
          <p:cNvSpPr/>
          <p:nvPr/>
        </p:nvSpPr>
        <p:spPr>
          <a:xfrm>
            <a:off x="914400" y="1783080"/>
            <a:ext cx="10357560" cy="464760"/>
          </a:xfrm>
          <a:prstGeom prst="rect">
            <a:avLst/>
          </a:prstGeom>
          <a:noFill/>
          <a:ln w="0">
            <a:noFill/>
          </a:ln>
        </p:spPr>
        <p:style>
          <a:lnRef idx="0"/>
          <a:fillRef idx="0"/>
          <a:effectRef idx="0"/>
          <a:fontRef idx="minor"/>
        </p:style>
        <p:txBody>
          <a:bodyPr lIns="0" tIns="0" rIns="0" bIns="0" anchor="t">
            <a:spAutoFit/>
          </a:bodyPr>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zone ambre</a:t>
            </a:r>
            <a:r>
              <a:rPr lang="fr-FR" sz="1300" b="0" u="none" strike="noStrike">
                <a:solidFill>
                  <a:srgbClr val="F7F6F2"/>
                </a:solidFill>
                <a:effectLst/>
                <a:uFillTx/>
                <a:latin typeface="Inter"/>
                <a:ea typeface="DejaVu Sans"/>
              </a:rPr>
              <a:t> est complétée, ou le manque est </a:t>
            </a:r>
            <a:r>
              <a:rPr lang="fr-FR" sz="1300" b="1" u="none" strike="noStrike">
                <a:solidFill>
                  <a:srgbClr val="F5A623"/>
                </a:solidFill>
                <a:effectLst/>
                <a:uFillTx/>
                <a:latin typeface="Inter"/>
                <a:ea typeface="DejaVu Sans"/>
              </a:rPr>
              <a:t>déclaré</a:t>
            </a:r>
            <a:r>
              <a:rPr lang="fr-FR" sz="1300" b="0" u="none" strike="noStrike">
                <a:solidFill>
                  <a:srgbClr val="F7F6F2"/>
                </a:solidFill>
                <a:effectLst/>
                <a:uFillTx/>
                <a:latin typeface="Inter"/>
                <a:ea typeface="DejaVu Sans"/>
              </a:rPr>
              <a:t> dans le bilan de la séance.</a:t>
            </a:r>
            <a:endParaRPr lang="fr-FR" sz="1300" b="0" u="none" strike="noStrike">
              <a:solidFill>
                <a:srgbClr val="FFFFFF"/>
              </a:solidFill>
              <a:effectLst/>
              <a:uFillTx/>
              <a:latin typeface="Arial"/>
            </a:endParaRPr>
          </a:p>
          <a:p>
            <a:pPr marL="182880" indent="-182880">
              <a:lnSpc>
                <a:spcPct val="108000"/>
              </a:lnSpc>
              <a:spcAft>
                <a:spcPts val="300"/>
              </a:spcAft>
              <a:buClr>
                <a:srgbClr val="F5A623"/>
              </a:buClr>
              <a:buFont typeface="Symbol"/>
              <a:buChar char=""/>
            </a:pPr>
            <a:r>
              <a:rPr lang="fr-FR" sz="1300" b="0" u="none" strike="noStrike">
                <a:solidFill>
                  <a:srgbClr val="F7F6F2"/>
                </a:solidFill>
                <a:effectLst/>
                <a:uFillTx/>
                <a:latin typeface="Inter"/>
                <a:ea typeface="DejaVu Sans"/>
              </a:rPr>
              <a:t>Chaque </a:t>
            </a:r>
            <a:r>
              <a:rPr lang="fr-FR" sz="1300" b="1" u="none" strike="noStrike">
                <a:solidFill>
                  <a:srgbClr val="F5A623"/>
                </a:solidFill>
                <a:effectLst/>
                <a:uFillTx/>
                <a:latin typeface="Inter"/>
                <a:ea typeface="DejaVu Sans"/>
              </a:rPr>
              <a:t>chiffre</a:t>
            </a:r>
            <a:r>
              <a:rPr lang="fr-FR" sz="1300" b="0" u="none" strike="noStrike">
                <a:solidFill>
                  <a:srgbClr val="F7F6F2"/>
                </a:solidFill>
                <a:effectLst/>
                <a:uFillTx/>
                <a:latin typeface="Inter"/>
                <a:ea typeface="DejaVu Sans"/>
              </a:rPr>
              <a:t> a sa </a:t>
            </a:r>
            <a:r>
              <a:rPr lang="fr-FR" sz="1300" b="1" u="none" strike="noStrike">
                <a:solidFill>
                  <a:srgbClr val="F5A623"/>
                </a:solidFill>
                <a:effectLst/>
                <a:uFillTx/>
                <a:latin typeface="Inter"/>
                <a:ea typeface="DejaVu Sans"/>
              </a:rPr>
              <a:t>preuve</a:t>
            </a:r>
            <a:r>
              <a:rPr lang="fr-FR" sz="1300" b="0" u="none" strike="noStrike">
                <a:solidFill>
                  <a:srgbClr val="F7F6F2"/>
                </a:solidFill>
                <a:effectLst/>
                <a:uFillTx/>
                <a:latin typeface="Inter"/>
                <a:ea typeface="DejaVu Sans"/>
              </a:rPr>
              <a:t> dans le dépôt.</a:t>
            </a:r>
            <a:endParaRPr lang="fr-FR" sz="1300" b="0" u="none" strike="noStrike">
              <a:solidFill>
                <a:srgbClr val="FFFFFF"/>
              </a:solidFill>
              <a:effectLst/>
              <a:uFillTx/>
              <a:latin typeface="Arial"/>
            </a:endParaRPr>
          </a:p>
        </p:txBody>
      </p:sp>
      <p:sp>
        <p:nvSpPr>
          <p:cNvPr id="799" name="Rectangle 31"/>
          <p:cNvSpPr/>
          <p:nvPr/>
        </p:nvSpPr>
        <p:spPr>
          <a:xfrm>
            <a:off x="640080" y="2579760"/>
            <a:ext cx="10906200" cy="354420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t">
            <a:noAutofit/>
          </a:bodyPr>
          <a:p>
            <a:pPr/>
            <a:endParaRPr lang="fr-FR" sz="1800" b="0" u="none" strike="noStrike">
              <a:solidFill>
                <a:srgbClr val="FFFFFF"/>
              </a:solidFill>
              <a:effectLst/>
              <a:uFillTx/>
              <a:latin typeface="Arial"/>
            </a:endParaRPr>
          </a:p>
        </p:txBody>
      </p:sp>
      <p:sp>
        <p:nvSpPr>
          <p:cNvPr id="800" name="TextBox 32"/>
          <p:cNvSpPr/>
          <p:nvPr/>
        </p:nvSpPr>
        <p:spPr>
          <a:xfrm>
            <a:off x="914400" y="2762640"/>
            <a:ext cx="10330200" cy="2296080"/>
          </a:xfrm>
          <a:prstGeom prst="rect">
            <a:avLst/>
          </a:prstGeom>
          <a:noFill/>
          <a:ln w="0">
            <a:noFill/>
          </a:ln>
        </p:spPr>
        <p:style>
          <a:lnRef idx="0"/>
          <a:fillRef idx="0"/>
          <a:effectRef idx="0"/>
          <a:fontRef idx="minor"/>
        </p:style>
        <p:txBody>
          <a:bodyPr lIns="0" tIns="0" rIns="0" bIns="0" anchor="t">
            <a:spAutoFit/>
          </a:bodyPr>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Couverture : numéro du groupe, noms, date.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Équipe : rôles par séance et contribution de chaque membre.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Chaque page de séance : chiffres mesurés, preuve citée, conséquence attribuée à un rôle.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Les cinq bilans de séance : critères cochés avec preuve, difficultés chiffrées en temps.</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Journal des décisions identique à celui du dépôt.</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Dossier go/no-go : recommandation, preuves, écarts, décision signée.</a:t>
            </a:r>
            <a:endParaRPr lang="fr-FR" sz="1400" b="0" u="none" strike="noStrike">
              <a:solidFill>
                <a:srgbClr val="FFFFFF"/>
              </a:solidFill>
              <a:effectLst/>
              <a:uFillTx/>
              <a:latin typeface="Arial"/>
            </a:endParaRPr>
          </a:p>
          <a:p>
            <a:pPr>
              <a:lnSpc>
                <a:spcPct val="108000"/>
              </a:lnSpc>
              <a:spcAft>
                <a:spcPts val="901"/>
              </a:spcAft>
            </a:pPr>
            <a:r>
              <a:rPr lang="fr-FR" sz="1400" b="0" u="none" strike="noStrike">
                <a:solidFill>
                  <a:srgbClr val="F7F6F2"/>
                </a:solidFill>
                <a:effectLst/>
                <a:uFillTx/>
                <a:latin typeface="Consolas"/>
                <a:ea typeface="DejaVu Sans"/>
              </a:rPr>
              <a:t>[ ]</a:t>
            </a:r>
            <a:r>
              <a:rPr lang="fr-FR" sz="1400" b="0" u="none" strike="noStrike">
                <a:solidFill>
                  <a:srgbClr val="F7F6F2"/>
                </a:solidFill>
                <a:effectLst/>
                <a:uFillTx/>
                <a:latin typeface="Inter"/>
                <a:ea typeface="DejaVu Sans"/>
              </a:rPr>
              <a:t> Étiquette rendu-final posée et poussée ; export PDF du livrable joint au dépôt.</a:t>
            </a:r>
            <a:endParaRPr lang="fr-FR" sz="1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miter/>
        </a:ln>
        <a:ln w="25400" cap="flat" cmpd="sng" algn="ctr">
          <a:prstDash val="solid"/>
          <a:miter/>
        </a:ln>
        <a:ln w="3810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152</TotalTime>
  <Application>LibreOffice/26.8.1.1$MacOSX_X86_64 LibreOffice_project/bf6ef2662401c7d6dce671ab4deb26ee0af3a7c1</Application>
  <AppVersion>15.0000</AppVersion>
  <Words>0</Words>
  <Paragraphs>0</Paragraphs>
  <Company>Decimal Insights Consulting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2026-10-12T11:18:29Z</dcterms:created>
  <dc:creator>Decimal Insights Consulting</dc:creator>
  <dc:description/>
  <dc:language>fr-FR</dc:language>
  <cp:lastModifiedBy/>
  <dcterms:modified xsi:type="dcterms:W3CDTF">2026-10-22T10:43:59Z</dcterms:modified>
  <cp:revision>40</cp:revision>
  <dc:subject>Gouvernance, profilage et qualité des données</dc:subject>
  <dc:title>Livrable de groupe : TD AssurConnect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On-screen Show (16:9)</vt:lpwstr>
  </property>
  <property fmtid="{D5CDD505-2E9C-101B-9397-08002B2CF9AE}" pid="4" name="Slides">
    <vt:i4>8</vt:i4>
  </property>
</Properties>
</file>