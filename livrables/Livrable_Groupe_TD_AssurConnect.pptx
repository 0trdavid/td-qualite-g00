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4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43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41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47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déplacer la diapo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2000" spc="-1" strike="noStrike">
                <a:latin typeface="Arial"/>
              </a:rPr>
              <a:t>Cliquez pour modifier le format des notes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fr-FR" sz="1400" spc="-1" strike="noStrike">
                <a:latin typeface="Times New Roman"/>
              </a:rPr>
              <a:t>&lt;en-tête&gt;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fr-FR" sz="1400" spc="-1" strike="noStrike">
                <a:latin typeface="Times New Roman"/>
              </a:rPr>
              <a:t>&lt;date/heure&gt;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29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fr-FR" sz="1400" spc="-1" strike="noStrike">
                <a:latin typeface="Times New Roman"/>
              </a:defRPr>
            </a:lvl1pPr>
          </a:lstStyle>
          <a:p>
            <a:r>
              <a:rPr b="0" lang="fr-FR" sz="1400" spc="-1" strike="noStrike">
                <a:latin typeface="Times New Roman"/>
              </a:rPr>
              <a:t>&lt;pied de page&gt;</a:t>
            </a:r>
            <a:endParaRPr b="0" lang="fr-FR" sz="1400" spc="-1" strike="noStrike">
              <a:latin typeface="Times New Roman"/>
            </a:endParaRPr>
          </a:p>
        </p:txBody>
      </p:sp>
      <p:sp>
        <p:nvSpPr>
          <p:cNvPr id="130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fr-F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C2E30EE-8BAA-455F-AF4B-CA0D74DF6DFD}" type="slidenum">
              <a:rPr b="0" lang="fr-FR" sz="1400" spc="-1" strike="noStrike">
                <a:latin typeface="Times New Roman"/>
              </a:rPr>
              <a:t>&lt;numéro&gt;</a:t>
            </a:fld>
            <a:endParaRPr b="0" lang="fr-F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Modèle à compléter par chaque groupe. Remplacez les crochets de la couverture. Ne supprimez aucun encadré « Attendu » : la grille de notation s'y réfère.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B96B4F-14A1-4ED7-B1DF-66C793C86EF2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Lisez cette page avant de rédiger. Les chiffres que vous reportez viennent de vos mesures (dq.dq_history, scans Soda, requêtes du notebook), jamais d'un autre groupe ni d'un tutoriel.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004EB0A-1E36-49FC-B447-34C82A470117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La grille est celle du dossier go/no-go. Le livrable de séance et le dossier final sont évalués ensemble.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779540-F3AC-4564-BDA5-827C965FA5C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Renseignez cette page dès la fin de l'ouverture de S1, puis mettez-la à jour à chaque séance.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AEFCEE6-ABF3-4653-8B05-6738282FD988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Cinq lignes par zone. Pas de copier-coller de l'énoncé : reformulez.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56C197-9173-4554-B0F4-5C8E67F8BC26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3EDADE-4471-4B83-9ED0-ED115AC051C7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comptez avec une requête, pas à l'œil. Indiquez le notebook qui contient la requête.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02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609E858-0279-4EA0-9AFD-BF328205A44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la porte B juge la fidélité de la copie, pas la qualité des valeurs. Un écart nul est un résultat à documenter.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04954D-8E7A-49C1-B839-C6B18EEFA73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l'épreuve de l'écart volontaire prouve que votre porte détecte quelque chose. Sans elle, une porte toujours verte ne prouve rien.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08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74557E-8E7E-4829-B0E1-6F08B36046AA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distinguez NULL, vide et blanc. Un constat sans valeur mesurée n'en est pas un.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11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F64C929-6B77-4684-8F71-00B9804E58E6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une justification est un chiffre (taux de valeurs au format X, nombre de distincts, plage), pas une impression.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14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5212CB-A24C-4DC8-B8D9-93BA22A7241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les trois chiffres sont vrais pour trois questions différentes. Le problème est la définition.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1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5D472A-3017-451C-9031-331438199DD3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cochez uniquement ce que vous pouvez montrer. Une case non cochée et expliquée vaut mieux qu'une case cochée sans preuve.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20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2DE034-BD11-43D8-A0C6-1F8D0AA39F5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723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A554D4-3C56-465F-8A09-58BCBB871BAE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taux sans nombre de lignes testées est ininterprétable. Reportez les deux.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26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2517F7-3A39-4523-87F0-58447CCD6E7E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nommez la famille d'erreur. « Valeurs incorrectes » n'est pas une famille.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29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AF11F8-C970-4C15-B66B-B078B66DA07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la phrase de synthèse doit contenir un chiffre et la couche concernée.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32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52FB731-1092-4188-B5D1-08451A80065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cochez uniquement ce que vous pouvez montrer. Une case non cochée et expliquée vaut mieux qu'une case cochée sans preuve.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706FA4E-684B-440D-84AB-D370911DCAD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B7C91B-1BDA-4A4D-9347-D1B872A87B25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si Soda et Great Expectations donnent des chiffres différents pour la même règle, expliquez pourquoi avant de conclure.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41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F545B98-F6F1-491D-9EBF-5A41FF57C1A8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taux élevé de lignes en échec sur une clé étrangère est un indice de valeur sentinelle avant d'être une anomalie.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44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3922F1E-22AE-482D-8FAE-E3C87FD4BFD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une règle de correction proposée sans rôle destinataire n'est pas une décision.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47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6BB01DD-44B1-413C-996F-D3F6EF694928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cochez uniquement ce que vous pouvez montrer. Une case non cochée et expliquée vaut mieux qu'une case cochée sans preuve.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50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7A18B7-6C51-43AD-912D-C41BAE4A30BB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3E5BCF-1083-4925-83B0-6DB80F3BB689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rien n'est supprimé en silence. Chaque ligne absente de silver est dans dq.rejets avec le code de sa règle.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56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6A752C8-D45A-4DFE-9B65-ACFA89E79FAC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une règle qui baisse de bronze à silver n'est pas forcément un bug. Cherchez d'abord un effet de la quarantaine (lignes devenues orphelines).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D12A31-FA2B-4AE3-AADC-5B1A63903817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les seuils se défendent par la précision et le rappel mesurés, pas par un ressenti. Reportez-les dans le journal des décisions.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62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DD199B-A19B-4C6C-B07D-475E954867DB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la règle de survie est une décision de gouvernance, pas un détail technique.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65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AAA626-99DD-41C9-A505-0A84CF09991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constat expliqué (un contrat orphelin parce que son client a été mis en quarantaine) est un résultat, pas une erreur.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F2F3EF-1BA3-4246-9509-6259D685E7D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trois lignes par cas suffisent : gold, silver, bronze, source. Un identifiant de lot est obligatoire.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71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BC979E6-C6AF-4FC1-8738-E64961796895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cochez uniquement ce que vous pouvez montrer. Une case non cochée et expliquée vaut mieux qu'une case cochée sans preuve.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EABAD7E-BE8D-4366-8FB0-4B3E18E72E13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DA723C-DD2C-4030-B362-98D6FB35FB1E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insérez l'image des courbes dans la zone. Une courbe sans légende ni axe nommé n'est pas lisible par un non-technicien.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0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14D086F-7883-4DD8-9642-19D6EDAB2FF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certificat qui ne mentionne pas ce qu'il ne couvre pas est trompeur. Listez les règles non mesurées.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3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13F2291-FC94-4240-BC22-F408DF38C26B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la preuve d'un refus est le message du script, pas une capture du code.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6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E8B527-7CC5-4C9C-B04D-ED6C66C86A6A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lineage lisible va des sources à la table gold sans saut.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89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96E5712-7424-47F4-82CF-A060A645477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cochez uniquement ce que vous pouvez montrer. Une case non cochée et expliquée vaut mieux qu'une case cochée sans preuve.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92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4C5A0C-75DC-4F28-B766-6D2D6E660C5C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795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EE4ACF3-3A02-40BA-A660-A1E7F16DE847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7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ne présentez pas un GO que le certificat contredit. Un NO-GO bien argumenté vaut un GO bien argumenté.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798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8DAB5DA-62DF-4B83-8948-5C12199C99D0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les chiffres de cette page sont ceux de S5, sans retouche.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61559C-276B-4C1C-86ED-D24CF97F4A1A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un écart non chiffré n'est pas un écart, c'est une impression.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B78F50-9D44-4193-A64B-0F5D21DD3F93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Consigne : la décision est attribuée à un rôle, pas au groupe.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AAFB792-E0F2-4C5D-AB83-6A15CCD76F9B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fr-FR" sz="2000" spc="-1" strike="noStrike"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F4456B-E335-43B6-AC97-B83F241B12DE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Ce journal doit être identique à celui du dépôt (livrables/JOURNAL_DECISIONS.md).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41E085-CC20-4055-87BE-368F0D6755B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Reprenez les totaux de AVANCEMENT.md.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9D0AA9-038D-4090-AF62-CDBA3AD51F84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Les étiquettes fixent l'état rendu à la fin de chaque séance.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6595573-ADD4-4439-84C9-0E1121EEE776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fr-FR" sz="2000" spc="-1" strike="noStrike">
                <a:latin typeface="Arial"/>
              </a:rPr>
              <a:t>Cochez en remplaçant [ ] par [x].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CF8F5A-B34A-49F1-8C88-FC628A22BCD1}" type="slidenum">
              <a:rPr b="0" lang="en-US" sz="1200" spc="-1" strike="noStrike">
                <a:latin typeface="Times New Roman"/>
              </a:rPr>
              <a:t>&lt;numéro&gt;</a:t>
            </a:fld>
            <a:endParaRPr b="0" lang="fr-F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4F09B74-FF89-4524-B248-3DC2832189CE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FEC93A4-F0C9-4C2B-BC4C-FFEFA9FE94A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5FF587-2041-4079-A874-AF4171EF507D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F20C940-FB84-4DD2-82CE-82D5B4688A7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EC3EF38-D6CA-4E3B-BDB5-E680540BE430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7AF1231-F37A-4C91-86A1-D40B01664EE0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87877D-D0B5-4822-A037-70544655B38D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45DDDE-D4CD-4AB3-A0EC-2CA81B35FB7C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E1D6921-8A12-4FFC-81A9-981AE0C6107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B57BCA3-C5D2-47B6-8F8F-9438D02398C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A943F70-622D-4D67-879C-6E5A65EA8C7D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8459591-49F2-4E18-938D-90A36973E295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23A982-56BA-4830-924B-373AA30DFDFB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3D519D-D201-4F69-A5CD-B6D16C625A8A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3CC7132-6D6D-4C09-A682-689CB40D4B86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D50EE7-D860-4530-B419-FD7C014FDD91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354AB8E-46EC-49D1-BD4F-1F1BF057B455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E1AC60-8F4A-4C46-A3EA-4641B4EF2A78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AE69CF3-977D-414E-B741-A277A9540D65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146035-FA7E-483B-8528-ACD3D1FD1118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2FDC4F-3761-460B-8D5E-A97CE2F104CE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7D5214-7977-4501-9CD4-2EF03A3C774A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C764DD-BC2E-42C8-BE36-EF41447C3E9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fr-FR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fr-F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821DFA1-DB28-4014-A2B4-932426904147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Image 0" descr="img/deco_dark.png"/>
          <p:cNvPicPr/>
          <p:nvPr/>
        </p:nvPicPr>
        <p:blipFill>
          <a:blip r:embed="rId2"/>
          <a:stretch/>
        </p:blipFill>
        <p:spPr>
          <a:xfrm>
            <a:off x="6949440" y="1097280"/>
            <a:ext cx="4754160" cy="4754160"/>
          </a:xfrm>
          <a:prstGeom prst="rect">
            <a:avLst/>
          </a:prstGeom>
          <a:ln w="0">
            <a:noFill/>
          </a:ln>
        </p:spPr>
      </p:pic>
      <p:pic>
        <p:nvPicPr>
          <p:cNvPr id="1" name="Image 1" descr="img/logo_dark.png"/>
          <p:cNvPicPr/>
          <p:nvPr/>
        </p:nvPicPr>
        <p:blipFill>
          <a:blip r:embed="rId3"/>
          <a:stretch/>
        </p:blipFill>
        <p:spPr>
          <a:xfrm>
            <a:off x="640080" y="640080"/>
            <a:ext cx="3474000" cy="730800"/>
          </a:xfrm>
          <a:prstGeom prst="rect">
            <a:avLst/>
          </a:prstGeom>
          <a:ln w="0">
            <a:noFill/>
          </a:ln>
        </p:spPr>
      </p:pic>
      <p:sp>
        <p:nvSpPr>
          <p:cNvPr id="2" name="Shape 0"/>
          <p:cNvSpPr/>
          <p:nvPr/>
        </p:nvSpPr>
        <p:spPr>
          <a:xfrm>
            <a:off x="640080" y="2148840"/>
            <a:ext cx="822240" cy="54000"/>
          </a:xfrm>
          <a:prstGeom prst="rect">
            <a:avLst/>
          </a:prstGeom>
          <a:solidFill>
            <a:srgbClr val="0f9b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img/mark_dark.png"/>
          <p:cNvPicPr/>
          <p:nvPr/>
        </p:nvPicPr>
        <p:blipFill>
          <a:blip r:embed="rId2"/>
          <a:stretch/>
        </p:blipFill>
        <p:spPr>
          <a:xfrm>
            <a:off x="640080" y="63367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42" name="Text 0"/>
          <p:cNvSpPr/>
          <p:nvPr/>
        </p:nvSpPr>
        <p:spPr>
          <a:xfrm>
            <a:off x="987480" y="6309360"/>
            <a:ext cx="4571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296" strike="noStrike">
                <a:solidFill>
                  <a:srgbClr val="8e99a4"/>
                </a:solidFill>
                <a:latin typeface="Inter"/>
                <a:ea typeface="Inter"/>
              </a:rPr>
              <a:t>DECIMAL INSIGHTS CONSULTING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sldNum" idx="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33FA1BC-D2DE-42E0-8715-577D42D0CA1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Image 0" descr="img/deco_dark.png"/>
          <p:cNvPicPr/>
          <p:nvPr/>
        </p:nvPicPr>
        <p:blipFill>
          <a:blip r:embed="rId2"/>
          <a:stretch/>
        </p:blipFill>
        <p:spPr>
          <a:xfrm>
            <a:off x="7498080" y="1828800"/>
            <a:ext cx="4205520" cy="4205520"/>
          </a:xfrm>
          <a:prstGeom prst="rect">
            <a:avLst/>
          </a:prstGeom>
          <a:ln w="0">
            <a:noFill/>
          </a:ln>
        </p:spPr>
      </p:pic>
      <p:sp>
        <p:nvSpPr>
          <p:cNvPr id="83" name="Shape 0"/>
          <p:cNvSpPr/>
          <p:nvPr/>
        </p:nvSpPr>
        <p:spPr>
          <a:xfrm>
            <a:off x="640080" y="1828800"/>
            <a:ext cx="822240" cy="54000"/>
          </a:xfrm>
          <a:prstGeom prst="rect">
            <a:avLst/>
          </a:prstGeom>
          <a:solidFill>
            <a:srgbClr val="0f9b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4" name="Image 1" descr="img/mark_dark.png"/>
          <p:cNvPicPr/>
          <p:nvPr/>
        </p:nvPicPr>
        <p:blipFill>
          <a:blip r:embed="rId3"/>
          <a:stretch/>
        </p:blipFill>
        <p:spPr>
          <a:xfrm>
            <a:off x="640080" y="6336720"/>
            <a:ext cx="236880" cy="236880"/>
          </a:xfrm>
          <a:prstGeom prst="rect">
            <a:avLst/>
          </a:prstGeom>
          <a:ln w="0">
            <a:noFill/>
          </a:ln>
        </p:spPr>
      </p:pic>
      <p:sp>
        <p:nvSpPr>
          <p:cNvPr id="85" name="Text 1"/>
          <p:cNvSpPr/>
          <p:nvPr/>
        </p:nvSpPr>
        <p:spPr>
          <a:xfrm>
            <a:off x="987480" y="6309360"/>
            <a:ext cx="4571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296" strike="noStrike">
                <a:solidFill>
                  <a:srgbClr val="8e99a4"/>
                </a:solidFill>
                <a:latin typeface="Inter"/>
                <a:ea typeface="Inter"/>
              </a:rPr>
              <a:t>DECIMAL INSIGHTS CONSULTING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sldNum" idx="2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4219E84-8773-41DB-900D-28365BB11BC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fr-FR" sz="4400" spc="-1" strike="noStrike">
                <a:latin typeface="Arial"/>
              </a:rPr>
              <a:t>Cliquez pour éditer le format du texte-titre</a:t>
            </a:r>
            <a:endParaRPr b="0" lang="fr-FR" sz="44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latin typeface="Arial"/>
              </a:rPr>
              <a:t>Cliquez pour éditer le format du plan de texte</a:t>
            </a:r>
            <a:endParaRPr b="0" lang="fr-F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800" spc="-1" strike="noStrike">
                <a:latin typeface="Arial"/>
              </a:rPr>
              <a:t>Second niveau de plan</a:t>
            </a:r>
            <a:endParaRPr b="0" lang="fr-F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400" spc="-1" strike="noStrike">
                <a:latin typeface="Arial"/>
              </a:rPr>
              <a:t>Troisième niveau de plan</a:t>
            </a:r>
            <a:endParaRPr b="0" lang="fr-F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latin typeface="Arial"/>
              </a:rPr>
              <a:t>Quatrième niveau de plan</a:t>
            </a:r>
            <a:endParaRPr b="0" lang="fr-F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Cinquième niveau de plan</a:t>
            </a:r>
            <a:endParaRPr b="0" lang="fr-F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Sixième niveau de plan</a:t>
            </a:r>
            <a:endParaRPr b="0" lang="fr-F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latin typeface="Arial"/>
              </a:rPr>
              <a:t>Septième niveau de plan</a:t>
            </a:r>
            <a:endParaRPr b="0" lang="fr-F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38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40080" y="2377440"/>
            <a:ext cx="676584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50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Livrable de groupe</a:t>
            </a:r>
            <a:endParaRPr b="0" lang="fr-FR" sz="50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640080" y="4251960"/>
            <a:ext cx="6400080" cy="82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b8c0c8"/>
                </a:solidFill>
                <a:latin typeface="Inter"/>
                <a:ea typeface="Inter"/>
              </a:rPr>
              <a:t>TD AssurConnect : gouvernance, profilage et qualité des données</a:t>
            </a:r>
            <a:endParaRPr b="0" lang="fr-FR" sz="20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640080" y="5577840"/>
            <a:ext cx="6400080" cy="36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b="0" lang="en-US" sz="1200" spc="197" strike="noStrike">
                <a:solidFill>
                  <a:srgbClr val="f5a623"/>
                </a:solidFill>
                <a:latin typeface="Inter"/>
                <a:ea typeface="Inter"/>
              </a:rPr>
              <a:t>GROUPE [N°0] · [AMY Léo – MENY Nicolas - OUERGHEMNI Mongi - TRUONG David] · [14/10/2026]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Comment remplir ce modèle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ldNum" idx="6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5BAEBA-7BDF-40BF-A391-620AABA4CE4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36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MODE D'EMPLOI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37" name="Rectangle 26"/>
          <p:cNvSpPr/>
          <p:nvPr/>
        </p:nvSpPr>
        <p:spPr>
          <a:xfrm>
            <a:off x="640080" y="1371600"/>
            <a:ext cx="10908000" cy="80388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38" name="Icône target" descr="Icône target"/>
          <p:cNvPicPr/>
          <p:nvPr/>
        </p:nvPicPr>
        <p:blipFill>
          <a:blip r:embed="rId1"/>
          <a:stretch/>
        </p:blipFill>
        <p:spPr>
          <a:xfrm>
            <a:off x="868680" y="15728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39" name="TextBox 28"/>
          <p:cNvSpPr/>
          <p:nvPr/>
        </p:nvSpPr>
        <p:spPr>
          <a:xfrm>
            <a:off x="1463040" y="1658160"/>
            <a:ext cx="32911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Encadré ambre « Attendu »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0" name="TextBox 29"/>
          <p:cNvSpPr/>
          <p:nvPr/>
        </p:nvSpPr>
        <p:spPr>
          <a:xfrm>
            <a:off x="4846320" y="1666440"/>
            <a:ext cx="658296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Ce qui doit apparaître sur la page. À lire avant de rédiger ; ne pas supprimer.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1" name="Rectangle 30"/>
          <p:cNvSpPr/>
          <p:nvPr/>
        </p:nvSpPr>
        <p:spPr>
          <a:xfrm>
            <a:off x="640080" y="2286000"/>
            <a:ext cx="10908000" cy="80388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42" name="Icône pen" descr="Icône pen"/>
          <p:cNvPicPr/>
          <p:nvPr/>
        </p:nvPicPr>
        <p:blipFill>
          <a:blip r:embed="rId2"/>
          <a:stretch/>
        </p:blipFill>
        <p:spPr>
          <a:xfrm>
            <a:off x="868680" y="24872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43" name="TextBox 32"/>
          <p:cNvSpPr/>
          <p:nvPr/>
        </p:nvSpPr>
        <p:spPr>
          <a:xfrm>
            <a:off x="1463040" y="2572560"/>
            <a:ext cx="32911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Cellule ou zone ambre sombre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4" name="TextBox 33"/>
          <p:cNvSpPr/>
          <p:nvPr/>
        </p:nvSpPr>
        <p:spPr>
          <a:xfrm>
            <a:off x="4846320" y="2473920"/>
            <a:ext cx="65829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À compléter : remplacez « … » ou le texte gris entre crochets par votre contenu.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5" name="Rectangle 34"/>
          <p:cNvSpPr/>
          <p:nvPr/>
        </p:nvSpPr>
        <p:spPr>
          <a:xfrm>
            <a:off x="640080" y="3200400"/>
            <a:ext cx="10908000" cy="80388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46" name="Icône chart" descr="Icône chart"/>
          <p:cNvPicPr/>
          <p:nvPr/>
        </p:nvPicPr>
        <p:blipFill>
          <a:blip r:embed="rId3"/>
          <a:stretch/>
        </p:blipFill>
        <p:spPr>
          <a:xfrm>
            <a:off x="868680" y="34016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47" name="TextBox 36"/>
          <p:cNvSpPr/>
          <p:nvPr/>
        </p:nvSpPr>
        <p:spPr>
          <a:xfrm>
            <a:off x="1463040" y="3372120"/>
            <a:ext cx="3291120" cy="46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Une page prouve, elle ne raconte pas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48" name="TextBox 37"/>
          <p:cNvSpPr/>
          <p:nvPr/>
        </p:nvSpPr>
        <p:spPr>
          <a:xfrm>
            <a:off x="4846320" y="3388320"/>
            <a:ext cx="65829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Pour chaque constat : un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chiffre mesuré</a:t>
            </a: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 (règle RQ, couche),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preuve</a:t>
            </a: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 (chemin du dépôt),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conséquence</a:t>
            </a: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 attribuée à un rôle.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49" name="Rectangle 38"/>
          <p:cNvSpPr/>
          <p:nvPr/>
        </p:nvSpPr>
        <p:spPr>
          <a:xfrm>
            <a:off x="640080" y="4114800"/>
            <a:ext cx="10908000" cy="80388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0" name="Icône branch" descr="Icône branch"/>
          <p:cNvPicPr/>
          <p:nvPr/>
        </p:nvPicPr>
        <p:blipFill>
          <a:blip r:embed="rId4"/>
          <a:stretch/>
        </p:blipFill>
        <p:spPr>
          <a:xfrm>
            <a:off x="868680" y="43160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51" name="TextBox 40"/>
          <p:cNvSpPr/>
          <p:nvPr/>
        </p:nvSpPr>
        <p:spPr>
          <a:xfrm>
            <a:off x="1463040" y="4401360"/>
            <a:ext cx="32911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Le dépôt Git est la preuve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52" name="TextBox 41"/>
          <p:cNvSpPr/>
          <p:nvPr/>
        </p:nvSpPr>
        <p:spPr>
          <a:xfrm>
            <a:off x="4846320" y="4302720"/>
            <a:ext cx="65829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Chaque chemin cité existe dans votre dépôt. Étiquette </a:t>
            </a:r>
            <a:r>
              <a:rPr b="0" lang="fr-FR" sz="1300" spc="-1" strike="noStrike">
                <a:solidFill>
                  <a:srgbClr val="f7f6f2"/>
                </a:solidFill>
                <a:latin typeface="Consolas"/>
                <a:ea typeface="DejaVu Sans"/>
              </a:rPr>
              <a:t>seance-N</a:t>
            </a: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 posée en fin de chaque séance.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53" name="Rectangle 42"/>
          <p:cNvSpPr/>
          <p:nvPr/>
        </p:nvSpPr>
        <p:spPr>
          <a:xfrm>
            <a:off x="640080" y="5029200"/>
            <a:ext cx="10908000" cy="80388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54" name="Icône warn" descr="Icône warn"/>
          <p:cNvPicPr/>
          <p:nvPr/>
        </p:nvPicPr>
        <p:blipFill>
          <a:blip r:embed="rId5"/>
          <a:stretch/>
        </p:blipFill>
        <p:spPr>
          <a:xfrm>
            <a:off x="868680" y="5230440"/>
            <a:ext cx="401760" cy="401760"/>
          </a:xfrm>
          <a:prstGeom prst="rect">
            <a:avLst/>
          </a:prstGeom>
          <a:ln w="0">
            <a:noFill/>
          </a:ln>
        </p:spPr>
      </p:pic>
      <p:sp>
        <p:nvSpPr>
          <p:cNvPr id="155" name="TextBox 44"/>
          <p:cNvSpPr/>
          <p:nvPr/>
        </p:nvSpPr>
        <p:spPr>
          <a:xfrm>
            <a:off x="1463040" y="5315760"/>
            <a:ext cx="329112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Si vous n'avez pas fini</a:t>
            </a:r>
            <a:endParaRPr b="0" lang="fr-FR" sz="1400" spc="-1" strike="noStrike">
              <a:latin typeface="Arial"/>
            </a:endParaRPr>
          </a:p>
        </p:txBody>
      </p:sp>
      <p:sp>
        <p:nvSpPr>
          <p:cNvPr id="156" name="TextBox 45"/>
          <p:cNvSpPr/>
          <p:nvPr/>
        </p:nvSpPr>
        <p:spPr>
          <a:xfrm>
            <a:off x="4846320" y="5217120"/>
            <a:ext cx="6582960" cy="42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300" spc="-1" strike="noStrike">
                <a:solidFill>
                  <a:srgbClr val="b8c0c8"/>
                </a:solidFill>
                <a:latin typeface="Inter"/>
                <a:ea typeface="DejaVu Sans"/>
              </a:rPr>
              <a:t>Laissez les zones ambre visibles : un livrable inachevé doit le rester. Ne mettez jamais un chiffre sans l'avoir mesuré.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57" name="TextBox 46"/>
          <p:cNvSpPr/>
          <p:nvPr/>
        </p:nvSpPr>
        <p:spPr>
          <a:xfrm>
            <a:off x="640080" y="598932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Si le texte déborde d'une cellule, réduisez la police à 11 pt plutôt que d'étendre le tableau hors de la page.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Où se trouve quoi, et ce que pèse chaque critère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7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7C13766-4969-406B-A326-9C00D52B5410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60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PLAN DU LIVRABLE</a:t>
            </a:r>
            <a:endParaRPr b="0" lang="fr-FR" sz="1100" spc="-1" strike="noStrike">
              <a:latin typeface="Arial"/>
            </a:endParaRPr>
          </a:p>
        </p:txBody>
      </p:sp>
      <p:graphicFrame>
        <p:nvGraphicFramePr>
          <p:cNvPr id="161" name="Table 26"/>
          <p:cNvGraphicFramePr/>
          <p:nvPr/>
        </p:nvGraphicFramePr>
        <p:xfrm>
          <a:off x="640080" y="1371600"/>
          <a:ext cx="10908360" cy="3071520"/>
        </p:xfrm>
        <a:graphic>
          <a:graphicData uri="http://schemas.openxmlformats.org/drawingml/2006/table">
            <a:tbl>
              <a:tblPr/>
              <a:tblGrid>
                <a:gridCol w="4023360"/>
                <a:gridCol w="1097280"/>
                <a:gridCol w="4690800"/>
                <a:gridCol w="1097280"/>
              </a:tblGrid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Partie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Pages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Critère de la grille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Poids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Équipe et mandat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4 à 5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Contribution individuelle (vérifiée dans l'historique Git)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—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S1 : bronze, porte B, profilage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S1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Profilage et diagnostic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S2 : règles en tests (Great Expectations)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S2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Règles et tests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S3 : intégrité et portes (Soda Core)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S3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Règles et tests (suite)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inclus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S4 : silver, gold, traçabilité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S4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Silver, gold et traçabilité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25 %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S5 : certificat, publication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S5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Preuve et certificat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20 %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</a:tr>
              <a:tr h="3855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Dossier go/no-go, journal des décisions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Dossier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Gouvernance et décision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3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15 %</a:t>
                      </a:r>
                      <a:endParaRPr b="0" lang="fr-FR" sz="13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</a:tr>
            </a:tbl>
          </a:graphicData>
        </a:graphic>
      </p:graphicFrame>
      <p:sp>
        <p:nvSpPr>
          <p:cNvPr id="162" name="TextBox 27"/>
          <p:cNvSpPr/>
          <p:nvPr/>
        </p:nvSpPr>
        <p:spPr>
          <a:xfrm>
            <a:off x="640080" y="458100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Définition de « terminé » pour une story : critères démontrés avec les chiffres, règle identifiée par son RQ et la couche mesurée, décision attribuée à un rôle, aucune donnée modifiée en place.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Membres, rôles par séance et contribution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sldNum" idx="8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DB5C899-774E-4F37-9829-8A013DC80BD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65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ÉQUIPE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66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6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69" name="TextBox 29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70" name="TextBox 30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rôles tournent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à chaque séance et un rôle est tenu par une personne à la fois.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contribution déclarée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vérifiable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dans l'historique Git : une ligne par membre, deux lignes de texte.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171" name="Table 31"/>
          <p:cNvGraphicFramePr/>
          <p:nvPr/>
        </p:nvGraphicFramePr>
        <p:xfrm>
          <a:off x="640080" y="2579760"/>
          <a:ext cx="10908360" cy="182844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1188720"/>
                <a:gridCol w="1188720"/>
                <a:gridCol w="1188720"/>
                <a:gridCol w="1280160"/>
                <a:gridCol w="130752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Membre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Identifiant Git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S1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S2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S3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S4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S5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AMY Léo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LeoAugustinAmy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Rédacteur du livrable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MENY Nicolas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Tastycoole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Data Owner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OUERGHEMNI Mongi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mongi-ouerghemmi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Ingénieur qualité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TRUONG David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0TRDavid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Data Steward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172" name="TextBox 32"/>
          <p:cNvSpPr/>
          <p:nvPr/>
        </p:nvSpPr>
        <p:spPr>
          <a:xfrm>
            <a:off x="640440" y="45903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Rôles : Data Owner (décide des seuils et du GO) · Data Steward (définit les règles et leur sévérité) · Ingénieur qualité (mesure, implémente) · Rédacteur du livrable.</a:t>
            </a:r>
            <a:endParaRPr b="0" lang="fr-FR" sz="1100" spc="-1" strike="noStrike">
              <a:latin typeface="Arial"/>
            </a:endParaRPr>
          </a:p>
        </p:txBody>
      </p:sp>
      <p:graphicFrame>
        <p:nvGraphicFramePr>
          <p:cNvPr id="173" name="Table 33"/>
          <p:cNvGraphicFramePr/>
          <p:nvPr/>
        </p:nvGraphicFramePr>
        <p:xfrm>
          <a:off x="640080" y="4865760"/>
          <a:ext cx="10908360" cy="1828440"/>
        </p:xfrm>
        <a:graphic>
          <a:graphicData uri="http://schemas.openxmlformats.org/drawingml/2006/table">
            <a:tbl>
              <a:tblPr/>
              <a:tblGrid>
                <a:gridCol w="2560320"/>
                <a:gridCol w="6035040"/>
                <a:gridCol w="231336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Membre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Contribution (deux lignes)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Stories principales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Notre compréhension du mandat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9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B85D68-105A-4390-8F7E-14936CCFD76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76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CONTEXTE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77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8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79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80" name="TextBox 29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81" name="TextBox 30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condition posée par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Direction Générale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reformulée avec vos mots.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périmètre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sources, couches du médaillon, portes B, S, G et C.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trois rôles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gouvernance et ce que chacun décide.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182" name="TextBox 31"/>
          <p:cNvSpPr/>
          <p:nvPr/>
        </p:nvSpPr>
        <p:spPr>
          <a:xfrm>
            <a:off x="640080" y="2868840"/>
            <a:ext cx="53028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MANDAT ET CONDITION DE LA DG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3" name="Zone à rédiger"/>
          <p:cNvSpPr/>
          <p:nvPr/>
        </p:nvSpPr>
        <p:spPr>
          <a:xfrm>
            <a:off x="640080" y="3124440"/>
            <a:ext cx="5302800" cy="30013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ici, cinq lignes au plus]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84" name="TextBox 33"/>
          <p:cNvSpPr/>
          <p:nvPr/>
        </p:nvSpPr>
        <p:spPr>
          <a:xfrm>
            <a:off x="6245280" y="2868840"/>
            <a:ext cx="53028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PÉRIMÈTRE ET RÔLES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85" name="Zone à rédiger"/>
          <p:cNvSpPr/>
          <p:nvPr/>
        </p:nvSpPr>
        <p:spPr>
          <a:xfrm>
            <a:off x="6245280" y="3124440"/>
            <a:ext cx="5302800" cy="30013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ici, cinq lignes au plus]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01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Stack, profilage, bronze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0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19937D3-38E0-4D73-9038-1865164FA3B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89" name="TextBox 25"/>
          <p:cNvSpPr/>
          <p:nvPr/>
        </p:nvSpPr>
        <p:spPr>
          <a:xfrm>
            <a:off x="640080" y="4892040"/>
            <a:ext cx="640008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Séance 1 · Porte B · US-01 à 09. Inventaire des sources, bronze, réconciliation, profil de crm.client, dictionnaire du CIF, client actif.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Inventaire des sources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ldNum" idx="1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D1B6627-00AA-43D6-90C1-53F09C0A9588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192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US-01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193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194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5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196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197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198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sept tables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des deux sources, avec 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nombre de lignes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mesuré et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clé primaire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observation chiffrée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table (nulls, doublons de clé, particularités).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199" name="Table 32"/>
          <p:cNvGraphicFramePr/>
          <p:nvPr/>
        </p:nvGraphicFramePr>
        <p:xfrm>
          <a:off x="640080" y="2579760"/>
          <a:ext cx="10908360" cy="292572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463040"/>
                <a:gridCol w="2194560"/>
                <a:gridCol w="405072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Source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Clé primaire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Observation chiffrée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client_id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133918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contrat_id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7460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100000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sinistre_id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0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type_contrat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12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code_type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0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40000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column0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26486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compte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45000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column0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0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pays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250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code_pays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Nulls: 0 | doublons de clé: 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00" name="TextBox 33"/>
          <p:cNvSpPr/>
          <p:nvPr/>
        </p:nvSpPr>
        <p:spPr>
          <a:xfrm>
            <a:off x="640080" y="5890320"/>
            <a:ext cx="109080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200" spc="-1" strike="noStrike">
                <a:solidFill>
                  <a:srgbClr val="b8c0c8"/>
                </a:solidFill>
                <a:latin typeface="Inter"/>
                <a:ea typeface="DejaVu Sans"/>
              </a:rPr>
              <a:t>Preuve (chemin du notebook, du fichier ou de la requête dans le dépôt) : </a:t>
            </a:r>
            <a:r>
              <a:rPr b="1" lang="fr-FR" sz="1200" spc="-1" strike="noStrike">
                <a:solidFill>
                  <a:srgbClr val="f5a623"/>
                </a:solidFill>
                <a:latin typeface="Inter"/>
                <a:ea typeface="DejaVu Sans"/>
              </a:rPr>
              <a:t>notebooks/inventaire_sources.ipynb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Bronze et porte B : la copie est-elle fidèle ?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sldNum" idx="12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1C9473-BB93-4349-8D44-FFD0C8E65CD6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03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US-02, 03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05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07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08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09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RQ-021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(comptage)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RQ-022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(somme de contrôle) mesurées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table par table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même quand l'écart est nul.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ligne bronze porte ses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quatre métadonnées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(lot, source, horodatage, empreinte de ligne).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10" name="Table 32"/>
          <p:cNvGraphicFramePr/>
          <p:nvPr/>
        </p:nvGraphicFramePr>
        <p:xfrm>
          <a:off x="640080" y="2579760"/>
          <a:ext cx="10908360" cy="292572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1828800"/>
                <a:gridCol w="2194560"/>
                <a:gridCol w="240480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 bronze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source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bronze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 de comptage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 de somme de contrôle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crm_client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crm_contrat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crm_sinistre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crm_type_contrat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cif_clients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cif_compte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cif_pays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11" name="TextBox 33"/>
          <p:cNvSpPr/>
          <p:nvPr/>
        </p:nvSpPr>
        <p:spPr>
          <a:xfrm>
            <a:off x="640080" y="5890320"/>
            <a:ext cx="109080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200" spc="-1" strike="noStrike">
                <a:solidFill>
                  <a:srgbClr val="b8c0c8"/>
                </a:solidFill>
                <a:latin typeface="Inter"/>
                <a:ea typeface="DejaVu Sans"/>
              </a:rPr>
              <a:t>Preuve (chemin du notebook, du fichier ou de la requête dans le dépôt) : </a:t>
            </a:r>
            <a:r>
              <a:rPr b="1" lang="fr-FR" sz="1200" spc="-1" strike="noStrike">
                <a:solidFill>
                  <a:srgbClr val="f5a623"/>
                </a:solidFill>
                <a:latin typeface="Inter"/>
                <a:ea typeface="DejaVu Sans"/>
              </a:rPr>
              <a:t>…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Épreuves de la porte B et méthode d'ingestion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sldNum" idx="13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DE6B521-F91A-43A2-A992-56FB4A7AA7E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1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US-02, 03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15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16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1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19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20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trois épreuves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documentées, chacune avec son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résultat obtenu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sa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preuve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méthode d'ingestion en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trois lignes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lecture, conversion, métadonnées, relance du lot.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21" name="Table 32"/>
          <p:cNvGraphicFramePr/>
          <p:nvPr/>
        </p:nvGraphicFramePr>
        <p:xfrm>
          <a:off x="640080" y="2579760"/>
          <a:ext cx="10908360" cy="2011320"/>
        </p:xfrm>
        <a:graphic>
          <a:graphicData uri="http://schemas.openxmlformats.org/drawingml/2006/table">
            <a:tbl>
              <a:tblPr/>
              <a:tblGrid>
                <a:gridCol w="5120640"/>
                <a:gridCol w="3108960"/>
                <a:gridCol w="2679120"/>
              </a:tblGrid>
              <a:tr h="5029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Épreuve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Résultat obtenu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5029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Relance du même lot : doublons créés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5029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Écart introduit volontairement sur une copie : la porte échoue-t-elle ?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5029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Un problème de conversion rencontré (décimales, NULL, accents) et sa correction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22" name="TextBox 33"/>
          <p:cNvSpPr/>
          <p:nvPr/>
        </p:nvSpPr>
        <p:spPr>
          <a:xfrm>
            <a:off x="640080" y="485712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MÉTHODE D'INGESTION EN TROIS LIGNES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23" name="Zone à rédiger"/>
          <p:cNvSpPr/>
          <p:nvPr/>
        </p:nvSpPr>
        <p:spPr>
          <a:xfrm>
            <a:off x="640080" y="5112720"/>
            <a:ext cx="10908000" cy="10130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Profil de crm.client et motifs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sldNum" idx="14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70B026-3319-4A2A-A7A7-DADA5F1DA158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26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US-06, 07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27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28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9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30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31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32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Au moins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cinq constats chiffrés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colonne, indicateur, valeur mesurée, conséquence pour la qualité.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motifs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code postal, de téléphone et de pays : lignes conformes, non conformes, un exemple.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33" name="Table 32"/>
          <p:cNvGraphicFramePr/>
          <p:nvPr/>
        </p:nvGraphicFramePr>
        <p:xfrm>
          <a:off x="640080" y="2534040"/>
          <a:ext cx="10908360" cy="205632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3291840"/>
                <a:gridCol w="1737360"/>
                <a:gridCol w="3502080"/>
              </a:tblGrid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N°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Colonne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Indicateur (nulls, vides, distincts, motif)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 mesurée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Ce que cela change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1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3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4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5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33"/>
          <p:cNvGraphicFramePr/>
          <p:nvPr/>
        </p:nvGraphicFramePr>
        <p:xfrm>
          <a:off x="640080" y="4646520"/>
          <a:ext cx="10908360" cy="13161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1554480"/>
                <a:gridCol w="1737360"/>
                <a:gridCol w="2679120"/>
              </a:tblGrid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Attribut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Motif testé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Conformes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Non conformes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Exemple non conforme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Code postal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Téléphone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Pays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35" name="TextBox 34"/>
          <p:cNvSpPr/>
          <p:nvPr/>
        </p:nvSpPr>
        <p:spPr>
          <a:xfrm>
            <a:off x="640080" y="6073200"/>
            <a:ext cx="109080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200" spc="-1" strike="noStrike">
                <a:solidFill>
                  <a:srgbClr val="b8c0c8"/>
                </a:solidFill>
                <a:latin typeface="Inter"/>
                <a:ea typeface="DejaVu Sans"/>
              </a:rPr>
              <a:t>Preuve (chemin du notebook, du fichier ou de la requête dans le dépôt) : </a:t>
            </a:r>
            <a:r>
              <a:rPr b="1" lang="fr-FR" sz="1200" spc="-1" strike="noStrike">
                <a:solidFill>
                  <a:srgbClr val="f5a623"/>
                </a:solidFill>
                <a:latin typeface="Inter"/>
                <a:ea typeface="DejaVu Sans"/>
              </a:rPr>
              <a:t>…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Dictionnaire du CIF : dix colonnes anonymes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ldNum" idx="15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ACDD14-993A-4BEB-9AEA-D3DDF05AD85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38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39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40" name="Attendu"/>
          <p:cNvSpPr/>
          <p:nvPr/>
        </p:nvSpPr>
        <p:spPr>
          <a:xfrm>
            <a:off x="640080" y="1325880"/>
            <a:ext cx="10908000" cy="103212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Attendu barre"/>
          <p:cNvSpPr/>
          <p:nvPr/>
        </p:nvSpPr>
        <p:spPr>
          <a:xfrm>
            <a:off x="640080" y="1325880"/>
            <a:ext cx="81720" cy="10321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42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43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44" name="TextBox 31"/>
          <p:cNvSpPr/>
          <p:nvPr/>
        </p:nvSpPr>
        <p:spPr>
          <a:xfrm>
            <a:off x="914400" y="1783080"/>
            <a:ext cx="10359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Pour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chacune des dix colonnes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un nom proposé, un type et 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justification chiffrée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(comment l'avez-vous déduit ?).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45" name="Table 32"/>
          <p:cNvGraphicFramePr/>
          <p:nvPr/>
        </p:nvGraphicFramePr>
        <p:xfrm>
          <a:off x="640080" y="2495880"/>
          <a:ext cx="10908360" cy="352008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463040"/>
                <a:gridCol w="5422320"/>
              </a:tblGrid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Colonne d'origine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Nom proposé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Type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Justification chiffrée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Trois directions, trois définitions du « client actif »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sldNum" idx="16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AED5CFB-7347-43AB-81F1-E24A7C586614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48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US-09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49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50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1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52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53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54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nombre de clients actifs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selon chaque direction, avec la définition utilisée.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écart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avec la définition de la fiche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CD-001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et la conséquence pour la gouvernance.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55" name="Table 32"/>
          <p:cNvGraphicFramePr/>
          <p:nvPr/>
        </p:nvGraphicFramePr>
        <p:xfrm>
          <a:off x="640080" y="2579760"/>
          <a:ext cx="10908360" cy="1535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  <a:gridCol w="2011680"/>
                <a:gridCol w="2130480"/>
              </a:tblGrid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Direction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Définition utilisée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Nombre de clients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 avec CD-001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Commerciale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84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Risques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56" name="TextBox 33"/>
          <p:cNvSpPr/>
          <p:nvPr/>
        </p:nvSpPr>
        <p:spPr>
          <a:xfrm>
            <a:off x="640080" y="438156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CONSÉQUENCE POUR LA GOUVERNANCE, EN TROIS PHRASES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57" name="Zone à rédiger"/>
          <p:cNvSpPr/>
          <p:nvPr/>
        </p:nvSpPr>
        <p:spPr>
          <a:xfrm>
            <a:off x="640080" y="4637160"/>
            <a:ext cx="10908000" cy="14886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de S1 : critères de fin et difficultés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 type="sldNum" idx="17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FA726A-1125-4BEE-B4C3-9F3BAF2C5FE4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60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S1 · BILAN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61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PROFILAGE ET DIAGNOSTIC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62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3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4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65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66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critère coché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démontré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une page de ce livrable ou par un fichier du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difficultés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chiffrées en temps perdu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; un point de reprise utilisé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67" name="Rectangle 32"/>
          <p:cNvSpPr/>
          <p:nvPr/>
        </p:nvSpPr>
        <p:spPr>
          <a:xfrm>
            <a:off x="640080" y="2579760"/>
            <a:ext cx="511992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68" name="Icône ok" descr="Icône ok"/>
          <p:cNvPicPr/>
          <p:nvPr/>
        </p:nvPicPr>
        <p:blipFill>
          <a:blip r:embed="rId2"/>
          <a:stretch/>
        </p:blipFill>
        <p:spPr>
          <a:xfrm>
            <a:off x="868680" y="27352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269" name="TextBox 34"/>
          <p:cNvSpPr/>
          <p:nvPr/>
        </p:nvSpPr>
        <p:spPr>
          <a:xfrm>
            <a:off x="1289160" y="2783160"/>
            <a:ext cx="45712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300" spc="114" strike="noStrike">
                <a:solidFill>
                  <a:srgbClr val="f7f6f2"/>
                </a:solidFill>
                <a:latin typeface="Inter"/>
                <a:ea typeface="DejaVu Sans"/>
              </a:rPr>
              <a:t>CRITÈRES DE FIN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270" name="TextBox 35"/>
          <p:cNvSpPr/>
          <p:nvPr/>
        </p:nvSpPr>
        <p:spPr>
          <a:xfrm>
            <a:off x="868680" y="3219840"/>
            <a:ext cx="4662720" cy="24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Les sept tables bronze existent et chaque ligne porte ses quatre métadonnées.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La porte B ne montre aucun écart de comptage ni de somme de contrôle.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Relancer l'ingestion du même lot ne crée aucun doublon.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Un écart introduit volontairement fait échouer la porte.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RQ-021 est écrite dans dq.dq_history (couche BRONZE).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271" name="TextBox 36"/>
          <p:cNvSpPr/>
          <p:nvPr/>
        </p:nvSpPr>
        <p:spPr>
          <a:xfrm>
            <a:off x="640080" y="5852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Remplacez [ ] par [x] une fois le critère démontré.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72" name="TextBox 37"/>
          <p:cNvSpPr/>
          <p:nvPr/>
        </p:nvSpPr>
        <p:spPr>
          <a:xfrm>
            <a:off x="5943600" y="26168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DIFFICULTÉS RENCONTRÉES ET TEMPS PERDU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73" name="Zone à rédiger"/>
          <p:cNvSpPr/>
          <p:nvPr/>
        </p:nvSpPr>
        <p:spPr>
          <a:xfrm>
            <a:off x="5943600" y="2872440"/>
            <a:ext cx="5604480" cy="1169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4" name="TextBox 39"/>
          <p:cNvSpPr/>
          <p:nvPr/>
        </p:nvSpPr>
        <p:spPr>
          <a:xfrm>
            <a:off x="5943600" y="42170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POINT DE REPRISE UTILISÉ (OUI / NON, LEQUEL)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75" name="Zone à rédiger"/>
          <p:cNvSpPr/>
          <p:nvPr/>
        </p:nvSpPr>
        <p:spPr>
          <a:xfrm>
            <a:off x="5943600" y="4472640"/>
            <a:ext cx="5604480" cy="6210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76" name="TextBox 41"/>
          <p:cNvSpPr/>
          <p:nvPr/>
        </p:nvSpPr>
        <p:spPr>
          <a:xfrm>
            <a:off x="5943600" y="526860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 QUE NOUS FERIONS AUTREMENT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77" name="Zone à rédiger"/>
          <p:cNvSpPr/>
          <p:nvPr/>
        </p:nvSpPr>
        <p:spPr>
          <a:xfrm>
            <a:off x="5943600" y="5524200"/>
            <a:ext cx="5604480" cy="601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02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Règles en tests automatisés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18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B844521-0ED8-405E-BC58-1C3A3CA03F5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81" name="TextBox 25"/>
          <p:cNvSpPr/>
          <p:nvPr/>
        </p:nvSpPr>
        <p:spPr>
          <a:xfrm>
            <a:off x="640080" y="4892040"/>
            <a:ext cx="64000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Séance 2 · Great Expectations · US-10, 11, 13, 15. Une règle métier devient un test nommé par son identifiant RQ.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Règles en tests : une expectation par règle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sldNum" idx="19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798F270-656F-41FD-9751-2F36087B5EC4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8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S2 · US-10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85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86" name="Attendu"/>
          <p:cNvSpPr/>
          <p:nvPr/>
        </p:nvSpPr>
        <p:spPr>
          <a:xfrm>
            <a:off x="640080" y="1325880"/>
            <a:ext cx="10908000" cy="12844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7" name="Attendu barre"/>
          <p:cNvSpPr/>
          <p:nvPr/>
        </p:nvSpPr>
        <p:spPr>
          <a:xfrm>
            <a:off x="640080" y="1325880"/>
            <a:ext cx="81720" cy="12844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8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289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290" name="TextBox 31"/>
          <p:cNvSpPr/>
          <p:nvPr/>
        </p:nvSpPr>
        <p:spPr>
          <a:xfrm>
            <a:off x="914400" y="1783080"/>
            <a:ext cx="1035936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Pour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RQ-001, 002, 003, 005, 009, 010 et 020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l'expectation porte son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rule_id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avec lignes testées, échecs, taux et sévérité.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base et la table visées sont des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paramètres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la suite se relance sur silver sans modification.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291" name="Table 32"/>
          <p:cNvGraphicFramePr/>
          <p:nvPr/>
        </p:nvGraphicFramePr>
        <p:xfrm>
          <a:off x="640080" y="2793960"/>
          <a:ext cx="10908360" cy="292572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2926080"/>
                <a:gridCol w="1097280"/>
                <a:gridCol w="1188720"/>
                <a:gridCol w="1188720"/>
                <a:gridCol w="149040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 bronze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Expectation (type)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En échec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Sévérité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RQ-001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RQ-002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RQ-003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RQ-005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RQ-009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RQ-010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RQ-020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292" name="TextBox 33"/>
          <p:cNvSpPr/>
          <p:nvPr/>
        </p:nvSpPr>
        <p:spPr>
          <a:xfrm>
            <a:off x="640080" y="581148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Sévérité : bloquante ou avertissement. Chemin des suites de validation : voir le dépôt, reports/ge/gx/expectations.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Pièges rencontrés et lignes en échec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20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A72A52-1C50-4514-9737-46A2B7A4C18A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295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S2 · US-10, 11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296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297" name="Attendu"/>
          <p:cNvSpPr/>
          <p:nvPr/>
        </p:nvSpPr>
        <p:spPr>
          <a:xfrm>
            <a:off x="640080" y="1325880"/>
            <a:ext cx="10908000" cy="12844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8" name="Attendu barre"/>
          <p:cNvSpPr/>
          <p:nvPr/>
        </p:nvSpPr>
        <p:spPr>
          <a:xfrm>
            <a:off x="640080" y="1325880"/>
            <a:ext cx="81720" cy="12844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299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00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01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pièges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(nul, vide, blanc ; adresses étrangères ; comparaisons exactes) avec le chiffre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avant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après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correction.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échantillon commenté de 20 lignes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en échec : famille d'erreur, cause probable, action proposée.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302" name="Table 32"/>
          <p:cNvGraphicFramePr/>
          <p:nvPr/>
        </p:nvGraphicFramePr>
        <p:xfrm>
          <a:off x="640080" y="2748240"/>
          <a:ext cx="10908360" cy="1041840"/>
        </p:xfrm>
        <a:graphic>
          <a:graphicData uri="http://schemas.openxmlformats.org/drawingml/2006/table">
            <a:tbl>
              <a:tblPr/>
              <a:tblGrid>
                <a:gridCol w="1097280"/>
                <a:gridCol w="3840480"/>
                <a:gridCol w="1737360"/>
                <a:gridCol w="1737360"/>
                <a:gridCol w="249624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Piège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Avant correction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Après correction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3" name="Table 33"/>
          <p:cNvGraphicFramePr/>
          <p:nvPr/>
        </p:nvGraphicFramePr>
        <p:xfrm>
          <a:off x="640080" y="3927600"/>
          <a:ext cx="10908360" cy="138924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1463040"/>
                <a:gridCol w="2926080"/>
                <a:gridCol w="249624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Famille d'erreur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(sur 20)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Cause probable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Action proposée (à qui ?)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304" name="TextBox 34"/>
          <p:cNvSpPr/>
          <p:nvPr/>
        </p:nvSpPr>
        <p:spPr>
          <a:xfrm>
            <a:off x="640080" y="540900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Chemins : export complet des lignes en échec ; échantillon commenté de 20 lignes.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Âge à la bonne date et mesure de référence sur bronze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2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A6DABFE-7FB8-4517-9B17-8A5CEB315EB4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07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S2 · US-13, 15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08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09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11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12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13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RQ-002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documentée avec sa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date de référence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et un cas où « à la date du jour » donne un autre résultat.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mesure de référence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écrite dans dq.dq_history (couche BRONZE), avec la synthèse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par dimension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phrase de synthèse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chiffrée : « voici la qualité de ce qui nous est livré ».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314" name="Table 32"/>
          <p:cNvGraphicFramePr/>
          <p:nvPr/>
        </p:nvGraphicFramePr>
        <p:xfrm>
          <a:off x="640080" y="2786040"/>
          <a:ext cx="10908360" cy="904680"/>
        </p:xfrm>
        <a:graphic>
          <a:graphicData uri="http://schemas.openxmlformats.org/drawingml/2006/table">
            <a:tbl>
              <a:tblPr/>
              <a:tblGrid>
                <a:gridCol w="2743200"/>
                <a:gridCol w="3840480"/>
                <a:gridCol w="1828800"/>
                <a:gridCol w="2496240"/>
              </a:tblGrid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Date de référence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Définition de l'âge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en échec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Date de début du contrat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Date du jour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5" name="Table 33"/>
          <p:cNvGraphicFramePr/>
          <p:nvPr/>
        </p:nvGraphicFramePr>
        <p:xfrm>
          <a:off x="640080" y="3801240"/>
          <a:ext cx="10908360" cy="150804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554480"/>
                <a:gridCol w="2377440"/>
                <a:gridCol w="2953440"/>
              </a:tblGrid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Règles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 moyen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 la plus faible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Constat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Unicité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Complétude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Validité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Cohérence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316" name="TextBox 34"/>
          <p:cNvSpPr/>
          <p:nvPr/>
        </p:nvSpPr>
        <p:spPr>
          <a:xfrm>
            <a:off x="640080" y="545688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PHRASE DE SYNTHÈSE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17" name="Zone à rédiger"/>
          <p:cNvSpPr/>
          <p:nvPr/>
        </p:nvSpPr>
        <p:spPr>
          <a:xfrm>
            <a:off x="640080" y="5712120"/>
            <a:ext cx="10908000" cy="413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[Voici la qualité de ce qui nous est livré : …]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de S2 : critères de fin et difficultés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sldNum" idx="22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1878DCE-9B89-4311-954C-25EFC751881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20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S2 · BILAN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21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22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23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24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25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26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critère coché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démontré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une page de ce livrable ou par un fichier du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difficultés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chiffrées en temps perdu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; un point de reprise utilisé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27" name="Rectangle 32"/>
          <p:cNvSpPr/>
          <p:nvPr/>
        </p:nvSpPr>
        <p:spPr>
          <a:xfrm>
            <a:off x="640080" y="2579760"/>
            <a:ext cx="511992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28" name="Icône ok" descr="Icône ok"/>
          <p:cNvPicPr/>
          <p:nvPr/>
        </p:nvPicPr>
        <p:blipFill>
          <a:blip r:embed="rId2"/>
          <a:stretch/>
        </p:blipFill>
        <p:spPr>
          <a:xfrm>
            <a:off x="868680" y="27352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329" name="TextBox 34"/>
          <p:cNvSpPr/>
          <p:nvPr/>
        </p:nvSpPr>
        <p:spPr>
          <a:xfrm>
            <a:off x="1289160" y="2783160"/>
            <a:ext cx="45712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300" spc="114" strike="noStrike">
                <a:solidFill>
                  <a:srgbClr val="f7f6f2"/>
                </a:solidFill>
                <a:latin typeface="Inter"/>
                <a:ea typeface="DejaVu Sans"/>
              </a:rPr>
              <a:t>CRITÈRES DE FIN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30" name="TextBox 35"/>
          <p:cNvSpPr/>
          <p:nvPr/>
        </p:nvSpPr>
        <p:spPr>
          <a:xfrm>
            <a:off x="868680" y="3219840"/>
            <a:ext cx="4662720" cy="17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Chaque expectation porte l'identifiant de sa règle.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La même suite se relance sur une autre base ou table sans modification de code.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La mesure de référence est dans dq.dq_history (lot, couche, testées, échecs).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Les règles s'exécutent d'un seul geste (notebook relançable de bout en bout).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31" name="TextBox 36"/>
          <p:cNvSpPr/>
          <p:nvPr/>
        </p:nvSpPr>
        <p:spPr>
          <a:xfrm>
            <a:off x="640080" y="5852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Remplacez [ ] par [x] une fois le critère démontré.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32" name="TextBox 37"/>
          <p:cNvSpPr/>
          <p:nvPr/>
        </p:nvSpPr>
        <p:spPr>
          <a:xfrm>
            <a:off x="5943600" y="26168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DIFFICULTÉS RENCONTRÉES ET TEMPS PERDU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33" name="Zone à rédiger"/>
          <p:cNvSpPr/>
          <p:nvPr/>
        </p:nvSpPr>
        <p:spPr>
          <a:xfrm>
            <a:off x="5943600" y="2872440"/>
            <a:ext cx="5604480" cy="1169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4" name="TextBox 39"/>
          <p:cNvSpPr/>
          <p:nvPr/>
        </p:nvSpPr>
        <p:spPr>
          <a:xfrm>
            <a:off x="5943600" y="42170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POINT DE REPRISE UTILISÉ (OUI / NON, LEQUEL)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35" name="Zone à rédiger"/>
          <p:cNvSpPr/>
          <p:nvPr/>
        </p:nvSpPr>
        <p:spPr>
          <a:xfrm>
            <a:off x="5943600" y="4472640"/>
            <a:ext cx="5604480" cy="6210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36" name="TextBox 41"/>
          <p:cNvSpPr/>
          <p:nvPr/>
        </p:nvSpPr>
        <p:spPr>
          <a:xfrm>
            <a:off x="5943600" y="526860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 QUE NOUS FERIONS AUTREMENT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37" name="Zone à rédiger"/>
          <p:cNvSpPr/>
          <p:nvPr/>
        </p:nvSpPr>
        <p:spPr>
          <a:xfrm>
            <a:off x="5943600" y="5524200"/>
            <a:ext cx="5604480" cy="601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03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Intégrité et portes en SodaCL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23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7980BD-5831-4464-AD50-6845E20DF7B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41" name="TextBox 25"/>
          <p:cNvSpPr/>
          <p:nvPr/>
        </p:nvSpPr>
        <p:spPr>
          <a:xfrm>
            <a:off x="640080" y="4892040"/>
            <a:ext cx="640008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Séance 3 · Soda Core · US-12, 14, 16 à 20. Mêmes contrôles en SodaCL, code retour qui peut fermer une porte, intégrité entre tables.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Checks Soda : une source de données par couche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sldNum" idx="24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CEF371-4230-4329-A245-3AF3BB02B6E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4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S3 · US-12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45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46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47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4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49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0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contrôle porte l'identifiant de sa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règle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couche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mesurée.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code retour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du scan : à quelle condition devient-il non nul ? Distinguez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avertissement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échec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351" name="Table 32"/>
          <p:cNvGraphicFramePr/>
          <p:nvPr/>
        </p:nvGraphicFramePr>
        <p:xfrm>
          <a:off x="640080" y="2534040"/>
          <a:ext cx="10908360" cy="214812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1280160"/>
                <a:gridCol w="2743200"/>
                <a:gridCol w="1280160"/>
                <a:gridCol w="1856160"/>
              </a:tblGrid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Fichier de checks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Couche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Résultat (PASSED, WARN, FAILED)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Code retour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352" name="TextBox 33"/>
          <p:cNvSpPr/>
          <p:nvPr/>
        </p:nvSpPr>
        <p:spPr>
          <a:xfrm>
            <a:off x="640080" y="47930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CODE RETOUR ET AVERTISSEMENTS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53" name="Zone à rédiger"/>
          <p:cNvSpPr/>
          <p:nvPr/>
        </p:nvSpPr>
        <p:spPr>
          <a:xfrm>
            <a:off x="640080" y="5048640"/>
            <a:ext cx="5348520" cy="10771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54" name="TextBox 35"/>
          <p:cNvSpPr/>
          <p:nvPr/>
        </p:nvSpPr>
        <p:spPr>
          <a:xfrm>
            <a:off x="6199560" y="47930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COHÉRENCE AVEC GREAT EXPECTATIONS (S2)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55" name="Zone à rédiger"/>
          <p:cNvSpPr/>
          <p:nvPr/>
        </p:nvSpPr>
        <p:spPr>
          <a:xfrm>
            <a:off x="6199560" y="5048640"/>
            <a:ext cx="5348520" cy="10771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[Écarts et explication]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d'intégrité et valeur sentinelle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 type="sldNum" idx="25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262AF2C-EE7D-413D-9329-02365729A38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58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S3 · US-16, 17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59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60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61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62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63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64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nombre d'orphelins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relation, avec 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conclusion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pour chacune (anomalie, sentinelle, normal).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valeur sentinelle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assure_id : contrôle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avant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après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écart chiffré,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convention écrite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365" name="Table 32"/>
          <p:cNvGraphicFramePr/>
          <p:nvPr/>
        </p:nvGraphicFramePr>
        <p:xfrm>
          <a:off x="640080" y="2534040"/>
          <a:ext cx="10908360" cy="150804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1554480"/>
                <a:gridCol w="1188720"/>
                <a:gridCol w="3136320"/>
              </a:tblGrid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Relation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Orphelins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Conclusion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contrat.souscripteur_id → client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contrat.assure_id → client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contrat.code_type → type_contrat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sinistre.contrat_id → contrat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6" name="Table 33"/>
          <p:cNvGraphicFramePr/>
          <p:nvPr/>
        </p:nvGraphicFramePr>
        <p:xfrm>
          <a:off x="640080" y="4152600"/>
          <a:ext cx="10908360" cy="904680"/>
        </p:xfrm>
        <a:graphic>
          <a:graphicData uri="http://schemas.openxmlformats.org/drawingml/2006/table">
            <a:tbl>
              <a:tblPr/>
              <a:tblGrid>
                <a:gridCol w="4572000"/>
                <a:gridCol w="2194560"/>
                <a:gridCol w="4142160"/>
              </a:tblGrid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Contrôle sur assure_id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Orphelins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Avant traitement de la sentinelle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Après traitement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367" name="TextBox 34"/>
          <p:cNvSpPr/>
          <p:nvPr/>
        </p:nvSpPr>
        <p:spPr>
          <a:xfrm>
            <a:off x="640080" y="5114880"/>
            <a:ext cx="10908000" cy="36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CONVENTION (QUI TRAITE LA SENTINELLE, DANS QUELLE COUCHE) ET POURQUOI LE PREMIER CONTRÔLE EST TROMPEUR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68" name="Zone à rédiger"/>
          <p:cNvSpPr/>
          <p:nvPr/>
        </p:nvSpPr>
        <p:spPr>
          <a:xfrm>
            <a:off x="640080" y="5460120"/>
            <a:ext cx="10908000" cy="665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Statuts, garantie et définition unique du client actif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70" name="PlaceHolder 2"/>
          <p:cNvSpPr>
            <a:spLocks noGrp="1"/>
          </p:cNvSpPr>
          <p:nvPr>
            <p:ph type="sldNum" idx="26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671095-4115-455D-ACD6-15FCAEC965E3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71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S3 · US-18, 19, 14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72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73" name="Attendu"/>
          <p:cNvSpPr/>
          <p:nvPr/>
        </p:nvSpPr>
        <p:spPr>
          <a:xfrm>
            <a:off x="640080" y="1325880"/>
            <a:ext cx="10908000" cy="12844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74" name="Attendu barre"/>
          <p:cNvSpPr/>
          <p:nvPr/>
        </p:nvSpPr>
        <p:spPr>
          <a:xfrm>
            <a:off x="640080" y="1325880"/>
            <a:ext cx="81720" cy="12844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75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76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77" name="TextBox 31"/>
          <p:cNvSpPr/>
          <p:nvPr/>
        </p:nvSpPr>
        <p:spPr>
          <a:xfrm>
            <a:off x="914400" y="1783080"/>
            <a:ext cx="1035936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RQ-015, 016, 017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mesurées, avec 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règle de correction du statut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proposée au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Data Owner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(reportée au journal des décisions).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requête unique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du client actif : les trois directions obtiennent 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même chiffre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378" name="Table 32"/>
          <p:cNvGraphicFramePr/>
          <p:nvPr/>
        </p:nvGraphicFramePr>
        <p:xfrm>
          <a:off x="640080" y="2748240"/>
          <a:ext cx="10908360" cy="138924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2103120"/>
                <a:gridCol w="2103120"/>
                <a:gridCol w="213048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Couche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Testées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Échecs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RQ-015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RQ-016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RQ-017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9" name="Table 33"/>
          <p:cNvGraphicFramePr/>
          <p:nvPr/>
        </p:nvGraphicFramePr>
        <p:xfrm>
          <a:off x="640080" y="4275000"/>
          <a:ext cx="5668920" cy="13892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Direction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Chiffre avec la requête unique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Commerciale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Sinistres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Risques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380" name="TextBox 34"/>
          <p:cNvSpPr/>
          <p:nvPr/>
        </p:nvSpPr>
        <p:spPr>
          <a:xfrm>
            <a:off x="6583680" y="4312080"/>
            <a:ext cx="49644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RÈGLE DE CORRECTION DU STATUT PROPOSÉE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81" name="Zone à rédiger"/>
          <p:cNvSpPr/>
          <p:nvPr/>
        </p:nvSpPr>
        <p:spPr>
          <a:xfrm>
            <a:off x="6583680" y="4567680"/>
            <a:ext cx="4964400" cy="15580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[Texte, rôle destinataire, date]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82" name="TextBox 36"/>
          <p:cNvSpPr/>
          <p:nvPr/>
        </p:nvSpPr>
        <p:spPr>
          <a:xfrm>
            <a:off x="640080" y="573804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Chemin de la requête du client actif et contrôle RQ-018 : à indiquer dans le dépôt.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de S3 : critères de fin et difficultés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384" name="PlaceHolder 2"/>
          <p:cNvSpPr>
            <a:spLocks noGrp="1"/>
          </p:cNvSpPr>
          <p:nvPr>
            <p:ph type="sldNum" idx="27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93546B4-F7E6-4564-9AB8-A8A0564FB4D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385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S3 · BILAN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86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RÈGLES ET TESTS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387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88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89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390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1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critère coché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démontré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une page de ce livrable ou par un fichier du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difficultés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chiffrées en temps perdu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; un point de reprise utilisé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92" name="Rectangle 32"/>
          <p:cNvSpPr/>
          <p:nvPr/>
        </p:nvSpPr>
        <p:spPr>
          <a:xfrm>
            <a:off x="640080" y="2579760"/>
            <a:ext cx="511992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393" name="Icône ok" descr="Icône ok"/>
          <p:cNvPicPr/>
          <p:nvPr/>
        </p:nvPicPr>
        <p:blipFill>
          <a:blip r:embed="rId2"/>
          <a:stretch/>
        </p:blipFill>
        <p:spPr>
          <a:xfrm>
            <a:off x="868680" y="27352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394" name="TextBox 34"/>
          <p:cNvSpPr/>
          <p:nvPr/>
        </p:nvSpPr>
        <p:spPr>
          <a:xfrm>
            <a:off x="1289160" y="2783160"/>
            <a:ext cx="45712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300" spc="114" strike="noStrike">
                <a:solidFill>
                  <a:srgbClr val="f7f6f2"/>
                </a:solidFill>
                <a:latin typeface="Inter"/>
                <a:ea typeface="DejaVu Sans"/>
              </a:rPr>
              <a:t>CRITÈRES DE FIN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395" name="TextBox 35"/>
          <p:cNvSpPr/>
          <p:nvPr/>
        </p:nvSpPr>
        <p:spPr>
          <a:xfrm>
            <a:off x="868680" y="3219840"/>
            <a:ext cx="4662720" cy="17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Un scan renvoie un code retour non nul quand une règle bloquante échoue.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Chaque contrôle porte l'identifiant de sa règle et la couche mesurée.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Les trois directions obtiennent le même chiffre avec la requête unique.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La valeur sentinelle est expliquée et traitée.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396" name="TextBox 36"/>
          <p:cNvSpPr/>
          <p:nvPr/>
        </p:nvSpPr>
        <p:spPr>
          <a:xfrm>
            <a:off x="640080" y="5852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Remplacez [ ] par [x] une fois le critère démontré.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97" name="TextBox 37"/>
          <p:cNvSpPr/>
          <p:nvPr/>
        </p:nvSpPr>
        <p:spPr>
          <a:xfrm>
            <a:off x="5943600" y="26168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DIFFICULTÉS RENCONTRÉES ET TEMPS PERDU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398" name="Zone à rédiger"/>
          <p:cNvSpPr/>
          <p:nvPr/>
        </p:nvSpPr>
        <p:spPr>
          <a:xfrm>
            <a:off x="5943600" y="2872440"/>
            <a:ext cx="5604480" cy="1169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399" name="TextBox 39"/>
          <p:cNvSpPr/>
          <p:nvPr/>
        </p:nvSpPr>
        <p:spPr>
          <a:xfrm>
            <a:off x="5943600" y="42170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POINT DE REPRISE UTILISÉ (OUI / NON, LEQUEL)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00" name="Zone à rédiger"/>
          <p:cNvSpPr/>
          <p:nvPr/>
        </p:nvSpPr>
        <p:spPr>
          <a:xfrm>
            <a:off x="5943600" y="4472640"/>
            <a:ext cx="5604480" cy="6210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01" name="TextBox 41"/>
          <p:cNvSpPr/>
          <p:nvPr/>
        </p:nvSpPr>
        <p:spPr>
          <a:xfrm>
            <a:off x="5943600" y="526860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 QUE NOUS FERIONS AUTREMENT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02" name="Zone à rédiger"/>
          <p:cNvSpPr/>
          <p:nvPr/>
        </p:nvSpPr>
        <p:spPr>
          <a:xfrm>
            <a:off x="5943600" y="5524200"/>
            <a:ext cx="5604480" cy="601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04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Construire silver puis gold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28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B9B3315-4EF3-4558-89B1-029520F0821B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06" name="TextBox 25"/>
          <p:cNvSpPr/>
          <p:nvPr/>
        </p:nvSpPr>
        <p:spPr>
          <a:xfrm>
            <a:off x="640080" y="4892040"/>
            <a:ext cx="6400080" cy="83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Séance 4 · PySpark · US-21 à 28. Standardiser, mettre en quarantaine, re-mesurer, dédoublonner, construire gold, retracer.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Silver : traitements et quarantaine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sldNum" idx="29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7317A97-54C1-46BB-A229-394AC71E99BE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09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US-21, 22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10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11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12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13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14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15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Pour chaque traitement :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lignes modifiées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garde-fou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(ce qu'il ne doit pas faire).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L'invariant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silver + rejets = bronze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table par table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avec l'écart.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preuve d'idempotence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le traitement relancé deux fois donne le même résultat.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16" name="Table 32"/>
          <p:cNvGraphicFramePr/>
          <p:nvPr/>
        </p:nvGraphicFramePr>
        <p:xfrm>
          <a:off x="640080" y="2786040"/>
          <a:ext cx="10908360" cy="138924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2011680"/>
                <a:gridCol w="432504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Traitement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modifiées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Garde-fou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7" name="Table 33"/>
          <p:cNvGraphicFramePr/>
          <p:nvPr/>
        </p:nvGraphicFramePr>
        <p:xfrm>
          <a:off x="640080" y="4313160"/>
          <a:ext cx="10908360" cy="173664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2011680"/>
                <a:gridCol w="2011680"/>
                <a:gridCol w="194760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bronze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silver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rejetées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 (crm)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 (cif)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418" name="TextBox 34"/>
          <p:cNvSpPr/>
          <p:nvPr/>
        </p:nvSpPr>
        <p:spPr>
          <a:xfrm>
            <a:off x="640080" y="612360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Preuve d'idempotence et chemins des scripts : à indiquer dans le dépôt.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Rejets par règle et porte S : bronze contre silver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ldNum" idx="30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DE3D918-D096-42AB-AED3-3FE3E609D645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21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US-22, 23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22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23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4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25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26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27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rejets par règle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(dq.rejets) avec la raison métier.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Pour chaque règle : taux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bronze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taux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silver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écart, et l'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explication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toute baisse.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règles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bloquantes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la porte S : conformes sur silver, ou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pourquoi pas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28" name="Table 32"/>
          <p:cNvGraphicFramePr/>
          <p:nvPr/>
        </p:nvGraphicFramePr>
        <p:xfrm>
          <a:off x="640080" y="2786040"/>
          <a:ext cx="10908360" cy="986760"/>
        </p:xfrm>
        <a:graphic>
          <a:graphicData uri="http://schemas.openxmlformats.org/drawingml/2006/table">
            <a:tbl>
              <a:tblPr/>
              <a:tblGrid>
                <a:gridCol w="1188720"/>
                <a:gridCol w="2011680"/>
                <a:gridCol w="1828800"/>
                <a:gridCol w="5879520"/>
              </a:tblGrid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rejetées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Raison métier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9" name="Table 33"/>
          <p:cNvGraphicFramePr/>
          <p:nvPr/>
        </p:nvGraphicFramePr>
        <p:xfrm>
          <a:off x="640080" y="3911040"/>
          <a:ext cx="10908360" cy="197424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463040"/>
                <a:gridCol w="1463040"/>
                <a:gridCol w="1188720"/>
                <a:gridCol w="4325040"/>
              </a:tblGrid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Sévérité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 bronze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Taux silver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Explication de l'écart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Dédoublonnage : paramètres et mesures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 type="sldNum" idx="3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E867AD-E15A-4307-A564-278288F7E74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32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33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34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5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36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37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38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paramètres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retenus (normalisation, clés de blocage, similarité, seuils) avec leur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justification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Précision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rappel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mesurés sur les 200 paires étiquetées ; nombre d'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identités distinctes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obtenu.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39" name="Table 32"/>
          <p:cNvGraphicFramePr/>
          <p:nvPr/>
        </p:nvGraphicFramePr>
        <p:xfrm>
          <a:off x="640080" y="2534040"/>
          <a:ext cx="10908360" cy="1755000"/>
        </p:xfrm>
        <a:graphic>
          <a:graphicData uri="http://schemas.openxmlformats.org/drawingml/2006/table">
            <a:tbl>
              <a:tblPr/>
              <a:tblGrid>
                <a:gridCol w="3291840"/>
                <a:gridCol w="2926080"/>
                <a:gridCol w="4690800"/>
              </a:tblGrid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Paramètre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 retenue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Justification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Normalisation avant comparaison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Clé(s) de blocage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Mesure de similarité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Seuil de fusion automatique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Seuil de la zone de revue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40" name="Table 33"/>
          <p:cNvGraphicFramePr/>
          <p:nvPr/>
        </p:nvGraphicFramePr>
        <p:xfrm>
          <a:off x="640080" y="4399560"/>
          <a:ext cx="8229240" cy="169992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283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Mesure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283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Groupes de doublons trouvés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83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Paires fusionnées automatiquement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83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Paires en zone de revue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83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Précision / rappel sur les 200 paires étiquetées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83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Identités distinctes obtenues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441" name="TextBox 34"/>
          <p:cNvSpPr/>
          <p:nvPr/>
        </p:nvSpPr>
        <p:spPr>
          <a:xfrm>
            <a:off x="9052560" y="4436640"/>
            <a:ext cx="2495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ZONE DE REVUE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42" name="Zone à rédiger"/>
          <p:cNvSpPr/>
          <p:nvPr/>
        </p:nvSpPr>
        <p:spPr>
          <a:xfrm>
            <a:off x="9052560" y="4692240"/>
            <a:ext cx="2495520" cy="14335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[Règle de décision proposée]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Golden record de la Société Meunier et règle de survie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sldNum" idx="32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3F8A56-D7B0-4032-A74F-31BDBA5F7D3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45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US-25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46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47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48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49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50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51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Un seul CLI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pour les quatre identifiants de la Société Meunier.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règle de survie par attribut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et un cas où elle se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trompe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52" name="Table 32"/>
          <p:cNvGraphicFramePr/>
          <p:nvPr/>
        </p:nvGraphicFramePr>
        <p:xfrm>
          <a:off x="640080" y="2534040"/>
          <a:ext cx="6949080" cy="150804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2194560"/>
              </a:tblGrid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Identifiant source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Système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CLI attribué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016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3" name="Table 33"/>
          <p:cNvGraphicFramePr/>
          <p:nvPr/>
        </p:nvGraphicFramePr>
        <p:xfrm>
          <a:off x="640080" y="4225680"/>
          <a:ext cx="10908000" cy="159984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3748680"/>
                <a:gridCol w="3502080"/>
              </a:tblGrid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Attribut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Source retenue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 (priorité, plus récent, non nul)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Cas où la règle se trompe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Nom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Adresse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Téléphone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0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Courriel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454" name="TextBox 34"/>
          <p:cNvSpPr/>
          <p:nvPr/>
        </p:nvSpPr>
        <p:spPr>
          <a:xfrm>
            <a:off x="640080" y="589788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Reportez la règle de survie dans le journal des décisions, avec le rôle qui l'a décidée.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Gold : tables cohérentes et client actif unique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sldNum" idx="33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56F796B-F904-4916-9DD6-EF20B14CD2DA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57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US-27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58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59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60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61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62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63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lignes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chaque table gold,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lignes écartées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à la porte G et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règles responsables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Aucun orphelin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dans gold ; client actif publié par 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vue unique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v_client_actif.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effet de la quarantaine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en aval : un client écarté laisse-t-il des contrats orphelins ?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64" name="Table 32"/>
          <p:cNvGraphicFramePr/>
          <p:nvPr/>
        </p:nvGraphicFramePr>
        <p:xfrm>
          <a:off x="640080" y="2786040"/>
          <a:ext cx="10908360" cy="173664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2560320"/>
                <a:gridCol w="395928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 gold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écartées (porte G)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Règles responsables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client_unique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xref_identifiants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contrat_certifie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sinistre_certifie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465" name="TextBox 33"/>
          <p:cNvSpPr/>
          <p:nvPr/>
        </p:nvSpPr>
        <p:spPr>
          <a:xfrm>
            <a:off x="640080" y="46976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ORPHELINS ET CLIENT ACTIF PUBLIÉ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66" name="Zone à rédiger"/>
          <p:cNvSpPr/>
          <p:nvPr/>
        </p:nvSpPr>
        <p:spPr>
          <a:xfrm>
            <a:off x="640080" y="4953240"/>
            <a:ext cx="5348520" cy="11725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[Chiffres, écart avec CD-001]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67" name="TextBox 35"/>
          <p:cNvSpPr/>
          <p:nvPr/>
        </p:nvSpPr>
        <p:spPr>
          <a:xfrm>
            <a:off x="6199560" y="46976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EFFET DE LA QUARANTAINE SUR L'INTÉGRITÉ EN AVAL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68" name="Zone à rédiger"/>
          <p:cNvSpPr/>
          <p:nvPr/>
        </p:nvSpPr>
        <p:spPr>
          <a:xfrm>
            <a:off x="6199560" y="4953240"/>
            <a:ext cx="5348520" cy="11725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Retracer trois données de gold jusqu'à la source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sldNum" idx="34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155846-2185-4DA6-9AFF-762ECA3F67C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71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US-28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72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73" name="Attendu"/>
          <p:cNvSpPr/>
          <p:nvPr/>
        </p:nvSpPr>
        <p:spPr>
          <a:xfrm>
            <a:off x="640080" y="1325880"/>
            <a:ext cx="10908000" cy="12844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4" name="Attendu barre"/>
          <p:cNvSpPr/>
          <p:nvPr/>
        </p:nvSpPr>
        <p:spPr>
          <a:xfrm>
            <a:off x="640080" y="1325880"/>
            <a:ext cx="81720" cy="12844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75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76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77" name="TextBox 31"/>
          <p:cNvSpPr/>
          <p:nvPr/>
        </p:nvSpPr>
        <p:spPr>
          <a:xfrm>
            <a:off x="914400" y="1783080"/>
            <a:ext cx="1035936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Pour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chacune des trois données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la valeur dans gold, les identifiants de ligne silver et bronze (avec le lot), la source (table, clé).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requête de traçabilité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est dans le dépôt.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478" name="Table 32"/>
          <p:cNvGraphicFramePr/>
          <p:nvPr/>
        </p:nvGraphicFramePr>
        <p:xfrm>
          <a:off x="640080" y="2793960"/>
          <a:ext cx="10908360" cy="182844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194560"/>
                <a:gridCol w="2377440"/>
                <a:gridCol w="1947600"/>
              </a:tblGrid>
              <a:tr h="4572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Donnée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Silver (identifiants)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Bronze (identifiants, lot)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Source (table, clé)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4572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Société Meunier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572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Un code postal à zéro initial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572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Une adresse de sinistre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479" name="TextBox 33"/>
          <p:cNvSpPr/>
          <p:nvPr/>
        </p:nvSpPr>
        <p:spPr>
          <a:xfrm>
            <a:off x="640080" y="5890320"/>
            <a:ext cx="109080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lang="fr-FR" sz="1200" spc="-1" strike="noStrike">
                <a:solidFill>
                  <a:srgbClr val="b8c0c8"/>
                </a:solidFill>
                <a:latin typeface="Inter"/>
                <a:ea typeface="DejaVu Sans"/>
              </a:rPr>
              <a:t>Preuve (chemin du notebook, du fichier ou de la requête dans le dépôt) : </a:t>
            </a:r>
            <a:r>
              <a:rPr b="1" lang="fr-FR" sz="1200" spc="-1" strike="noStrike">
                <a:solidFill>
                  <a:srgbClr val="f5a623"/>
                </a:solidFill>
                <a:latin typeface="Inter"/>
                <a:ea typeface="DejaVu Sans"/>
              </a:rPr>
              <a:t>…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de S4 : critères de fin et difficultés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 type="sldNum" idx="35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C50D1F-6E32-4965-8467-B06CC14F2E80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482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S4 · BILAN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83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SILVER, GOLD ET TRAÇABILITÉ · 25 %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484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5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86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487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88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critère coché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démontré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une page de ce livrable ou par un fichier du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difficultés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chiffrées en temps perdu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; un point de reprise utilisé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89" name="Rectangle 32"/>
          <p:cNvSpPr/>
          <p:nvPr/>
        </p:nvSpPr>
        <p:spPr>
          <a:xfrm>
            <a:off x="640080" y="2579760"/>
            <a:ext cx="511992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490" name="Icône ok" descr="Icône ok"/>
          <p:cNvPicPr/>
          <p:nvPr/>
        </p:nvPicPr>
        <p:blipFill>
          <a:blip r:embed="rId2"/>
          <a:stretch/>
        </p:blipFill>
        <p:spPr>
          <a:xfrm>
            <a:off x="868680" y="27352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491" name="TextBox 34"/>
          <p:cNvSpPr/>
          <p:nvPr/>
        </p:nvSpPr>
        <p:spPr>
          <a:xfrm>
            <a:off x="1289160" y="2783160"/>
            <a:ext cx="45712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300" spc="114" strike="noStrike">
                <a:solidFill>
                  <a:srgbClr val="f7f6f2"/>
                </a:solidFill>
                <a:latin typeface="Inter"/>
                <a:ea typeface="DejaVu Sans"/>
              </a:rPr>
              <a:t>CRITÈRES DE FIN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492" name="TextBox 35"/>
          <p:cNvSpPr/>
          <p:nvPr/>
        </p:nvSpPr>
        <p:spPr>
          <a:xfrm>
            <a:off x="868680" y="3219840"/>
            <a:ext cx="4662720" cy="241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Pour chaque table, silver + rejets = bronze, sans suppression silencieuse.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Relancer le traitement deux fois donne le même résultat.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Les règles bloquantes de la porte S sont conformes sur silver.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 gold ne contient aucun orphelin ; le client actif est publié par une seule vue.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Les trois traces remontent du gold à la source avec identifiants de ligne et de lot.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493" name="TextBox 36"/>
          <p:cNvSpPr/>
          <p:nvPr/>
        </p:nvSpPr>
        <p:spPr>
          <a:xfrm>
            <a:off x="640080" y="5852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Remplacez [ ] par [x] une fois le critère démontré.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94" name="TextBox 37"/>
          <p:cNvSpPr/>
          <p:nvPr/>
        </p:nvSpPr>
        <p:spPr>
          <a:xfrm>
            <a:off x="5943600" y="26168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DIFFICULTÉS RENCONTRÉES ET TEMPS PERDU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95" name="Zone à rédiger"/>
          <p:cNvSpPr/>
          <p:nvPr/>
        </p:nvSpPr>
        <p:spPr>
          <a:xfrm>
            <a:off x="5943600" y="2872440"/>
            <a:ext cx="5604480" cy="1169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96" name="TextBox 39"/>
          <p:cNvSpPr/>
          <p:nvPr/>
        </p:nvSpPr>
        <p:spPr>
          <a:xfrm>
            <a:off x="5943600" y="42170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POINT DE REPRISE UTILISÉ (OUI / NON, LEQUEL)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97" name="Zone à rédiger"/>
          <p:cNvSpPr/>
          <p:nvPr/>
        </p:nvSpPr>
        <p:spPr>
          <a:xfrm>
            <a:off x="5943600" y="4472640"/>
            <a:ext cx="5604480" cy="6210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498" name="TextBox 41"/>
          <p:cNvSpPr/>
          <p:nvPr/>
        </p:nvSpPr>
        <p:spPr>
          <a:xfrm>
            <a:off x="5943600" y="526860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 QUE NOUS FERIONS AUTREMENT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499" name="Zone à rédiger"/>
          <p:cNvSpPr/>
          <p:nvPr/>
        </p:nvSpPr>
        <p:spPr>
          <a:xfrm>
            <a:off x="5943600" y="5524200"/>
            <a:ext cx="5604480" cy="601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05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Certifier, publier, gouverner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sldNum" idx="36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589EE26-5C7E-4314-8B09-06BA16A3EAC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03" name="TextBox 25"/>
          <p:cNvSpPr/>
          <p:nvPr/>
        </p:nvSpPr>
        <p:spPr>
          <a:xfrm>
            <a:off x="640080" y="4892040"/>
            <a:ext cx="64000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Séance 5 · Porte C · US-29 à 35. Historique sur trois couches, certificat, publication refusée puis acceptée, catalogue.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Historique des mesures et courbes d'évolution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sldNum" idx="37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BFCFBB0-524C-42EE-92E5-A13B5FA0F6E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06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S5 · US-29, 30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07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PREUVE ET CERTIFICAT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08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9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10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11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12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Une mesure par couche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où la règle s'applique, pour chaque règle ; les couches non applicables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justifiées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Toute règle qui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descend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d'une couche à l'autre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expliquée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(filtre, conversion, effet de la quarantaine).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courbe par dimension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(image insérée ci-dessous).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513" name="Table 32"/>
          <p:cNvGraphicFramePr/>
          <p:nvPr/>
        </p:nvGraphicFramePr>
        <p:xfrm>
          <a:off x="640080" y="2786040"/>
          <a:ext cx="10908360" cy="197424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005840"/>
                <a:gridCol w="1005840"/>
                <a:gridCol w="1005840"/>
                <a:gridCol w="1371600"/>
                <a:gridCol w="4050720"/>
              </a:tblGrid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Bronze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Silver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Évolution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Explication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514" name="TextBox 33"/>
          <p:cNvSpPr/>
          <p:nvPr/>
        </p:nvSpPr>
        <p:spPr>
          <a:xfrm>
            <a:off x="640080" y="493560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COURBES (INSÉREZ L'IMAGE, CHEMIN DU FICHIER DANS LE DÉPÔT)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15" name="Zone à rédiger"/>
          <p:cNvSpPr/>
          <p:nvPr/>
        </p:nvSpPr>
        <p:spPr>
          <a:xfrm>
            <a:off x="640080" y="5191200"/>
            <a:ext cx="10908000" cy="934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[Insérez ici les courbes par dimension et par couche]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Certificat de qualité : GO ou NO_GO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sldNum" idx="38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2FFF24-8482-4873-A160-68637E99C3B3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18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S5 · US-31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19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PREUVE ET CERTIFICAT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20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1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22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23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24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certificat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produit par requête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lié à 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empreinte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du gold.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épreuve du NO_GO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lot volontairement dégradé, décision obtenue, preuve.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règles bloquantes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non mesurées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votre pipeline, donc non couvertes.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525" name="Table 32"/>
          <p:cNvGraphicFramePr/>
          <p:nvPr/>
        </p:nvGraphicFramePr>
        <p:xfrm>
          <a:off x="640080" y="2786040"/>
          <a:ext cx="6949080" cy="2340000"/>
        </p:xfrm>
        <a:graphic>
          <a:graphicData uri="http://schemas.openxmlformats.org/drawingml/2006/table">
            <a:tbl>
              <a:tblPr/>
              <a:tblGrid>
                <a:gridCol w="4023360"/>
                <a:gridCol w="2926080"/>
              </a:tblGrid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  <a:endParaRPr b="0" lang="fr-FR" sz="10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Numéro du certificat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Lot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Décision (GO ou NO_GO)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Règles bloquantes testées / conformes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Écarts connus (avertissements)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23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Empreinte du gold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29412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Signataire (rôle)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526" name="TextBox 33"/>
          <p:cNvSpPr/>
          <p:nvPr/>
        </p:nvSpPr>
        <p:spPr>
          <a:xfrm>
            <a:off x="7863840" y="2823120"/>
            <a:ext cx="368424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ÉPREUVE DU NO_GO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7" name="Zone à rédiger"/>
          <p:cNvSpPr/>
          <p:nvPr/>
        </p:nvSpPr>
        <p:spPr>
          <a:xfrm>
            <a:off x="7863840" y="3078720"/>
            <a:ext cx="3684240" cy="20840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[Comment dégradé, décision, preuve]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28" name="TextBox 35"/>
          <p:cNvSpPr/>
          <p:nvPr/>
        </p:nvSpPr>
        <p:spPr>
          <a:xfrm>
            <a:off x="640080" y="525564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RÈGLES NON COUVERTES PAR LE CERTIFICAT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29" name="Zone à rédiger"/>
          <p:cNvSpPr/>
          <p:nvPr/>
        </p:nvSpPr>
        <p:spPr>
          <a:xfrm>
            <a:off x="640080" y="5511240"/>
            <a:ext cx="10908000" cy="6145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Publication vers le CRM : refus, chargement, réconciliation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31" name="PlaceHolder 2"/>
          <p:cNvSpPr>
            <a:spLocks noGrp="1"/>
          </p:cNvSpPr>
          <p:nvPr>
            <p:ph type="sldNum" idx="39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26CA2CB-158A-4217-A7AB-B124CB46D1FE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32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S5 · US-32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33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PREUVE ET CERTIFICAT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34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5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36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37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38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quatre scénarios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avec 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message obtenu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sans certificat, NO_GO, gold modifié, GO.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réconciliation RQ-025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après chargement : comptage et somme de contrôle, gold contre CRM cible.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chargement est-il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tout-ou-rien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? Comment l'avez-vous vérifié ?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539" name="Table 32"/>
          <p:cNvGraphicFramePr/>
          <p:nvPr/>
        </p:nvGraphicFramePr>
        <p:xfrm>
          <a:off x="640080" y="2786040"/>
          <a:ext cx="10908360" cy="173664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1554480"/>
                <a:gridCol w="222192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Scénario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Message obtenu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Chargement ?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Sans certificat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Certificat NO_GO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Gold modifié après émission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Certificat GO, gold intact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40" name="Table 33"/>
          <p:cNvGraphicFramePr/>
          <p:nvPr/>
        </p:nvGraphicFramePr>
        <p:xfrm>
          <a:off x="640080" y="4633200"/>
          <a:ext cx="10908360" cy="131616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2011680"/>
                <a:gridCol w="1828800"/>
                <a:gridCol w="2011680"/>
                <a:gridCol w="1490400"/>
              </a:tblGrid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Table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gold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Lignes CRM cible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Somme gold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Somme CRM cible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client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0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contrat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29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sinistre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541" name="TextBox 34"/>
          <p:cNvSpPr/>
          <p:nvPr/>
        </p:nvSpPr>
        <p:spPr>
          <a:xfrm>
            <a:off x="640080" y="6023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Tout-ou-rien : décrivez en une ligne comment vous l'avez vérifié, et le chemin du script de publication.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Gouvernance : catalogue, propriétaires, lineage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43" name="PlaceHolder 2"/>
          <p:cNvSpPr>
            <a:spLocks noGrp="1"/>
          </p:cNvSpPr>
          <p:nvPr>
            <p:ph type="sldNum" idx="40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A2385A-DC46-45C1-81E8-367B0A933878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4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S5 · US-34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45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PREUVE ET CERTIFICAT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46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7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4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49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50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fiche de catalogue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gold.client_unique : propriétaire, steward, définition, règles rattachées.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lineage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de gold.client_unique jusqu'aux sources.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551" name="Table 32"/>
          <p:cNvGraphicFramePr/>
          <p:nvPr/>
        </p:nvGraphicFramePr>
        <p:xfrm>
          <a:off x="640080" y="2534040"/>
          <a:ext cx="10908360" cy="1919520"/>
        </p:xfrm>
        <a:graphic>
          <a:graphicData uri="http://schemas.openxmlformats.org/drawingml/2006/table">
            <a:tbl>
              <a:tblPr/>
              <a:tblGrid>
                <a:gridCol w="4206240"/>
                <a:gridCol w="6702480"/>
              </a:tblGrid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Propriétaire (Data Owner)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Steward (Data Steward)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83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Définition de « client actif » rattachée à la fiche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8484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Règles RQ rattachées à la table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552" name="TextBox 33"/>
          <p:cNvSpPr/>
          <p:nvPr/>
        </p:nvSpPr>
        <p:spPr>
          <a:xfrm>
            <a:off x="640080" y="467424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LINEAGE DE GOLD.CLIENT_UNIQUE (LISTE OU SCHÉMA)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53" name="Zone à rédiger"/>
          <p:cNvSpPr/>
          <p:nvPr/>
        </p:nvSpPr>
        <p:spPr>
          <a:xfrm>
            <a:off x="640080" y="4929840"/>
            <a:ext cx="10908000" cy="119592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[Insérez un schéma ou une liste : sources, bronze, silver, xref, gold]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Bilan de S5 : critères de fin et difficultés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 type="sldNum" idx="4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EE07480-BCCE-48A2-9AB7-285430C6831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56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S5 · BILAN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57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PREUVE ET CERTIFICAT · 20 %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58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9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60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61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62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critère coché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démontré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une page de ce livrable ou par un fichier du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difficultés sont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chiffrées en temps perdu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; un point de reprise utilisé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63" name="Rectangle 32"/>
          <p:cNvSpPr/>
          <p:nvPr/>
        </p:nvSpPr>
        <p:spPr>
          <a:xfrm>
            <a:off x="640080" y="2579760"/>
            <a:ext cx="511992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64" name="Icône ok" descr="Icône ok"/>
          <p:cNvPicPr/>
          <p:nvPr/>
        </p:nvPicPr>
        <p:blipFill>
          <a:blip r:embed="rId2"/>
          <a:stretch/>
        </p:blipFill>
        <p:spPr>
          <a:xfrm>
            <a:off x="868680" y="2735280"/>
            <a:ext cx="310320" cy="310320"/>
          </a:xfrm>
          <a:prstGeom prst="rect">
            <a:avLst/>
          </a:prstGeom>
          <a:ln w="0">
            <a:noFill/>
          </a:ln>
        </p:spPr>
      </p:pic>
      <p:sp>
        <p:nvSpPr>
          <p:cNvPr id="565" name="TextBox 34"/>
          <p:cNvSpPr/>
          <p:nvPr/>
        </p:nvSpPr>
        <p:spPr>
          <a:xfrm>
            <a:off x="1289160" y="2783160"/>
            <a:ext cx="457128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300" spc="114" strike="noStrike">
                <a:solidFill>
                  <a:srgbClr val="f7f6f2"/>
                </a:solidFill>
                <a:latin typeface="Inter"/>
                <a:ea typeface="DejaVu Sans"/>
              </a:rPr>
              <a:t>CRITÈRES DE FIN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66" name="TextBox 35"/>
          <p:cNvSpPr/>
          <p:nvPr/>
        </p:nvSpPr>
        <p:spPr>
          <a:xfrm>
            <a:off x="868680" y="3219840"/>
            <a:ext cx="4662720" cy="19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Un lot volontairement dégradé produit un NO_GO, le lot nominal un GO.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La publication refuse sans certificat, avec NO_GO, et quand le gold a changé.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Après chargement, comptage et somme de contrôle sont égaux entre gold et CRM cible.</a:t>
            </a:r>
            <a:endParaRPr b="0" lang="fr-FR" sz="125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700"/>
              </a:spcAft>
              <a:buNone/>
            </a:pPr>
            <a:r>
              <a:rPr b="0" lang="fr-FR" sz="125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250" spc="-1" strike="noStrike">
                <a:solidFill>
                  <a:srgbClr val="f7f6f2"/>
                </a:solidFill>
                <a:latin typeface="Inter"/>
                <a:ea typeface="DejaVu Sans"/>
              </a:rPr>
              <a:t> Chaque décision de seuil ou de sévérité est attribuée à un rôle.</a:t>
            </a:r>
            <a:endParaRPr b="0" lang="fr-FR" sz="1250" spc="-1" strike="noStrike">
              <a:latin typeface="Arial"/>
            </a:endParaRPr>
          </a:p>
        </p:txBody>
      </p:sp>
      <p:sp>
        <p:nvSpPr>
          <p:cNvPr id="567" name="TextBox 36"/>
          <p:cNvSpPr/>
          <p:nvPr/>
        </p:nvSpPr>
        <p:spPr>
          <a:xfrm>
            <a:off x="640080" y="585216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Remplacez [ ] par [x] une fois le critère démontré.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68" name="TextBox 37"/>
          <p:cNvSpPr/>
          <p:nvPr/>
        </p:nvSpPr>
        <p:spPr>
          <a:xfrm>
            <a:off x="5943600" y="26168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DIFFICULTÉS RENCONTRÉES ET TEMPS PERDU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69" name="Zone à rédiger"/>
          <p:cNvSpPr/>
          <p:nvPr/>
        </p:nvSpPr>
        <p:spPr>
          <a:xfrm>
            <a:off x="5943600" y="2872440"/>
            <a:ext cx="5604480" cy="11696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0" name="TextBox 39"/>
          <p:cNvSpPr/>
          <p:nvPr/>
        </p:nvSpPr>
        <p:spPr>
          <a:xfrm>
            <a:off x="5943600" y="421704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POINT DE REPRISE UTILISÉ (OUI / NON, LEQUEL)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71" name="Zone à rédiger"/>
          <p:cNvSpPr/>
          <p:nvPr/>
        </p:nvSpPr>
        <p:spPr>
          <a:xfrm>
            <a:off x="5943600" y="4472640"/>
            <a:ext cx="5604480" cy="6210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72" name="TextBox 41"/>
          <p:cNvSpPr/>
          <p:nvPr/>
        </p:nvSpPr>
        <p:spPr>
          <a:xfrm>
            <a:off x="5943600" y="5268600"/>
            <a:ext cx="560448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 QUE NOUS FERIONS AUTREMENT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73" name="Zone à rédiger"/>
          <p:cNvSpPr/>
          <p:nvPr/>
        </p:nvSpPr>
        <p:spPr>
          <a:xfrm>
            <a:off x="5943600" y="5524200"/>
            <a:ext cx="5604480" cy="60156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06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575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Dossier go/no-go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576" name="PlaceHolder 3"/>
          <p:cNvSpPr>
            <a:spLocks noGrp="1"/>
          </p:cNvSpPr>
          <p:nvPr>
            <p:ph type="sldNum" idx="42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870E8D-D74D-49B8-AEE0-1FFAB53B28C1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77" name="TextBox 25"/>
          <p:cNvSpPr/>
          <p:nvPr/>
        </p:nvSpPr>
        <p:spPr>
          <a:xfrm>
            <a:off x="640080" y="4892040"/>
            <a:ext cx="64000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Destinataire : la Directrice Générale. Un rapport court, sans jargon, quatre pages au plus hors annexes.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Recommandation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79" name="PlaceHolder 2"/>
          <p:cNvSpPr>
            <a:spLocks noGrp="1"/>
          </p:cNvSpPr>
          <p:nvPr>
            <p:ph type="sldNum" idx="43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DD0473E-3447-4651-917B-F8040FB7AA02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80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DOSSIER · 1 SUR 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81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82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3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584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585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86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recommandation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GO, NO-GO ou GO sous conditions, dite en une phrase.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Trois raisons chiffrées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chacune avec sa preuve dans le dépôt.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Lisible par une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non-technicienne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aucun sigle sans définition.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587" name="TextBox 32"/>
          <p:cNvSpPr/>
          <p:nvPr/>
        </p:nvSpPr>
        <p:spPr>
          <a:xfrm>
            <a:off x="640080" y="286884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RECOMMANDATION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88" name="Zone à rédiger"/>
          <p:cNvSpPr/>
          <p:nvPr/>
        </p:nvSpPr>
        <p:spPr>
          <a:xfrm>
            <a:off x="640080" y="3124440"/>
            <a:ext cx="10908000" cy="8038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[GO, NO-GO ou GO sous conditions : une phrase]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89" name="TextBox 34"/>
          <p:cNvSpPr/>
          <p:nvPr/>
        </p:nvSpPr>
        <p:spPr>
          <a:xfrm>
            <a:off x="640080" y="4103280"/>
            <a:ext cx="35136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RAISON CHIFFRÉE 1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90" name="Zone à rédiger"/>
          <p:cNvSpPr/>
          <p:nvPr/>
        </p:nvSpPr>
        <p:spPr>
          <a:xfrm>
            <a:off x="640080" y="4358880"/>
            <a:ext cx="3513600" cy="17668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[Chiffre, couche, preuve]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91" name="TextBox 36"/>
          <p:cNvSpPr/>
          <p:nvPr/>
        </p:nvSpPr>
        <p:spPr>
          <a:xfrm>
            <a:off x="4337280" y="4103280"/>
            <a:ext cx="35136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RAISON CHIFFRÉE 2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92" name="Zone à rédiger"/>
          <p:cNvSpPr/>
          <p:nvPr/>
        </p:nvSpPr>
        <p:spPr>
          <a:xfrm>
            <a:off x="4337280" y="4358880"/>
            <a:ext cx="3513600" cy="17668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[Chiffre, couche, preuve]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593" name="TextBox 38"/>
          <p:cNvSpPr/>
          <p:nvPr/>
        </p:nvSpPr>
        <p:spPr>
          <a:xfrm>
            <a:off x="8034480" y="4103280"/>
            <a:ext cx="35136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RAISON CHIFFRÉE 3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94" name="Zone à rédiger"/>
          <p:cNvSpPr/>
          <p:nvPr/>
        </p:nvSpPr>
        <p:spPr>
          <a:xfrm>
            <a:off x="8034480" y="4358880"/>
            <a:ext cx="3513600" cy="17668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[Chiffre, couche, preuve]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Les preuves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596" name="PlaceHolder 2"/>
          <p:cNvSpPr>
            <a:spLocks noGrp="1"/>
          </p:cNvSpPr>
          <p:nvPr>
            <p:ph type="sldNum" idx="44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F81956B-D045-4A8E-9CCC-2780EB61FDAB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597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DOSSIER · 2 SUR 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598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599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0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01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02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03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qualité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par dimension et par couche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face au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seuil visé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certificat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joint (numéro, décision, empreinte) et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trois données retracées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en trois lignes.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604" name="Table 32"/>
          <p:cNvGraphicFramePr/>
          <p:nvPr/>
        </p:nvGraphicFramePr>
        <p:xfrm>
          <a:off x="640080" y="2534040"/>
          <a:ext cx="10908360" cy="182844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645920"/>
                <a:gridCol w="1645920"/>
                <a:gridCol w="1737360"/>
                <a:gridCol w="185616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Dimension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Bronze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Silver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Gold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Seuil visé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Atteint ?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Unicité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Complétude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Validité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Cohérence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605" name="TextBox 33"/>
          <p:cNvSpPr/>
          <p:nvPr/>
        </p:nvSpPr>
        <p:spPr>
          <a:xfrm>
            <a:off x="640080" y="453708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CERTIFICAT JOINT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6" name="Zone à rédiger"/>
          <p:cNvSpPr/>
          <p:nvPr/>
        </p:nvSpPr>
        <p:spPr>
          <a:xfrm>
            <a:off x="640080" y="4792680"/>
            <a:ext cx="5348520" cy="13330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[Numéro, décision, empreinte]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07" name="TextBox 35"/>
          <p:cNvSpPr/>
          <p:nvPr/>
        </p:nvSpPr>
        <p:spPr>
          <a:xfrm>
            <a:off x="6199560" y="453708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TROIS DONNÉES RETRACÉES, EN TROIS LIGNES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08" name="Zone à rédiger"/>
          <p:cNvSpPr/>
          <p:nvPr/>
        </p:nvSpPr>
        <p:spPr>
          <a:xfrm>
            <a:off x="6199560" y="4792680"/>
            <a:ext cx="5348520" cy="13330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Les écarts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10" name="PlaceHolder 2"/>
          <p:cNvSpPr>
            <a:spLocks noGrp="1"/>
          </p:cNvSpPr>
          <p:nvPr>
            <p:ph type="sldNum" idx="45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9FBA3F4-E2D6-4C7B-BA6C-98979562BAB5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11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DOSSIER · 3 SUR 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12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13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4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15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16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17" name="TextBox 31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anomalies résiduelles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chiffrées, les lignes en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quarantaine par règle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avertissements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restants.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hypothèses à faire valider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par le métier : listées, jamais cachées.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618" name="Table 32"/>
          <p:cNvGraphicFramePr/>
          <p:nvPr/>
        </p:nvGraphicFramePr>
        <p:xfrm>
          <a:off x="640080" y="2534040"/>
          <a:ext cx="10908360" cy="1828440"/>
        </p:xfrm>
        <a:graphic>
          <a:graphicData uri="http://schemas.openxmlformats.org/drawingml/2006/table">
            <a:tbl>
              <a:tblPr/>
              <a:tblGrid>
                <a:gridCol w="3200400"/>
                <a:gridCol w="1371600"/>
                <a:gridCol w="1280160"/>
                <a:gridCol w="3136320"/>
                <a:gridCol w="192024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Écart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Chiffre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Conséquence pour le CRM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Qui doit agir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Anomalies résiduelles dans gold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Lignes en quarantaine, par règle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Avertissements restants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Règles non couvertes par le certificat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619" name="TextBox 33"/>
          <p:cNvSpPr/>
          <p:nvPr/>
        </p:nvSpPr>
        <p:spPr>
          <a:xfrm>
            <a:off x="640080" y="453708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HYPOTHÈSES À FAIRE VALIDER PAR LE MÉTIER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20" name="Zone à rédiger"/>
          <p:cNvSpPr/>
          <p:nvPr/>
        </p:nvSpPr>
        <p:spPr>
          <a:xfrm>
            <a:off x="640080" y="4792680"/>
            <a:ext cx="10908000" cy="133308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[Listez-les, une par ligne]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La décision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sldNum" idx="46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50F3904-FE19-4C1C-A570-A5A8C9018073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23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DOSSIER · 4 SUR 4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24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25" name="Attendu"/>
          <p:cNvSpPr/>
          <p:nvPr/>
        </p:nvSpPr>
        <p:spPr>
          <a:xfrm>
            <a:off x="640080" y="1325880"/>
            <a:ext cx="10908000" cy="1322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6" name="Attendu barre"/>
          <p:cNvSpPr/>
          <p:nvPr/>
        </p:nvSpPr>
        <p:spPr>
          <a:xfrm>
            <a:off x="640080" y="1325880"/>
            <a:ext cx="81720" cy="1322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27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28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29" name="TextBox 31"/>
          <p:cNvSpPr/>
          <p:nvPr/>
        </p:nvSpPr>
        <p:spPr>
          <a:xfrm>
            <a:off x="914400" y="1783080"/>
            <a:ext cx="10359360" cy="7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seuils retenus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justifiés devant le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Data Owner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(numéros du journal des décisions).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rôles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qui décide, qui contrôle, qui exécute ;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conditions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à lever, avec échéance et responsable.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signature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du Data Owner.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30" name="TextBox 32"/>
          <p:cNvSpPr/>
          <p:nvPr/>
        </p:nvSpPr>
        <p:spPr>
          <a:xfrm>
            <a:off x="640080" y="28688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SEUILS RETENUS ET JUSTIFICATION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31" name="Zone à rédiger"/>
          <p:cNvSpPr/>
          <p:nvPr/>
        </p:nvSpPr>
        <p:spPr>
          <a:xfrm>
            <a:off x="640080" y="3124440"/>
            <a:ext cx="5348520" cy="10782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[Renvoi au journal, numéros]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32" name="TextBox 34"/>
          <p:cNvSpPr/>
          <p:nvPr/>
        </p:nvSpPr>
        <p:spPr>
          <a:xfrm>
            <a:off x="6199560" y="2868840"/>
            <a:ext cx="534852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RÔLES : DÉCIDE, CONTRÔLE, EXÉCUTE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33" name="Zone à rédiger"/>
          <p:cNvSpPr/>
          <p:nvPr/>
        </p:nvSpPr>
        <p:spPr>
          <a:xfrm>
            <a:off x="6199560" y="3124440"/>
            <a:ext cx="5348520" cy="107820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[Rédigez ici]</a:t>
            </a:r>
            <a:endParaRPr b="0" lang="fr-FR" sz="1200" spc="-1" strike="noStrike">
              <a:latin typeface="Arial"/>
            </a:endParaRPr>
          </a:p>
        </p:txBody>
      </p:sp>
      <p:graphicFrame>
        <p:nvGraphicFramePr>
          <p:cNvPr id="634" name="Table 36"/>
          <p:cNvGraphicFramePr/>
          <p:nvPr/>
        </p:nvGraphicFramePr>
        <p:xfrm>
          <a:off x="640080" y="4340520"/>
          <a:ext cx="10908360" cy="1041840"/>
        </p:xfrm>
        <a:graphic>
          <a:graphicData uri="http://schemas.openxmlformats.org/drawingml/2006/table">
            <a:tbl>
              <a:tblPr/>
              <a:tblGrid>
                <a:gridCol w="6217920"/>
                <a:gridCol w="2560320"/>
                <a:gridCol w="213048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Condition à lever avant migration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Responsable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Échéance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1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1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635" name="TextBox 37"/>
          <p:cNvSpPr/>
          <p:nvPr/>
        </p:nvSpPr>
        <p:spPr>
          <a:xfrm>
            <a:off x="640080" y="5557320"/>
            <a:ext cx="10908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14" strike="noStrike">
                <a:solidFill>
                  <a:srgbClr val="f5a623"/>
                </a:solidFill>
                <a:latin typeface="Inter"/>
                <a:ea typeface="DejaVu Sans"/>
              </a:rPr>
              <a:t>SIGNATURE DU DATA OWNER (NOM, RÔLE, DATE)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36" name="Zone à rédiger"/>
          <p:cNvSpPr/>
          <p:nvPr/>
        </p:nvSpPr>
        <p:spPr>
          <a:xfrm>
            <a:off x="640080" y="5812920"/>
            <a:ext cx="10908000" cy="312840"/>
          </a:xfrm>
          <a:prstGeom prst="rect">
            <a:avLst/>
          </a:prstGeom>
          <a:solidFill>
            <a:srgbClr val="2e2916"/>
          </a:solidFill>
          <a:ln w="12700">
            <a:solidFill>
              <a:srgbClr val="f5a623"/>
            </a:solidFill>
            <a:prstDash val="dash"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37160" rIns="137160" tIns="73080" bIns="7308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i="1" lang="fr-FR" sz="1200" spc="-1" strike="noStrike">
                <a:solidFill>
                  <a:srgbClr val="8e99a4"/>
                </a:solidFill>
                <a:latin typeface="Inter"/>
                <a:ea typeface="DejaVu Sans"/>
              </a:rPr>
              <a:t>[Nom, rôle, date]</a:t>
            </a:r>
            <a:endParaRPr b="0" lang="fr-F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/>
          </p:nvPr>
        </p:nvSpPr>
        <p:spPr>
          <a:xfrm>
            <a:off x="640080" y="2011680"/>
            <a:ext cx="2742480" cy="118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440"/>
              </a:spcBef>
              <a:buNone/>
              <a:tabLst>
                <a:tab algn="l" pos="0"/>
              </a:tabLst>
            </a:pPr>
            <a:r>
              <a:rPr b="0" lang="en-US" sz="7200" spc="-1" strike="noStrike">
                <a:solidFill>
                  <a:srgbClr val="f5a623"/>
                </a:solidFill>
                <a:latin typeface="Fraunces SemiBold"/>
                <a:ea typeface="Fraunces SemiBold"/>
              </a:rPr>
              <a:t>07</a:t>
            </a:r>
            <a:endParaRPr b="0" lang="fr-FR" sz="7200" spc="-1" strike="noStrike">
              <a:latin typeface="Arial"/>
            </a:endParaRPr>
          </a:p>
        </p:txBody>
      </p:sp>
      <p:sp>
        <p:nvSpPr>
          <p:cNvPr id="638" name="PlaceHolder 2"/>
          <p:cNvSpPr>
            <a:spLocks noGrp="1"/>
          </p:cNvSpPr>
          <p:nvPr>
            <p:ph type="title"/>
          </p:nvPr>
        </p:nvSpPr>
        <p:spPr>
          <a:xfrm>
            <a:off x="640080" y="3200400"/>
            <a:ext cx="6582960" cy="164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2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Annexes</a:t>
            </a:r>
            <a:endParaRPr b="0" lang="fr-FR" sz="4200" spc="-1" strike="noStrike"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47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8971671-0674-42A6-B6D0-C54C573340C8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40" name="TextBox 25"/>
          <p:cNvSpPr/>
          <p:nvPr/>
        </p:nvSpPr>
        <p:spPr>
          <a:xfrm>
            <a:off x="640080" y="4892040"/>
            <a:ext cx="64000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buNone/>
            </a:pPr>
            <a:r>
              <a:rPr b="0" lang="fr-FR" sz="1600" spc="-1" strike="noStrike">
                <a:solidFill>
                  <a:srgbClr val="b8c0c8"/>
                </a:solidFill>
                <a:latin typeface="Inter"/>
                <a:ea typeface="DejaVu Sans"/>
              </a:rPr>
              <a:t>Journal des décisions, avancement par story, liens vers le dépôt.</a:t>
            </a:r>
            <a:endParaRPr b="0" lang="fr-F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Journal des décisions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 type="sldNum" idx="48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0BF6E6-0128-4E0F-A826-4B3AB40B41D9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43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ANNEXE A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44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45" name="Attendu"/>
          <p:cNvSpPr/>
          <p:nvPr/>
        </p:nvSpPr>
        <p:spPr>
          <a:xfrm>
            <a:off x="640080" y="1325880"/>
            <a:ext cx="10908000" cy="12844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46" name="Attendu barre"/>
          <p:cNvSpPr/>
          <p:nvPr/>
        </p:nvSpPr>
        <p:spPr>
          <a:xfrm>
            <a:off x="640080" y="1325880"/>
            <a:ext cx="81720" cy="12844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47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48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49" name="TextBox 31"/>
          <p:cNvSpPr/>
          <p:nvPr/>
        </p:nvSpPr>
        <p:spPr>
          <a:xfrm>
            <a:off x="914400" y="1783080"/>
            <a:ext cx="1035936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seuil, sévérité, définition ou règle de survie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: date, séance, règle, décision,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justification chiffrée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rôle décideur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, alternative écartée.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décision sans rôle ni chiffre n'est pas une décision.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650" name="Table 32"/>
          <p:cNvGraphicFramePr/>
          <p:nvPr/>
        </p:nvGraphicFramePr>
        <p:xfrm>
          <a:off x="640080" y="2748240"/>
          <a:ext cx="10908360" cy="2431440"/>
        </p:xfrm>
        <a:graphic>
          <a:graphicData uri="http://schemas.openxmlformats.org/drawingml/2006/table">
            <a:tbl>
              <a:tblPr/>
              <a:tblGrid>
                <a:gridCol w="457200"/>
                <a:gridCol w="822960"/>
                <a:gridCol w="822960"/>
                <a:gridCol w="1371600"/>
                <a:gridCol w="2377440"/>
                <a:gridCol w="2194560"/>
                <a:gridCol w="1188720"/>
                <a:gridCol w="1673280"/>
              </a:tblGrid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N°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Date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Séance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Règle ou objet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Décision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Justification chiffrée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Rôle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95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Alternative écartée</a:t>
                      </a:r>
                      <a:endParaRPr b="0" lang="fr-FR" sz="9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1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2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3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4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5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4740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05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6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05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05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651" name="TextBox 33"/>
          <p:cNvSpPr/>
          <p:nvPr/>
        </p:nvSpPr>
        <p:spPr>
          <a:xfrm>
            <a:off x="640080" y="525348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Ajoutez des lignes si nécessaire. Exemples : sévérité d'une règle, seuil d'avertissement, convention de la sentinelle, seuils de rapprochement, règle de survie, seuil de la porte G.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Avancement par story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53" name="PlaceHolder 2"/>
          <p:cNvSpPr>
            <a:spLocks noGrp="1"/>
          </p:cNvSpPr>
          <p:nvPr>
            <p:ph type="sldNum" idx="49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BDCA310-406A-473B-AFB8-C157D8AF9EB5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5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ANNEXE B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55" name="TextBox 26"/>
          <p:cNvSpPr/>
          <p:nvPr/>
        </p:nvSpPr>
        <p:spPr>
          <a:xfrm>
            <a:off x="6976800" y="291960"/>
            <a:ext cx="457128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000" spc="114" strike="noStrike">
                <a:solidFill>
                  <a:srgbClr val="0f9b8e"/>
                </a:solidFill>
                <a:latin typeface="Inter"/>
                <a:ea typeface="DejaVu Sans"/>
              </a:rPr>
              <a:t>CRITÈRE : GOUVERNANCE ET DÉCISION · 15 %</a:t>
            </a:r>
            <a:endParaRPr b="0" lang="fr-FR" sz="1000" spc="-1" strike="noStrike">
              <a:latin typeface="Arial"/>
            </a:endParaRPr>
          </a:p>
        </p:txBody>
      </p:sp>
      <p:sp>
        <p:nvSpPr>
          <p:cNvPr id="656" name="Attendu"/>
          <p:cNvSpPr/>
          <p:nvPr/>
        </p:nvSpPr>
        <p:spPr>
          <a:xfrm>
            <a:off x="640080" y="1325880"/>
            <a:ext cx="10908000" cy="103212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57" name="Attendu barre"/>
          <p:cNvSpPr/>
          <p:nvPr/>
        </p:nvSpPr>
        <p:spPr>
          <a:xfrm>
            <a:off x="640080" y="1325880"/>
            <a:ext cx="81720" cy="103212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5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59" name="TextBox 30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60" name="TextBox 31"/>
          <p:cNvSpPr/>
          <p:nvPr/>
        </p:nvSpPr>
        <p:spPr>
          <a:xfrm>
            <a:off x="914400" y="1783080"/>
            <a:ext cx="10359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Une ligne par story :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statut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(Fait, En cours, Bloqué, À faire) et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preuve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(chemin du dépôt). Pas de preuve, pas de « Fait ».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661" name="Table 32"/>
          <p:cNvGraphicFramePr/>
          <p:nvPr/>
        </p:nvGraphicFramePr>
        <p:xfrm>
          <a:off x="640080" y="2541600"/>
          <a:ext cx="10908360" cy="246852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005840"/>
                <a:gridCol w="1188720"/>
                <a:gridCol w="1188720"/>
                <a:gridCol w="3867840"/>
              </a:tblGrid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Séance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Stories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Faites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En cours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Bloquées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Preuves principales (chemins)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S1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US-01 à 04, 06, 07, 09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S2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US-10, 11, 13, 15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S3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US-12, 14, 16 à 19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S4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US-21 à 25, 27, 28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41148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S5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US-29 à 32, 34, 35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  <p:sp>
        <p:nvSpPr>
          <p:cNvPr id="662" name="TextBox 33"/>
          <p:cNvSpPr/>
          <p:nvPr/>
        </p:nvSpPr>
        <p:spPr>
          <a:xfrm>
            <a:off x="640080" y="5101920"/>
            <a:ext cx="1090800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0" i="1" lang="fr-FR" sz="1100" spc="-1" strike="noStrike">
                <a:solidFill>
                  <a:srgbClr val="8e99a4"/>
                </a:solidFill>
                <a:latin typeface="Inter"/>
                <a:ea typeface="DejaVu Sans"/>
              </a:rPr>
              <a:t>Le détail story par story est dans AVANCEMENT.md à la racine du dépôt.</a:t>
            </a:r>
            <a:endParaRPr b="0" lang="fr-FR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Dépôt Git et étiquettes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64" name="PlaceHolder 2"/>
          <p:cNvSpPr>
            <a:spLocks noGrp="1"/>
          </p:cNvSpPr>
          <p:nvPr>
            <p:ph type="sldNum" idx="50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8434FE5-D7B4-46A5-B129-CFA5C4C033FB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65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ANNEXE C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66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7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68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69" name="TextBox 29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SUR CETTE PAGE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70" name="TextBox 30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L'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adresse du dépôt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et les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étiquettes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posées : seance-1 à seance-5 et rendu-final.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Aucun fichier interdit dans le dépôt (data/, CSV, sauvegardes, .env).</a:t>
            </a:r>
            <a:endParaRPr b="0" lang="fr-FR" sz="1300" spc="-1" strike="noStrike">
              <a:latin typeface="Arial"/>
            </a:endParaRPr>
          </a:p>
        </p:txBody>
      </p:sp>
      <p:graphicFrame>
        <p:nvGraphicFramePr>
          <p:cNvPr id="671" name="Table 31"/>
          <p:cNvGraphicFramePr/>
          <p:nvPr/>
        </p:nvGraphicFramePr>
        <p:xfrm>
          <a:off x="640080" y="2579760"/>
          <a:ext cx="10908360" cy="2925720"/>
        </p:xfrm>
        <a:graphic>
          <a:graphicData uri="http://schemas.openxmlformats.org/drawingml/2006/table">
            <a:tbl>
              <a:tblPr/>
              <a:tblGrid>
                <a:gridCol w="4023360"/>
                <a:gridCol w="6885360"/>
              </a:tblGrid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Élément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100" spc="55" strike="noStrike">
                          <a:solidFill>
                            <a:srgbClr val="f5a623"/>
                          </a:solidFill>
                          <a:latin typeface="Inter"/>
                        </a:rPr>
                        <a:t>Valeur</a:t>
                      </a:r>
                      <a:endParaRPr b="0" lang="fr-FR" sz="11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a415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Adresse du dépôt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seance-1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seance-2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seance-3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seance-4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seance-5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  <a:tr h="365760"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200" spc="-1" strike="noStrike">
                          <a:solidFill>
                            <a:srgbClr val="f7f6f2"/>
                          </a:solidFill>
                          <a:latin typeface="Inter"/>
                        </a:rPr>
                        <a:t>Étiquette rendu-final (date)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1c2e3d"/>
                    </a:solidFill>
                  </a:tcPr>
                </a:tc>
                <a:tc>
                  <a:txBody>
                    <a:bodyPr lIns="73080" rIns="7308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200" spc="-1" strike="noStrike">
                          <a:solidFill>
                            <a:srgbClr val="f5a623"/>
                          </a:solidFill>
                          <a:latin typeface="Inter"/>
                        </a:rPr>
                        <a:t>…</a:t>
                      </a:r>
                      <a:endParaRPr b="0" lang="fr-FR" sz="1200" spc="-1" strike="noStrike">
                        <a:latin typeface="Arial"/>
                      </a:endParaRPr>
                    </a:p>
                  </a:txBody>
                  <a:tcPr anchor="ctr" marL="73080" marR="73080">
                    <a:lnL w="6480">
                      <a:solidFill>
                        <a:srgbClr val="2a4156"/>
                      </a:solidFill>
                    </a:lnL>
                    <a:lnR w="6480">
                      <a:solidFill>
                        <a:srgbClr val="2a4156"/>
                      </a:solidFill>
                    </a:lnR>
                    <a:lnT w="6480">
                      <a:solidFill>
                        <a:srgbClr val="2a4156"/>
                      </a:solidFill>
                    </a:lnT>
                    <a:lnB w="6480">
                      <a:solidFill>
                        <a:srgbClr val="2a4156"/>
                      </a:solidFill>
                    </a:lnB>
                    <a:solidFill>
                      <a:srgbClr val="2e2916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PlaceHolder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08000" cy="73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f7f6f2"/>
                </a:solidFill>
                <a:latin typeface="Fraunces SemiBold"/>
                <a:ea typeface="Fraunces SemiBold"/>
              </a:rPr>
              <a:t>Liste de contrôle du rendu final</a:t>
            </a:r>
            <a:endParaRPr b="0" lang="fr-FR" sz="2800" spc="-1" strike="noStrike">
              <a:latin typeface="Arial"/>
            </a:endParaRPr>
          </a:p>
        </p:txBody>
      </p:sp>
      <p:sp>
        <p:nvSpPr>
          <p:cNvPr id="673" name="PlaceHolder 2"/>
          <p:cNvSpPr>
            <a:spLocks noGrp="1"/>
          </p:cNvSpPr>
          <p:nvPr>
            <p:ph type="sldNum" idx="51"/>
          </p:nvPr>
        </p:nvSpPr>
        <p:spPr>
          <a:xfrm>
            <a:off x="10820160" y="6309360"/>
            <a:ext cx="730800" cy="291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e99a4"/>
                </a:solidFill>
                <a:latin typeface="Inter"/>
                <a:ea typeface="Inter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6A6C7E-16AF-4B8D-B9D5-AF448D88496C}" type="slidenum">
              <a:rPr b="0" lang="en-US" sz="1000" spc="-1" strike="noStrike">
                <a:solidFill>
                  <a:srgbClr val="8e99a4"/>
                </a:solidFill>
                <a:latin typeface="Inter"/>
                <a:ea typeface="Inter"/>
              </a:rPr>
              <a:t>&lt;numéro&gt;</a:t>
            </a:fld>
            <a:endParaRPr b="0" lang="fr-FR" sz="1000" spc="-1" strike="noStrike">
              <a:latin typeface="Times New Roman"/>
            </a:endParaRPr>
          </a:p>
        </p:txBody>
      </p:sp>
      <p:sp>
        <p:nvSpPr>
          <p:cNvPr id="674" name="TextBox 25"/>
          <p:cNvSpPr/>
          <p:nvPr/>
        </p:nvSpPr>
        <p:spPr>
          <a:xfrm>
            <a:off x="640080" y="283680"/>
            <a:ext cx="8046000" cy="18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100" spc="197" strike="noStrike">
                <a:solidFill>
                  <a:srgbClr val="f5a623"/>
                </a:solidFill>
                <a:latin typeface="Inter"/>
                <a:ea typeface="DejaVu Sans"/>
              </a:rPr>
              <a:t>AVANT DE RENDRE</a:t>
            </a:r>
            <a:endParaRPr b="0" lang="fr-FR" sz="1100" spc="-1" strike="noStrike">
              <a:latin typeface="Arial"/>
            </a:endParaRPr>
          </a:p>
        </p:txBody>
      </p:sp>
      <p:sp>
        <p:nvSpPr>
          <p:cNvPr id="675" name="Attendu"/>
          <p:cNvSpPr/>
          <p:nvPr/>
        </p:nvSpPr>
        <p:spPr>
          <a:xfrm>
            <a:off x="640080" y="1325880"/>
            <a:ext cx="10908000" cy="1070280"/>
          </a:xfrm>
          <a:prstGeom prst="rect">
            <a:avLst/>
          </a:prstGeom>
          <a:solidFill>
            <a:srgbClr val="2b2616"/>
          </a:solidFill>
          <a:ln w="15875">
            <a:solidFill>
              <a:srgbClr val="f5a623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76" name="Attendu barre"/>
          <p:cNvSpPr/>
          <p:nvPr/>
        </p:nvSpPr>
        <p:spPr>
          <a:xfrm>
            <a:off x="640080" y="1325880"/>
            <a:ext cx="81720" cy="1070280"/>
          </a:xfrm>
          <a:prstGeom prst="rect">
            <a:avLst/>
          </a:prstGeom>
          <a:solidFill>
            <a:srgbClr val="f5a62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pic>
        <p:nvPicPr>
          <p:cNvPr id="677" name="Icône target" descr="Icône target"/>
          <p:cNvPicPr/>
          <p:nvPr/>
        </p:nvPicPr>
        <p:blipFill>
          <a:blip r:embed="rId1"/>
          <a:stretch/>
        </p:blipFill>
        <p:spPr>
          <a:xfrm>
            <a:off x="896040" y="1435680"/>
            <a:ext cx="273600" cy="273600"/>
          </a:xfrm>
          <a:prstGeom prst="rect">
            <a:avLst/>
          </a:prstGeom>
          <a:ln w="0">
            <a:noFill/>
          </a:ln>
        </p:spPr>
      </p:pic>
      <p:sp>
        <p:nvSpPr>
          <p:cNvPr id="678" name="TextBox 29"/>
          <p:cNvSpPr/>
          <p:nvPr/>
        </p:nvSpPr>
        <p:spPr>
          <a:xfrm>
            <a:off x="1261800" y="1473480"/>
            <a:ext cx="7314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8000"/>
              </a:lnSpc>
              <a:spcAft>
                <a:spcPts val="400"/>
              </a:spcAft>
              <a:buNone/>
            </a:pPr>
            <a:r>
              <a:rPr b="1" lang="fr-FR" sz="1200" spc="134" strike="noStrike">
                <a:solidFill>
                  <a:srgbClr val="f5a623"/>
                </a:solidFill>
                <a:latin typeface="Inter"/>
                <a:ea typeface="DejaVu Sans"/>
              </a:rPr>
              <a:t>ATTENDU AVANT LE DÉPÔT</a:t>
            </a:r>
            <a:endParaRPr b="0" lang="fr-FR" sz="1200" spc="-1" strike="noStrike">
              <a:latin typeface="Arial"/>
            </a:endParaRPr>
          </a:p>
        </p:txBody>
      </p:sp>
      <p:sp>
        <p:nvSpPr>
          <p:cNvPr id="679" name="TextBox 30"/>
          <p:cNvSpPr/>
          <p:nvPr/>
        </p:nvSpPr>
        <p:spPr>
          <a:xfrm>
            <a:off x="914400" y="1783080"/>
            <a:ext cx="103593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zone ambre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est complétée, ou le manque est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déclaré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dans le bilan de la séance.</a:t>
            </a:r>
            <a:endParaRPr b="0" lang="fr-FR" sz="1300" spc="-1" strike="noStrike">
              <a:latin typeface="Arial"/>
            </a:endParaRPr>
          </a:p>
          <a:p>
            <a:pPr marL="182880" indent="-182880">
              <a:lnSpc>
                <a:spcPct val="108000"/>
              </a:lnSpc>
              <a:spcAft>
                <a:spcPts val="300"/>
              </a:spcAft>
              <a:buClr>
                <a:srgbClr val="f5a623"/>
              </a:buClr>
              <a:buFont typeface="Symbol"/>
              <a:buChar char=""/>
            </a:pP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Chaque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chiffre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a sa </a:t>
            </a:r>
            <a:r>
              <a:rPr b="1" lang="fr-FR" sz="1300" spc="-1" strike="noStrike">
                <a:solidFill>
                  <a:srgbClr val="f5a623"/>
                </a:solidFill>
                <a:latin typeface="Inter"/>
                <a:ea typeface="DejaVu Sans"/>
              </a:rPr>
              <a:t>preuve</a:t>
            </a:r>
            <a:r>
              <a:rPr b="0" lang="fr-FR" sz="1300" spc="-1" strike="noStrike">
                <a:solidFill>
                  <a:srgbClr val="f7f6f2"/>
                </a:solidFill>
                <a:latin typeface="Inter"/>
                <a:ea typeface="DejaVu Sans"/>
              </a:rPr>
              <a:t> dans le dépôt.</a:t>
            </a:r>
            <a:endParaRPr b="0" lang="fr-FR" sz="1300" spc="-1" strike="noStrike">
              <a:latin typeface="Arial"/>
            </a:endParaRPr>
          </a:p>
        </p:txBody>
      </p:sp>
      <p:sp>
        <p:nvSpPr>
          <p:cNvPr id="680" name="Rectangle 31"/>
          <p:cNvSpPr/>
          <p:nvPr/>
        </p:nvSpPr>
        <p:spPr>
          <a:xfrm>
            <a:off x="640080" y="2579760"/>
            <a:ext cx="10908000" cy="3546000"/>
          </a:xfrm>
          <a:prstGeom prst="rect">
            <a:avLst/>
          </a:prstGeom>
          <a:solidFill>
            <a:srgbClr val="1c2e3d"/>
          </a:solidFill>
          <a:ln>
            <a:solidFill>
              <a:srgbClr val="2a4156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81" name="TextBox 32"/>
          <p:cNvSpPr/>
          <p:nvPr/>
        </p:nvSpPr>
        <p:spPr>
          <a:xfrm>
            <a:off x="914400" y="2762640"/>
            <a:ext cx="10332000" cy="22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Couverture : numéro du groupe, noms, date.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Équipe : rôles par séance et contribution de chaque membre.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Chaque page de séance : chiffres mesurés, preuve citée, conséquence attribuée à un rôle.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Les cinq bilans de séance : critères cochés avec preuve, difficultés chiffrées en temps.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Journal des décisions identique à celui du dépôt.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Dossier go/no-go : recommandation, preuves, écarts, décision signée.</a:t>
            </a:r>
            <a:endParaRPr b="0" lang="fr-FR" sz="1400" spc="-1" strike="noStrike">
              <a:latin typeface="Arial"/>
            </a:endParaRPr>
          </a:p>
          <a:p>
            <a:pPr>
              <a:lnSpc>
                <a:spcPct val="108000"/>
              </a:lnSpc>
              <a:spcAft>
                <a:spcPts val="901"/>
              </a:spcAft>
              <a:buNone/>
            </a:pPr>
            <a:r>
              <a:rPr b="0" lang="fr-FR" sz="1400" spc="-1" strike="noStrike">
                <a:solidFill>
                  <a:srgbClr val="f7f6f2"/>
                </a:solidFill>
                <a:latin typeface="Consolas"/>
                <a:ea typeface="DejaVu Sans"/>
              </a:rPr>
              <a:t>[ ]</a:t>
            </a:r>
            <a:r>
              <a:rPr b="0" lang="fr-FR" sz="1400" spc="-1" strike="noStrike">
                <a:solidFill>
                  <a:srgbClr val="f7f6f2"/>
                </a:solidFill>
                <a:latin typeface="Inter"/>
                <a:ea typeface="DejaVu Sans"/>
              </a:rPr>
              <a:t> Étiquette rendu-final posée et poussée ; export PDF du livrable joint au dépôt.</a:t>
            </a:r>
            <a:endParaRPr b="0" lang="fr-FR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8c0c8"/>
      </a:dk2>
      <a:lt2>
        <a:srgbClr val="1c2e3d"/>
      </a:lt2>
      <a:accent1>
        <a:srgbClr val="f5a623"/>
      </a:accent1>
      <a:accent2>
        <a:srgbClr val="f5a623"/>
      </a:accent2>
      <a:accent3>
        <a:srgbClr val="8e99a4"/>
      </a:accent3>
      <a:accent4>
        <a:srgbClr val="5e6e7c"/>
      </a:accent4>
      <a:accent5>
        <a:srgbClr val="b8c0c8"/>
      </a:accent5>
      <a:accent6>
        <a:srgbClr val="f7f6f2"/>
      </a:accent6>
      <a:hlink>
        <a:srgbClr val="f5a623"/>
      </a:hlink>
      <a:folHlink>
        <a:srgbClr val="8e99a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8c0c8"/>
      </a:dk2>
      <a:lt2>
        <a:srgbClr val="1c2e3d"/>
      </a:lt2>
      <a:accent1>
        <a:srgbClr val="f5a623"/>
      </a:accent1>
      <a:accent2>
        <a:srgbClr val="f5a623"/>
      </a:accent2>
      <a:accent3>
        <a:srgbClr val="8e99a4"/>
      </a:accent3>
      <a:accent4>
        <a:srgbClr val="5e6e7c"/>
      </a:accent4>
      <a:accent5>
        <a:srgbClr val="b8c0c8"/>
      </a:accent5>
      <a:accent6>
        <a:srgbClr val="f7f6f2"/>
      </a:accent6>
      <a:hlink>
        <a:srgbClr val="f5a623"/>
      </a:hlink>
      <a:folHlink>
        <a:srgbClr val="8e99a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8c0c8"/>
      </a:dk2>
      <a:lt2>
        <a:srgbClr val="1c2e3d"/>
      </a:lt2>
      <a:accent1>
        <a:srgbClr val="f5a623"/>
      </a:accent1>
      <a:accent2>
        <a:srgbClr val="f5a623"/>
      </a:accent2>
      <a:accent3>
        <a:srgbClr val="8e99a4"/>
      </a:accent3>
      <a:accent4>
        <a:srgbClr val="5e6e7c"/>
      </a:accent4>
      <a:accent5>
        <a:srgbClr val="b8c0c8"/>
      </a:accent5>
      <a:accent6>
        <a:srgbClr val="f7f6f2"/>
      </a:accent6>
      <a:hlink>
        <a:srgbClr val="f5a623"/>
      </a:hlink>
      <a:folHlink>
        <a:srgbClr val="8e99a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b8c0c8"/>
      </a:dk2>
      <a:lt2>
        <a:srgbClr val="1c2e3d"/>
      </a:lt2>
      <a:accent1>
        <a:srgbClr val="f5a623"/>
      </a:accent1>
      <a:accent2>
        <a:srgbClr val="f5a623"/>
      </a:accent2>
      <a:accent3>
        <a:srgbClr val="8e99a4"/>
      </a:accent3>
      <a:accent4>
        <a:srgbClr val="5e6e7c"/>
      </a:accent4>
      <a:accent5>
        <a:srgbClr val="b8c0c8"/>
      </a:accent5>
      <a:accent6>
        <a:srgbClr val="f7f6f2"/>
      </a:accent6>
      <a:hlink>
        <a:srgbClr val="f5a623"/>
      </a:hlink>
      <a:folHlink>
        <a:srgbClr val="8e99a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Application>LibreOffice/7.3.1.3$Windows_X86_64 LibreOffice_project/a69ca51ded25f3eefd52d7bf9a5fad8c90b87951</Application>
  <AppVersion>15.0000</AppVersion>
  <Words>0</Words>
  <Paragraphs>0</Paragraphs>
  <Company>Decimal Insights Consulting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2026-10-12T11:18:29Z</dcterms:created>
  <dc:creator>Decimal Insights Consulting</dc:creator>
  <dc:description/>
  <dc:language>fr-FR</dc:language>
  <cp:lastModifiedBy/>
  <dcterms:modified xsi:type="dcterms:W3CDTF">2026-10-14T16:40:04Z</dcterms:modified>
  <cp:revision>8</cp:revision>
  <dc:subject>Gouvernance, profilage et qualité des données</dc:subject>
  <dc:title>Livrable de groupe : TD AssurConnect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