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_rels/notesSlide4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43.xml.rels" ContentType="application/vnd.openxmlformats-package.relationship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media/image37.png" ContentType="image/png"/>
  <Override PartName="/ppt/media/image38.png" ContentType="image/png"/>
  <Override PartName="/ppt/media/image39.png" ContentType="image/png"/>
  <Override PartName="/ppt/media/image40.png" ContentType="image/png"/>
  <Override PartName="/ppt/media/image41.png" ContentType="image/png"/>
  <Override PartName="/ppt/media/image42.png" ContentType="image/png"/>
  <Override PartName="/ppt/media/image43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47.png" ContentType="image/png"/>
  <Override PartName="/ppt/media/image48.png" ContentType="image/png"/>
  <Override PartName="/ppt/media/image49.png" ContentType="image/png"/>
  <Override PartName="/ppt/media/image50.png" ContentType="image/png"/>
  <Override PartName="/ppt/media/image51.png" ContentType="image/png"/>
  <Override PartName="/ppt/media/image52.png" ContentType="image/png"/>
  <Override PartName="/ppt/media/image53.png" ContentType="image/png"/>
  <Override PartName="/ppt/media/image54.png" ContentType="image/png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38.xml.rels" ContentType="application/vnd.openxmlformats-package.relationships+xml"/>
  <Override PartName="/ppt/slides/_rels/slide5.xml.rels" ContentType="application/vnd.openxmlformats-package.relationships+xml"/>
  <Override PartName="/ppt/slides/_rels/slide39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47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déplacer la diapo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fr-FR" sz="2000" spc="-1" strike="noStrike">
                <a:latin typeface="Arial"/>
              </a:rPr>
              <a:t>Cliquez pour modifier le format des notes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fr-FR" sz="1400" spc="-1" strike="noStrike">
                <a:latin typeface="Times New Roman"/>
              </a:rPr>
              <a:t>&lt;en-tête&gt;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fr-FR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30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fr-FR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41A5BA4-36FB-4AD8-8840-22FE4A94C038}" type="slidenum">
              <a:rPr b="0" lang="fr-FR" sz="1400" spc="-1" strike="noStrike">
                <a:latin typeface="Times New Roman"/>
              </a:rPr>
              <a:t>&lt;numéro&gt;</a:t>
            </a:fld>
            <a:endParaRPr b="0" lang="fr-FR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Modèle à compléter par chaque groupe. Remplacez les crochets de la couverture. Ne supprimez aucun encadré « Attendu » : la grille de notation s'y réfère.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674F14-9470-46C0-80C9-C8717887CA28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Lisez cette page avant de rédiger. Les chiffres que vous reportez viennent de vos mesures (dq.dq_history, scans Soda, requêtes du notebook), jamais d'un autre groupe ni d'un tutoriel.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1DFF81F-EAFB-4AE3-BA08-A9C2F08895E7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La grille est celle du dossier go/no-go. Le livrable de séance et le dossier final sont évalués ensemble.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339100D-0489-4623-94C3-8C3FDE88310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Renseignez cette page dès la fin de l'ouverture de S1, puis mettez-la à jour à chaque séance.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88D3140-B13B-47EB-9A7A-9F6C384C4871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Cinq lignes par zone. Pas de copier-coller de l'énoncé : reformulez.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7F1875-1A44-4DA0-9BB3-62FDAA885F79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FC1DC31-78F7-4F94-9512-FE50DFF15489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comptez avec une requête, pas à l'œil. Indiquez le notebook qui contient la requête.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93EA463-2B48-41EE-B875-74374BEAD76B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la porte B juge la fidélité de la copie, pas la qualité des valeurs. Un écart nul est un résultat à documenter.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E3EA7DF-A7CD-4F94-A877-857A1353C048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l'épreuve de l'écart volontaire prouve que votre porte détecte quelque chose. Sans elle, une porte toujours verte ne prouve rien.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4B55C15-71E6-41A4-B8F6-AFBA89FA13B1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distinguez NULL, vide et blanc. Un constat sans valeur mesurée n'en est pas un.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BAEC548-BAD0-455D-844B-69FDE532B307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une justification est un chiffre (taux de valeurs au format X, nombre de distincts, plage), pas une impression.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3BF82E-9AD5-4C1B-8AFD-DE05E66518E0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les trois chiffres sont vrais pour trois questions différentes. Le problème est la définition.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4CF0D58-E795-4904-9EBB-455A34EE2B79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16FB1F-471E-4431-8763-E99FCF645941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FD0EF03-842D-42C4-AF0F-43E974FD4A18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 taux sans nombre de lignes testées est ininterprétable. Reportez les deux.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2FD77E-C749-4AB2-BA11-5B4CC0CD9C42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nommez la famille d'erreur. « Valeurs incorrectes » n'est pas une famille.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5C8E29-FE3C-4E8D-B222-5535712700C3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la phrase de synthèse doit contenir un chiffre et la couche concernée.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207122A-8760-4A5C-B66C-670A3CCD5C5C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439FB76-C214-4852-BD6C-2627DB3E5BC6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4B25BD-56A7-44AD-88C3-D2E1BD652BC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si Soda et Great Expectations donnent des chiffres différents pour la même règle, expliquez pourquoi avant de conclure.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E83109F-325E-4D16-A2CA-8B84AB99EE3C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 taux élevé de lignes en échec sur une clé étrangère est un indice de valeur sentinelle avant d'être une anomalie.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EC61421-16CD-46A3-806E-11BB194BAE90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une règle de correction proposée sans rôle destinataire n'est pas une décision.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9CE2A76-B58F-4CAC-A9BC-E800BFEC56E8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919AF4E-3EBD-4280-9D90-E572DABFEA8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81CD7C7-53AE-4B2B-9A3B-CE7ACA1A5B96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rien n'est supprimé en silence. Chaque ligne absente de silver est dans dq.rejets avec le code de sa règle.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D0FE0FE-47E6-409A-9E9F-FBA6C1381D5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une règle qui baisse de bronze à silver n'est pas forcément un bug. Cherchez d'abord un effet de la quarantaine (lignes devenues orphelines).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8AA6A3-CABA-4463-9FEE-C64CB2605951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les seuils se défendent par la précision et le rappel mesurés, pas par un ressenti. Reportez-les dans le journal des décisions.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1751E62-1D96-4E35-AD1A-175EE1D22F3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la règle de survie est une décision de gouvernance, pas un détail technique.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E0F6063-326C-4F1A-A213-6B143EB4CD67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 constat expliqué (un contrat orphelin parce que son client a été mis en quarantaine) est un résultat, pas une erreur.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13B9EB9-ED14-49B0-8725-67613D57D418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trois lignes par cas suffisent : gold, silver, bronze, source. Un identifiant de lot est obligatoire.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4414914-60BD-4A02-ABD6-4AE2D9AE2C0B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AB66A8-E510-4279-A51C-56005D915379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25A9032-4B68-47D5-95D1-4F037B2075FE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insérez l'image des courbes dans la zone. Une courbe sans légende ni axe nommé n'est pas lisible par un non-technicien.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29E9511-37F0-4BE0-BD41-BD316541C9DB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 certificat qui ne mentionne pas ce qu'il ne couvre pas est trompeur. Listez les règles non mesurées.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F6B15B1-69B1-474A-8A74-AD61EB269BF5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la preuve d'un refus est le message du script, pas une capture du code.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3E4EBB4-2C6A-4E64-B65D-F97917ECC300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 lineage lisible va des sources à la table gold sans saut.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0216FD-BC42-45DC-BF09-BCFE42CC6002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EA57CC-2C42-46D9-A956-5696F0582F2D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0345E6D-8BA0-4B0D-85EC-CEA3C47AD054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ne présentez pas un GO que le certificat contredit. Un NO-GO bien argumenté vaut un GO bien argumenté.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5E14B2E-7B7F-4E9C-B0B7-9C900E4DC8F6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les chiffres de cette page sont ceux de S5, sans retouche.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8D58AD7-C47A-470F-B4B4-9B418AE223ED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un écart non chiffré n'est pas un écart, c'est une impression.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84028A1-26C1-4857-A249-995FB2EBC002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Consigne : la décision est attribuée à un rôle, pas au groupe.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32905CD-F8AD-4842-B00D-EED737A7B424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0F413F-2203-43D7-ADB5-D0059EE24F3F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Ce journal doit être identique à celui du dépôt (livrables/JOURNAL_DECISIONS.md).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E5B79B-3E79-4C4E-87AB-C69C1D1C6376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Reprenez les totaux de AVANCEMENT.md.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271DEF-F355-4240-AF17-F4E6B5865C8D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Les étiquettes fixent l'état rendu à la fin de chaque séance.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FB9D871-4A06-41E1-86C6-CD880882D239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pc="-1" strike="noStrike">
                <a:latin typeface="Arial"/>
              </a:rPr>
              <a:t>Cochez en remplaçant [ ] par [x].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130C80B-085C-4A8F-8DFC-59F88D4FAEA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1352EAD-1A91-474F-BCE1-F8071202EB0E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FBEA808-C9E0-4CD8-825D-2460B7D38726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7BEA0A1-9316-4FF8-BEEE-B938D402CE79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FBC7B9A-676F-492E-A333-14D51031435D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1AC7367-7811-47AD-874D-63839D92FFB3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8ED3BEF-0C96-467E-A357-8903DE7035C7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9F124CF-827A-4594-8ED8-6F987A1EF75C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DCBCFF4-377B-44BC-AD0F-37A3A56C9DB7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51B181A-7F27-4CDA-B024-24F2D0A052F6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144A63A-5F31-4FA4-A6C7-157F116A737B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7809076-6A84-494E-8C1A-A800E6A9B762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35308EA-472F-44DE-A0E6-F2A85744CFB3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3A1DAF-ED74-4AC3-8F80-475545B15BC1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20597D-92CB-421C-9342-AD1FA3EF1983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0A2F54-35A1-45D4-93D3-6026150A9FA3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D4A3CD-0EAE-4905-B96E-93431691211B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B13EBF-36E6-4F60-B13A-711BD5ADA9B7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D7170F-8B05-4076-A0F4-85C054D6D4AA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E07F22-9FAA-4ADB-88A4-C47A7E92C61D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75FD54-5B47-468A-8903-73F9C4E7E14E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E27A05-632D-44EC-87DE-AB29E4DD1F9C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07E5E6-6CCD-47F2-A1E1-28E360FBAD8D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52C6CF-91B7-4BD5-A701-C874CDDAE55A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3339F5-D580-4CCD-AD1F-4F00DBC6893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Image 0" descr="img/deco_dark.png"/>
          <p:cNvPicPr/>
          <p:nvPr/>
        </p:nvPicPr>
        <p:blipFill>
          <a:blip r:embed="rId2"/>
          <a:stretch/>
        </p:blipFill>
        <p:spPr>
          <a:xfrm>
            <a:off x="6949440" y="1097280"/>
            <a:ext cx="4753800" cy="4753800"/>
          </a:xfrm>
          <a:prstGeom prst="rect">
            <a:avLst/>
          </a:prstGeom>
          <a:ln w="0">
            <a:noFill/>
          </a:ln>
        </p:spPr>
      </p:pic>
      <p:pic>
        <p:nvPicPr>
          <p:cNvPr id="1" name="Image 1" descr="img/logo_dark.png"/>
          <p:cNvPicPr/>
          <p:nvPr/>
        </p:nvPicPr>
        <p:blipFill>
          <a:blip r:embed="rId3"/>
          <a:stretch/>
        </p:blipFill>
        <p:spPr>
          <a:xfrm>
            <a:off x="640080" y="640080"/>
            <a:ext cx="3473640" cy="730440"/>
          </a:xfrm>
          <a:prstGeom prst="rect">
            <a:avLst/>
          </a:prstGeom>
          <a:ln w="0">
            <a:noFill/>
          </a:ln>
        </p:spPr>
      </p:pic>
      <p:sp>
        <p:nvSpPr>
          <p:cNvPr id="2" name="Shape 0"/>
          <p:cNvSpPr/>
          <p:nvPr/>
        </p:nvSpPr>
        <p:spPr>
          <a:xfrm>
            <a:off x="640080" y="2148840"/>
            <a:ext cx="821880" cy="53640"/>
          </a:xfrm>
          <a:prstGeom prst="rect">
            <a:avLst/>
          </a:prstGeom>
          <a:solidFill>
            <a:srgbClr val="0f9b8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age 0" descr="img/mark_dark.png"/>
          <p:cNvPicPr/>
          <p:nvPr/>
        </p:nvPicPr>
        <p:blipFill>
          <a:blip r:embed="rId2"/>
          <a:stretch/>
        </p:blipFill>
        <p:spPr>
          <a:xfrm>
            <a:off x="640080" y="633672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42" name="Text 0"/>
          <p:cNvSpPr/>
          <p:nvPr/>
        </p:nvSpPr>
        <p:spPr>
          <a:xfrm>
            <a:off x="987480" y="6309360"/>
            <a:ext cx="45709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293" strike="noStrike">
                <a:solidFill>
                  <a:srgbClr val="8e99a4"/>
                </a:solidFill>
                <a:latin typeface="Inter"/>
                <a:ea typeface="Inter"/>
              </a:rPr>
              <a:t>DECIMAL INSIGHTS CONSULTING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sldNum" idx="1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EAA29FA-B859-49E3-922C-1698C9F5FD0A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Image 0" descr="img/deco_dark.png"/>
          <p:cNvPicPr/>
          <p:nvPr/>
        </p:nvPicPr>
        <p:blipFill>
          <a:blip r:embed="rId2"/>
          <a:stretch/>
        </p:blipFill>
        <p:spPr>
          <a:xfrm>
            <a:off x="7498080" y="1828800"/>
            <a:ext cx="4205160" cy="4205160"/>
          </a:xfrm>
          <a:prstGeom prst="rect">
            <a:avLst/>
          </a:prstGeom>
          <a:ln w="0">
            <a:noFill/>
          </a:ln>
        </p:spPr>
      </p:pic>
      <p:sp>
        <p:nvSpPr>
          <p:cNvPr id="83" name="Shape 0"/>
          <p:cNvSpPr/>
          <p:nvPr/>
        </p:nvSpPr>
        <p:spPr>
          <a:xfrm>
            <a:off x="640080" y="1828800"/>
            <a:ext cx="821880" cy="53640"/>
          </a:xfrm>
          <a:prstGeom prst="rect">
            <a:avLst/>
          </a:prstGeom>
          <a:solidFill>
            <a:srgbClr val="0f9b8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84" name="Image 1" descr="img/mark_dark.png"/>
          <p:cNvPicPr/>
          <p:nvPr/>
        </p:nvPicPr>
        <p:blipFill>
          <a:blip r:embed="rId3"/>
          <a:stretch/>
        </p:blipFill>
        <p:spPr>
          <a:xfrm>
            <a:off x="640080" y="633672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85" name="Text 1"/>
          <p:cNvSpPr/>
          <p:nvPr/>
        </p:nvSpPr>
        <p:spPr>
          <a:xfrm>
            <a:off x="987480" y="6309360"/>
            <a:ext cx="45709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293" strike="noStrike">
                <a:solidFill>
                  <a:srgbClr val="8e99a4"/>
                </a:solidFill>
                <a:latin typeface="Inter"/>
                <a:ea typeface="Inter"/>
              </a:rPr>
              <a:t>DECIMAL INSIGHTS CONSULTING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sldNum" idx="2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9F741A-5330-48AA-BC3A-741C43FCF41D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5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5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40080" y="2377440"/>
            <a:ext cx="6765480" cy="173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0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Livrable de groupe</a:t>
            </a:r>
            <a:endParaRPr b="0" lang="fr-FR" sz="5000" spc="-1" strike="noStrike"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40080" y="4251960"/>
            <a:ext cx="6399720" cy="821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b8c0c8"/>
                </a:solidFill>
                <a:latin typeface="Inter"/>
                <a:ea typeface="Inter"/>
              </a:rPr>
              <a:t>TD AssurConnect : gouvernance, profilage et qualité des données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640080" y="5577840"/>
            <a:ext cx="63997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241"/>
              </a:spcBef>
              <a:buNone/>
              <a:tabLst>
                <a:tab algn="l" pos="0"/>
              </a:tabLst>
            </a:pPr>
            <a:r>
              <a:rPr b="0" lang="en-US" sz="1200" spc="194" strike="noStrike">
                <a:solidFill>
                  <a:srgbClr val="f5a623"/>
                </a:solidFill>
                <a:latin typeface="Inter"/>
                <a:ea typeface="Inter"/>
              </a:rPr>
              <a:t>GROUPE [N°0] · [AMY Léo – MENY Nicolas - OUERGHEMNI Mongi - TRUONG David] · [14/10/2026]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Comment remplir ce modèle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sldNum" idx="6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33E4642-85AA-4841-BBB7-59C34D125D8E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36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MODE D'EMPLOI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37" name="Rectangle 26"/>
          <p:cNvSpPr/>
          <p:nvPr/>
        </p:nvSpPr>
        <p:spPr>
          <a:xfrm>
            <a:off x="640080" y="1371600"/>
            <a:ext cx="10907640" cy="80352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38" name="Icône target" descr="Icône target"/>
          <p:cNvPicPr/>
          <p:nvPr/>
        </p:nvPicPr>
        <p:blipFill>
          <a:blip r:embed="rId1"/>
          <a:stretch/>
        </p:blipFill>
        <p:spPr>
          <a:xfrm>
            <a:off x="868680" y="1572840"/>
            <a:ext cx="401400" cy="401400"/>
          </a:xfrm>
          <a:prstGeom prst="rect">
            <a:avLst/>
          </a:prstGeom>
          <a:ln w="0">
            <a:noFill/>
          </a:ln>
        </p:spPr>
      </p:pic>
      <p:sp>
        <p:nvSpPr>
          <p:cNvPr id="139" name="TextBox 28"/>
          <p:cNvSpPr/>
          <p:nvPr/>
        </p:nvSpPr>
        <p:spPr>
          <a:xfrm>
            <a:off x="1463040" y="1658160"/>
            <a:ext cx="32907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Encadré ambre « Attendu »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0" name="TextBox 29"/>
          <p:cNvSpPr/>
          <p:nvPr/>
        </p:nvSpPr>
        <p:spPr>
          <a:xfrm>
            <a:off x="4846320" y="1666440"/>
            <a:ext cx="65826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Ce qui doit apparaître sur la page. À lire avant de rédiger ; ne pas supprimer.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1" name="Rectangle 30"/>
          <p:cNvSpPr/>
          <p:nvPr/>
        </p:nvSpPr>
        <p:spPr>
          <a:xfrm>
            <a:off x="640080" y="2286000"/>
            <a:ext cx="10907640" cy="80352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42" name="Icône pen" descr="Icône pen"/>
          <p:cNvPicPr/>
          <p:nvPr/>
        </p:nvPicPr>
        <p:blipFill>
          <a:blip r:embed="rId2"/>
          <a:stretch/>
        </p:blipFill>
        <p:spPr>
          <a:xfrm>
            <a:off x="868680" y="2487240"/>
            <a:ext cx="401400" cy="401400"/>
          </a:xfrm>
          <a:prstGeom prst="rect">
            <a:avLst/>
          </a:prstGeom>
          <a:ln w="0">
            <a:noFill/>
          </a:ln>
        </p:spPr>
      </p:pic>
      <p:sp>
        <p:nvSpPr>
          <p:cNvPr id="143" name="TextBox 32"/>
          <p:cNvSpPr/>
          <p:nvPr/>
        </p:nvSpPr>
        <p:spPr>
          <a:xfrm>
            <a:off x="1463040" y="2572560"/>
            <a:ext cx="32907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Cellule ou zone ambre sombre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4" name="TextBox 33"/>
          <p:cNvSpPr/>
          <p:nvPr/>
        </p:nvSpPr>
        <p:spPr>
          <a:xfrm>
            <a:off x="4846320" y="2473920"/>
            <a:ext cx="6582600" cy="4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À compléter : remplacez « … » ou le texte gris entre crochets par votre contenu.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5" name="Rectangle 34"/>
          <p:cNvSpPr/>
          <p:nvPr/>
        </p:nvSpPr>
        <p:spPr>
          <a:xfrm>
            <a:off x="640080" y="3200400"/>
            <a:ext cx="10907640" cy="80352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46" name="Icône chart" descr="Icône chart"/>
          <p:cNvPicPr/>
          <p:nvPr/>
        </p:nvPicPr>
        <p:blipFill>
          <a:blip r:embed="rId3"/>
          <a:stretch/>
        </p:blipFill>
        <p:spPr>
          <a:xfrm>
            <a:off x="868680" y="3401640"/>
            <a:ext cx="401400" cy="401400"/>
          </a:xfrm>
          <a:prstGeom prst="rect">
            <a:avLst/>
          </a:prstGeom>
          <a:ln w="0">
            <a:noFill/>
          </a:ln>
        </p:spPr>
      </p:pic>
      <p:sp>
        <p:nvSpPr>
          <p:cNvPr id="147" name="TextBox 36"/>
          <p:cNvSpPr/>
          <p:nvPr/>
        </p:nvSpPr>
        <p:spPr>
          <a:xfrm>
            <a:off x="1463040" y="3372120"/>
            <a:ext cx="329076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Une page prouve, elle ne raconte pas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8" name="TextBox 37"/>
          <p:cNvSpPr/>
          <p:nvPr/>
        </p:nvSpPr>
        <p:spPr>
          <a:xfrm>
            <a:off x="4846320" y="3388320"/>
            <a:ext cx="6582600" cy="4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Pour chaque constat : un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chiffre mesuré</a:t>
            </a: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 (règle RQ, couche),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preuve</a:t>
            </a: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 (chemin du dépôt),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conséquence</a:t>
            </a: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 attribuée à un rôle.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9" name="Rectangle 38"/>
          <p:cNvSpPr/>
          <p:nvPr/>
        </p:nvSpPr>
        <p:spPr>
          <a:xfrm>
            <a:off x="640080" y="4114800"/>
            <a:ext cx="10907640" cy="80352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50" name="Icône branch" descr="Icône branch"/>
          <p:cNvPicPr/>
          <p:nvPr/>
        </p:nvPicPr>
        <p:blipFill>
          <a:blip r:embed="rId4"/>
          <a:stretch/>
        </p:blipFill>
        <p:spPr>
          <a:xfrm>
            <a:off x="868680" y="4316040"/>
            <a:ext cx="401400" cy="401400"/>
          </a:xfrm>
          <a:prstGeom prst="rect">
            <a:avLst/>
          </a:prstGeom>
          <a:ln w="0">
            <a:noFill/>
          </a:ln>
        </p:spPr>
      </p:pic>
      <p:sp>
        <p:nvSpPr>
          <p:cNvPr id="151" name="TextBox 40"/>
          <p:cNvSpPr/>
          <p:nvPr/>
        </p:nvSpPr>
        <p:spPr>
          <a:xfrm>
            <a:off x="1463040" y="4401360"/>
            <a:ext cx="32907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Le dépôt Git est la preuve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2" name="TextBox 41"/>
          <p:cNvSpPr/>
          <p:nvPr/>
        </p:nvSpPr>
        <p:spPr>
          <a:xfrm>
            <a:off x="4846320" y="4302720"/>
            <a:ext cx="6582600" cy="4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Chaque chemin cité existe dans votre dépôt. Étiquette </a:t>
            </a:r>
            <a:r>
              <a:rPr b="0" lang="fr-FR" sz="1300" spc="-1" strike="noStrike">
                <a:solidFill>
                  <a:srgbClr val="f7f6f2"/>
                </a:solidFill>
                <a:latin typeface="Consolas"/>
                <a:ea typeface="DejaVu Sans"/>
              </a:rPr>
              <a:t>seance-N</a:t>
            </a: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 posée en fin de chaque séance.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3" name="Rectangle 42"/>
          <p:cNvSpPr/>
          <p:nvPr/>
        </p:nvSpPr>
        <p:spPr>
          <a:xfrm>
            <a:off x="640080" y="5029200"/>
            <a:ext cx="10907640" cy="80352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54" name="Icône warn" descr="Icône warn"/>
          <p:cNvPicPr/>
          <p:nvPr/>
        </p:nvPicPr>
        <p:blipFill>
          <a:blip r:embed="rId5"/>
          <a:stretch/>
        </p:blipFill>
        <p:spPr>
          <a:xfrm>
            <a:off x="868680" y="5230440"/>
            <a:ext cx="401400" cy="401400"/>
          </a:xfrm>
          <a:prstGeom prst="rect">
            <a:avLst/>
          </a:prstGeom>
          <a:ln w="0">
            <a:noFill/>
          </a:ln>
        </p:spPr>
      </p:pic>
      <p:sp>
        <p:nvSpPr>
          <p:cNvPr id="155" name="TextBox 44"/>
          <p:cNvSpPr/>
          <p:nvPr/>
        </p:nvSpPr>
        <p:spPr>
          <a:xfrm>
            <a:off x="1463040" y="5315760"/>
            <a:ext cx="32907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Si vous n'avez pas fini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6" name="TextBox 45"/>
          <p:cNvSpPr/>
          <p:nvPr/>
        </p:nvSpPr>
        <p:spPr>
          <a:xfrm>
            <a:off x="4846320" y="5217120"/>
            <a:ext cx="6582600" cy="4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  <a:ea typeface="DejaVu Sans"/>
              </a:rPr>
              <a:t>Laissez les zones ambre visibles : un livrable inachevé doit le rester. Ne mettez jamais un chiffre sans l'avoir mesuré.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7" name="TextBox 46"/>
          <p:cNvSpPr/>
          <p:nvPr/>
        </p:nvSpPr>
        <p:spPr>
          <a:xfrm>
            <a:off x="640080" y="598932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Si le texte déborde d'une cellule, réduisez la police à 11 pt plutôt que d'étendre le tableau hors de la page.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Où se trouve quoi, et ce que pèse chaque critère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sldNum" idx="7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394A3B-5E66-409C-9DEB-8995D3D3B437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60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PLAN DU LIVRABLE</a:t>
            </a:r>
            <a:endParaRPr b="0" lang="fr-FR" sz="1100" spc="-1" strike="noStrike">
              <a:latin typeface="Arial"/>
            </a:endParaRPr>
          </a:p>
        </p:txBody>
      </p:sp>
      <p:graphicFrame>
        <p:nvGraphicFramePr>
          <p:cNvPr id="161" name="Table 26"/>
          <p:cNvGraphicFramePr/>
          <p:nvPr/>
        </p:nvGraphicFramePr>
        <p:xfrm>
          <a:off x="640080" y="1371600"/>
          <a:ext cx="10908360" cy="3071520"/>
        </p:xfrm>
        <a:graphic>
          <a:graphicData uri="http://schemas.openxmlformats.org/drawingml/2006/table">
            <a:tbl>
              <a:tblPr/>
              <a:tblGrid>
                <a:gridCol w="4023360"/>
                <a:gridCol w="1097280"/>
                <a:gridCol w="4690800"/>
                <a:gridCol w="1097280"/>
              </a:tblGrid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55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</a:tbl>
          </a:graphicData>
        </a:graphic>
      </p:graphicFrame>
      <p:sp>
        <p:nvSpPr>
          <p:cNvPr id="162" name="TextBox 27"/>
          <p:cNvSpPr/>
          <p:nvPr/>
        </p:nvSpPr>
        <p:spPr>
          <a:xfrm>
            <a:off x="640080" y="458100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Membres, rôles par séance et contribution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ldNum" idx="8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507061C-EB47-4F66-A42B-7089C6EBC18C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65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ÉQUIPE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66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6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169" name="TextBox 29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70" name="TextBox 30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rôles tournent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à chaque séance et un rôle est tenu par une personne à la fois.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contribution déclarée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vérifiable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dans l'historique Git : une ligne par membre, deux lignes de texte.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171" name="Table 31"/>
          <p:cNvGraphicFramePr/>
          <p:nvPr/>
        </p:nvGraphicFramePr>
        <p:xfrm>
          <a:off x="640080" y="2579760"/>
          <a:ext cx="10908360" cy="182844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1188720"/>
                <a:gridCol w="1188720"/>
                <a:gridCol w="1188720"/>
                <a:gridCol w="1280160"/>
                <a:gridCol w="130752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AMY Léo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LeoAugustinAmy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Rédacteur du livrable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MENY Nicolas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Tastycoole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Data Owner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OUERGHEMNI Mongi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mongi-ouerghemmi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Ingénieur qualité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TRUONG David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0TRDavid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Data Steward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172" name="TextBox 32"/>
          <p:cNvSpPr/>
          <p:nvPr/>
        </p:nvSpPr>
        <p:spPr>
          <a:xfrm>
            <a:off x="640440" y="459036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Rôles : Data Owner (décide des seuils et du GO) · Data Steward (définit les règles et leur sévérité) · Ingénieur qualité (mesure, implémente) · Rédacteur du livrable.</a:t>
            </a:r>
            <a:endParaRPr b="0" lang="fr-FR" sz="1100" spc="-1" strike="noStrike">
              <a:latin typeface="Arial"/>
            </a:endParaRPr>
          </a:p>
        </p:txBody>
      </p:sp>
      <p:graphicFrame>
        <p:nvGraphicFramePr>
          <p:cNvPr id="173" name="Table 33"/>
          <p:cNvGraphicFramePr/>
          <p:nvPr/>
        </p:nvGraphicFramePr>
        <p:xfrm>
          <a:off x="640080" y="4865760"/>
          <a:ext cx="10908360" cy="1828440"/>
        </p:xfrm>
        <a:graphic>
          <a:graphicData uri="http://schemas.openxmlformats.org/drawingml/2006/table">
            <a:tbl>
              <a:tblPr/>
              <a:tblGrid>
                <a:gridCol w="2560320"/>
                <a:gridCol w="6035040"/>
                <a:gridCol w="231336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Notre compréhension du mandat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sldNum" idx="9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ADC2069-459D-4E7F-A75A-DB6E31CFA293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76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CONTEXTE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77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8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7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180" name="TextBox 29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1" name="TextBox 30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condition posée par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Direction Générale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reformulée avec vos mots.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périmètre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sources, couches du médaillon, portes B, S, G et C.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trois rôles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 gouvernance et ce que chacun décide.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2" name="TextBox 31"/>
          <p:cNvSpPr/>
          <p:nvPr/>
        </p:nvSpPr>
        <p:spPr>
          <a:xfrm>
            <a:off x="640080" y="2868840"/>
            <a:ext cx="53024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MANDAT ET CONDITION DE LA DG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3" name="Zone à rédiger"/>
          <p:cNvSpPr/>
          <p:nvPr/>
        </p:nvSpPr>
        <p:spPr>
          <a:xfrm>
            <a:off x="640080" y="3124440"/>
            <a:ext cx="5302440" cy="30009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ici, cinq lignes au plus]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4" name="TextBox 33"/>
          <p:cNvSpPr/>
          <p:nvPr/>
        </p:nvSpPr>
        <p:spPr>
          <a:xfrm>
            <a:off x="6245280" y="2868840"/>
            <a:ext cx="53024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PÉRIMÈTRE ET RÔLES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5" name="Zone à rédiger"/>
          <p:cNvSpPr/>
          <p:nvPr/>
        </p:nvSpPr>
        <p:spPr>
          <a:xfrm>
            <a:off x="6245280" y="3124440"/>
            <a:ext cx="5302440" cy="30009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ici, cinq lignes au plus]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120" cy="118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01</a:t>
            </a:r>
            <a:endParaRPr b="0" lang="fr-FR" sz="7200" spc="-1" strike="noStrike"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2600" cy="164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Stack, profilage, bronze</a:t>
            </a:r>
            <a:endParaRPr b="0" lang="fr-FR" sz="4200" spc="-1" strike="noStrike"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10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EAE2824-A499-49D8-AC79-852A13D7820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89" name="TextBox 25"/>
          <p:cNvSpPr/>
          <p:nvPr/>
        </p:nvSpPr>
        <p:spPr>
          <a:xfrm>
            <a:off x="640080" y="4892040"/>
            <a:ext cx="6399720" cy="8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  <a:ea typeface="DejaVu Sans"/>
              </a:rPr>
              <a:t>Séance 1 · Porte B · US-01 à 09. Inventaire des sources, bronze, réconciliation, profil de crm.client, dictionnaire du CIF, client actif.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Inventaire des sources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sldNum" idx="11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569572C-4186-427C-87E3-985F71FB889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92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S1 · US-01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3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94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5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96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197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8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sept tables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des deux sources, avec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nombre de lignes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mesuré et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clé primaire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observation chiffrée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table (nulls, doublons de clé, particularités).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199" name="Table 32"/>
          <p:cNvGraphicFramePr/>
          <p:nvPr/>
        </p:nvGraphicFramePr>
        <p:xfrm>
          <a:off x="640080" y="2579760"/>
          <a:ext cx="10908360" cy="292572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463040"/>
                <a:gridCol w="2194560"/>
                <a:gridCol w="405072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Clé primaire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Nulls: 133918 | doublons de clé: 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Nulls: 7460 | doublons de clé: 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Nulls: 0 | doublons de clé: 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Nulls: 0 | doublons de clé: 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Nulls: 26486 | doublons de clé: 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Nulls: 0 | doublons de clé: 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Nulls: 0 | doublons de clé: 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00" name="TextBox 33"/>
          <p:cNvSpPr/>
          <p:nvPr/>
        </p:nvSpPr>
        <p:spPr>
          <a:xfrm>
            <a:off x="640080" y="5890320"/>
            <a:ext cx="109076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200" spc="-1" strike="noStrike">
                <a:solidFill>
                  <a:srgbClr val="b8c0c8"/>
                </a:solidFill>
                <a:latin typeface="Inter"/>
                <a:ea typeface="DejaVu Sans"/>
              </a:rPr>
              <a:t>Preuve (chemin du notebook, du fichier ou de la requête dans le dépôt) : </a:t>
            </a:r>
            <a:r>
              <a:rPr b="1" lang="fr-FR" sz="1200" spc="-1" strike="noStrike">
                <a:solidFill>
                  <a:srgbClr val="f5a623"/>
                </a:solidFill>
                <a:latin typeface="Inter"/>
                <a:ea typeface="DejaVu Sans"/>
              </a:rPr>
              <a:t>notebooks/S1_bronze_profilage.ipynb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Bronze et porte B : la copie est-elle fidèle ?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sldNum" idx="12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5A7FF5A-084F-4C2A-A2D0-4D8A9A18DB2F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03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S1 · US-02, 03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4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05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0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208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9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RQ-021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(comptage)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RQ-022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(somme de contrôle) mesurées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table par table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même quand l'écart est nul.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ligne bronze porte ses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quatre métadonnées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(lot, source, horodatage, empreinte de ligne).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10" name="Table 32"/>
          <p:cNvGraphicFramePr/>
          <p:nvPr/>
        </p:nvGraphicFramePr>
        <p:xfrm>
          <a:off x="640080" y="2579760"/>
          <a:ext cx="10908360" cy="292572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1828800"/>
                <a:gridCol w="2194560"/>
                <a:gridCol w="240480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source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100%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  <a:ea typeface="Microsoft YaHei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100%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100%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100%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100%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100%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100%</a:t>
                      </a:r>
                      <a:endParaRPr b="0" lang="fr-FR" sz="1200" spc="-1" strike="noStrike">
                        <a:latin typeface="Times New Roman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11" name="TextBox 33"/>
          <p:cNvSpPr/>
          <p:nvPr/>
        </p:nvSpPr>
        <p:spPr>
          <a:xfrm>
            <a:off x="640080" y="5890320"/>
            <a:ext cx="109076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200" spc="-1" strike="noStrike">
                <a:solidFill>
                  <a:srgbClr val="b8c0c8"/>
                </a:solidFill>
                <a:latin typeface="Inter"/>
                <a:ea typeface="DejaVu Sans"/>
              </a:rPr>
              <a:t>Preuve (chemin du notebook, du fichier ou de la requête dans le dépôt) : </a:t>
            </a:r>
            <a:r>
              <a:rPr b="1" lang="fr-FR" sz="1200" spc="-1" strike="noStrike">
                <a:solidFill>
                  <a:srgbClr val="f5a623"/>
                </a:solidFill>
                <a:latin typeface="Inter"/>
                <a:ea typeface="DejaVu Sans"/>
              </a:rPr>
              <a:t>notebooks/S1_bronze_profilage.ipynb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Épreuves de la porte B et méthode d'ingestion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sldNum" idx="13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006472-D9D6-4235-9F9D-CBF4D77F0686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14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S1 · US-02, 03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15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16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1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219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20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trois épreuves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documentées, chacune avec son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résultat obtenu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sa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preuve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méthode d'ingestion en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trois lignes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lecture, conversion, métadonnées, relance du lot.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21" name="Table 32"/>
          <p:cNvGraphicFramePr/>
          <p:nvPr/>
        </p:nvGraphicFramePr>
        <p:xfrm>
          <a:off x="640080" y="2579760"/>
          <a:ext cx="10908360" cy="2082600"/>
        </p:xfrm>
        <a:graphic>
          <a:graphicData uri="http://schemas.openxmlformats.org/drawingml/2006/table">
            <a:tbl>
              <a:tblPr/>
              <a:tblGrid>
                <a:gridCol w="5120640"/>
                <a:gridCol w="3108960"/>
                <a:gridCol w="2679120"/>
              </a:tblGrid>
              <a:tr h="5029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5029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Non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5029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Écart introduit volontairement sur une copie : la porte échoue-t-elle ?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 écart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5029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 problème de conversion rencontré (décimales, NULL, accents) et sa correction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Non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22" name="TextBox 33"/>
          <p:cNvSpPr/>
          <p:nvPr/>
        </p:nvSpPr>
        <p:spPr>
          <a:xfrm>
            <a:off x="640080" y="485712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MÉTHODE D'INGESTION EN TROIS LIGNES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23" name="Zone à rédiger"/>
          <p:cNvSpPr/>
          <p:nvPr/>
        </p:nvSpPr>
        <p:spPr>
          <a:xfrm>
            <a:off x="640080" y="5112720"/>
            <a:ext cx="10907640" cy="10126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pic>
        <p:nvPicPr>
          <p:cNvPr id="224" name="" descr=""/>
          <p:cNvPicPr/>
          <p:nvPr/>
        </p:nvPicPr>
        <p:blipFill>
          <a:blip r:embed="rId2"/>
          <a:stretch/>
        </p:blipFill>
        <p:spPr>
          <a:xfrm>
            <a:off x="8820000" y="3578040"/>
            <a:ext cx="2700000" cy="561960"/>
          </a:xfrm>
          <a:prstGeom prst="rect">
            <a:avLst/>
          </a:prstGeom>
          <a:ln w="0">
            <a:noFill/>
          </a:ln>
        </p:spPr>
      </p:pic>
      <p:pic>
        <p:nvPicPr>
          <p:cNvPr id="225" name="" descr=""/>
          <p:cNvPicPr/>
          <p:nvPr/>
        </p:nvPicPr>
        <p:blipFill>
          <a:blip r:embed="rId3"/>
          <a:stretch/>
        </p:blipFill>
        <p:spPr>
          <a:xfrm>
            <a:off x="8862840" y="3087000"/>
            <a:ext cx="1217160" cy="513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Profil de crm.client et motifs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sldNum" idx="14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DC56D71-B0D7-4675-B1C5-66266B73FF6E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28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S1 · US-06, 07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29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30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1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32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233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34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Au moins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cinq constats chiffrés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colonne, indicateur, valeur mesurée, conséquence pour la qualité.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motifs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 code postal, de téléphone et de pays : lignes conformes, non conformes, un exemple.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35" name="Table 32"/>
          <p:cNvGraphicFramePr/>
          <p:nvPr/>
        </p:nvGraphicFramePr>
        <p:xfrm>
          <a:off x="640080" y="2534040"/>
          <a:ext cx="10908360" cy="205632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291840"/>
                <a:gridCol w="1737360"/>
                <a:gridCol w="3502080"/>
              </a:tblGrid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Indicateur (nulls, vides, distincts, motif)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Valeur mesurée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nom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4277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Cette colonne peut ne pas être fiable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prenom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4277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Cette colonne peut ne pas être fiable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raison_social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nulls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95723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Cette colonne n’est pas fiable car extremement vide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pays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vides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400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Faible manque par rapport au 100000 lignes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blancs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2000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Faible manque par rapport au 100000 lignes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6" name="Table 33"/>
          <p:cNvGraphicFramePr/>
          <p:nvPr/>
        </p:nvGraphicFramePr>
        <p:xfrm>
          <a:off x="640080" y="4646520"/>
          <a:ext cx="10908360" cy="131616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1554480"/>
                <a:gridCol w="1737360"/>
                <a:gridCol w="267912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Motif testé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Exemple non conforme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Code postal à 5 chiffres (RQ-05)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93981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1456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7100 (enlève le 0 devant)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regex r"(?:"r"0[1-9](?:[ .-]?\d{2}){4}" r"|(?:+|00)[1-9]\d{0,2}(?:[ .-]?\d){6,14}"r")")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89115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886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06289748656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N’est pas dans le référentiel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97950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37" name="TextBox 34"/>
          <p:cNvSpPr/>
          <p:nvPr/>
        </p:nvSpPr>
        <p:spPr>
          <a:xfrm>
            <a:off x="642960" y="6237360"/>
            <a:ext cx="109076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200" spc="-1" strike="noStrike">
                <a:solidFill>
                  <a:srgbClr val="b8c0c8"/>
                </a:solidFill>
                <a:latin typeface="Inter"/>
                <a:ea typeface="DejaVu Sans"/>
              </a:rPr>
              <a:t>Preuve (chemin du notebook, du fichier ou de la requête dans le dépôt) : </a:t>
            </a:r>
            <a:r>
              <a:rPr b="1" lang="fr-FR" sz="1200" spc="-1" strike="noStrike">
                <a:solidFill>
                  <a:srgbClr val="f5a623"/>
                </a:solidFill>
                <a:latin typeface="Inter"/>
                <a:ea typeface="DejaVu Sans"/>
              </a:rPr>
              <a:t>notebooks/S1_bronze_profilage.ipynb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Dictionnaire du CIF : dix colonnes anonymes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sldNum" idx="15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2A0EB82-DC48-4B95-981C-23D73163C824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40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S1 · US-04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41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42" name="Attendu"/>
          <p:cNvSpPr/>
          <p:nvPr/>
        </p:nvSpPr>
        <p:spPr>
          <a:xfrm>
            <a:off x="640080" y="1325880"/>
            <a:ext cx="10907640" cy="103176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Attendu barre"/>
          <p:cNvSpPr/>
          <p:nvPr/>
        </p:nvSpPr>
        <p:spPr>
          <a:xfrm>
            <a:off x="640080" y="1325880"/>
            <a:ext cx="81360" cy="103176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44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245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46" name="TextBox 31"/>
          <p:cNvSpPr/>
          <p:nvPr/>
        </p:nvSpPr>
        <p:spPr>
          <a:xfrm>
            <a:off x="914400" y="1783080"/>
            <a:ext cx="103590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Pour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chacune des dix colonnes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un nom proposé, un type et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justification chiffrée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(comment l'avez-vous déduit ?).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47" name="Table 32"/>
          <p:cNvGraphicFramePr/>
          <p:nvPr/>
        </p:nvGraphicFramePr>
        <p:xfrm>
          <a:off x="640080" y="2495880"/>
          <a:ext cx="10908360" cy="352008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463040"/>
                <a:gridCol w="5422320"/>
              </a:tblGrid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Trois directions, trois définitions du « client actif »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ldNum" idx="16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BE2BADB-858B-4205-8DD8-D3307A975CC5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50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S1 · US-09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51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52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3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54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255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56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nombre de clients actifs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selon chaque direction, avec la définition utilisée.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écart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avec la définition de la fiche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CD-001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et la conséquence pour la gouvernance.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57" name="Table 32"/>
          <p:cNvGraphicFramePr/>
          <p:nvPr/>
        </p:nvGraphicFramePr>
        <p:xfrm>
          <a:off x="640080" y="2579760"/>
          <a:ext cx="10908360" cy="1535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  <a:gridCol w="2011680"/>
                <a:gridCol w="2130480"/>
              </a:tblGrid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58" name="TextBox 33"/>
          <p:cNvSpPr/>
          <p:nvPr/>
        </p:nvSpPr>
        <p:spPr>
          <a:xfrm>
            <a:off x="640080" y="438156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CONSÉQUENCE POUR LA GOUVERNANCE, EN TROIS PHRASES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59" name="Zone à rédiger"/>
          <p:cNvSpPr/>
          <p:nvPr/>
        </p:nvSpPr>
        <p:spPr>
          <a:xfrm>
            <a:off x="640080" y="4637160"/>
            <a:ext cx="10907640" cy="14882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S1 : critères de fin et difficultés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sldNum" idx="17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7E00290-2D1A-417A-8235-4B4C6DD05600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62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S1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63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64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5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66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267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68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69" name="Rectangle 32"/>
          <p:cNvSpPr/>
          <p:nvPr/>
        </p:nvSpPr>
        <p:spPr>
          <a:xfrm>
            <a:off x="640080" y="2579760"/>
            <a:ext cx="5119560" cy="354564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70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09960" cy="309960"/>
          </a:xfrm>
          <a:prstGeom prst="rect">
            <a:avLst/>
          </a:prstGeom>
          <a:ln w="0">
            <a:noFill/>
          </a:ln>
        </p:spPr>
      </p:pic>
      <p:sp>
        <p:nvSpPr>
          <p:cNvPr id="271" name="TextBox 34"/>
          <p:cNvSpPr/>
          <p:nvPr/>
        </p:nvSpPr>
        <p:spPr>
          <a:xfrm>
            <a:off x="1289160" y="2783160"/>
            <a:ext cx="45709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1" strike="noStrike">
                <a:solidFill>
                  <a:srgbClr val="f7f6f2"/>
                </a:solidFill>
                <a:latin typeface="Inter"/>
                <a:ea typeface="DejaVu Sans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72" name="TextBox 35"/>
          <p:cNvSpPr/>
          <p:nvPr/>
        </p:nvSpPr>
        <p:spPr>
          <a:xfrm>
            <a:off x="868680" y="3219840"/>
            <a:ext cx="4662360" cy="24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Les sept tables bronze existent et chaque ligne porte ses quatre métadonnées.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La porte B ne montre aucun écart de comptage ni de somme de contrôle.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Relancer l'ingestion du même lot ne crée aucun doublon.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Un écart introduit volontairement fait échouer la porte.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RQ-021 est écrite dans dq.dq_history (couche BRONZE).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273" name="TextBox 36"/>
          <p:cNvSpPr/>
          <p:nvPr/>
        </p:nvSpPr>
        <p:spPr>
          <a:xfrm>
            <a:off x="640080" y="585216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74" name="TextBox 37"/>
          <p:cNvSpPr/>
          <p:nvPr/>
        </p:nvSpPr>
        <p:spPr>
          <a:xfrm>
            <a:off x="5943600" y="26168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75" name="Zone à rédiger"/>
          <p:cNvSpPr/>
          <p:nvPr/>
        </p:nvSpPr>
        <p:spPr>
          <a:xfrm>
            <a:off x="5943600" y="2872440"/>
            <a:ext cx="5604120" cy="11692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76" name="TextBox 39"/>
          <p:cNvSpPr/>
          <p:nvPr/>
        </p:nvSpPr>
        <p:spPr>
          <a:xfrm>
            <a:off x="5943600" y="42170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77" name="Zone à rédiger"/>
          <p:cNvSpPr/>
          <p:nvPr/>
        </p:nvSpPr>
        <p:spPr>
          <a:xfrm>
            <a:off x="5943600" y="4472640"/>
            <a:ext cx="5604120" cy="6206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78" name="TextBox 41"/>
          <p:cNvSpPr/>
          <p:nvPr/>
        </p:nvSpPr>
        <p:spPr>
          <a:xfrm>
            <a:off x="5943600" y="526860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79" name="Zone à rédiger"/>
          <p:cNvSpPr/>
          <p:nvPr/>
        </p:nvSpPr>
        <p:spPr>
          <a:xfrm>
            <a:off x="5943600" y="5524200"/>
            <a:ext cx="5604120" cy="6012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120" cy="118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02</a:t>
            </a:r>
            <a:endParaRPr b="0" lang="fr-FR" sz="7200" spc="-1" strike="noStrike"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2600" cy="164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Règles en tests automatisés</a:t>
            </a:r>
            <a:endParaRPr b="0" lang="fr-FR" sz="4200" spc="-1" strike="noStrike"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8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BC8EAB-1D2C-45D7-86DD-279F33EBEBEB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83" name="TextBox 25"/>
          <p:cNvSpPr/>
          <p:nvPr/>
        </p:nvSpPr>
        <p:spPr>
          <a:xfrm>
            <a:off x="640080" y="4892040"/>
            <a:ext cx="6399720" cy="5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  <a:ea typeface="DejaVu Sans"/>
              </a:rPr>
              <a:t>Séance 2 · Great Expectations · US-10, 11, 13, 15. Une règle métier devient un test nommé par son identifiant RQ.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Règles en tests : une expectation par règle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19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0AAD688-288F-4CEE-930A-8AB5DB7186DB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86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S2 · US-10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87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88" name="Attendu"/>
          <p:cNvSpPr/>
          <p:nvPr/>
        </p:nvSpPr>
        <p:spPr>
          <a:xfrm>
            <a:off x="640080" y="1325880"/>
            <a:ext cx="10907640" cy="12841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9" name="Attendu barre"/>
          <p:cNvSpPr/>
          <p:nvPr/>
        </p:nvSpPr>
        <p:spPr>
          <a:xfrm>
            <a:off x="640080" y="1325880"/>
            <a:ext cx="81360" cy="12841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9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291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14400" y="1783080"/>
            <a:ext cx="1035900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Pour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RQ-001, 002, 003, 005, 009, 010 et 020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l'expectation porte son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rule_id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avec lignes testées, échecs, taux et sévérité.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base et la table visées sont des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paramètres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la suite se relance sur silver sans modification.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93" name="Table 32"/>
          <p:cNvGraphicFramePr/>
          <p:nvPr/>
        </p:nvGraphicFramePr>
        <p:xfrm>
          <a:off x="640080" y="2793960"/>
          <a:ext cx="10908360" cy="2925720"/>
        </p:xfrm>
        <a:graphic>
          <a:graphicData uri="http://schemas.openxmlformats.org/drawingml/2006/table">
            <a:tbl>
              <a:tblPr/>
              <a:tblGrid>
                <a:gridCol w="1005840"/>
                <a:gridCol w="2011680"/>
                <a:gridCol w="2926080"/>
                <a:gridCol w="1097280"/>
                <a:gridCol w="1188720"/>
                <a:gridCol w="1188720"/>
                <a:gridCol w="149040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94" name="TextBox 33"/>
          <p:cNvSpPr/>
          <p:nvPr/>
        </p:nvSpPr>
        <p:spPr>
          <a:xfrm>
            <a:off x="640080" y="581148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Sévérité : bloquante ou avertissement. Chemin des suites de validation : voir le dépôt, reports/ge/gx/expectations.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Pièges rencontrés et lignes en échec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 type="sldNum" idx="20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D3A645C-A7A8-4E88-939F-DE82341EF6DA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97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S2 · US-10, 11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98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99" name="Attendu"/>
          <p:cNvSpPr/>
          <p:nvPr/>
        </p:nvSpPr>
        <p:spPr>
          <a:xfrm>
            <a:off x="640080" y="1325880"/>
            <a:ext cx="10907640" cy="12841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0" name="Attendu barre"/>
          <p:cNvSpPr/>
          <p:nvPr/>
        </p:nvSpPr>
        <p:spPr>
          <a:xfrm>
            <a:off x="640080" y="1325880"/>
            <a:ext cx="81360" cy="12841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01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302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03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pièges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(nul, vide, blanc ; adresses étrangères ; comparaisons exactes) avec le chiffre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avant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après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correction.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Un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échantillon commenté de 20 lignes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en échec : famille d'erreur, cause probable, action proposée.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04" name="Table 32"/>
          <p:cNvGraphicFramePr/>
          <p:nvPr/>
        </p:nvGraphicFramePr>
        <p:xfrm>
          <a:off x="640080" y="2748240"/>
          <a:ext cx="10908360" cy="1041840"/>
        </p:xfrm>
        <a:graphic>
          <a:graphicData uri="http://schemas.openxmlformats.org/drawingml/2006/table">
            <a:tbl>
              <a:tblPr/>
              <a:tblGrid>
                <a:gridCol w="1097280"/>
                <a:gridCol w="3840480"/>
                <a:gridCol w="1737360"/>
                <a:gridCol w="1737360"/>
                <a:gridCol w="249624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5" name="Table 33"/>
          <p:cNvGraphicFramePr/>
          <p:nvPr/>
        </p:nvGraphicFramePr>
        <p:xfrm>
          <a:off x="640080" y="3927600"/>
          <a:ext cx="10908360" cy="138924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  <a:gridCol w="1463040"/>
                <a:gridCol w="2926080"/>
                <a:gridCol w="249624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06" name="TextBox 34"/>
          <p:cNvSpPr/>
          <p:nvPr/>
        </p:nvSpPr>
        <p:spPr>
          <a:xfrm>
            <a:off x="640080" y="540900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Chemins : export complet des lignes en échec ; échantillon commenté de 20 lignes.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Âge à la bonne date et mesure de référence sur bronze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sldNum" idx="21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8F3B6B-A767-47B0-8C84-AE657065FDFE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09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S2 · US-13, 15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10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11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13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314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15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RQ-002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documentée avec sa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date de référence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et un cas où « à la date du jour » donne un autre résultat.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mesure de référence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écrite dans dq.dq_history (couche BRONZE), avec la synthèse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par dimension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phrase de synthèse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chiffrée : « voici la qualité de ce qui nous est livré ».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16" name="Table 32"/>
          <p:cNvGraphicFramePr/>
          <p:nvPr/>
        </p:nvGraphicFramePr>
        <p:xfrm>
          <a:off x="640080" y="2786040"/>
          <a:ext cx="10908360" cy="90468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1828800"/>
                <a:gridCol w="249624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7" name="Table 33"/>
          <p:cNvGraphicFramePr/>
          <p:nvPr/>
        </p:nvGraphicFramePr>
        <p:xfrm>
          <a:off x="640080" y="3801240"/>
          <a:ext cx="10908360" cy="150804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554480"/>
                <a:gridCol w="2377440"/>
                <a:gridCol w="295344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18" name="TextBox 34"/>
          <p:cNvSpPr/>
          <p:nvPr/>
        </p:nvSpPr>
        <p:spPr>
          <a:xfrm>
            <a:off x="640080" y="545688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PHRASE DE SYNTHÈSE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19" name="Zone à rédiger"/>
          <p:cNvSpPr/>
          <p:nvPr/>
        </p:nvSpPr>
        <p:spPr>
          <a:xfrm>
            <a:off x="640080" y="5712120"/>
            <a:ext cx="10907640" cy="4132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[Voici la qualité de ce qui nous est livré : …]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S2 : critères de fin et difficultés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 type="sldNum" idx="22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C989B95-878E-472A-BF8E-BA6069199EB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22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S2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23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24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5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26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327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28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29" name="Rectangle 32"/>
          <p:cNvSpPr/>
          <p:nvPr/>
        </p:nvSpPr>
        <p:spPr>
          <a:xfrm>
            <a:off x="640080" y="2579760"/>
            <a:ext cx="5119560" cy="354564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30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09960" cy="309960"/>
          </a:xfrm>
          <a:prstGeom prst="rect">
            <a:avLst/>
          </a:prstGeom>
          <a:ln w="0">
            <a:noFill/>
          </a:ln>
        </p:spPr>
      </p:pic>
      <p:sp>
        <p:nvSpPr>
          <p:cNvPr id="331" name="TextBox 34"/>
          <p:cNvSpPr/>
          <p:nvPr/>
        </p:nvSpPr>
        <p:spPr>
          <a:xfrm>
            <a:off x="1289160" y="2783160"/>
            <a:ext cx="45709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1" strike="noStrike">
                <a:solidFill>
                  <a:srgbClr val="f7f6f2"/>
                </a:solidFill>
                <a:latin typeface="Inter"/>
                <a:ea typeface="DejaVu Sans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32" name="TextBox 35"/>
          <p:cNvSpPr/>
          <p:nvPr/>
        </p:nvSpPr>
        <p:spPr>
          <a:xfrm>
            <a:off x="868680" y="3219840"/>
            <a:ext cx="4662360" cy="17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Chaque expectation porte l'identifiant de sa règle.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La même suite se relance sur une autre base ou table sans modification de code.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La mesure de référence est dans dq.dq_history (lot, couche, testées, échecs).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Les règles s'exécutent d'un seul geste (notebook relançable de bout en bout).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333" name="TextBox 36"/>
          <p:cNvSpPr/>
          <p:nvPr/>
        </p:nvSpPr>
        <p:spPr>
          <a:xfrm>
            <a:off x="640080" y="585216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34" name="TextBox 37"/>
          <p:cNvSpPr/>
          <p:nvPr/>
        </p:nvSpPr>
        <p:spPr>
          <a:xfrm>
            <a:off x="5943600" y="26168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35" name="Zone à rédiger"/>
          <p:cNvSpPr/>
          <p:nvPr/>
        </p:nvSpPr>
        <p:spPr>
          <a:xfrm>
            <a:off x="5943600" y="2872440"/>
            <a:ext cx="5604120" cy="11692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36" name="TextBox 39"/>
          <p:cNvSpPr/>
          <p:nvPr/>
        </p:nvSpPr>
        <p:spPr>
          <a:xfrm>
            <a:off x="5943600" y="42170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37" name="Zone à rédiger"/>
          <p:cNvSpPr/>
          <p:nvPr/>
        </p:nvSpPr>
        <p:spPr>
          <a:xfrm>
            <a:off x="5943600" y="4472640"/>
            <a:ext cx="5604120" cy="6206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38" name="TextBox 41"/>
          <p:cNvSpPr/>
          <p:nvPr/>
        </p:nvSpPr>
        <p:spPr>
          <a:xfrm>
            <a:off x="5943600" y="526860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39" name="Zone à rédiger"/>
          <p:cNvSpPr/>
          <p:nvPr/>
        </p:nvSpPr>
        <p:spPr>
          <a:xfrm>
            <a:off x="5943600" y="5524200"/>
            <a:ext cx="5604120" cy="6012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120" cy="118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03</a:t>
            </a:r>
            <a:endParaRPr b="0" lang="fr-FR" sz="7200" spc="-1" strike="noStrike"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2600" cy="164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Intégrité et portes en SodaCL</a:t>
            </a:r>
            <a:endParaRPr b="0" lang="fr-FR" sz="4200" spc="-1" strike="noStrike"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23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47E6D21-7225-4EC9-A3AF-22BC44E34E94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43" name="TextBox 25"/>
          <p:cNvSpPr/>
          <p:nvPr/>
        </p:nvSpPr>
        <p:spPr>
          <a:xfrm>
            <a:off x="640080" y="4892040"/>
            <a:ext cx="6399720" cy="8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  <a:ea typeface="DejaVu Sans"/>
              </a:rPr>
              <a:t>Séance 3 · Soda Core · US-12, 14, 16 à 20. Mêmes contrôles en SodaCL, code retour qui peut fermer une porte, intégrité entre tables.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Checks Soda : une source de données par couche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 type="sldNum" idx="24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9272E9E-2006-4DFD-85FE-151308051009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46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S3 · US-12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47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48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5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351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52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contrôle porte l'identifiant de sa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règle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couche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mesurée.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code retour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du scan : à quelle condition devient-il non nul ? Distinguez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avertissement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échec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53" name="Table 32"/>
          <p:cNvGraphicFramePr/>
          <p:nvPr/>
        </p:nvGraphicFramePr>
        <p:xfrm>
          <a:off x="640080" y="2534040"/>
          <a:ext cx="10908360" cy="2148120"/>
        </p:xfrm>
        <a:graphic>
          <a:graphicData uri="http://schemas.openxmlformats.org/drawingml/2006/table">
            <a:tbl>
              <a:tblPr/>
              <a:tblGrid>
                <a:gridCol w="1005840"/>
                <a:gridCol w="2743200"/>
                <a:gridCol w="1280160"/>
                <a:gridCol w="2743200"/>
                <a:gridCol w="1280160"/>
                <a:gridCol w="1856160"/>
              </a:tblGrid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4" name="TextBox 33"/>
          <p:cNvSpPr/>
          <p:nvPr/>
        </p:nvSpPr>
        <p:spPr>
          <a:xfrm>
            <a:off x="640080" y="4793040"/>
            <a:ext cx="534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CODE RETOUR ET AVERTISSEMENTS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55" name="Zone à rédiger"/>
          <p:cNvSpPr/>
          <p:nvPr/>
        </p:nvSpPr>
        <p:spPr>
          <a:xfrm>
            <a:off x="640080" y="5048640"/>
            <a:ext cx="5348160" cy="10767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56" name="TextBox 35"/>
          <p:cNvSpPr/>
          <p:nvPr/>
        </p:nvSpPr>
        <p:spPr>
          <a:xfrm>
            <a:off x="6199560" y="4793040"/>
            <a:ext cx="534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COHÉRENCE AVEC GREAT EXPECTATIONS (S2)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57" name="Zone à rédiger"/>
          <p:cNvSpPr/>
          <p:nvPr/>
        </p:nvSpPr>
        <p:spPr>
          <a:xfrm>
            <a:off x="6199560" y="5048640"/>
            <a:ext cx="5348160" cy="10767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[Écarts et explication]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d'intégrité et valeur sentinelle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 type="sldNum" idx="25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5CF1DA6-F854-4DA6-976E-C36141D86434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60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S3 · US-16, 17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61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62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3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64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365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66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nombre d'orphelins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relation, avec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conclusion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pour chacune (anomalie, sentinelle, normal).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valeur sentinelle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 assure_id : contrôle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avant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après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écart chiffré,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convention écrite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67" name="Table 32"/>
          <p:cNvGraphicFramePr/>
          <p:nvPr/>
        </p:nvGraphicFramePr>
        <p:xfrm>
          <a:off x="640080" y="2534040"/>
          <a:ext cx="10908360" cy="150804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1554480"/>
                <a:gridCol w="1188720"/>
                <a:gridCol w="313632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68" name="Table 33"/>
          <p:cNvGraphicFramePr/>
          <p:nvPr/>
        </p:nvGraphicFramePr>
        <p:xfrm>
          <a:off x="640080" y="4152600"/>
          <a:ext cx="10908360" cy="904680"/>
        </p:xfrm>
        <a:graphic>
          <a:graphicData uri="http://schemas.openxmlformats.org/drawingml/2006/table">
            <a:tbl>
              <a:tblPr/>
              <a:tblGrid>
                <a:gridCol w="4572000"/>
                <a:gridCol w="2194560"/>
                <a:gridCol w="414216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69" name="TextBox 34"/>
          <p:cNvSpPr/>
          <p:nvPr/>
        </p:nvSpPr>
        <p:spPr>
          <a:xfrm>
            <a:off x="640080" y="5114880"/>
            <a:ext cx="1090764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CONVENTION (QUI TRAITE LA SENTINELLE, DANS QUELLE COUCHE) ET POURQUOI LE PREMIER CONTRÔLE EST TROMPEUR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70" name="Zone à rédiger"/>
          <p:cNvSpPr/>
          <p:nvPr/>
        </p:nvSpPr>
        <p:spPr>
          <a:xfrm>
            <a:off x="640080" y="5460120"/>
            <a:ext cx="10907640" cy="6652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Statuts, garantie et définition unique du client actif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ldNum" idx="26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A34877C-5578-4DDB-8C51-279DEC52F16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73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S3 · US-18, 19, 14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74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75" name="Attendu"/>
          <p:cNvSpPr/>
          <p:nvPr/>
        </p:nvSpPr>
        <p:spPr>
          <a:xfrm>
            <a:off x="640080" y="1325880"/>
            <a:ext cx="10907640" cy="12841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6" name="Attendu barre"/>
          <p:cNvSpPr/>
          <p:nvPr/>
        </p:nvSpPr>
        <p:spPr>
          <a:xfrm>
            <a:off x="640080" y="1325880"/>
            <a:ext cx="81360" cy="12841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7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378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79" name="TextBox 31"/>
          <p:cNvSpPr/>
          <p:nvPr/>
        </p:nvSpPr>
        <p:spPr>
          <a:xfrm>
            <a:off x="914400" y="1783080"/>
            <a:ext cx="1035900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RQ-015, 016, 017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mesurées, avec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règle de correction du statut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proposée au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Data Owner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(reportée au journal des décisions).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requête unique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du client actif : les trois directions obtiennent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même chiffre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80" name="Table 32"/>
          <p:cNvGraphicFramePr/>
          <p:nvPr/>
        </p:nvGraphicFramePr>
        <p:xfrm>
          <a:off x="640080" y="2748240"/>
          <a:ext cx="10908360" cy="138924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03120"/>
                <a:gridCol w="2103120"/>
                <a:gridCol w="21304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81" name="Table 33"/>
          <p:cNvGraphicFramePr/>
          <p:nvPr/>
        </p:nvGraphicFramePr>
        <p:xfrm>
          <a:off x="640080" y="4275000"/>
          <a:ext cx="5668920" cy="138924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82" name="TextBox 34"/>
          <p:cNvSpPr/>
          <p:nvPr/>
        </p:nvSpPr>
        <p:spPr>
          <a:xfrm>
            <a:off x="6583680" y="4312080"/>
            <a:ext cx="49640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RÈGLE DE CORRECTION DU STATUT PROPOSÉE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83" name="Zone à rédiger"/>
          <p:cNvSpPr/>
          <p:nvPr/>
        </p:nvSpPr>
        <p:spPr>
          <a:xfrm>
            <a:off x="6583680" y="4567680"/>
            <a:ext cx="4964040" cy="15577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[Texte, rôle destinataire, date]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84" name="TextBox 36"/>
          <p:cNvSpPr/>
          <p:nvPr/>
        </p:nvSpPr>
        <p:spPr>
          <a:xfrm>
            <a:off x="640080" y="573804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Chemin de la requête du client actif et contrôle RQ-018 : à indiquer dans le dépôt.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S3 : critères de fin et difficultés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sldNum" idx="27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A326C42-90F0-4129-8C2F-B0EBE08CC46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87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S3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88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89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0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91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392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93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94" name="Rectangle 32"/>
          <p:cNvSpPr/>
          <p:nvPr/>
        </p:nvSpPr>
        <p:spPr>
          <a:xfrm>
            <a:off x="640080" y="2579760"/>
            <a:ext cx="5119560" cy="354564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95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09960" cy="309960"/>
          </a:xfrm>
          <a:prstGeom prst="rect">
            <a:avLst/>
          </a:prstGeom>
          <a:ln w="0">
            <a:noFill/>
          </a:ln>
        </p:spPr>
      </p:pic>
      <p:sp>
        <p:nvSpPr>
          <p:cNvPr id="396" name="TextBox 34"/>
          <p:cNvSpPr/>
          <p:nvPr/>
        </p:nvSpPr>
        <p:spPr>
          <a:xfrm>
            <a:off x="1289160" y="2783160"/>
            <a:ext cx="45709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1" strike="noStrike">
                <a:solidFill>
                  <a:srgbClr val="f7f6f2"/>
                </a:solidFill>
                <a:latin typeface="Inter"/>
                <a:ea typeface="DejaVu Sans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97" name="TextBox 35"/>
          <p:cNvSpPr/>
          <p:nvPr/>
        </p:nvSpPr>
        <p:spPr>
          <a:xfrm>
            <a:off x="868680" y="3219840"/>
            <a:ext cx="4662360" cy="17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Un scan renvoie un code retour non nul quand une règle bloquante échoue.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Chaque contrôle porte l'identifiant de sa règle et la couche mesurée.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Les trois directions obtiennent le même chiffre avec la requête unique.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La valeur sentinelle est expliquée et traitée.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398" name="TextBox 36"/>
          <p:cNvSpPr/>
          <p:nvPr/>
        </p:nvSpPr>
        <p:spPr>
          <a:xfrm>
            <a:off x="640080" y="585216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99" name="TextBox 37"/>
          <p:cNvSpPr/>
          <p:nvPr/>
        </p:nvSpPr>
        <p:spPr>
          <a:xfrm>
            <a:off x="5943600" y="26168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00" name="Zone à rédiger"/>
          <p:cNvSpPr/>
          <p:nvPr/>
        </p:nvSpPr>
        <p:spPr>
          <a:xfrm>
            <a:off x="5943600" y="2872440"/>
            <a:ext cx="5604120" cy="11692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01" name="TextBox 39"/>
          <p:cNvSpPr/>
          <p:nvPr/>
        </p:nvSpPr>
        <p:spPr>
          <a:xfrm>
            <a:off x="5943600" y="42170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02" name="Zone à rédiger"/>
          <p:cNvSpPr/>
          <p:nvPr/>
        </p:nvSpPr>
        <p:spPr>
          <a:xfrm>
            <a:off x="5943600" y="4472640"/>
            <a:ext cx="5604120" cy="6206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03" name="TextBox 41"/>
          <p:cNvSpPr/>
          <p:nvPr/>
        </p:nvSpPr>
        <p:spPr>
          <a:xfrm>
            <a:off x="5943600" y="526860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04" name="Zone à rédiger"/>
          <p:cNvSpPr/>
          <p:nvPr/>
        </p:nvSpPr>
        <p:spPr>
          <a:xfrm>
            <a:off x="5943600" y="5524200"/>
            <a:ext cx="5604120" cy="6012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120" cy="118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04</a:t>
            </a:r>
            <a:endParaRPr b="0" lang="fr-FR" sz="7200" spc="-1" strike="noStrike">
              <a:latin typeface="Arial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2600" cy="164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Construire silver puis gold</a:t>
            </a:r>
            <a:endParaRPr b="0" lang="fr-FR" sz="4200" spc="-1" strike="noStrike"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28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AA7C50C-32CC-42CA-91F1-D8D9D8855FD6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08" name="TextBox 25"/>
          <p:cNvSpPr/>
          <p:nvPr/>
        </p:nvSpPr>
        <p:spPr>
          <a:xfrm>
            <a:off x="640080" y="4892040"/>
            <a:ext cx="6399720" cy="8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  <a:ea typeface="DejaVu Sans"/>
              </a:rPr>
              <a:t>Séance 4 · PySpark · US-21 à 28. Standardiser, mettre en quarantaine, re-mesurer, dédoublonner, construire gold, retracer.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Silver : traitements et quarantaine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 type="sldNum" idx="29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1FC6483-49CD-4342-A123-E99B692B28B3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11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S4 · US-21, 22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12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13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4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15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416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17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Pour chaque traitement :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lignes modifiées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garde-fou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(ce qu'il ne doit pas faire).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L'invariant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silver + rejets = bronze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table par table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avec l'écart.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preuve d'idempotence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le traitement relancé deux fois donne le même résultat.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18" name="Table 32"/>
          <p:cNvGraphicFramePr/>
          <p:nvPr/>
        </p:nvGraphicFramePr>
        <p:xfrm>
          <a:off x="640080" y="2786040"/>
          <a:ext cx="10908360" cy="1389240"/>
        </p:xfrm>
        <a:graphic>
          <a:graphicData uri="http://schemas.openxmlformats.org/drawingml/2006/table">
            <a:tbl>
              <a:tblPr/>
              <a:tblGrid>
                <a:gridCol w="2926080"/>
                <a:gridCol w="1645920"/>
                <a:gridCol w="2011680"/>
                <a:gridCol w="432504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9" name="Table 33"/>
          <p:cNvGraphicFramePr/>
          <p:nvPr/>
        </p:nvGraphicFramePr>
        <p:xfrm>
          <a:off x="640080" y="4313160"/>
          <a:ext cx="10908360" cy="173664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011680"/>
                <a:gridCol w="2011680"/>
                <a:gridCol w="194760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20" name="TextBox 34"/>
          <p:cNvSpPr/>
          <p:nvPr/>
        </p:nvSpPr>
        <p:spPr>
          <a:xfrm>
            <a:off x="640080" y="612360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Preuve d'idempotence et chemins des scripts : à indiquer dans le dépôt.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Rejets par règle et porte S : bronze contre silver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 type="sldNum" idx="30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B110762-F61D-43DE-8D77-FC0C1B09CA6C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23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S4 · US-22, 23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24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25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6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2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428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29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rejets par règle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(dq.rejets) avec la raison métier.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Pour chaque règle : taux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bronze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taux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silver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écart, et 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explication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 toute baisse.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règles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bloquantes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 la porte S : conformes sur silver, ou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pourquoi pas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30" name="Table 32"/>
          <p:cNvGraphicFramePr/>
          <p:nvPr/>
        </p:nvGraphicFramePr>
        <p:xfrm>
          <a:off x="640080" y="2786040"/>
          <a:ext cx="10908360" cy="98676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828800"/>
                <a:gridCol w="587952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1" name="Table 33"/>
          <p:cNvGraphicFramePr/>
          <p:nvPr/>
        </p:nvGraphicFramePr>
        <p:xfrm>
          <a:off x="640080" y="3911040"/>
          <a:ext cx="10908360" cy="197424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63040"/>
                <a:gridCol w="1463040"/>
                <a:gridCol w="1188720"/>
                <a:gridCol w="432504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Dédoublonnage : paramètres et mesures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 type="sldNum" idx="31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6924F3A-B604-435A-A61C-8C352D703B5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34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S4 · US-24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35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36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7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3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439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40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paramètres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retenus (normalisation, clés de blocage, similarité, seuils) avec leur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justification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Précision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rappel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mesurés sur les 200 paires étiquetées ; nombre d'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identités distinctes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obtenu.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41" name="Table 32"/>
          <p:cNvGraphicFramePr/>
          <p:nvPr/>
        </p:nvGraphicFramePr>
        <p:xfrm>
          <a:off x="640080" y="2534040"/>
          <a:ext cx="10908360" cy="1755000"/>
        </p:xfrm>
        <a:graphic>
          <a:graphicData uri="http://schemas.openxmlformats.org/drawingml/2006/table">
            <a:tbl>
              <a:tblPr/>
              <a:tblGrid>
                <a:gridCol w="3291840"/>
                <a:gridCol w="2926080"/>
                <a:gridCol w="4690800"/>
              </a:tblGrid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2" name="Table 33"/>
          <p:cNvGraphicFramePr/>
          <p:nvPr/>
        </p:nvGraphicFramePr>
        <p:xfrm>
          <a:off x="640080" y="4399560"/>
          <a:ext cx="8229240" cy="1699920"/>
        </p:xfrm>
        <a:graphic>
          <a:graphicData uri="http://schemas.openxmlformats.org/drawingml/2006/table">
            <a:tbl>
              <a:tblPr/>
              <a:tblGrid>
                <a:gridCol w="5486400"/>
                <a:gridCol w="2743200"/>
              </a:tblGrid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43" name="TextBox 34"/>
          <p:cNvSpPr/>
          <p:nvPr/>
        </p:nvSpPr>
        <p:spPr>
          <a:xfrm>
            <a:off x="9052560" y="4436640"/>
            <a:ext cx="2495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ZONE DE REVUE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44" name="Zone à rédiger"/>
          <p:cNvSpPr/>
          <p:nvPr/>
        </p:nvSpPr>
        <p:spPr>
          <a:xfrm>
            <a:off x="9052560" y="4692240"/>
            <a:ext cx="2495160" cy="14331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[Règle de décision proposée]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Golden record de la Société Meunier et règle de survie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 type="sldNum" idx="32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3CFAD4-EE60-48DB-A7DB-4ED31D439E04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47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S4 · US-25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48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49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0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51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452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53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Un seul CLI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pour les quatre identifiants de la Société Meunier.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règle de survie par attribut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et un cas où elle se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trompe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54" name="Table 32"/>
          <p:cNvGraphicFramePr/>
          <p:nvPr/>
        </p:nvGraphicFramePr>
        <p:xfrm>
          <a:off x="640080" y="2534040"/>
          <a:ext cx="6949080" cy="150804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219456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5" name="Table 33"/>
          <p:cNvGraphicFramePr/>
          <p:nvPr/>
        </p:nvGraphicFramePr>
        <p:xfrm>
          <a:off x="640080" y="4225680"/>
          <a:ext cx="10908000" cy="159984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748680"/>
                <a:gridCol w="3502080"/>
              </a:tblGrid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56" name="TextBox 34"/>
          <p:cNvSpPr/>
          <p:nvPr/>
        </p:nvSpPr>
        <p:spPr>
          <a:xfrm>
            <a:off x="640080" y="589788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Reportez la règle de survie dans le journal des décisions, avec le rôle qui l'a décidée.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Gold : tables cohérentes et client actif unique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sldNum" idx="33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A9A072F-8530-44CF-81D7-A6EF8B7F5E3C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59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S4 · US-27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60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61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2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63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464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65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lignes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 chaque table gold,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lignes écartées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à la porte G et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règles responsables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Aucun orphelin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dans gold ; client actif publié par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vue unique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v_client_actif.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effet de la quarantaine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en aval : un client écarté laisse-t-il des contrats orphelins ?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66" name="Table 32"/>
          <p:cNvGraphicFramePr/>
          <p:nvPr/>
        </p:nvGraphicFramePr>
        <p:xfrm>
          <a:off x="640080" y="2786040"/>
          <a:ext cx="10908360" cy="173664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2560320"/>
                <a:gridCol w="39592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67" name="TextBox 33"/>
          <p:cNvSpPr/>
          <p:nvPr/>
        </p:nvSpPr>
        <p:spPr>
          <a:xfrm>
            <a:off x="640080" y="4697640"/>
            <a:ext cx="534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ORPHELINS ET CLIENT ACTIF PUBLIÉ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68" name="Zone à rédiger"/>
          <p:cNvSpPr/>
          <p:nvPr/>
        </p:nvSpPr>
        <p:spPr>
          <a:xfrm>
            <a:off x="640080" y="4953240"/>
            <a:ext cx="5348160" cy="11721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[Chiffres, écart avec CD-001]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69" name="TextBox 35"/>
          <p:cNvSpPr/>
          <p:nvPr/>
        </p:nvSpPr>
        <p:spPr>
          <a:xfrm>
            <a:off x="6199560" y="4697640"/>
            <a:ext cx="534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EFFET DE LA QUARANTAINE SUR L'INTÉGRITÉ EN AVAL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70" name="Zone à rédiger"/>
          <p:cNvSpPr/>
          <p:nvPr/>
        </p:nvSpPr>
        <p:spPr>
          <a:xfrm>
            <a:off x="6199560" y="4953240"/>
            <a:ext cx="5348160" cy="11721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Retracer trois données de gold jusqu'à la source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472" name="PlaceHolder 2"/>
          <p:cNvSpPr>
            <a:spLocks noGrp="1"/>
          </p:cNvSpPr>
          <p:nvPr>
            <p:ph type="sldNum" idx="34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B333226-1CBF-4DD6-AA9E-64CFB16D5654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73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S4 · US-28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74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75" name="Attendu"/>
          <p:cNvSpPr/>
          <p:nvPr/>
        </p:nvSpPr>
        <p:spPr>
          <a:xfrm>
            <a:off x="640080" y="1325880"/>
            <a:ext cx="10907640" cy="12841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Attendu barre"/>
          <p:cNvSpPr/>
          <p:nvPr/>
        </p:nvSpPr>
        <p:spPr>
          <a:xfrm>
            <a:off x="640080" y="1325880"/>
            <a:ext cx="81360" cy="12841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7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478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79" name="TextBox 31"/>
          <p:cNvSpPr/>
          <p:nvPr/>
        </p:nvSpPr>
        <p:spPr>
          <a:xfrm>
            <a:off x="914400" y="1783080"/>
            <a:ext cx="1035900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Pour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chacune des trois données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la valeur dans gold, les identifiants de ligne silver et bronze (avec le lot), la source (table, clé).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requête de traçabilité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est dans le dépôt.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80" name="Table 32"/>
          <p:cNvGraphicFramePr/>
          <p:nvPr/>
        </p:nvGraphicFramePr>
        <p:xfrm>
          <a:off x="640080" y="2793960"/>
          <a:ext cx="10908360" cy="1828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194560"/>
                <a:gridCol w="2377440"/>
                <a:gridCol w="1947600"/>
              </a:tblGrid>
              <a:tr h="4572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4572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572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572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81" name="TextBox 33"/>
          <p:cNvSpPr/>
          <p:nvPr/>
        </p:nvSpPr>
        <p:spPr>
          <a:xfrm>
            <a:off x="640080" y="5890320"/>
            <a:ext cx="109076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200" spc="-1" strike="noStrike">
                <a:solidFill>
                  <a:srgbClr val="b8c0c8"/>
                </a:solidFill>
                <a:latin typeface="Inter"/>
                <a:ea typeface="DejaVu Sans"/>
              </a:rPr>
              <a:t>Preuve (chemin du notebook, du fichier ou de la requête dans le dépôt) : </a:t>
            </a:r>
            <a:r>
              <a:rPr b="1" lang="fr-FR" sz="1200" spc="-1" strike="noStrike">
                <a:solidFill>
                  <a:srgbClr val="f5a623"/>
                </a:solidFill>
                <a:latin typeface="Inter"/>
                <a:ea typeface="DejaVu Sans"/>
              </a:rPr>
              <a:t>…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S4 : critères de fin et difficultés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 type="sldNum" idx="35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3E9BD24-8619-44AD-B54E-3E08F1EDA328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84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S4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85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86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7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8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489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90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491" name="Rectangle 32"/>
          <p:cNvSpPr/>
          <p:nvPr/>
        </p:nvSpPr>
        <p:spPr>
          <a:xfrm>
            <a:off x="640080" y="2579760"/>
            <a:ext cx="5119560" cy="354564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92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09960" cy="309960"/>
          </a:xfrm>
          <a:prstGeom prst="rect">
            <a:avLst/>
          </a:prstGeom>
          <a:ln w="0">
            <a:noFill/>
          </a:ln>
        </p:spPr>
      </p:pic>
      <p:sp>
        <p:nvSpPr>
          <p:cNvPr id="493" name="TextBox 34"/>
          <p:cNvSpPr/>
          <p:nvPr/>
        </p:nvSpPr>
        <p:spPr>
          <a:xfrm>
            <a:off x="1289160" y="2783160"/>
            <a:ext cx="45709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1" strike="noStrike">
                <a:solidFill>
                  <a:srgbClr val="f7f6f2"/>
                </a:solidFill>
                <a:latin typeface="Inter"/>
                <a:ea typeface="DejaVu Sans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494" name="TextBox 35"/>
          <p:cNvSpPr/>
          <p:nvPr/>
        </p:nvSpPr>
        <p:spPr>
          <a:xfrm>
            <a:off x="868680" y="3219840"/>
            <a:ext cx="4662360" cy="24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Pour chaque table, silver + rejets = bronze, sans suppression silencieuse.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Relancer le traitement deux fois donne le même résultat.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Les règles bloquantes de la porte S sont conformes sur silver.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Le gold ne contient aucun orphelin ; le client actif est publié par une seule vue.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Les trois traces remontent du gold à la source avec identifiants de ligne et de lot.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495" name="TextBox 36"/>
          <p:cNvSpPr/>
          <p:nvPr/>
        </p:nvSpPr>
        <p:spPr>
          <a:xfrm>
            <a:off x="640080" y="585216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96" name="TextBox 37"/>
          <p:cNvSpPr/>
          <p:nvPr/>
        </p:nvSpPr>
        <p:spPr>
          <a:xfrm>
            <a:off x="5943600" y="26168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97" name="Zone à rédiger"/>
          <p:cNvSpPr/>
          <p:nvPr/>
        </p:nvSpPr>
        <p:spPr>
          <a:xfrm>
            <a:off x="5943600" y="2872440"/>
            <a:ext cx="5604120" cy="11692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98" name="TextBox 39"/>
          <p:cNvSpPr/>
          <p:nvPr/>
        </p:nvSpPr>
        <p:spPr>
          <a:xfrm>
            <a:off x="5943600" y="42170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99" name="Zone à rédiger"/>
          <p:cNvSpPr/>
          <p:nvPr/>
        </p:nvSpPr>
        <p:spPr>
          <a:xfrm>
            <a:off x="5943600" y="4472640"/>
            <a:ext cx="5604120" cy="6206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00" name="TextBox 41"/>
          <p:cNvSpPr/>
          <p:nvPr/>
        </p:nvSpPr>
        <p:spPr>
          <a:xfrm>
            <a:off x="5943600" y="526860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01" name="Zone à rédiger"/>
          <p:cNvSpPr/>
          <p:nvPr/>
        </p:nvSpPr>
        <p:spPr>
          <a:xfrm>
            <a:off x="5943600" y="5524200"/>
            <a:ext cx="5604120" cy="6012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120" cy="118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05</a:t>
            </a:r>
            <a:endParaRPr b="0" lang="fr-FR" sz="7200" spc="-1" strike="noStrike">
              <a:latin typeface="Arial"/>
            </a:endParaRPr>
          </a:p>
        </p:txBody>
      </p:sp>
      <p:sp>
        <p:nvSpPr>
          <p:cNvPr id="503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2600" cy="164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Certifier, publier, gouverner</a:t>
            </a:r>
            <a:endParaRPr b="0" lang="fr-FR" sz="4200" spc="-1" strike="noStrike"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36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EA287B2-DA62-424B-8441-71BBABE6158D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05" name="TextBox 25"/>
          <p:cNvSpPr/>
          <p:nvPr/>
        </p:nvSpPr>
        <p:spPr>
          <a:xfrm>
            <a:off x="640080" y="4892040"/>
            <a:ext cx="6399720" cy="5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  <a:ea typeface="DejaVu Sans"/>
              </a:rPr>
              <a:t>Séance 5 · Porte C · US-29 à 35. Historique sur trois couches, certificat, publication refusée puis acceptée, catalogue.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Historique des mesures et courbes d'évolution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 type="sldNum" idx="37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A5BF431-A60E-477C-B5D6-2DC5534FDF26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08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S5 · US-29, 30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09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10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1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12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513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14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Une mesure par couche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où la règle s'applique, pour chaque règle ; les couches non applicables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justifiées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Toute règle qui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descend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d'une couche à l'autre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expliquée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(filtre, conversion, effet de la quarantaine).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courbe par dimension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(image insérée ci-dessous).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515" name="Table 32"/>
          <p:cNvGraphicFramePr/>
          <p:nvPr/>
        </p:nvGraphicFramePr>
        <p:xfrm>
          <a:off x="640080" y="2786040"/>
          <a:ext cx="10908360" cy="197424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05840"/>
                <a:gridCol w="1005840"/>
                <a:gridCol w="1005840"/>
                <a:gridCol w="1371600"/>
                <a:gridCol w="405072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516" name="TextBox 33"/>
          <p:cNvSpPr/>
          <p:nvPr/>
        </p:nvSpPr>
        <p:spPr>
          <a:xfrm>
            <a:off x="640080" y="493560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COURBES (INSÉREZ L'IMAGE, CHEMIN DU FICHIER DANS LE DÉPÔT)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17" name="Zone à rédiger"/>
          <p:cNvSpPr/>
          <p:nvPr/>
        </p:nvSpPr>
        <p:spPr>
          <a:xfrm>
            <a:off x="640080" y="5191200"/>
            <a:ext cx="10907640" cy="9342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[Insérez ici les courbes par dimension et par couche]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Certificat de qualité : GO ou NO_GO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 type="sldNum" idx="38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B8C4DE2-4263-4C31-9C69-10AFE20A8A3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20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S5 · US-31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21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22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3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24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525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26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 certificat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produit par requête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lié à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empreinte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du gold.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épreuve du NO_GO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lot volontairement dégradé, décision obtenue, preuve.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règles bloquantes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non mesurées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votre pipeline, donc non couvertes.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527" name="Table 32"/>
          <p:cNvGraphicFramePr/>
          <p:nvPr/>
        </p:nvGraphicFramePr>
        <p:xfrm>
          <a:off x="640080" y="2786040"/>
          <a:ext cx="6949080" cy="2340000"/>
        </p:xfrm>
        <a:graphic>
          <a:graphicData uri="http://schemas.openxmlformats.org/drawingml/2006/table">
            <a:tbl>
              <a:tblPr/>
              <a:tblGrid>
                <a:gridCol w="4023360"/>
                <a:gridCol w="2926080"/>
              </a:tblGrid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41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528" name="TextBox 33"/>
          <p:cNvSpPr/>
          <p:nvPr/>
        </p:nvSpPr>
        <p:spPr>
          <a:xfrm>
            <a:off x="7863840" y="2823120"/>
            <a:ext cx="368388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ÉPREUVE DU NO_GO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29" name="Zone à rédiger"/>
          <p:cNvSpPr/>
          <p:nvPr/>
        </p:nvSpPr>
        <p:spPr>
          <a:xfrm>
            <a:off x="7863840" y="3078720"/>
            <a:ext cx="3683880" cy="20836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[Comment dégradé, décision, preuve]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30" name="TextBox 35"/>
          <p:cNvSpPr/>
          <p:nvPr/>
        </p:nvSpPr>
        <p:spPr>
          <a:xfrm>
            <a:off x="640080" y="525564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RÈGLES NON COUVERTES PAR LE CERTIFICAT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31" name="Zone à rédiger"/>
          <p:cNvSpPr/>
          <p:nvPr/>
        </p:nvSpPr>
        <p:spPr>
          <a:xfrm>
            <a:off x="640080" y="5511240"/>
            <a:ext cx="10907640" cy="6141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Publication vers le CRM : refus, chargement, réconciliation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 type="sldNum" idx="39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4679B44-ADF9-4448-AD3D-05027813169A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34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S5 · US-32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35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36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7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3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539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40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quatre scénarios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avec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message obtenu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sans certificat, NO_GO, gold modifié, GO.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réconciliation RQ-025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après chargement : comptage et somme de contrôle, gold contre CRM cible.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 chargement est-il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tout-ou-rien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? Comment l'avez-vous vérifié ?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541" name="Table 32"/>
          <p:cNvGraphicFramePr/>
          <p:nvPr/>
        </p:nvGraphicFramePr>
        <p:xfrm>
          <a:off x="640080" y="2786040"/>
          <a:ext cx="10908360" cy="173664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1554480"/>
                <a:gridCol w="222192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42" name="Table 33"/>
          <p:cNvGraphicFramePr/>
          <p:nvPr/>
        </p:nvGraphicFramePr>
        <p:xfrm>
          <a:off x="640080" y="4633200"/>
          <a:ext cx="10908360" cy="131616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2011680"/>
                <a:gridCol w="1828800"/>
                <a:gridCol w="2011680"/>
                <a:gridCol w="149040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543" name="TextBox 34"/>
          <p:cNvSpPr/>
          <p:nvPr/>
        </p:nvSpPr>
        <p:spPr>
          <a:xfrm>
            <a:off x="640080" y="602316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Tout-ou-rien : décrivez en une ligne comment vous l'avez vérifié, et le chemin du script de publication.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Gouvernance : catalogue, propriétaires, lineage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 type="sldNum" idx="40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8FF8A2-55EE-4634-8FB2-3E9018C4730C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46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S5 · US-34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47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48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9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5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551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52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fiche de catalogue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 gold.client_unique : propriétaire, steward, définition, règles rattachées.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lineage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de gold.client_unique jusqu'aux sources.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553" name="Table 32"/>
          <p:cNvGraphicFramePr/>
          <p:nvPr/>
        </p:nvGraphicFramePr>
        <p:xfrm>
          <a:off x="640080" y="2534040"/>
          <a:ext cx="10908360" cy="1919520"/>
        </p:xfrm>
        <a:graphic>
          <a:graphicData uri="http://schemas.openxmlformats.org/drawingml/2006/table">
            <a:tbl>
              <a:tblPr/>
              <a:tblGrid>
                <a:gridCol w="4206240"/>
                <a:gridCol w="6702480"/>
              </a:tblGrid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8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554" name="TextBox 33"/>
          <p:cNvSpPr/>
          <p:nvPr/>
        </p:nvSpPr>
        <p:spPr>
          <a:xfrm>
            <a:off x="640080" y="467424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LINEAGE DE GOLD.CLIENT_UNIQUE (LISTE OU SCHÉMA)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55" name="Zone à rédiger"/>
          <p:cNvSpPr/>
          <p:nvPr/>
        </p:nvSpPr>
        <p:spPr>
          <a:xfrm>
            <a:off x="640080" y="4929840"/>
            <a:ext cx="10907640" cy="11955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[Insérez un schéma ou une liste : sources, bronze, silver, xref, gold]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S5 : critères de fin et difficultés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 type="sldNum" idx="41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3821623-A20F-4CB0-AEC8-687FAE020879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58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S5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59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60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1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62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563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64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65" name="Rectangle 32"/>
          <p:cNvSpPr/>
          <p:nvPr/>
        </p:nvSpPr>
        <p:spPr>
          <a:xfrm>
            <a:off x="640080" y="2579760"/>
            <a:ext cx="5119560" cy="354564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66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09960" cy="309960"/>
          </a:xfrm>
          <a:prstGeom prst="rect">
            <a:avLst/>
          </a:prstGeom>
          <a:ln w="0">
            <a:noFill/>
          </a:ln>
        </p:spPr>
      </p:pic>
      <p:sp>
        <p:nvSpPr>
          <p:cNvPr id="567" name="TextBox 34"/>
          <p:cNvSpPr/>
          <p:nvPr/>
        </p:nvSpPr>
        <p:spPr>
          <a:xfrm>
            <a:off x="1289160" y="2783160"/>
            <a:ext cx="45709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1" strike="noStrike">
                <a:solidFill>
                  <a:srgbClr val="f7f6f2"/>
                </a:solidFill>
                <a:latin typeface="Inter"/>
                <a:ea typeface="DejaVu Sans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68" name="TextBox 35"/>
          <p:cNvSpPr/>
          <p:nvPr/>
        </p:nvSpPr>
        <p:spPr>
          <a:xfrm>
            <a:off x="868680" y="3219840"/>
            <a:ext cx="4662360" cy="191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Un lot volontairement dégradé produit un NO_GO, le lot nominal un GO.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La publication refuse sans certificat, avec NO_GO, et quand le gold a changé.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Après chargement, comptage et somme de contrôle sont égaux entre gold et CRM cible.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  <a:ea typeface="DejaVu Sans"/>
              </a:rPr>
              <a:t> Chaque décision de seuil ou de sévérité est attribuée à un rôle.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569" name="TextBox 36"/>
          <p:cNvSpPr/>
          <p:nvPr/>
        </p:nvSpPr>
        <p:spPr>
          <a:xfrm>
            <a:off x="640080" y="585216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70" name="TextBox 37"/>
          <p:cNvSpPr/>
          <p:nvPr/>
        </p:nvSpPr>
        <p:spPr>
          <a:xfrm>
            <a:off x="5943600" y="26168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71" name="Zone à rédiger"/>
          <p:cNvSpPr/>
          <p:nvPr/>
        </p:nvSpPr>
        <p:spPr>
          <a:xfrm>
            <a:off x="5943600" y="2872440"/>
            <a:ext cx="5604120" cy="11692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72" name="TextBox 39"/>
          <p:cNvSpPr/>
          <p:nvPr/>
        </p:nvSpPr>
        <p:spPr>
          <a:xfrm>
            <a:off x="5943600" y="421704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73" name="Zone à rédiger"/>
          <p:cNvSpPr/>
          <p:nvPr/>
        </p:nvSpPr>
        <p:spPr>
          <a:xfrm>
            <a:off x="5943600" y="4472640"/>
            <a:ext cx="5604120" cy="6206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74" name="TextBox 41"/>
          <p:cNvSpPr/>
          <p:nvPr/>
        </p:nvSpPr>
        <p:spPr>
          <a:xfrm>
            <a:off x="5943600" y="5268600"/>
            <a:ext cx="56041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75" name="Zone à rédiger"/>
          <p:cNvSpPr/>
          <p:nvPr/>
        </p:nvSpPr>
        <p:spPr>
          <a:xfrm>
            <a:off x="5943600" y="5524200"/>
            <a:ext cx="5604120" cy="6012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120" cy="118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06</a:t>
            </a:r>
            <a:endParaRPr b="0" lang="fr-FR" sz="7200" spc="-1" strike="noStrike"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2600" cy="164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Dossier go/no-go</a:t>
            </a:r>
            <a:endParaRPr b="0" lang="fr-FR" sz="4200" spc="-1" strike="noStrike">
              <a:latin typeface="Arial"/>
            </a:endParaRPr>
          </a:p>
        </p:txBody>
      </p:sp>
      <p:sp>
        <p:nvSpPr>
          <p:cNvPr id="578" name="PlaceHolder 3"/>
          <p:cNvSpPr>
            <a:spLocks noGrp="1"/>
          </p:cNvSpPr>
          <p:nvPr>
            <p:ph type="sldNum" idx="42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EA1336E-2F0B-495A-B32C-8C3706669054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79" name="TextBox 25"/>
          <p:cNvSpPr/>
          <p:nvPr/>
        </p:nvSpPr>
        <p:spPr>
          <a:xfrm>
            <a:off x="640080" y="4892040"/>
            <a:ext cx="6399720" cy="5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  <a:ea typeface="DejaVu Sans"/>
              </a:rPr>
              <a:t>Destinataire : la Directrice Générale. Un rapport court, sans jargon, quatre pages au plus hors annexes.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Recommandation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 type="sldNum" idx="43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2F8BBB6-20CC-44FB-A403-2B55069021FF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82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DOSSIER · 1 SUR 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83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84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5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86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587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88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recommandation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GO, NO-GO ou GO sous conditions, dite en une phrase.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Trois raisons chiffrées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chacune avec sa preuve dans le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Lisible par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non-technicienne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aucun sigle sans définition.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89" name="TextBox 32"/>
          <p:cNvSpPr/>
          <p:nvPr/>
        </p:nvSpPr>
        <p:spPr>
          <a:xfrm>
            <a:off x="640080" y="286884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RECOMMANDATION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90" name="Zone à rédiger"/>
          <p:cNvSpPr/>
          <p:nvPr/>
        </p:nvSpPr>
        <p:spPr>
          <a:xfrm>
            <a:off x="640080" y="3124440"/>
            <a:ext cx="10907640" cy="8035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[GO, NO-GO ou GO sous conditions : une phrase]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91" name="TextBox 34"/>
          <p:cNvSpPr/>
          <p:nvPr/>
        </p:nvSpPr>
        <p:spPr>
          <a:xfrm>
            <a:off x="640080" y="4103280"/>
            <a:ext cx="35132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RAISON CHIFFRÉE 1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92" name="Zone à rédiger"/>
          <p:cNvSpPr/>
          <p:nvPr/>
        </p:nvSpPr>
        <p:spPr>
          <a:xfrm>
            <a:off x="640080" y="4358880"/>
            <a:ext cx="3513240" cy="17665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[Chiffre, couche, preuve]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93" name="TextBox 36"/>
          <p:cNvSpPr/>
          <p:nvPr/>
        </p:nvSpPr>
        <p:spPr>
          <a:xfrm>
            <a:off x="4337280" y="4103280"/>
            <a:ext cx="35132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RAISON CHIFFRÉE 2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94" name="Zone à rédiger"/>
          <p:cNvSpPr/>
          <p:nvPr/>
        </p:nvSpPr>
        <p:spPr>
          <a:xfrm>
            <a:off x="4337280" y="4358880"/>
            <a:ext cx="3513240" cy="17665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[Chiffre, couche, preuve]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95" name="TextBox 38"/>
          <p:cNvSpPr/>
          <p:nvPr/>
        </p:nvSpPr>
        <p:spPr>
          <a:xfrm>
            <a:off x="8034480" y="4103280"/>
            <a:ext cx="35132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RAISON CHIFFRÉE 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96" name="Zone à rédiger"/>
          <p:cNvSpPr/>
          <p:nvPr/>
        </p:nvSpPr>
        <p:spPr>
          <a:xfrm>
            <a:off x="8034480" y="4358880"/>
            <a:ext cx="3513240" cy="17665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[Chiffre, couche, preuve]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Les preuves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 type="sldNum" idx="44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396F27-16CC-4679-86E1-BF1C8B4EE888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99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DOSSIER · 2 SUR 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00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01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2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03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604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5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qualité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par dimension et par couche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face au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seuil visé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certificat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joint (numéro, décision, empreinte) et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trois données retracées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en trois lignes.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06" name="Table 32"/>
          <p:cNvGraphicFramePr/>
          <p:nvPr/>
        </p:nvGraphicFramePr>
        <p:xfrm>
          <a:off x="640080" y="2534040"/>
          <a:ext cx="10908360" cy="182844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1645920"/>
                <a:gridCol w="1645920"/>
                <a:gridCol w="1737360"/>
                <a:gridCol w="185616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07" name="TextBox 33"/>
          <p:cNvSpPr/>
          <p:nvPr/>
        </p:nvSpPr>
        <p:spPr>
          <a:xfrm>
            <a:off x="640080" y="4537080"/>
            <a:ext cx="534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CERTIFICAT JOINT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08" name="Zone à rédiger"/>
          <p:cNvSpPr/>
          <p:nvPr/>
        </p:nvSpPr>
        <p:spPr>
          <a:xfrm>
            <a:off x="640080" y="4792680"/>
            <a:ext cx="5348160" cy="13327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[Numéro, décision, empreinte]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9" name="TextBox 35"/>
          <p:cNvSpPr/>
          <p:nvPr/>
        </p:nvSpPr>
        <p:spPr>
          <a:xfrm>
            <a:off x="6199560" y="4537080"/>
            <a:ext cx="534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TROIS DONNÉES RETRACÉES, EN TROIS LIGNES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10" name="Zone à rédiger"/>
          <p:cNvSpPr/>
          <p:nvPr/>
        </p:nvSpPr>
        <p:spPr>
          <a:xfrm>
            <a:off x="6199560" y="4792680"/>
            <a:ext cx="5348160" cy="13327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Les écarts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612" name="PlaceHolder 2"/>
          <p:cNvSpPr>
            <a:spLocks noGrp="1"/>
          </p:cNvSpPr>
          <p:nvPr>
            <p:ph type="sldNum" idx="45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7AC326F-EC5A-49B5-8E4E-867DD08DD856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13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DOSSIER · 3 SUR 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14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15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6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1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618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19" name="TextBox 31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anomalies résiduelles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chiffrées, les lignes en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quarantaine par règle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avertissements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restants.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hypothèses à faire valider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par le métier : listées, jamais cachées.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20" name="Table 32"/>
          <p:cNvGraphicFramePr/>
          <p:nvPr/>
        </p:nvGraphicFramePr>
        <p:xfrm>
          <a:off x="640080" y="2534040"/>
          <a:ext cx="10908360" cy="182844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280160"/>
                <a:gridCol w="3136320"/>
                <a:gridCol w="192024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21" name="TextBox 33"/>
          <p:cNvSpPr/>
          <p:nvPr/>
        </p:nvSpPr>
        <p:spPr>
          <a:xfrm>
            <a:off x="640080" y="453708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HYPOTHÈSES À FAIRE VALIDER PAR LE MÉTIER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22" name="Zone à rédiger"/>
          <p:cNvSpPr/>
          <p:nvPr/>
        </p:nvSpPr>
        <p:spPr>
          <a:xfrm>
            <a:off x="640080" y="4792680"/>
            <a:ext cx="10907640" cy="13327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[Listez-les, une par ligne]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La décision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624" name="PlaceHolder 2"/>
          <p:cNvSpPr>
            <a:spLocks noGrp="1"/>
          </p:cNvSpPr>
          <p:nvPr>
            <p:ph type="sldNum" idx="46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2483DAF-88DF-4041-9257-45D6D2368281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25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DOSSIER · 4 SUR 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26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27" name="Attendu"/>
          <p:cNvSpPr/>
          <p:nvPr/>
        </p:nvSpPr>
        <p:spPr>
          <a:xfrm>
            <a:off x="640080" y="1325880"/>
            <a:ext cx="10907640" cy="1321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8" name="Attendu barre"/>
          <p:cNvSpPr/>
          <p:nvPr/>
        </p:nvSpPr>
        <p:spPr>
          <a:xfrm>
            <a:off x="640080" y="1325880"/>
            <a:ext cx="81360" cy="1321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2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630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31" name="TextBox 31"/>
          <p:cNvSpPr/>
          <p:nvPr/>
        </p:nvSpPr>
        <p:spPr>
          <a:xfrm>
            <a:off x="914400" y="1783080"/>
            <a:ext cx="1035900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seuils retenus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justifiés devant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Data Owner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(numéros du journal des décisions).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rôles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qui décide, qui contrôle, qui exécute ;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conditions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à lever, avec échéance et responsable.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signature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du Data Owner.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632" name="TextBox 32"/>
          <p:cNvSpPr/>
          <p:nvPr/>
        </p:nvSpPr>
        <p:spPr>
          <a:xfrm>
            <a:off x="640080" y="2868840"/>
            <a:ext cx="534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SEUILS RETENUS ET JUSTIFICATION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33" name="Zone à rédiger"/>
          <p:cNvSpPr/>
          <p:nvPr/>
        </p:nvSpPr>
        <p:spPr>
          <a:xfrm>
            <a:off x="640080" y="3124440"/>
            <a:ext cx="5348160" cy="10778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[Renvoi au journal, numéros]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34" name="TextBox 34"/>
          <p:cNvSpPr/>
          <p:nvPr/>
        </p:nvSpPr>
        <p:spPr>
          <a:xfrm>
            <a:off x="6199560" y="2868840"/>
            <a:ext cx="534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RÔLES : DÉCIDE, CONTRÔLE, EXÉCUTE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35" name="Zone à rédiger"/>
          <p:cNvSpPr/>
          <p:nvPr/>
        </p:nvSpPr>
        <p:spPr>
          <a:xfrm>
            <a:off x="6199560" y="3124440"/>
            <a:ext cx="5348160" cy="10778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graphicFrame>
        <p:nvGraphicFramePr>
          <p:cNvPr id="636" name="Table 36"/>
          <p:cNvGraphicFramePr/>
          <p:nvPr/>
        </p:nvGraphicFramePr>
        <p:xfrm>
          <a:off x="640080" y="4340520"/>
          <a:ext cx="10908360" cy="1041840"/>
        </p:xfrm>
        <a:graphic>
          <a:graphicData uri="http://schemas.openxmlformats.org/drawingml/2006/table">
            <a:tbl>
              <a:tblPr/>
              <a:tblGrid>
                <a:gridCol w="6217920"/>
                <a:gridCol w="2560320"/>
                <a:gridCol w="21304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37" name="TextBox 37"/>
          <p:cNvSpPr/>
          <p:nvPr/>
        </p:nvSpPr>
        <p:spPr>
          <a:xfrm>
            <a:off x="640080" y="5557320"/>
            <a:ext cx="10907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1" strike="noStrike">
                <a:solidFill>
                  <a:srgbClr val="f5a623"/>
                </a:solidFill>
                <a:latin typeface="Inter"/>
                <a:ea typeface="DejaVu Sans"/>
              </a:rPr>
              <a:t>SIGNATURE DU DATA OWNER (NOM, RÔLE, DATE)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38" name="Zone à rédiger"/>
          <p:cNvSpPr/>
          <p:nvPr/>
        </p:nvSpPr>
        <p:spPr>
          <a:xfrm>
            <a:off x="640080" y="5812920"/>
            <a:ext cx="10907640" cy="3124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  <a:ea typeface="DejaVu Sans"/>
              </a:rPr>
              <a:t>[Nom, rôle, date]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120" cy="118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07</a:t>
            </a:r>
            <a:endParaRPr b="0" lang="fr-FR" sz="7200" spc="-1" strike="noStrike"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2600" cy="164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Annexes</a:t>
            </a:r>
            <a:endParaRPr b="0" lang="fr-FR" sz="4200" spc="-1" strike="noStrike"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47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A4D38B7-2239-48FA-AE07-2BD53324AAB1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42" name="TextBox 25"/>
          <p:cNvSpPr/>
          <p:nvPr/>
        </p:nvSpPr>
        <p:spPr>
          <a:xfrm>
            <a:off x="640080" y="4892040"/>
            <a:ext cx="6399720" cy="5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  <a:ea typeface="DejaVu Sans"/>
              </a:rPr>
              <a:t>Journal des décisions, avancement par story, liens vers le dépôt.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Journal des décisions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 type="sldNum" idx="48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228F2F-0506-4AAC-8499-F81D0937391D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45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ANNEXE A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46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47" name="Attendu"/>
          <p:cNvSpPr/>
          <p:nvPr/>
        </p:nvSpPr>
        <p:spPr>
          <a:xfrm>
            <a:off x="640080" y="1325880"/>
            <a:ext cx="10907640" cy="12841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8" name="Attendu barre"/>
          <p:cNvSpPr/>
          <p:nvPr/>
        </p:nvSpPr>
        <p:spPr>
          <a:xfrm>
            <a:off x="640080" y="1325880"/>
            <a:ext cx="81360" cy="12841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4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650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51" name="TextBox 31"/>
          <p:cNvSpPr/>
          <p:nvPr/>
        </p:nvSpPr>
        <p:spPr>
          <a:xfrm>
            <a:off x="914400" y="1783080"/>
            <a:ext cx="1035900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seuil, sévérité, définition ou règle de survie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: date, séance, règle, décision,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justification chiffrée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rôle décideur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, alternative écartée.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Une décision sans rôle ni chiffre n'est pas une décision.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52" name="Table 32"/>
          <p:cNvGraphicFramePr/>
          <p:nvPr/>
        </p:nvGraphicFramePr>
        <p:xfrm>
          <a:off x="640080" y="2748240"/>
          <a:ext cx="10908360" cy="243144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822960"/>
                <a:gridCol w="1371600"/>
                <a:gridCol w="2377440"/>
                <a:gridCol w="2194560"/>
                <a:gridCol w="1188720"/>
                <a:gridCol w="16732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53" name="TextBox 33"/>
          <p:cNvSpPr/>
          <p:nvPr/>
        </p:nvSpPr>
        <p:spPr>
          <a:xfrm>
            <a:off x="640080" y="525348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Ajoutez des lignes si nécessaire. Exemples : sévérité d'une règle, seuil d'avertissement, convention de la sentinelle, seuils de rapprochement, règle de survie, seuil de la porte G.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Avancement par story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655" name="PlaceHolder 2"/>
          <p:cNvSpPr>
            <a:spLocks noGrp="1"/>
          </p:cNvSpPr>
          <p:nvPr>
            <p:ph type="sldNum" idx="49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0AB00AD-2411-4CBC-A51B-EF50B8794F7A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56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ANNEXE B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57" name="TextBox 26"/>
          <p:cNvSpPr/>
          <p:nvPr/>
        </p:nvSpPr>
        <p:spPr>
          <a:xfrm>
            <a:off x="6976800" y="291960"/>
            <a:ext cx="4570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1" strike="noStrike">
                <a:solidFill>
                  <a:srgbClr val="0f9b8e"/>
                </a:solidFill>
                <a:latin typeface="Inter"/>
                <a:ea typeface="DejaVu Sans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58" name="Attendu"/>
          <p:cNvSpPr/>
          <p:nvPr/>
        </p:nvSpPr>
        <p:spPr>
          <a:xfrm>
            <a:off x="640080" y="1325880"/>
            <a:ext cx="10907640" cy="103176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9" name="Attendu barre"/>
          <p:cNvSpPr/>
          <p:nvPr/>
        </p:nvSpPr>
        <p:spPr>
          <a:xfrm>
            <a:off x="640080" y="1325880"/>
            <a:ext cx="81360" cy="103176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6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661" name="TextBox 30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62" name="TextBox 31"/>
          <p:cNvSpPr/>
          <p:nvPr/>
        </p:nvSpPr>
        <p:spPr>
          <a:xfrm>
            <a:off x="914400" y="1783080"/>
            <a:ext cx="103590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Une ligne par story :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statut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(Fait, En cours, Bloqué, À faire)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preuve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(chemin du dépôt). Pas de preuve, pas de « Fait ».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63" name="Table 32"/>
          <p:cNvGraphicFramePr/>
          <p:nvPr/>
        </p:nvGraphicFramePr>
        <p:xfrm>
          <a:off x="640080" y="2541600"/>
          <a:ext cx="10908360" cy="2468520"/>
        </p:xfrm>
        <a:graphic>
          <a:graphicData uri="http://schemas.openxmlformats.org/drawingml/2006/table">
            <a:tbl>
              <a:tblPr/>
              <a:tblGrid>
                <a:gridCol w="1097280"/>
                <a:gridCol w="2560320"/>
                <a:gridCol w="1005840"/>
                <a:gridCol w="1188720"/>
                <a:gridCol w="1188720"/>
                <a:gridCol w="3867840"/>
              </a:tblGrid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64" name="TextBox 33"/>
          <p:cNvSpPr/>
          <p:nvPr/>
        </p:nvSpPr>
        <p:spPr>
          <a:xfrm>
            <a:off x="640080" y="5101920"/>
            <a:ext cx="109076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  <a:ea typeface="DejaVu Sans"/>
              </a:rPr>
              <a:t>Le détail story par story est dans AVANCEMENT.md à la racine du dépôt.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Dépôt Git et étiquettes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666" name="PlaceHolder 2"/>
          <p:cNvSpPr>
            <a:spLocks noGrp="1"/>
          </p:cNvSpPr>
          <p:nvPr>
            <p:ph type="sldNum" idx="50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583F6D3-CC04-46B4-9109-3FE94AB1EF1F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67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ANNEXE C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68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9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7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671" name="TextBox 29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72" name="TextBox 30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adresse du dépôt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et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étiquettes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posées : seance-1 à seance-5 et rendu-final.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Aucun fichier interdit dans le dépôt (data/, CSV, sauvegardes, .env).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73" name="Table 31"/>
          <p:cNvGraphicFramePr/>
          <p:nvPr/>
        </p:nvGraphicFramePr>
        <p:xfrm>
          <a:off x="640080" y="2579760"/>
          <a:ext cx="10908360" cy="2925720"/>
        </p:xfrm>
        <a:graphic>
          <a:graphicData uri="http://schemas.openxmlformats.org/drawingml/2006/table">
            <a:tbl>
              <a:tblPr/>
              <a:tblGrid>
                <a:gridCol w="4023360"/>
                <a:gridCol w="688536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2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76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Liste de contrôle du rendu final</a:t>
            </a:r>
            <a:endParaRPr b="0" lang="fr-FR" sz="2800" spc="-1" strike="noStrike">
              <a:latin typeface="Arial"/>
            </a:endParaRPr>
          </a:p>
        </p:txBody>
      </p:sp>
      <p:sp>
        <p:nvSpPr>
          <p:cNvPr id="675" name="PlaceHolder 2"/>
          <p:cNvSpPr>
            <a:spLocks noGrp="1"/>
          </p:cNvSpPr>
          <p:nvPr>
            <p:ph type="sldNum" idx="51"/>
          </p:nvPr>
        </p:nvSpPr>
        <p:spPr>
          <a:xfrm>
            <a:off x="10820160" y="6309360"/>
            <a:ext cx="730440" cy="29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D076367-6557-4483-9E10-A31B5F63F316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76" name="TextBox 25"/>
          <p:cNvSpPr/>
          <p:nvPr/>
        </p:nvSpPr>
        <p:spPr>
          <a:xfrm>
            <a:off x="640080" y="283680"/>
            <a:ext cx="80456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4" strike="noStrike">
                <a:solidFill>
                  <a:srgbClr val="f5a623"/>
                </a:solidFill>
                <a:latin typeface="Inter"/>
                <a:ea typeface="DejaVu Sans"/>
              </a:rPr>
              <a:t>AVANT DE RENDRE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77" name="Attendu"/>
          <p:cNvSpPr/>
          <p:nvPr/>
        </p:nvSpPr>
        <p:spPr>
          <a:xfrm>
            <a:off x="640080" y="1325880"/>
            <a:ext cx="10907640" cy="106992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8" name="Attendu barre"/>
          <p:cNvSpPr/>
          <p:nvPr/>
        </p:nvSpPr>
        <p:spPr>
          <a:xfrm>
            <a:off x="640080" y="1325880"/>
            <a:ext cx="81360" cy="1069920"/>
          </a:xfrm>
          <a:prstGeom prst="rect">
            <a:avLst/>
          </a:prstGeom>
          <a:solidFill>
            <a:srgbClr val="f5a62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7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240" cy="273240"/>
          </a:xfrm>
          <a:prstGeom prst="rect">
            <a:avLst/>
          </a:prstGeom>
          <a:ln w="0">
            <a:noFill/>
          </a:ln>
        </p:spPr>
      </p:pic>
      <p:sp>
        <p:nvSpPr>
          <p:cNvPr id="680" name="TextBox 29"/>
          <p:cNvSpPr/>
          <p:nvPr/>
        </p:nvSpPr>
        <p:spPr>
          <a:xfrm>
            <a:off x="1261800" y="1473480"/>
            <a:ext cx="73141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1" strike="noStrike">
                <a:solidFill>
                  <a:srgbClr val="f5a623"/>
                </a:solidFill>
                <a:latin typeface="Inter"/>
                <a:ea typeface="DejaVu Sans"/>
              </a:rPr>
              <a:t>ATTENDU AVANT LE DÉPÔT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81" name="TextBox 30"/>
          <p:cNvSpPr/>
          <p:nvPr/>
        </p:nvSpPr>
        <p:spPr>
          <a:xfrm>
            <a:off x="914400" y="1783080"/>
            <a:ext cx="10359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zone ambre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est complétée, ou le manque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dans le bilan de la séance.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Chaque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chiffre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a sa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  <a:ea typeface="DejaVu Sans"/>
              </a:rPr>
              <a:t>preuve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  <a:ea typeface="DejaVu Sans"/>
              </a:rPr>
              <a:t> dans le dépôt.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682" name="Rectangle 31"/>
          <p:cNvSpPr/>
          <p:nvPr/>
        </p:nvSpPr>
        <p:spPr>
          <a:xfrm>
            <a:off x="640080" y="2579760"/>
            <a:ext cx="10907640" cy="3545640"/>
          </a:xfrm>
          <a:prstGeom prst="rect">
            <a:avLst/>
          </a:prstGeom>
          <a:solidFill>
            <a:srgbClr val="1c2e3d"/>
          </a:solidFill>
          <a:ln>
            <a:solidFill>
              <a:srgbClr val="2a4156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3" name="TextBox 32"/>
          <p:cNvSpPr/>
          <p:nvPr/>
        </p:nvSpPr>
        <p:spPr>
          <a:xfrm>
            <a:off x="914400" y="2762640"/>
            <a:ext cx="10331640" cy="22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 Couverture : numéro du groupe, noms, date.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 Équipe : rôles par séance et contribution de chaque membre.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 Chaque page de séance : chiffres mesurés, preuve citée, conséquence attribuée à un rôle.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 Les cinq bilans de séance : critères cochés avec preuve, difficultés chiffrées en temps.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 Journal des décisions identique à celui du dépôt.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 Dossier go/no-go : recommandation, preuves, écarts, décision signée.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  <a:ea typeface="DejaVu San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  <a:ea typeface="DejaVu Sans"/>
              </a:rPr>
              <a:t> Étiquette rendu-final posée et poussée ; export PDF du livrable joint au dépôt.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Application>LibreOffice/7.3.1.3$Windows_X86_64 LibreOffice_project/a69ca51ded25f3eefd52d7bf9a5fad8c90b87951</Application>
  <AppVersion>15.0000</AppVersion>
  <Words>0</Words>
  <Paragraphs>0</Paragraphs>
  <Company>Decimal Insights Consulting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2026-10-12T11:18:29Z</dcterms:created>
  <dc:creator>Decimal Insights Consulting</dc:creator>
  <dc:description/>
  <dc:language>fr-FR</dc:language>
  <cp:lastModifiedBy/>
  <dcterms:modified xsi:type="dcterms:W3CDTF">2026-10-15T12:01:47Z</dcterms:modified>
  <cp:revision>13</cp:revision>
  <dc:subject>Gouvernance, profilage et qualité des données</dc:subject>
  <dc:title>Livrable de groupe : TD AssurConnect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