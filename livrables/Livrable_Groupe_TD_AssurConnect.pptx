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presProps.xml" ContentType="application/vnd.openxmlformats-officedocument.presentationml.presProps+xml"/>
  <Override PartName="/ppt/theme/theme2.xml" ContentType="application/vnd.openxmlformats-officedocument.theme+xml"/>
  <Override PartName="/ppt/theme/theme1.xml" ContentType="application/vnd.openxmlformats-officedocument.theme+xml"/>
  <Override PartName="/ppt/theme/theme3.xml" ContentType="application/vnd.openxmlformats-officedocument.theme+xml"/>
  <Override PartName="/ppt/theme/theme37.xml" ContentType="application/vnd.openxmlformats-officedocument.theme+xml"/>
  <Override PartName="/ppt/slideLayouts/slideLayout1.xml" ContentType="application/vnd.openxmlformats-officedocument.presentationml.slideLayout+xml"/>
  <Override PartName="/ppt/slideLayouts/slideLayout3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9.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6.xml" ContentType="application/vnd.openxmlformats-officedocument.presentationml.slideLayout+xml"/>
  <Override PartName="/ppt/slideLayouts/slideLayout20.xml" ContentType="application/vnd.openxmlformats-officedocument.presentationml.slideLayout+xml"/>
  <Override PartName="/ppt/slideLayouts/slideLayout11.xml" ContentType="application/vnd.openxmlformats-officedocument.presentationml.slideLayout+xml"/>
  <Override PartName="/ppt/slideLayouts/slideLayout22.xml" ContentType="application/vnd.openxmlformats-officedocument.presentationml.slideLayout+xml"/>
  <Override PartName="/ppt/slideLayouts/slideLayout25.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3.xml" ContentType="application/vnd.openxmlformats-officedocument.presentationml.slideLayout+xml"/>
  <Override PartName="/ppt/slideLayouts/slideLayout28.xml" ContentType="application/vnd.openxmlformats-officedocument.presentationml.slideLayout+xml"/>
  <Override PartName="/ppt/slideLayouts/slideLayout34.xml" ContentType="application/vnd.openxmlformats-officedocument.presentationml.slideLayout+xml"/>
  <Override PartName="/ppt/slideLayouts/slideLayout29.xml" ContentType="application/vnd.openxmlformats-officedocument.presentationml.slideLayout+xml"/>
  <Override PartName="/ppt/slideLayouts/slideLayout26.xml" ContentType="application/vnd.openxmlformats-officedocument.presentationml.slideLayout+xml"/>
  <Override PartName="/ppt/slideLayouts/slideLayout31.xml" ContentType="application/vnd.openxmlformats-officedocument.presentationml.slideLayout+xml"/>
  <Override PartName="/ppt/slideLayouts/slideLayout27.xml" ContentType="application/vnd.openxmlformats-officedocument.presentationml.slideLayout+xml"/>
  <Override PartName="/ppt/slideLayouts/slideLayout30.xml" ContentType="application/vnd.openxmlformats-officedocument.presentationml.slideLayout+xml"/>
  <Override PartName="/ppt/slideLayouts/slideLayout21.xml" ContentType="application/vnd.openxmlformats-officedocument.presentationml.slideLayout+xml"/>
  <Override PartName="/ppt/slideLayouts/slideLayout2.xml" ContentType="application/vnd.openxmlformats-officedocument.presentationml.slideLayout+xml"/>
  <Override PartName="/ppt/slideLayouts/slideLayout12.xml" ContentType="application/vnd.openxmlformats-officedocument.presentationml.slideLayout+xml"/>
  <Override PartName="/ppt/slideLayouts/slideLayout24.xml" ContentType="application/vnd.openxmlformats-officedocument.presentationml.slideLayout+xml"/>
  <Override PartName="/ppt/slideLayouts/slideLayout32.xml" ContentType="application/vnd.openxmlformats-officedocument.presentationml.slideLayout+xml"/>
  <Override PartName="/ppt/slideLayouts/slideLayout16.xml" ContentType="application/vnd.openxmlformats-officedocument.presentationml.slideLayout+xml"/>
  <Override PartName="/ppt/slideLayouts/slideLayout35.xml" ContentType="application/vnd.openxmlformats-officedocument.presentationml.slideLayout+xml"/>
  <Override PartName="/ppt/slideLayouts/slideLayout15.xml" ContentType="application/vnd.openxmlformats-officedocument.presentationml.slideLayout+xml"/>
  <Override PartName="/ppt/slideLayouts/slideLayout19.xml" ContentType="application/vnd.openxmlformats-officedocument.presentationml.slideLayout+xml"/>
  <Override PartName="/ppt/slideLayouts/slideLayout33.xml" ContentType="application/vnd.openxmlformats-officedocument.presentationml.slideLayout+xml"/>
  <Override PartName="/ppt/slideMasters/slideMaster1.xml" ContentType="application/vnd.openxmlformats-officedocument.presentationml.slideMaster+xml"/>
  <Override PartName="/ppt/slideMasters/slideMaster25.xml" ContentType="application/vnd.openxmlformats-officedocument.presentationml.slideMaster+xml"/>
  <Override PartName="/ppt/slideMasters/slideMaster13.xml" ContentType="application/vnd.openxmlformats-officedocument.presentationml.slideMaster+xml"/>
  <Override PartName="/ppt/slides/slide38.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5.xml" ContentType="application/vnd.openxmlformats-officedocument.presentationml.slide+xml"/>
  <Override PartName="/ppt/slides/slide33.xml" ContentType="application/vnd.openxmlformats-officedocument.presentationml.slide+xml"/>
  <Override PartName="/ppt/slides/slide2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slides/slide20.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8.xml" ContentType="application/vnd.openxmlformats-officedocument.presentationml.slide+xml"/>
  <Override PartName="/ppt/slides/slide36.xml" ContentType="application/vnd.openxmlformats-officedocument.presentationml.slide+xml"/>
  <Override PartName="/ppt/slides/slide1.xml" ContentType="application/vnd.openxmlformats-officedocument.presentationml.slide+xml"/>
  <Override PartName="/ppt/slides/slide13.xml" ContentType="application/vnd.openxmlformats-officedocument.presentationml.slide+xml"/>
  <Override PartName="/ppt/slides/slide23.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27.xml" ContentType="application/vnd.openxmlformats-officedocument.presentationml.slide+xml"/>
  <Override PartName="/ppt/slides/slide30.xml" ContentType="application/vnd.openxmlformats-officedocument.presentationml.slide+xml"/>
  <Override PartName="/ppt/slides/slide19.xml" ContentType="application/vnd.openxmlformats-officedocument.presentationml.slide+xml"/>
  <Override PartName="/ppt/slides/slide25.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22.xml" ContentType="application/vnd.openxmlformats-officedocument.presentationml.slide+xml"/>
  <Override PartName="/ppt/slides/slide29.xml" ContentType="application/vnd.openxmlformats-officedocument.presentationml.slide+xml"/>
  <Override PartName="/ppt/slides/slide35.xml" ContentType="application/vnd.openxmlformats-officedocument.presentationml.slide+xml"/>
  <Override PartName="/ppt/slides/slide10.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34.xml" ContentType="application/vnd.openxmlformats-officedocument.presentationml.slide+xml"/>
  <Override PartName="/ppt/slides/slide41.xml" ContentType="application/vnd.openxmlformats-officedocument.presentationml.slide+xml"/>
  <Override PartName="/ppt/slides/slide47.xml" ContentType="application/vnd.openxmlformats-officedocument.presentationml.slide+xml"/>
  <Override PartName="/ppt/slides/slide42.xml" ContentType="application/vnd.openxmlformats-officedocument.presentationml.slide+xml"/>
  <Override PartName="/ppt/slides/slide31.xml" ContentType="application/vnd.openxmlformats-officedocument.presentationml.slide+xml"/>
  <Override PartName="/ppt/slides/slide8.xml" ContentType="application/vnd.openxmlformats-officedocument.presentationml.slide+xml"/>
  <Override PartName="/ppt/slides/slide43.xml" ContentType="application/vnd.openxmlformats-officedocument.presentationml.slide+xml"/>
  <Override PartName="/ppt/slides/slide26.xml" ContentType="application/vnd.openxmlformats-officedocument.presentationml.slide+xml"/>
  <Override PartName="/ppt/slides/slide24.xml" ContentType="application/vnd.openxmlformats-officedocument.presentationml.slide+xml"/>
  <Override PartName="/ppt/slides/slide32.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notesSlides/notesSlide47.xml" ContentType="application/vnd.openxmlformats-officedocument.presentationml.notesSlide+xml"/>
  <Override PartName="/ppt/notesSlides/notesSlide11.xml" ContentType="application/vnd.openxmlformats-officedocument.presentationml.notesSlide+xml"/>
  <Override PartName="/ppt/notesSlides/notesSlide3.xml" ContentType="application/vnd.openxmlformats-officedocument.presentationml.notesSlide+xml"/>
  <Override PartName="/ppt/notesSlides/notesSlide21.xml" ContentType="application/vnd.openxmlformats-officedocument.presentationml.notesSlide+xml"/>
  <Override PartName="/ppt/notesSlides/notesSlide1.xml" ContentType="application/vnd.openxmlformats-officedocument.presentationml.notesSlide+xml"/>
  <Override PartName="/ppt/notesSlides/notesSlide2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9.xml" ContentType="application/vnd.openxmlformats-officedocument.presentationml.notesSlide+xml"/>
  <Override PartName="/ppt/notesSlides/notesSlide37.xml" ContentType="application/vnd.openxmlformats-officedocument.presentationml.notesSlide+xml"/>
  <Override PartName="/ppt/notesSlides/notesSlide24.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6.xml" ContentType="application/vnd.openxmlformats-officedocument.presentationml.notesSlide+xml"/>
  <Override PartName="/ppt/notesSlides/notesSlide38.xml" ContentType="application/vnd.openxmlformats-officedocument.presentationml.notesSlide+xml"/>
  <Override PartName="/ppt/notesSlides/notesSlide17.xml" ContentType="application/vnd.openxmlformats-officedocument.presentationml.notesSlide+xml"/>
  <Override PartName="/ppt/notesSlides/notesSlide23.xml" ContentType="application/vnd.openxmlformats-officedocument.presentationml.notesSlide+xml"/>
  <Override PartName="/ppt/notesSlides/notesSlide20.xml" ContentType="application/vnd.openxmlformats-officedocument.presentationml.notesSlide+xml"/>
  <Override PartName="/ppt/notesSlides/notesSlide4.xml" ContentType="application/vnd.openxmlformats-officedocument.presentationml.notesSlide+xml"/>
  <Override PartName="/ppt/notesSlides/notesSlide9.xml" ContentType="application/vnd.openxmlformats-officedocument.presentationml.notesSlide+xml"/>
  <Override PartName="/ppt/notesSlides/notesSlide40.xml" ContentType="application/vnd.openxmlformats-officedocument.presentationml.notesSlide+xml"/>
  <Override PartName="/ppt/notesSlides/notesSlide29.xml" ContentType="application/vnd.openxmlformats-officedocument.presentationml.notesSlide+xml"/>
  <Override PartName="/ppt/notesSlides/notesSlide2.xml" ContentType="application/vnd.openxmlformats-officedocument.presentationml.notesSlide+xml"/>
  <Override PartName="/ppt/notesSlides/notesSlide28.xml" ContentType="application/vnd.openxmlformats-officedocument.presentationml.notesSlide+xml"/>
  <Override PartName="/ppt/notesSlides/notesSlide32.xml" ContentType="application/vnd.openxmlformats-officedocument.presentationml.notesSlide+xml"/>
  <Override PartName="/ppt/notesSlides/notesSlide43.xml" ContentType="application/vnd.openxmlformats-officedocument.presentationml.notesSlide+xml"/>
  <Override PartName="/ppt/notesSlides/notesSlide36.xml" ContentType="application/vnd.openxmlformats-officedocument.presentationml.notesSlide+xml"/>
  <Override PartName="/ppt/notesSlides/notesSlide34.xml" ContentType="application/vnd.openxmlformats-officedocument.presentationml.notesSlide+xml"/>
  <Override PartName="/ppt/notesSlides/notesSlide41.xml" ContentType="application/vnd.openxmlformats-officedocument.presentationml.notesSlide+xml"/>
  <Override PartName="/ppt/notesSlides/notesSlide33.xml" ContentType="application/vnd.openxmlformats-officedocument.presentationml.notesSlide+xml"/>
  <Override PartName="/ppt/notesSlides/notesSlide25.xml" ContentType="application/vnd.openxmlformats-officedocument.presentationml.notesSlide+xml"/>
  <Override PartName="/ppt/notesSlides/notesSlide22.xml" ContentType="application/vnd.openxmlformats-officedocument.presentationml.notesSlide+xml"/>
  <Override PartName="/ppt/notesSlides/notesSlide18.xml" ContentType="application/vnd.openxmlformats-officedocument.presentationml.notesSlide+xml"/>
  <Override PartName="/ppt/notesSlides/notesSlide35.xml" ContentType="application/vnd.openxmlformats-officedocument.presentationml.notesSlide+xml"/>
  <Override PartName="/ppt/notesSlides/notesSlide30.xml" ContentType="application/vnd.openxmlformats-officedocument.presentationml.notesSlide+xml"/>
  <Override PartName="/ppt/notesSlides/notesSlide39.xml" ContentType="application/vnd.openxmlformats-officedocument.presentationml.notesSlide+xml"/>
  <Override PartName="/ppt/notesSlides/notesSlide45.xml" ContentType="application/vnd.openxmlformats-officedocument.presentationml.notesSlide+xml"/>
  <Override PartName="/ppt/notesSlides/notesSlide15.xml" ContentType="application/vnd.openxmlformats-officedocument.presentationml.notesSlide+xml"/>
  <Override PartName="/ppt/notesSlides/notesSlide42.xml" ContentType="application/vnd.openxmlformats-officedocument.presentationml.notesSlide+xml"/>
  <Override PartName="/ppt/notesSlides/notesSlide26.xml" ContentType="application/vnd.openxmlformats-officedocument.presentationml.notesSlide+xml"/>
  <Override PartName="/ppt/notesSlides/notesSlide44.xml" ContentType="application/vnd.openxmlformats-officedocument.presentationml.notesSlide+xml"/>
  <Override PartName="/ppt/notesSlides/notesSlide31.xml" ContentType="application/vnd.openxmlformats-officedocument.presentationml.notesSlide+xml"/>
  <Override PartName="/ppt/notesSlides/notesSlide5.xml" ContentType="application/vnd.openxmlformats-officedocument.presentationml.notesSlide+xml"/>
  <Override PartName="/ppt/notesSlides/notesSlide46.xml" ContentType="application/vnd.openxmlformats-officedocument.presentationml.notesSlide+xml"/>
  <Override PartName="/ppt/notesSlides/notesSlide1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13.xml"/><Relationship Id="rId4" Type="http://schemas.openxmlformats.org/officeDocument/2006/relationships/slideMaster" Target="slideMasters/slideMaster25.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37.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PlaceHolder 1"/>
          <p:cNvSpPr>
            <a:spLocks noGrp="1"/>
          </p:cNvSpPr>
          <p:nvPr>
            <p:ph type="sldImg"/>
          </p:nvPr>
        </p:nvSpPr>
        <p:spPr>
          <a:xfrm>
            <a:off x="0" y="812520"/>
            <a:ext cx="0" cy="0"/>
          </a:xfrm>
          <a:prstGeom prst="rect">
            <a:avLst/>
          </a:prstGeom>
          <a:noFill/>
          <a:ln w="0">
            <a:noFill/>
          </a:ln>
        </p:spPr>
        <p:txBody>
          <a:bodyPr lIns="0" tIns="0" rIns="0" bIns="0" anchor="ctr">
            <a:noAutofit/>
          </a:bodyPr>
          <a:p>
            <a:r>
              <a:rPr lang="fr-FR" sz="4400" b="0" u="none" strike="noStrike">
                <a:solidFill>
                  <a:srgbClr val="000000"/>
                </a:solidFill>
                <a:effectLst/>
                <a:uFillTx/>
                <a:latin typeface="Arial"/>
              </a:rPr>
              <a:t>Click to move the slide</a:t>
            </a:r>
            <a:endParaRPr lang="fr-FR" sz="4400" b="0" u="none" strike="noStrike">
              <a:solidFill>
                <a:srgbClr val="000000"/>
              </a:solidFill>
              <a:effectLst/>
              <a:uFillTx/>
              <a:latin typeface="Arial"/>
            </a:endParaRPr>
          </a:p>
        </p:txBody>
      </p:sp>
      <p:sp>
        <p:nvSpPr>
          <p:cNvPr id="243"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fr-FR" sz="2000" b="0" u="none" strike="noStrike">
                <a:solidFill>
                  <a:srgbClr val="000000"/>
                </a:solidFill>
                <a:effectLst/>
                <a:uFillTx/>
                <a:latin typeface="Arial"/>
              </a:rPr>
              <a:t>Click to edit the notes format</a:t>
            </a:r>
            <a:endParaRPr lang="fr-FR" sz="2000" b="0" u="none" strike="noStrike">
              <a:solidFill>
                <a:srgbClr val="000000"/>
              </a:solidFill>
              <a:effectLst/>
              <a:uFillTx/>
              <a:latin typeface="Arial"/>
            </a:endParaRPr>
          </a:p>
        </p:txBody>
      </p:sp>
      <p:sp>
        <p:nvSpPr>
          <p:cNvPr id="244"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fr-FR" sz="1400" b="0" u="none" strike="noStrike">
                <a:solidFill>
                  <a:srgbClr val="000000"/>
                </a:solidFill>
                <a:effectLst/>
                <a:uFillTx/>
                <a:latin typeface="Times New Roman"/>
              </a:rPr>
              <a:t>&lt;header&gt;</a:t>
            </a:r>
            <a:endParaRPr lang="fr-FR" sz="1400" b="0" u="none" strike="noStrike">
              <a:solidFill>
                <a:srgbClr val="000000"/>
              </a:solidFill>
              <a:effectLst/>
              <a:uFillTx/>
              <a:latin typeface="Times New Roman"/>
            </a:endParaRPr>
          </a:p>
        </p:txBody>
      </p:sp>
      <p:sp>
        <p:nvSpPr>
          <p:cNvPr id="245" name="PlaceHolder 4"/>
          <p:cNvSpPr>
            <a:spLocks noGrp="1"/>
          </p:cNvSpPr>
          <p:nvPr>
            <p:ph type="dt" idx="25"/>
          </p:nvPr>
        </p:nvSpPr>
        <p:spPr>
          <a:xfrm>
            <a:off x="4278960" y="0"/>
            <a:ext cx="3280680" cy="534240"/>
          </a:xfrm>
          <a:prstGeom prst="rect">
            <a:avLst/>
          </a:prstGeom>
          <a:noFill/>
          <a:ln w="0">
            <a:noFill/>
          </a:ln>
        </p:spPr>
        <p:txBody>
          <a:bodyPr lIns="0" tIns="0" rIns="0" bIns="0" anchor="t">
            <a:noAutofit/>
          </a:bodyPr>
          <a:lstStyle>
            <a:lvl1pPr indent="0" algn="r">
              <a:buNone/>
              <a:defRPr lang="fr-FR" sz="1400" b="0" u="none" strike="noStrike">
                <a:solidFill>
                  <a:srgbClr val="000000"/>
                </a:solidFill>
                <a:effectLst/>
                <a:uFillTx/>
                <a:latin typeface="Times New Roman"/>
              </a:defRPr>
            </a:lvl1pPr>
          </a:lstStyle>
          <a:p>
            <a:pPr indent="0" algn="r">
              <a:buNone/>
            </a:pPr>
            <a:r>
              <a:rPr lang="fr-FR" sz="1400" b="0" u="none" strike="noStrike">
                <a:solidFill>
                  <a:srgbClr val="000000"/>
                </a:solidFill>
                <a:effectLst/>
                <a:uFillTx/>
                <a:latin typeface="Times New Roman"/>
              </a:rPr>
              <a:t>&lt;date/time&gt;</a:t>
            </a:r>
            <a:endParaRPr lang="fr-FR" sz="1400" b="0" u="none" strike="noStrike">
              <a:solidFill>
                <a:srgbClr val="000000"/>
              </a:solidFill>
              <a:effectLst/>
              <a:uFillTx/>
              <a:latin typeface="Times New Roman"/>
            </a:endParaRPr>
          </a:p>
        </p:txBody>
      </p:sp>
      <p:sp>
        <p:nvSpPr>
          <p:cNvPr id="246" name="PlaceHolder 5"/>
          <p:cNvSpPr>
            <a:spLocks noGrp="1"/>
          </p:cNvSpPr>
          <p:nvPr>
            <p:ph type="ftr" idx="26"/>
          </p:nvPr>
        </p:nvSpPr>
        <p:spPr>
          <a:xfrm>
            <a:off x="0" y="10157400"/>
            <a:ext cx="3280680" cy="534240"/>
          </a:xfrm>
          <a:prstGeom prst="rect">
            <a:avLst/>
          </a:prstGeom>
          <a:noFill/>
          <a:ln w="0">
            <a:noFill/>
          </a:ln>
        </p:spPr>
        <p:txBody>
          <a:bodyPr lIns="0" tIns="0" rIns="0" bIns="0" anchor="b">
            <a:noAutofit/>
          </a:bodyPr>
          <a:lstStyle>
            <a:lvl1pPr indent="0" algn="l">
              <a:buNone/>
              <a:defRPr lang="fr-FR" sz="1400" b="0" u="none" strike="noStrike">
                <a:solidFill>
                  <a:srgbClr val="000000"/>
                </a:solidFill>
                <a:effectLst/>
                <a:uFillTx/>
                <a:latin typeface="Times New Roman"/>
              </a:defRPr>
            </a:lvl1pPr>
          </a:lstStyle>
          <a:p>
            <a:pPr indent="0" algn="l">
              <a:buNone/>
            </a:pPr>
            <a:r>
              <a:rPr lang="fr-FR" sz="1400" b="0" u="none" strike="noStrike">
                <a:solidFill>
                  <a:srgbClr val="000000"/>
                </a:solidFill>
                <a:effectLst/>
                <a:uFillTx/>
                <a:latin typeface="Times New Roman"/>
              </a:rPr>
              <a:t>&lt;footer&gt;</a:t>
            </a:r>
            <a:endParaRPr lang="fr-FR" sz="1400" b="0" u="none" strike="noStrike">
              <a:solidFill>
                <a:srgbClr val="000000"/>
              </a:solidFill>
              <a:effectLst/>
              <a:uFillTx/>
              <a:latin typeface="Times New Roman"/>
            </a:endParaRPr>
          </a:p>
        </p:txBody>
      </p:sp>
      <p:sp>
        <p:nvSpPr>
          <p:cNvPr id="247" name="PlaceHolder 6"/>
          <p:cNvSpPr>
            <a:spLocks noGrp="1"/>
          </p:cNvSpPr>
          <p:nvPr>
            <p:ph type="sldNum" idx="27"/>
          </p:nvPr>
        </p:nvSpPr>
        <p:spPr>
          <a:xfrm>
            <a:off x="4278960" y="10157400"/>
            <a:ext cx="3280680" cy="534240"/>
          </a:xfrm>
          <a:prstGeom prst="rect">
            <a:avLst/>
          </a:prstGeom>
          <a:noFill/>
          <a:ln w="0">
            <a:noFill/>
          </a:ln>
        </p:spPr>
        <p:txBody>
          <a:bodyPr lIns="0" tIns="0" rIns="0" bIns="0" anchor="b">
            <a:noAutofit/>
          </a:bodyPr>
          <a:lstStyle>
            <a:lvl1pPr indent="0" algn="r">
              <a:buNone/>
              <a:defRPr lang="fr-FR" sz="1400" b="0" u="none" strike="noStrike">
                <a:solidFill>
                  <a:srgbClr val="000000"/>
                </a:solidFill>
                <a:effectLst/>
                <a:uFillTx/>
                <a:latin typeface="Times New Roman"/>
              </a:defRPr>
            </a:lvl1pPr>
          </a:lstStyle>
          <a:p>
            <a:pPr indent="0" algn="r">
              <a:buNone/>
            </a:pPr>
            <a:fld id="{43D0AF4A-D82B-4DEF-A532-F548BE3AE1E0}" type="slidenum">
              <a:rPr lang="fr-FR" sz="1400" b="0" u="none" strike="noStrike">
                <a:solidFill>
                  <a:srgbClr val="000000"/>
                </a:solidFill>
                <a:effectLst/>
                <a:uFillTx/>
                <a:latin typeface="Times New Roman"/>
              </a:rPr>
              <a:t>&lt;number&gt;</a:t>
            </a:fld>
            <a:endParaRPr lang="fr-FR"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1" name="PlaceHolder 1"/>
          <p:cNvSpPr>
            <a:spLocks noGrp="1"/>
          </p:cNvSpPr>
          <p:nvPr>
            <p:ph type="sldImg"/>
          </p:nvPr>
        </p:nvSpPr>
        <p:spPr>
          <a:xfrm>
            <a:off x="685800" y="1143000"/>
            <a:ext cx="5484240" cy="3084120"/>
          </a:xfrm>
          <a:prstGeom prst="rect">
            <a:avLst/>
          </a:prstGeom>
          <a:ln w="0">
            <a:noFill/>
          </a:ln>
        </p:spPr>
      </p:sp>
      <p:sp>
        <p:nvSpPr>
          <p:cNvPr id="802"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Modèle à compléter par chaque groupe. Remplacez les crochets de la couverture. Ne supprimez aucun encadré « Attendu » : la grille de notation s'y réfère.</a:t>
            </a:r>
            <a:endParaRPr lang="fr-FR" sz="2000" b="0" u="none" strike="noStrike">
              <a:solidFill>
                <a:srgbClr val="000000"/>
              </a:solidFill>
              <a:effectLst/>
              <a:uFillTx/>
              <a:latin typeface="Arial"/>
            </a:endParaRPr>
          </a:p>
        </p:txBody>
      </p:sp>
      <p:sp>
        <p:nvSpPr>
          <p:cNvPr id="803" name="PlaceHolder 3"/>
          <p:cNvSpPr>
            <a:spLocks noGrp="1"/>
          </p:cNvSpPr>
          <p:nvPr>
            <p:ph type="sldNum" idx="74"/>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2A33DCF-D9E0-432C-A100-E844BD1BE69D}"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4" name="PlaceHolder 1"/>
          <p:cNvSpPr>
            <a:spLocks noGrp="1"/>
          </p:cNvSpPr>
          <p:nvPr>
            <p:ph type="sldImg"/>
          </p:nvPr>
        </p:nvSpPr>
        <p:spPr>
          <a:xfrm>
            <a:off x="685800" y="1143000"/>
            <a:ext cx="5484240" cy="3084120"/>
          </a:xfrm>
          <a:prstGeom prst="rect">
            <a:avLst/>
          </a:prstGeom>
          <a:ln w="0">
            <a:noFill/>
          </a:ln>
        </p:spPr>
      </p:sp>
      <p:sp>
        <p:nvSpPr>
          <p:cNvPr id="805"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Lisez cette page avant de rédiger. Les chiffres que vous reportez viennent de vos mesures (dq.dq_history, scans Soda, requêtes du notebook), jamais d'un autre groupe ni d'un tutoriel.</a:t>
            </a:r>
            <a:endParaRPr lang="fr-FR" sz="2000" b="0" u="none" strike="noStrike">
              <a:solidFill>
                <a:srgbClr val="000000"/>
              </a:solidFill>
              <a:effectLst/>
              <a:uFillTx/>
              <a:latin typeface="Arial"/>
            </a:endParaRPr>
          </a:p>
        </p:txBody>
      </p:sp>
      <p:sp>
        <p:nvSpPr>
          <p:cNvPr id="806" name="PlaceHolder 3"/>
          <p:cNvSpPr>
            <a:spLocks noGrp="1"/>
          </p:cNvSpPr>
          <p:nvPr>
            <p:ph type="sldNum" idx="75"/>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9B893B0-A795-4C11-BF2C-850A85B2319D}"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7" name="PlaceHolder 1"/>
          <p:cNvSpPr>
            <a:spLocks noGrp="1"/>
          </p:cNvSpPr>
          <p:nvPr>
            <p:ph type="sldImg"/>
          </p:nvPr>
        </p:nvSpPr>
        <p:spPr>
          <a:xfrm>
            <a:off x="685800" y="1143000"/>
            <a:ext cx="5484240" cy="3084120"/>
          </a:xfrm>
          <a:prstGeom prst="rect">
            <a:avLst/>
          </a:prstGeom>
          <a:ln w="0">
            <a:noFill/>
          </a:ln>
        </p:spPr>
      </p:sp>
      <p:sp>
        <p:nvSpPr>
          <p:cNvPr id="808"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La grille est celle du dossier go/no-go. Le livrable de séance et le dossier final sont évalués ensemble.</a:t>
            </a:r>
            <a:endParaRPr lang="fr-FR" sz="2000" b="0" u="none" strike="noStrike">
              <a:solidFill>
                <a:srgbClr val="000000"/>
              </a:solidFill>
              <a:effectLst/>
              <a:uFillTx/>
              <a:latin typeface="Arial"/>
            </a:endParaRPr>
          </a:p>
        </p:txBody>
      </p:sp>
      <p:sp>
        <p:nvSpPr>
          <p:cNvPr id="809" name="PlaceHolder 3"/>
          <p:cNvSpPr>
            <a:spLocks noGrp="1"/>
          </p:cNvSpPr>
          <p:nvPr>
            <p:ph type="sldNum" idx="76"/>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9E491C7-C637-4070-84A4-649FD4CC52FF}"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0" name="PlaceHolder 1"/>
          <p:cNvSpPr>
            <a:spLocks noGrp="1"/>
          </p:cNvSpPr>
          <p:nvPr>
            <p:ph type="sldImg"/>
          </p:nvPr>
        </p:nvSpPr>
        <p:spPr>
          <a:xfrm>
            <a:off x="685800" y="1143000"/>
            <a:ext cx="5484240" cy="3084120"/>
          </a:xfrm>
          <a:prstGeom prst="rect">
            <a:avLst/>
          </a:prstGeom>
          <a:ln w="0">
            <a:noFill/>
          </a:ln>
        </p:spPr>
      </p:sp>
      <p:sp>
        <p:nvSpPr>
          <p:cNvPr id="811"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Renseignez cette page dès la fin de l'ouverture de S1, puis mettez-la à jour à chaque séance.</a:t>
            </a:r>
            <a:endParaRPr lang="fr-FR" sz="2000" b="0" u="none" strike="noStrike">
              <a:solidFill>
                <a:srgbClr val="000000"/>
              </a:solidFill>
              <a:effectLst/>
              <a:uFillTx/>
              <a:latin typeface="Arial"/>
            </a:endParaRPr>
          </a:p>
        </p:txBody>
      </p:sp>
      <p:sp>
        <p:nvSpPr>
          <p:cNvPr id="812" name="PlaceHolder 3"/>
          <p:cNvSpPr>
            <a:spLocks noGrp="1"/>
          </p:cNvSpPr>
          <p:nvPr>
            <p:ph type="sldNum" idx="77"/>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6FBA3E8-BE17-47D0-B7D0-405B440B0A67}"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3" name="PlaceHolder 1"/>
          <p:cNvSpPr>
            <a:spLocks noGrp="1"/>
          </p:cNvSpPr>
          <p:nvPr>
            <p:ph type="sldImg"/>
          </p:nvPr>
        </p:nvSpPr>
        <p:spPr>
          <a:xfrm>
            <a:off x="685800" y="1143000"/>
            <a:ext cx="5484240" cy="3084120"/>
          </a:xfrm>
          <a:prstGeom prst="rect">
            <a:avLst/>
          </a:prstGeom>
          <a:ln w="0">
            <a:noFill/>
          </a:ln>
        </p:spPr>
      </p:sp>
      <p:sp>
        <p:nvSpPr>
          <p:cNvPr id="814"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Cinq lignes par zone. Pas de copier-coller de l'énoncé : reformulez.</a:t>
            </a:r>
            <a:endParaRPr lang="fr-FR" sz="2000" b="0" u="none" strike="noStrike">
              <a:solidFill>
                <a:srgbClr val="000000"/>
              </a:solidFill>
              <a:effectLst/>
              <a:uFillTx/>
              <a:latin typeface="Arial"/>
            </a:endParaRPr>
          </a:p>
        </p:txBody>
      </p:sp>
      <p:sp>
        <p:nvSpPr>
          <p:cNvPr id="815" name="PlaceHolder 3"/>
          <p:cNvSpPr>
            <a:spLocks noGrp="1"/>
          </p:cNvSpPr>
          <p:nvPr>
            <p:ph type="sldNum" idx="78"/>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1733E90-558E-42CD-9FCF-F2B8BD8EBDDA}"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6" name="PlaceHolder 1"/>
          <p:cNvSpPr>
            <a:spLocks noGrp="1"/>
          </p:cNvSpPr>
          <p:nvPr>
            <p:ph type="sldImg"/>
          </p:nvPr>
        </p:nvSpPr>
        <p:spPr>
          <a:xfrm>
            <a:off x="685800" y="1143000"/>
            <a:ext cx="5484240" cy="3084120"/>
          </a:xfrm>
          <a:prstGeom prst="rect">
            <a:avLst/>
          </a:prstGeom>
          <a:ln w="0">
            <a:noFill/>
          </a:ln>
        </p:spPr>
      </p:sp>
      <p:sp>
        <p:nvSpPr>
          <p:cNvPr id="817"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indent="0" algn="l">
              <a:buNone/>
            </a:pPr>
            <a:endParaRPr lang="fr-FR" sz="1800" b="0" u="none" strike="noStrike">
              <a:solidFill>
                <a:srgbClr val="000000"/>
              </a:solidFill>
              <a:effectLst/>
              <a:uFillTx/>
              <a:latin typeface="Arial"/>
            </a:endParaRPr>
          </a:p>
        </p:txBody>
      </p:sp>
      <p:sp>
        <p:nvSpPr>
          <p:cNvPr id="818" name="PlaceHolder 3"/>
          <p:cNvSpPr>
            <a:spLocks noGrp="1"/>
          </p:cNvSpPr>
          <p:nvPr>
            <p:ph type="sldNum" idx="79"/>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2D32FB9-4EBC-4BFC-A99E-9C5505F46BC6}"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9" name="PlaceHolder 1"/>
          <p:cNvSpPr>
            <a:spLocks noGrp="1"/>
          </p:cNvSpPr>
          <p:nvPr>
            <p:ph type="sldImg"/>
          </p:nvPr>
        </p:nvSpPr>
        <p:spPr>
          <a:xfrm>
            <a:off x="685800" y="1143000"/>
            <a:ext cx="5484240" cy="3084120"/>
          </a:xfrm>
          <a:prstGeom prst="rect">
            <a:avLst/>
          </a:prstGeom>
          <a:ln w="0">
            <a:noFill/>
          </a:ln>
        </p:spPr>
      </p:sp>
      <p:sp>
        <p:nvSpPr>
          <p:cNvPr id="820"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comptez avec une requête, pas à l'œil. Indiquez le notebook qui contient la requête.</a:t>
            </a:r>
            <a:endParaRPr lang="fr-FR" sz="2000" b="0" u="none" strike="noStrike">
              <a:solidFill>
                <a:srgbClr val="000000"/>
              </a:solidFill>
              <a:effectLst/>
              <a:uFillTx/>
              <a:latin typeface="Arial"/>
            </a:endParaRPr>
          </a:p>
        </p:txBody>
      </p:sp>
      <p:sp>
        <p:nvSpPr>
          <p:cNvPr id="821" name="PlaceHolder 3"/>
          <p:cNvSpPr>
            <a:spLocks noGrp="1"/>
          </p:cNvSpPr>
          <p:nvPr>
            <p:ph type="sldNum" idx="80"/>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EA6FBFB-3D09-4048-BCE3-AEFEF401D5D0}"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2" name="PlaceHolder 1"/>
          <p:cNvSpPr>
            <a:spLocks noGrp="1"/>
          </p:cNvSpPr>
          <p:nvPr>
            <p:ph type="sldImg"/>
          </p:nvPr>
        </p:nvSpPr>
        <p:spPr>
          <a:xfrm>
            <a:off x="685800" y="1143000"/>
            <a:ext cx="5484240" cy="3084120"/>
          </a:xfrm>
          <a:prstGeom prst="rect">
            <a:avLst/>
          </a:prstGeom>
          <a:ln w="0">
            <a:noFill/>
          </a:ln>
        </p:spPr>
      </p:sp>
      <p:sp>
        <p:nvSpPr>
          <p:cNvPr id="823"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la porte B juge la fidélité de la copie, pas la qualité des valeurs. Un écart nul est un résultat à documenter.</a:t>
            </a:r>
            <a:endParaRPr lang="fr-FR" sz="2000" b="0" u="none" strike="noStrike">
              <a:solidFill>
                <a:srgbClr val="000000"/>
              </a:solidFill>
              <a:effectLst/>
              <a:uFillTx/>
              <a:latin typeface="Arial"/>
            </a:endParaRPr>
          </a:p>
        </p:txBody>
      </p:sp>
      <p:sp>
        <p:nvSpPr>
          <p:cNvPr id="824" name="PlaceHolder 3"/>
          <p:cNvSpPr>
            <a:spLocks noGrp="1"/>
          </p:cNvSpPr>
          <p:nvPr>
            <p:ph type="sldNum" idx="81"/>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377AF20-D303-4554-926E-D1622B09B38A}"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5" name="PlaceHolder 1"/>
          <p:cNvSpPr>
            <a:spLocks noGrp="1"/>
          </p:cNvSpPr>
          <p:nvPr>
            <p:ph type="sldImg"/>
          </p:nvPr>
        </p:nvSpPr>
        <p:spPr>
          <a:xfrm>
            <a:off x="685800" y="1143000"/>
            <a:ext cx="5484240" cy="3084120"/>
          </a:xfrm>
          <a:prstGeom prst="rect">
            <a:avLst/>
          </a:prstGeom>
          <a:ln w="0">
            <a:noFill/>
          </a:ln>
        </p:spPr>
      </p:sp>
      <p:sp>
        <p:nvSpPr>
          <p:cNvPr id="826"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l'épreuve de l'écart volontaire prouve que votre porte détecte quelque chose. Sans elle, une porte toujours verte ne prouve rien.</a:t>
            </a:r>
            <a:endParaRPr lang="fr-FR" sz="2000" b="0" u="none" strike="noStrike">
              <a:solidFill>
                <a:srgbClr val="000000"/>
              </a:solidFill>
              <a:effectLst/>
              <a:uFillTx/>
              <a:latin typeface="Arial"/>
            </a:endParaRPr>
          </a:p>
        </p:txBody>
      </p:sp>
      <p:sp>
        <p:nvSpPr>
          <p:cNvPr id="827" name="PlaceHolder 3"/>
          <p:cNvSpPr>
            <a:spLocks noGrp="1"/>
          </p:cNvSpPr>
          <p:nvPr>
            <p:ph type="sldNum" idx="82"/>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23CF628-B5CF-4FB8-8C58-A798A32EFCAF}"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8" name="PlaceHolder 1"/>
          <p:cNvSpPr>
            <a:spLocks noGrp="1"/>
          </p:cNvSpPr>
          <p:nvPr>
            <p:ph type="sldImg"/>
          </p:nvPr>
        </p:nvSpPr>
        <p:spPr>
          <a:xfrm>
            <a:off x="685800" y="1143000"/>
            <a:ext cx="5484240" cy="3084120"/>
          </a:xfrm>
          <a:prstGeom prst="rect">
            <a:avLst/>
          </a:prstGeom>
          <a:ln w="0">
            <a:noFill/>
          </a:ln>
        </p:spPr>
      </p:sp>
      <p:sp>
        <p:nvSpPr>
          <p:cNvPr id="829"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distinguez NULL, vide et blanc. Un constat sans valeur mesurée n'en est pas un.</a:t>
            </a:r>
            <a:endParaRPr lang="fr-FR" sz="2000" b="0" u="none" strike="noStrike">
              <a:solidFill>
                <a:srgbClr val="000000"/>
              </a:solidFill>
              <a:effectLst/>
              <a:uFillTx/>
              <a:latin typeface="Arial"/>
            </a:endParaRPr>
          </a:p>
        </p:txBody>
      </p:sp>
      <p:sp>
        <p:nvSpPr>
          <p:cNvPr id="830" name="PlaceHolder 3"/>
          <p:cNvSpPr>
            <a:spLocks noGrp="1"/>
          </p:cNvSpPr>
          <p:nvPr>
            <p:ph type="sldNum" idx="83"/>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7A21E64-4698-41F0-8FB6-590525FECB57}"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1" name="PlaceHolder 1"/>
          <p:cNvSpPr>
            <a:spLocks noGrp="1"/>
          </p:cNvSpPr>
          <p:nvPr>
            <p:ph type="sldImg"/>
          </p:nvPr>
        </p:nvSpPr>
        <p:spPr>
          <a:xfrm>
            <a:off x="685800" y="1143000"/>
            <a:ext cx="5484240" cy="3084120"/>
          </a:xfrm>
          <a:prstGeom prst="rect">
            <a:avLst/>
          </a:prstGeom>
          <a:ln w="0">
            <a:noFill/>
          </a:ln>
        </p:spPr>
      </p:sp>
      <p:sp>
        <p:nvSpPr>
          <p:cNvPr id="832"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une justification est un chiffre (taux de valeurs au format X, nombre de distincts, plage), pas une impression.</a:t>
            </a:r>
            <a:endParaRPr lang="fr-FR" sz="2000" b="0" u="none" strike="noStrike">
              <a:solidFill>
                <a:srgbClr val="000000"/>
              </a:solidFill>
              <a:effectLst/>
              <a:uFillTx/>
              <a:latin typeface="Arial"/>
            </a:endParaRPr>
          </a:p>
        </p:txBody>
      </p:sp>
      <p:sp>
        <p:nvSpPr>
          <p:cNvPr id="833" name="PlaceHolder 3"/>
          <p:cNvSpPr>
            <a:spLocks noGrp="1"/>
          </p:cNvSpPr>
          <p:nvPr>
            <p:ph type="sldNum" idx="84"/>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DE65A51-01AB-4BB5-8393-0787EBAFB5EC}"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4" name="PlaceHolder 1"/>
          <p:cNvSpPr>
            <a:spLocks noGrp="1"/>
          </p:cNvSpPr>
          <p:nvPr>
            <p:ph type="sldImg"/>
          </p:nvPr>
        </p:nvSpPr>
        <p:spPr>
          <a:xfrm>
            <a:off x="685800" y="1143000"/>
            <a:ext cx="5484240" cy="3084120"/>
          </a:xfrm>
          <a:prstGeom prst="rect">
            <a:avLst/>
          </a:prstGeom>
          <a:ln w="0">
            <a:noFill/>
          </a:ln>
        </p:spPr>
      </p:sp>
      <p:sp>
        <p:nvSpPr>
          <p:cNvPr id="835"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les trois chiffres sont vrais pour trois questions différentes. Le problème est la définition.</a:t>
            </a:r>
            <a:endParaRPr lang="fr-FR" sz="2000" b="0" u="none" strike="noStrike">
              <a:solidFill>
                <a:srgbClr val="000000"/>
              </a:solidFill>
              <a:effectLst/>
              <a:uFillTx/>
              <a:latin typeface="Arial"/>
            </a:endParaRPr>
          </a:p>
        </p:txBody>
      </p:sp>
      <p:sp>
        <p:nvSpPr>
          <p:cNvPr id="836" name="PlaceHolder 3"/>
          <p:cNvSpPr>
            <a:spLocks noGrp="1"/>
          </p:cNvSpPr>
          <p:nvPr>
            <p:ph type="sldNum" idx="85"/>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9A5E8DD-DED3-497C-8E06-C005C61E4290}"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7" name="PlaceHolder 1"/>
          <p:cNvSpPr>
            <a:spLocks noGrp="1"/>
          </p:cNvSpPr>
          <p:nvPr>
            <p:ph type="sldImg"/>
          </p:nvPr>
        </p:nvSpPr>
        <p:spPr>
          <a:xfrm>
            <a:off x="685800" y="1143000"/>
            <a:ext cx="5484240" cy="3084120"/>
          </a:xfrm>
          <a:prstGeom prst="rect">
            <a:avLst/>
          </a:prstGeom>
          <a:ln w="0">
            <a:noFill/>
          </a:ln>
        </p:spPr>
      </p:sp>
      <p:sp>
        <p:nvSpPr>
          <p:cNvPr id="838"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cochez uniquement ce que vous pouvez montrer. Une case non cochée et expliquée vaut mieux qu'une case cochée sans preuve.</a:t>
            </a:r>
            <a:endParaRPr lang="fr-FR" sz="2000" b="0" u="none" strike="noStrike">
              <a:solidFill>
                <a:srgbClr val="000000"/>
              </a:solidFill>
              <a:effectLst/>
              <a:uFillTx/>
              <a:latin typeface="Arial"/>
            </a:endParaRPr>
          </a:p>
        </p:txBody>
      </p:sp>
      <p:sp>
        <p:nvSpPr>
          <p:cNvPr id="839" name="PlaceHolder 3"/>
          <p:cNvSpPr>
            <a:spLocks noGrp="1"/>
          </p:cNvSpPr>
          <p:nvPr>
            <p:ph type="sldNum" idx="86"/>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B0891D5B-BD18-40C1-8A53-6A5ED61D5F53}"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0" name="PlaceHolder 1"/>
          <p:cNvSpPr>
            <a:spLocks noGrp="1"/>
          </p:cNvSpPr>
          <p:nvPr>
            <p:ph type="sldImg"/>
          </p:nvPr>
        </p:nvSpPr>
        <p:spPr>
          <a:xfrm>
            <a:off x="685800" y="1143000"/>
            <a:ext cx="5484240" cy="3084120"/>
          </a:xfrm>
          <a:prstGeom prst="rect">
            <a:avLst/>
          </a:prstGeom>
          <a:ln w="0">
            <a:noFill/>
          </a:ln>
        </p:spPr>
      </p:sp>
      <p:sp>
        <p:nvSpPr>
          <p:cNvPr id="841"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indent="0" algn="l">
              <a:buNone/>
            </a:pPr>
            <a:endParaRPr lang="fr-FR" sz="1800" b="0" u="none" strike="noStrike">
              <a:solidFill>
                <a:srgbClr val="000000"/>
              </a:solidFill>
              <a:effectLst/>
              <a:uFillTx/>
              <a:latin typeface="Arial"/>
            </a:endParaRPr>
          </a:p>
        </p:txBody>
      </p:sp>
      <p:sp>
        <p:nvSpPr>
          <p:cNvPr id="842" name="PlaceHolder 3"/>
          <p:cNvSpPr>
            <a:spLocks noGrp="1"/>
          </p:cNvSpPr>
          <p:nvPr>
            <p:ph type="sldNum" idx="87"/>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A4B890C-64D6-4682-A768-7CD2B3D2EAB4}"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3" name="PlaceHolder 1"/>
          <p:cNvSpPr>
            <a:spLocks noGrp="1"/>
          </p:cNvSpPr>
          <p:nvPr>
            <p:ph type="sldImg"/>
          </p:nvPr>
        </p:nvSpPr>
        <p:spPr>
          <a:xfrm>
            <a:off x="685800" y="1143000"/>
            <a:ext cx="5484240" cy="3084120"/>
          </a:xfrm>
          <a:prstGeom prst="rect">
            <a:avLst/>
          </a:prstGeom>
          <a:ln w="0">
            <a:noFill/>
          </a:ln>
        </p:spPr>
      </p:sp>
      <p:sp>
        <p:nvSpPr>
          <p:cNvPr id="844"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un taux sans nombre de lignes testées est ininterprétable. Reportez les deux.</a:t>
            </a:r>
            <a:endParaRPr lang="fr-FR" sz="2000" b="0" u="none" strike="noStrike">
              <a:solidFill>
                <a:srgbClr val="000000"/>
              </a:solidFill>
              <a:effectLst/>
              <a:uFillTx/>
              <a:latin typeface="Arial"/>
            </a:endParaRPr>
          </a:p>
        </p:txBody>
      </p:sp>
      <p:sp>
        <p:nvSpPr>
          <p:cNvPr id="845" name="PlaceHolder 3"/>
          <p:cNvSpPr>
            <a:spLocks noGrp="1"/>
          </p:cNvSpPr>
          <p:nvPr>
            <p:ph type="sldNum" idx="88"/>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DAFB48F-EB67-44AE-ABA2-FDDAB1C3D580}"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6" name="PlaceHolder 1"/>
          <p:cNvSpPr>
            <a:spLocks noGrp="1"/>
          </p:cNvSpPr>
          <p:nvPr>
            <p:ph type="sldImg"/>
          </p:nvPr>
        </p:nvSpPr>
        <p:spPr>
          <a:xfrm>
            <a:off x="685800" y="1143000"/>
            <a:ext cx="5484240" cy="3084120"/>
          </a:xfrm>
          <a:prstGeom prst="rect">
            <a:avLst/>
          </a:prstGeom>
          <a:ln w="0">
            <a:noFill/>
          </a:ln>
        </p:spPr>
      </p:sp>
      <p:sp>
        <p:nvSpPr>
          <p:cNvPr id="847"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nommez la famille d'erreur. « Valeurs incorrectes » n'est pas une famille.</a:t>
            </a:r>
            <a:endParaRPr lang="fr-FR" sz="2000" b="0" u="none" strike="noStrike">
              <a:solidFill>
                <a:srgbClr val="000000"/>
              </a:solidFill>
              <a:effectLst/>
              <a:uFillTx/>
              <a:latin typeface="Arial"/>
            </a:endParaRPr>
          </a:p>
        </p:txBody>
      </p:sp>
      <p:sp>
        <p:nvSpPr>
          <p:cNvPr id="848" name="PlaceHolder 3"/>
          <p:cNvSpPr>
            <a:spLocks noGrp="1"/>
          </p:cNvSpPr>
          <p:nvPr>
            <p:ph type="sldNum" idx="89"/>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CED3A89-5713-4300-9EE1-9EDC2014F4CA}"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9" name="PlaceHolder 1"/>
          <p:cNvSpPr>
            <a:spLocks noGrp="1"/>
          </p:cNvSpPr>
          <p:nvPr>
            <p:ph type="sldImg"/>
          </p:nvPr>
        </p:nvSpPr>
        <p:spPr>
          <a:xfrm>
            <a:off x="685800" y="1143000"/>
            <a:ext cx="5484240" cy="3084120"/>
          </a:xfrm>
          <a:prstGeom prst="rect">
            <a:avLst/>
          </a:prstGeom>
          <a:ln w="0">
            <a:noFill/>
          </a:ln>
        </p:spPr>
      </p:sp>
      <p:sp>
        <p:nvSpPr>
          <p:cNvPr id="850"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la phrase de synthèse doit contenir un chiffre et la couche concernée.</a:t>
            </a:r>
            <a:endParaRPr lang="fr-FR" sz="2000" b="0" u="none" strike="noStrike">
              <a:solidFill>
                <a:srgbClr val="000000"/>
              </a:solidFill>
              <a:effectLst/>
              <a:uFillTx/>
              <a:latin typeface="Arial"/>
            </a:endParaRPr>
          </a:p>
        </p:txBody>
      </p:sp>
      <p:sp>
        <p:nvSpPr>
          <p:cNvPr id="851" name="PlaceHolder 3"/>
          <p:cNvSpPr>
            <a:spLocks noGrp="1"/>
          </p:cNvSpPr>
          <p:nvPr>
            <p:ph type="sldNum" idx="90"/>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0B86A17-9E94-4383-A1A1-960F030F64F2}"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2" name="PlaceHolder 1"/>
          <p:cNvSpPr>
            <a:spLocks noGrp="1"/>
          </p:cNvSpPr>
          <p:nvPr>
            <p:ph type="sldImg"/>
          </p:nvPr>
        </p:nvSpPr>
        <p:spPr>
          <a:xfrm>
            <a:off x="685800" y="1143000"/>
            <a:ext cx="5484240" cy="3084120"/>
          </a:xfrm>
          <a:prstGeom prst="rect">
            <a:avLst/>
          </a:prstGeom>
          <a:ln w="0">
            <a:noFill/>
          </a:ln>
        </p:spPr>
      </p:sp>
      <p:sp>
        <p:nvSpPr>
          <p:cNvPr id="853"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cochez uniquement ce que vous pouvez montrer. Une case non cochée et expliquée vaut mieux qu'une case cochée sans preuve.</a:t>
            </a:r>
            <a:endParaRPr lang="fr-FR" sz="2000" b="0" u="none" strike="noStrike">
              <a:solidFill>
                <a:srgbClr val="000000"/>
              </a:solidFill>
              <a:effectLst/>
              <a:uFillTx/>
              <a:latin typeface="Arial"/>
            </a:endParaRPr>
          </a:p>
        </p:txBody>
      </p:sp>
      <p:sp>
        <p:nvSpPr>
          <p:cNvPr id="854" name="PlaceHolder 3"/>
          <p:cNvSpPr>
            <a:spLocks noGrp="1"/>
          </p:cNvSpPr>
          <p:nvPr>
            <p:ph type="sldNum" idx="91"/>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1887214-9F0D-4034-8A08-4CA06DF81F5D}"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5" name="PlaceHolder 1"/>
          <p:cNvSpPr>
            <a:spLocks noGrp="1"/>
          </p:cNvSpPr>
          <p:nvPr>
            <p:ph type="sldImg"/>
          </p:nvPr>
        </p:nvSpPr>
        <p:spPr>
          <a:xfrm>
            <a:off x="685800" y="1143000"/>
            <a:ext cx="5484240" cy="3084120"/>
          </a:xfrm>
          <a:prstGeom prst="rect">
            <a:avLst/>
          </a:prstGeom>
          <a:ln w="0">
            <a:noFill/>
          </a:ln>
        </p:spPr>
      </p:sp>
      <p:sp>
        <p:nvSpPr>
          <p:cNvPr id="856"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indent="0" algn="l">
              <a:buNone/>
            </a:pPr>
            <a:endParaRPr lang="fr-FR" sz="1800" b="0" u="none" strike="noStrike">
              <a:solidFill>
                <a:srgbClr val="000000"/>
              </a:solidFill>
              <a:effectLst/>
              <a:uFillTx/>
              <a:latin typeface="Arial"/>
            </a:endParaRPr>
          </a:p>
        </p:txBody>
      </p:sp>
      <p:sp>
        <p:nvSpPr>
          <p:cNvPr id="857" name="PlaceHolder 3"/>
          <p:cNvSpPr>
            <a:spLocks noGrp="1"/>
          </p:cNvSpPr>
          <p:nvPr>
            <p:ph type="sldNum" idx="92"/>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FB91EF2-4617-4C2F-89AE-7E6F99F37B51}"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8" name="PlaceHolder 1"/>
          <p:cNvSpPr>
            <a:spLocks noGrp="1"/>
          </p:cNvSpPr>
          <p:nvPr>
            <p:ph type="sldImg"/>
          </p:nvPr>
        </p:nvSpPr>
        <p:spPr>
          <a:xfrm>
            <a:off x="685800" y="1143000"/>
            <a:ext cx="5484240" cy="3084120"/>
          </a:xfrm>
          <a:prstGeom prst="rect">
            <a:avLst/>
          </a:prstGeom>
          <a:ln w="0">
            <a:noFill/>
          </a:ln>
        </p:spPr>
      </p:sp>
      <p:sp>
        <p:nvSpPr>
          <p:cNvPr id="859"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si Soda et Great Expectations donnent des chiffres différents pour la même règle, expliquez pourquoi avant de conclure.</a:t>
            </a:r>
            <a:endParaRPr lang="fr-FR" sz="2000" b="0" u="none" strike="noStrike">
              <a:solidFill>
                <a:srgbClr val="000000"/>
              </a:solidFill>
              <a:effectLst/>
              <a:uFillTx/>
              <a:latin typeface="Arial"/>
            </a:endParaRPr>
          </a:p>
        </p:txBody>
      </p:sp>
      <p:sp>
        <p:nvSpPr>
          <p:cNvPr id="860" name="PlaceHolder 3"/>
          <p:cNvSpPr>
            <a:spLocks noGrp="1"/>
          </p:cNvSpPr>
          <p:nvPr>
            <p:ph type="sldNum" idx="93"/>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CAA4DD6-6756-47C7-A722-F5265F958F23}"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1" name="PlaceHolder 1"/>
          <p:cNvSpPr>
            <a:spLocks noGrp="1"/>
          </p:cNvSpPr>
          <p:nvPr>
            <p:ph type="sldImg"/>
          </p:nvPr>
        </p:nvSpPr>
        <p:spPr>
          <a:xfrm>
            <a:off x="685800" y="1143000"/>
            <a:ext cx="5484240" cy="3084120"/>
          </a:xfrm>
          <a:prstGeom prst="rect">
            <a:avLst/>
          </a:prstGeom>
          <a:ln w="0">
            <a:noFill/>
          </a:ln>
        </p:spPr>
      </p:sp>
      <p:sp>
        <p:nvSpPr>
          <p:cNvPr id="862"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un taux élevé de lignes en échec sur une clé étrangère est un indice de valeur sentinelle avant d'être une anomalie.</a:t>
            </a:r>
            <a:endParaRPr lang="fr-FR" sz="2000" b="0" u="none" strike="noStrike">
              <a:solidFill>
                <a:srgbClr val="000000"/>
              </a:solidFill>
              <a:effectLst/>
              <a:uFillTx/>
              <a:latin typeface="Arial"/>
            </a:endParaRPr>
          </a:p>
        </p:txBody>
      </p:sp>
      <p:sp>
        <p:nvSpPr>
          <p:cNvPr id="863" name="PlaceHolder 3"/>
          <p:cNvSpPr>
            <a:spLocks noGrp="1"/>
          </p:cNvSpPr>
          <p:nvPr>
            <p:ph type="sldNum" idx="94"/>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19C4F20-C77B-4A31-AE2D-80D8E9383730}"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4" name="PlaceHolder 1"/>
          <p:cNvSpPr>
            <a:spLocks noGrp="1"/>
          </p:cNvSpPr>
          <p:nvPr>
            <p:ph type="sldImg"/>
          </p:nvPr>
        </p:nvSpPr>
        <p:spPr>
          <a:xfrm>
            <a:off x="685800" y="1143000"/>
            <a:ext cx="5484240" cy="3084120"/>
          </a:xfrm>
          <a:prstGeom prst="rect">
            <a:avLst/>
          </a:prstGeom>
          <a:ln w="0">
            <a:noFill/>
          </a:ln>
        </p:spPr>
      </p:sp>
      <p:sp>
        <p:nvSpPr>
          <p:cNvPr id="865"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une règle de correction proposée sans rôle destinataire n'est pas une décision.</a:t>
            </a:r>
            <a:endParaRPr lang="fr-FR" sz="2000" b="0" u="none" strike="noStrike">
              <a:solidFill>
                <a:srgbClr val="000000"/>
              </a:solidFill>
              <a:effectLst/>
              <a:uFillTx/>
              <a:latin typeface="Arial"/>
            </a:endParaRPr>
          </a:p>
        </p:txBody>
      </p:sp>
      <p:sp>
        <p:nvSpPr>
          <p:cNvPr id="866" name="PlaceHolder 3"/>
          <p:cNvSpPr>
            <a:spLocks noGrp="1"/>
          </p:cNvSpPr>
          <p:nvPr>
            <p:ph type="sldNum" idx="95"/>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5949502-8332-47B1-930E-6AEAEF73DB85}"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7" name="PlaceHolder 1"/>
          <p:cNvSpPr>
            <a:spLocks noGrp="1"/>
          </p:cNvSpPr>
          <p:nvPr>
            <p:ph type="sldImg"/>
          </p:nvPr>
        </p:nvSpPr>
        <p:spPr>
          <a:xfrm>
            <a:off x="685800" y="1143000"/>
            <a:ext cx="5484240" cy="3084120"/>
          </a:xfrm>
          <a:prstGeom prst="rect">
            <a:avLst/>
          </a:prstGeom>
          <a:ln w="0">
            <a:noFill/>
          </a:ln>
        </p:spPr>
      </p:sp>
      <p:sp>
        <p:nvSpPr>
          <p:cNvPr id="868"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cochez uniquement ce que vous pouvez montrer. Une case non cochée et expliquée vaut mieux qu'une case cochée sans preuve.</a:t>
            </a:r>
            <a:endParaRPr lang="fr-FR" sz="2000" b="0" u="none" strike="noStrike">
              <a:solidFill>
                <a:srgbClr val="000000"/>
              </a:solidFill>
              <a:effectLst/>
              <a:uFillTx/>
              <a:latin typeface="Arial"/>
            </a:endParaRPr>
          </a:p>
        </p:txBody>
      </p:sp>
      <p:sp>
        <p:nvSpPr>
          <p:cNvPr id="869" name="PlaceHolder 3"/>
          <p:cNvSpPr>
            <a:spLocks noGrp="1"/>
          </p:cNvSpPr>
          <p:nvPr>
            <p:ph type="sldNum" idx="96"/>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B2ACF0B-C0C3-460B-B1A0-4D257DA7E462}"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0" name="PlaceHolder 1"/>
          <p:cNvSpPr>
            <a:spLocks noGrp="1"/>
          </p:cNvSpPr>
          <p:nvPr>
            <p:ph type="sldImg"/>
          </p:nvPr>
        </p:nvSpPr>
        <p:spPr>
          <a:xfrm>
            <a:off x="685800" y="1143000"/>
            <a:ext cx="5484240" cy="3084120"/>
          </a:xfrm>
          <a:prstGeom prst="rect">
            <a:avLst/>
          </a:prstGeom>
          <a:ln w="0">
            <a:noFill/>
          </a:ln>
        </p:spPr>
      </p:sp>
      <p:sp>
        <p:nvSpPr>
          <p:cNvPr id="871"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indent="0" algn="l">
              <a:buNone/>
            </a:pPr>
            <a:endParaRPr lang="fr-FR" sz="1800" b="0" u="none" strike="noStrike">
              <a:solidFill>
                <a:srgbClr val="000000"/>
              </a:solidFill>
              <a:effectLst/>
              <a:uFillTx/>
              <a:latin typeface="Arial"/>
            </a:endParaRPr>
          </a:p>
        </p:txBody>
      </p:sp>
      <p:sp>
        <p:nvSpPr>
          <p:cNvPr id="872" name="PlaceHolder 3"/>
          <p:cNvSpPr>
            <a:spLocks noGrp="1"/>
          </p:cNvSpPr>
          <p:nvPr>
            <p:ph type="sldNum" idx="97"/>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6802730-CAA0-4F81-B1E9-76B355674318}"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3" name="PlaceHolder 1"/>
          <p:cNvSpPr>
            <a:spLocks noGrp="1"/>
          </p:cNvSpPr>
          <p:nvPr>
            <p:ph type="sldImg"/>
          </p:nvPr>
        </p:nvSpPr>
        <p:spPr>
          <a:xfrm>
            <a:off x="685800" y="1143000"/>
            <a:ext cx="5484240" cy="3084120"/>
          </a:xfrm>
          <a:prstGeom prst="rect">
            <a:avLst/>
          </a:prstGeom>
          <a:ln w="0">
            <a:noFill/>
          </a:ln>
        </p:spPr>
      </p:sp>
      <p:sp>
        <p:nvSpPr>
          <p:cNvPr id="874"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rien n'est supprimé en silence. Chaque ligne absente de silver est dans dq.rejets avec le code de sa règle.</a:t>
            </a:r>
            <a:endParaRPr lang="fr-FR" sz="2000" b="0" u="none" strike="noStrike">
              <a:solidFill>
                <a:srgbClr val="000000"/>
              </a:solidFill>
              <a:effectLst/>
              <a:uFillTx/>
              <a:latin typeface="Arial"/>
            </a:endParaRPr>
          </a:p>
        </p:txBody>
      </p:sp>
      <p:sp>
        <p:nvSpPr>
          <p:cNvPr id="875" name="PlaceHolder 3"/>
          <p:cNvSpPr>
            <a:spLocks noGrp="1"/>
          </p:cNvSpPr>
          <p:nvPr>
            <p:ph type="sldNum" idx="98"/>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0547CF2-B35D-47A8-8B21-FB5F4D7354F2}"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6" name="PlaceHolder 1"/>
          <p:cNvSpPr>
            <a:spLocks noGrp="1"/>
          </p:cNvSpPr>
          <p:nvPr>
            <p:ph type="sldImg"/>
          </p:nvPr>
        </p:nvSpPr>
        <p:spPr>
          <a:xfrm>
            <a:off x="685800" y="1143000"/>
            <a:ext cx="5484240" cy="3084120"/>
          </a:xfrm>
          <a:prstGeom prst="rect">
            <a:avLst/>
          </a:prstGeom>
          <a:ln w="0">
            <a:noFill/>
          </a:ln>
        </p:spPr>
      </p:sp>
      <p:sp>
        <p:nvSpPr>
          <p:cNvPr id="877"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une règle qui baisse de bronze à silver n'est pas forcément un bug. Cherchez d'abord un effet de la quarantaine (lignes devenues orphelines).</a:t>
            </a:r>
            <a:endParaRPr lang="fr-FR" sz="2000" b="0" u="none" strike="noStrike">
              <a:solidFill>
                <a:srgbClr val="000000"/>
              </a:solidFill>
              <a:effectLst/>
              <a:uFillTx/>
              <a:latin typeface="Arial"/>
            </a:endParaRPr>
          </a:p>
        </p:txBody>
      </p:sp>
      <p:sp>
        <p:nvSpPr>
          <p:cNvPr id="878" name="PlaceHolder 3"/>
          <p:cNvSpPr>
            <a:spLocks noGrp="1"/>
          </p:cNvSpPr>
          <p:nvPr>
            <p:ph type="sldNum" idx="99"/>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6C1CC7A-8A88-470F-96CE-57C24CE15578}"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9" name="PlaceHolder 1"/>
          <p:cNvSpPr>
            <a:spLocks noGrp="1"/>
          </p:cNvSpPr>
          <p:nvPr>
            <p:ph type="sldImg"/>
          </p:nvPr>
        </p:nvSpPr>
        <p:spPr>
          <a:xfrm>
            <a:off x="685800" y="1143000"/>
            <a:ext cx="5484240" cy="3084120"/>
          </a:xfrm>
          <a:prstGeom prst="rect">
            <a:avLst/>
          </a:prstGeom>
          <a:ln w="0">
            <a:noFill/>
          </a:ln>
        </p:spPr>
      </p:sp>
      <p:sp>
        <p:nvSpPr>
          <p:cNvPr id="880"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les seuils se défendent par la précision et le rappel mesurés, pas par un ressenti. Reportez-les dans le journal des décisions.</a:t>
            </a:r>
            <a:endParaRPr lang="fr-FR" sz="2000" b="0" u="none" strike="noStrike">
              <a:solidFill>
                <a:srgbClr val="000000"/>
              </a:solidFill>
              <a:effectLst/>
              <a:uFillTx/>
              <a:latin typeface="Arial"/>
            </a:endParaRPr>
          </a:p>
        </p:txBody>
      </p:sp>
      <p:sp>
        <p:nvSpPr>
          <p:cNvPr id="881" name="PlaceHolder 3"/>
          <p:cNvSpPr>
            <a:spLocks noGrp="1"/>
          </p:cNvSpPr>
          <p:nvPr>
            <p:ph type="sldNum" idx="100"/>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F6200DB-B551-46FE-A321-1A02B9A0DFB6}"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2" name="PlaceHolder 1"/>
          <p:cNvSpPr>
            <a:spLocks noGrp="1"/>
          </p:cNvSpPr>
          <p:nvPr>
            <p:ph type="sldImg"/>
          </p:nvPr>
        </p:nvSpPr>
        <p:spPr>
          <a:xfrm>
            <a:off x="685800" y="1143000"/>
            <a:ext cx="5484240" cy="3084120"/>
          </a:xfrm>
          <a:prstGeom prst="rect">
            <a:avLst/>
          </a:prstGeom>
          <a:ln w="0">
            <a:noFill/>
          </a:ln>
        </p:spPr>
      </p:sp>
      <p:sp>
        <p:nvSpPr>
          <p:cNvPr id="883"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la règle de survie est une décision de gouvernance, pas un détail technique.</a:t>
            </a:r>
            <a:endParaRPr lang="fr-FR" sz="2000" b="0" u="none" strike="noStrike">
              <a:solidFill>
                <a:srgbClr val="000000"/>
              </a:solidFill>
              <a:effectLst/>
              <a:uFillTx/>
              <a:latin typeface="Arial"/>
            </a:endParaRPr>
          </a:p>
        </p:txBody>
      </p:sp>
      <p:sp>
        <p:nvSpPr>
          <p:cNvPr id="884" name="PlaceHolder 3"/>
          <p:cNvSpPr>
            <a:spLocks noGrp="1"/>
          </p:cNvSpPr>
          <p:nvPr>
            <p:ph type="sldNum" idx="101"/>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A990D65-0B92-44B0-9C6E-9B40B5C1F613}"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5" name="PlaceHolder 1"/>
          <p:cNvSpPr>
            <a:spLocks noGrp="1"/>
          </p:cNvSpPr>
          <p:nvPr>
            <p:ph type="sldImg"/>
          </p:nvPr>
        </p:nvSpPr>
        <p:spPr>
          <a:xfrm>
            <a:off x="685800" y="1143000"/>
            <a:ext cx="5484240" cy="3084120"/>
          </a:xfrm>
          <a:prstGeom prst="rect">
            <a:avLst/>
          </a:prstGeom>
          <a:ln w="0">
            <a:noFill/>
          </a:ln>
        </p:spPr>
      </p:sp>
      <p:sp>
        <p:nvSpPr>
          <p:cNvPr id="886"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un constat expliqué (un contrat orphelin parce que son client a été mis en quarantaine) est un résultat, pas une erreur.</a:t>
            </a:r>
            <a:endParaRPr lang="fr-FR" sz="2000" b="0" u="none" strike="noStrike">
              <a:solidFill>
                <a:srgbClr val="000000"/>
              </a:solidFill>
              <a:effectLst/>
              <a:uFillTx/>
              <a:latin typeface="Arial"/>
            </a:endParaRPr>
          </a:p>
        </p:txBody>
      </p:sp>
      <p:sp>
        <p:nvSpPr>
          <p:cNvPr id="887" name="PlaceHolder 3"/>
          <p:cNvSpPr>
            <a:spLocks noGrp="1"/>
          </p:cNvSpPr>
          <p:nvPr>
            <p:ph type="sldNum" idx="102"/>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53220A3-1726-478B-84F4-6F0E78E64D1B}"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8" name="PlaceHolder 1"/>
          <p:cNvSpPr>
            <a:spLocks noGrp="1"/>
          </p:cNvSpPr>
          <p:nvPr>
            <p:ph type="sldImg"/>
          </p:nvPr>
        </p:nvSpPr>
        <p:spPr>
          <a:xfrm>
            <a:off x="685800" y="1143000"/>
            <a:ext cx="5484240" cy="3084120"/>
          </a:xfrm>
          <a:prstGeom prst="rect">
            <a:avLst/>
          </a:prstGeom>
          <a:ln w="0">
            <a:noFill/>
          </a:ln>
        </p:spPr>
      </p:sp>
      <p:sp>
        <p:nvSpPr>
          <p:cNvPr id="889"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trois lignes par cas suffisent : gold, silver, bronze, source. Un identifiant de lot est obligatoire.</a:t>
            </a:r>
            <a:endParaRPr lang="fr-FR" sz="2000" b="0" u="none" strike="noStrike">
              <a:solidFill>
                <a:srgbClr val="000000"/>
              </a:solidFill>
              <a:effectLst/>
              <a:uFillTx/>
              <a:latin typeface="Arial"/>
            </a:endParaRPr>
          </a:p>
        </p:txBody>
      </p:sp>
      <p:sp>
        <p:nvSpPr>
          <p:cNvPr id="890" name="PlaceHolder 3"/>
          <p:cNvSpPr>
            <a:spLocks noGrp="1"/>
          </p:cNvSpPr>
          <p:nvPr>
            <p:ph type="sldNum" idx="103"/>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C48D64E-2D37-489B-970A-C2F0E6777C3C}"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1" name="PlaceHolder 1"/>
          <p:cNvSpPr>
            <a:spLocks noGrp="1"/>
          </p:cNvSpPr>
          <p:nvPr>
            <p:ph type="sldImg"/>
          </p:nvPr>
        </p:nvSpPr>
        <p:spPr>
          <a:xfrm>
            <a:off x="685800" y="1143000"/>
            <a:ext cx="5484240" cy="3084120"/>
          </a:xfrm>
          <a:prstGeom prst="rect">
            <a:avLst/>
          </a:prstGeom>
          <a:ln w="0">
            <a:noFill/>
          </a:ln>
        </p:spPr>
      </p:sp>
      <p:sp>
        <p:nvSpPr>
          <p:cNvPr id="892"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cochez uniquement ce que vous pouvez montrer. Une case non cochée et expliquée vaut mieux qu'une case cochée sans preuve.</a:t>
            </a:r>
            <a:endParaRPr lang="fr-FR" sz="2000" b="0" u="none" strike="noStrike">
              <a:solidFill>
                <a:srgbClr val="000000"/>
              </a:solidFill>
              <a:effectLst/>
              <a:uFillTx/>
              <a:latin typeface="Arial"/>
            </a:endParaRPr>
          </a:p>
        </p:txBody>
      </p:sp>
      <p:sp>
        <p:nvSpPr>
          <p:cNvPr id="893" name="PlaceHolder 3"/>
          <p:cNvSpPr>
            <a:spLocks noGrp="1"/>
          </p:cNvSpPr>
          <p:nvPr>
            <p:ph type="sldNum" idx="104"/>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B42CA7F8-BC9B-4E76-8CD4-3D961ABDCB44}"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4" name="PlaceHolder 1"/>
          <p:cNvSpPr>
            <a:spLocks noGrp="1"/>
          </p:cNvSpPr>
          <p:nvPr>
            <p:ph type="sldImg"/>
          </p:nvPr>
        </p:nvSpPr>
        <p:spPr>
          <a:xfrm>
            <a:off x="685800" y="1143000"/>
            <a:ext cx="5484240" cy="3084120"/>
          </a:xfrm>
          <a:prstGeom prst="rect">
            <a:avLst/>
          </a:prstGeom>
          <a:ln w="0">
            <a:noFill/>
          </a:ln>
        </p:spPr>
      </p:sp>
      <p:sp>
        <p:nvSpPr>
          <p:cNvPr id="895"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indent="0" algn="l">
              <a:buNone/>
            </a:pPr>
            <a:endParaRPr lang="fr-FR" sz="1800" b="0" u="none" strike="noStrike">
              <a:solidFill>
                <a:srgbClr val="000000"/>
              </a:solidFill>
              <a:effectLst/>
              <a:uFillTx/>
              <a:latin typeface="Arial"/>
            </a:endParaRPr>
          </a:p>
        </p:txBody>
      </p:sp>
      <p:sp>
        <p:nvSpPr>
          <p:cNvPr id="896" name="PlaceHolder 3"/>
          <p:cNvSpPr>
            <a:spLocks noGrp="1"/>
          </p:cNvSpPr>
          <p:nvPr>
            <p:ph type="sldNum" idx="105"/>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FDF5467-6CD1-49B5-B583-BBA72D3EA75A}"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7" name="PlaceHolder 1"/>
          <p:cNvSpPr>
            <a:spLocks noGrp="1"/>
          </p:cNvSpPr>
          <p:nvPr>
            <p:ph type="sldImg"/>
          </p:nvPr>
        </p:nvSpPr>
        <p:spPr>
          <a:xfrm>
            <a:off x="685800" y="1143000"/>
            <a:ext cx="5484240" cy="3084120"/>
          </a:xfrm>
          <a:prstGeom prst="rect">
            <a:avLst/>
          </a:prstGeom>
          <a:ln w="0">
            <a:noFill/>
          </a:ln>
        </p:spPr>
      </p:sp>
      <p:sp>
        <p:nvSpPr>
          <p:cNvPr id="898"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insérez l'image des courbes dans la zone. Une courbe sans légende ni axe nommé n'est pas lisible par un non-technicien.</a:t>
            </a:r>
            <a:endParaRPr lang="fr-FR" sz="2000" b="0" u="none" strike="noStrike">
              <a:solidFill>
                <a:srgbClr val="000000"/>
              </a:solidFill>
              <a:effectLst/>
              <a:uFillTx/>
              <a:latin typeface="Arial"/>
            </a:endParaRPr>
          </a:p>
        </p:txBody>
      </p:sp>
      <p:sp>
        <p:nvSpPr>
          <p:cNvPr id="899" name="PlaceHolder 3"/>
          <p:cNvSpPr>
            <a:spLocks noGrp="1"/>
          </p:cNvSpPr>
          <p:nvPr>
            <p:ph type="sldNum" idx="106"/>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2836246-DD40-4444-A8BF-19FF5F2D6768}"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0" name="PlaceHolder 1"/>
          <p:cNvSpPr>
            <a:spLocks noGrp="1"/>
          </p:cNvSpPr>
          <p:nvPr>
            <p:ph type="sldImg"/>
          </p:nvPr>
        </p:nvSpPr>
        <p:spPr>
          <a:xfrm>
            <a:off x="685800" y="1143000"/>
            <a:ext cx="5484240" cy="3084120"/>
          </a:xfrm>
          <a:prstGeom prst="rect">
            <a:avLst/>
          </a:prstGeom>
          <a:ln w="0">
            <a:noFill/>
          </a:ln>
        </p:spPr>
      </p:sp>
      <p:sp>
        <p:nvSpPr>
          <p:cNvPr id="901"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un certificat qui ne mentionne pas ce qu'il ne couvre pas est trompeur. Listez les règles non mesurées.</a:t>
            </a:r>
            <a:endParaRPr lang="fr-FR" sz="2000" b="0" u="none" strike="noStrike">
              <a:solidFill>
                <a:srgbClr val="000000"/>
              </a:solidFill>
              <a:effectLst/>
              <a:uFillTx/>
              <a:latin typeface="Arial"/>
            </a:endParaRPr>
          </a:p>
        </p:txBody>
      </p:sp>
      <p:sp>
        <p:nvSpPr>
          <p:cNvPr id="902" name="PlaceHolder 3"/>
          <p:cNvSpPr>
            <a:spLocks noGrp="1"/>
          </p:cNvSpPr>
          <p:nvPr>
            <p:ph type="sldNum" idx="107"/>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DE68506-0261-437B-B6A1-FEFD6946007A}"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3" name="PlaceHolder 1"/>
          <p:cNvSpPr>
            <a:spLocks noGrp="1"/>
          </p:cNvSpPr>
          <p:nvPr>
            <p:ph type="sldImg"/>
          </p:nvPr>
        </p:nvSpPr>
        <p:spPr>
          <a:xfrm>
            <a:off x="685800" y="1143000"/>
            <a:ext cx="5484240" cy="3084120"/>
          </a:xfrm>
          <a:prstGeom prst="rect">
            <a:avLst/>
          </a:prstGeom>
          <a:ln w="0">
            <a:noFill/>
          </a:ln>
        </p:spPr>
      </p:sp>
      <p:sp>
        <p:nvSpPr>
          <p:cNvPr id="904"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la preuve d'un refus est le message du script, pas une capture du code.</a:t>
            </a:r>
            <a:endParaRPr lang="fr-FR" sz="2000" b="0" u="none" strike="noStrike">
              <a:solidFill>
                <a:srgbClr val="000000"/>
              </a:solidFill>
              <a:effectLst/>
              <a:uFillTx/>
              <a:latin typeface="Arial"/>
            </a:endParaRPr>
          </a:p>
        </p:txBody>
      </p:sp>
      <p:sp>
        <p:nvSpPr>
          <p:cNvPr id="905" name="PlaceHolder 3"/>
          <p:cNvSpPr>
            <a:spLocks noGrp="1"/>
          </p:cNvSpPr>
          <p:nvPr>
            <p:ph type="sldNum" idx="108"/>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B356342-53C1-4264-B14F-0CC2AEDFF9A6}"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6" name="PlaceHolder 1"/>
          <p:cNvSpPr>
            <a:spLocks noGrp="1"/>
          </p:cNvSpPr>
          <p:nvPr>
            <p:ph type="sldImg"/>
          </p:nvPr>
        </p:nvSpPr>
        <p:spPr>
          <a:xfrm>
            <a:off x="685800" y="1143000"/>
            <a:ext cx="5484240" cy="3084120"/>
          </a:xfrm>
          <a:prstGeom prst="rect">
            <a:avLst/>
          </a:prstGeom>
          <a:ln w="0">
            <a:noFill/>
          </a:ln>
        </p:spPr>
      </p:sp>
      <p:sp>
        <p:nvSpPr>
          <p:cNvPr id="907"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un lineage lisible va des sources à la table gold sans saut.</a:t>
            </a:r>
            <a:endParaRPr lang="fr-FR" sz="2000" b="0" u="none" strike="noStrike">
              <a:solidFill>
                <a:srgbClr val="000000"/>
              </a:solidFill>
              <a:effectLst/>
              <a:uFillTx/>
              <a:latin typeface="Arial"/>
            </a:endParaRPr>
          </a:p>
        </p:txBody>
      </p:sp>
      <p:sp>
        <p:nvSpPr>
          <p:cNvPr id="908" name="PlaceHolder 3"/>
          <p:cNvSpPr>
            <a:spLocks noGrp="1"/>
          </p:cNvSpPr>
          <p:nvPr>
            <p:ph type="sldNum" idx="109"/>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AF5235E-3391-4331-86A8-0302BF3238A9}"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9" name="PlaceHolder 1"/>
          <p:cNvSpPr>
            <a:spLocks noGrp="1"/>
          </p:cNvSpPr>
          <p:nvPr>
            <p:ph type="sldImg"/>
          </p:nvPr>
        </p:nvSpPr>
        <p:spPr>
          <a:xfrm>
            <a:off x="685800" y="1143000"/>
            <a:ext cx="5484240" cy="3084120"/>
          </a:xfrm>
          <a:prstGeom prst="rect">
            <a:avLst/>
          </a:prstGeom>
          <a:ln w="0">
            <a:noFill/>
          </a:ln>
        </p:spPr>
      </p:sp>
      <p:sp>
        <p:nvSpPr>
          <p:cNvPr id="910"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cochez uniquement ce que vous pouvez montrer. Une case non cochée et expliquée vaut mieux qu'une case cochée sans preuve.</a:t>
            </a:r>
            <a:endParaRPr lang="fr-FR" sz="2000" b="0" u="none" strike="noStrike">
              <a:solidFill>
                <a:srgbClr val="000000"/>
              </a:solidFill>
              <a:effectLst/>
              <a:uFillTx/>
              <a:latin typeface="Arial"/>
            </a:endParaRPr>
          </a:p>
        </p:txBody>
      </p:sp>
      <p:sp>
        <p:nvSpPr>
          <p:cNvPr id="911" name="PlaceHolder 3"/>
          <p:cNvSpPr>
            <a:spLocks noGrp="1"/>
          </p:cNvSpPr>
          <p:nvPr>
            <p:ph type="sldNum" idx="110"/>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84FC5ED-2B7C-4487-8593-FEE3D82975F8}"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2" name="PlaceHolder 1"/>
          <p:cNvSpPr>
            <a:spLocks noGrp="1"/>
          </p:cNvSpPr>
          <p:nvPr>
            <p:ph type="sldImg"/>
          </p:nvPr>
        </p:nvSpPr>
        <p:spPr>
          <a:xfrm>
            <a:off x="685800" y="1143000"/>
            <a:ext cx="5484240" cy="3084120"/>
          </a:xfrm>
          <a:prstGeom prst="rect">
            <a:avLst/>
          </a:prstGeom>
          <a:ln w="0">
            <a:noFill/>
          </a:ln>
        </p:spPr>
      </p:sp>
      <p:sp>
        <p:nvSpPr>
          <p:cNvPr id="913"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indent="0" algn="l">
              <a:buNone/>
            </a:pPr>
            <a:endParaRPr lang="fr-FR" sz="1800" b="0" u="none" strike="noStrike">
              <a:solidFill>
                <a:srgbClr val="000000"/>
              </a:solidFill>
              <a:effectLst/>
              <a:uFillTx/>
              <a:latin typeface="Arial"/>
            </a:endParaRPr>
          </a:p>
        </p:txBody>
      </p:sp>
      <p:sp>
        <p:nvSpPr>
          <p:cNvPr id="914" name="PlaceHolder 3"/>
          <p:cNvSpPr>
            <a:spLocks noGrp="1"/>
          </p:cNvSpPr>
          <p:nvPr>
            <p:ph type="sldNum" idx="111"/>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DD5CE6D-581E-4311-930C-9819687CB907}"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5" name="PlaceHolder 1"/>
          <p:cNvSpPr>
            <a:spLocks noGrp="1"/>
          </p:cNvSpPr>
          <p:nvPr>
            <p:ph type="sldImg"/>
          </p:nvPr>
        </p:nvSpPr>
        <p:spPr>
          <a:xfrm>
            <a:off x="685800" y="1143000"/>
            <a:ext cx="5484240" cy="3084120"/>
          </a:xfrm>
          <a:prstGeom prst="rect">
            <a:avLst/>
          </a:prstGeom>
          <a:ln w="0">
            <a:noFill/>
          </a:ln>
        </p:spPr>
      </p:sp>
      <p:sp>
        <p:nvSpPr>
          <p:cNvPr id="916"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ne présentez pas un GO que le certificat contredit. Un NO-GO bien argumenté vaut un GO bien argumenté.</a:t>
            </a:r>
            <a:endParaRPr lang="fr-FR" sz="2000" b="0" u="none" strike="noStrike">
              <a:solidFill>
                <a:srgbClr val="000000"/>
              </a:solidFill>
              <a:effectLst/>
              <a:uFillTx/>
              <a:latin typeface="Arial"/>
            </a:endParaRPr>
          </a:p>
        </p:txBody>
      </p:sp>
      <p:sp>
        <p:nvSpPr>
          <p:cNvPr id="917" name="PlaceHolder 3"/>
          <p:cNvSpPr>
            <a:spLocks noGrp="1"/>
          </p:cNvSpPr>
          <p:nvPr>
            <p:ph type="sldNum" idx="112"/>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17AEC24-1BA2-44CA-BB98-3D87D6E305ED}"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8" name="PlaceHolder 1"/>
          <p:cNvSpPr>
            <a:spLocks noGrp="1"/>
          </p:cNvSpPr>
          <p:nvPr>
            <p:ph type="sldImg"/>
          </p:nvPr>
        </p:nvSpPr>
        <p:spPr>
          <a:xfrm>
            <a:off x="685800" y="1143000"/>
            <a:ext cx="5484240" cy="3084120"/>
          </a:xfrm>
          <a:prstGeom prst="rect">
            <a:avLst/>
          </a:prstGeom>
          <a:ln w="0">
            <a:noFill/>
          </a:ln>
        </p:spPr>
      </p:sp>
      <p:sp>
        <p:nvSpPr>
          <p:cNvPr id="919"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les chiffres de cette page sont ceux de S5, sans retouche.</a:t>
            </a:r>
            <a:endParaRPr lang="fr-FR" sz="2000" b="0" u="none" strike="noStrike">
              <a:solidFill>
                <a:srgbClr val="000000"/>
              </a:solidFill>
              <a:effectLst/>
              <a:uFillTx/>
              <a:latin typeface="Arial"/>
            </a:endParaRPr>
          </a:p>
        </p:txBody>
      </p:sp>
      <p:sp>
        <p:nvSpPr>
          <p:cNvPr id="920" name="PlaceHolder 3"/>
          <p:cNvSpPr>
            <a:spLocks noGrp="1"/>
          </p:cNvSpPr>
          <p:nvPr>
            <p:ph type="sldNum" idx="113"/>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6E5A8B6-D7B3-44D6-8FF2-D478A969C53A}"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1" name="PlaceHolder 1"/>
          <p:cNvSpPr>
            <a:spLocks noGrp="1"/>
          </p:cNvSpPr>
          <p:nvPr>
            <p:ph type="sldImg"/>
          </p:nvPr>
        </p:nvSpPr>
        <p:spPr>
          <a:xfrm>
            <a:off x="685800" y="1143000"/>
            <a:ext cx="5484240" cy="3084120"/>
          </a:xfrm>
          <a:prstGeom prst="rect">
            <a:avLst/>
          </a:prstGeom>
          <a:ln w="0">
            <a:noFill/>
          </a:ln>
        </p:spPr>
      </p:sp>
      <p:sp>
        <p:nvSpPr>
          <p:cNvPr id="922"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un écart non chiffré n'est pas un écart, c'est une impression.</a:t>
            </a:r>
            <a:endParaRPr lang="fr-FR" sz="2000" b="0" u="none" strike="noStrike">
              <a:solidFill>
                <a:srgbClr val="000000"/>
              </a:solidFill>
              <a:effectLst/>
              <a:uFillTx/>
              <a:latin typeface="Arial"/>
            </a:endParaRPr>
          </a:p>
        </p:txBody>
      </p:sp>
      <p:sp>
        <p:nvSpPr>
          <p:cNvPr id="923" name="PlaceHolder 3"/>
          <p:cNvSpPr>
            <a:spLocks noGrp="1"/>
          </p:cNvSpPr>
          <p:nvPr>
            <p:ph type="sldNum" idx="114"/>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7145924C-76D1-4B42-ACC7-849A9F87C293}"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4" name="PlaceHolder 1"/>
          <p:cNvSpPr>
            <a:spLocks noGrp="1"/>
          </p:cNvSpPr>
          <p:nvPr>
            <p:ph type="sldImg"/>
          </p:nvPr>
        </p:nvSpPr>
        <p:spPr>
          <a:xfrm>
            <a:off x="685800" y="1143000"/>
            <a:ext cx="5484240" cy="3084120"/>
          </a:xfrm>
          <a:prstGeom prst="rect">
            <a:avLst/>
          </a:prstGeom>
          <a:ln w="0">
            <a:noFill/>
          </a:ln>
        </p:spPr>
      </p:sp>
      <p:sp>
        <p:nvSpPr>
          <p:cNvPr id="925"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la décision est attribuée à un rôle, pas au groupe.</a:t>
            </a:r>
            <a:endParaRPr lang="fr-FR" sz="2000" b="0" u="none" strike="noStrike">
              <a:solidFill>
                <a:srgbClr val="000000"/>
              </a:solidFill>
              <a:effectLst/>
              <a:uFillTx/>
              <a:latin typeface="Arial"/>
            </a:endParaRPr>
          </a:p>
        </p:txBody>
      </p:sp>
      <p:sp>
        <p:nvSpPr>
          <p:cNvPr id="926" name="PlaceHolder 3"/>
          <p:cNvSpPr>
            <a:spLocks noGrp="1"/>
          </p:cNvSpPr>
          <p:nvPr>
            <p:ph type="sldNum" idx="115"/>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A1E016A-6177-40C7-A1B6-9D76C5CCBA59}"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7" name="PlaceHolder 1"/>
          <p:cNvSpPr>
            <a:spLocks noGrp="1"/>
          </p:cNvSpPr>
          <p:nvPr>
            <p:ph type="sldImg"/>
          </p:nvPr>
        </p:nvSpPr>
        <p:spPr>
          <a:xfrm>
            <a:off x="685800" y="1143000"/>
            <a:ext cx="5484240" cy="3084120"/>
          </a:xfrm>
          <a:prstGeom prst="rect">
            <a:avLst/>
          </a:prstGeom>
          <a:ln w="0">
            <a:noFill/>
          </a:ln>
        </p:spPr>
      </p:sp>
      <p:sp>
        <p:nvSpPr>
          <p:cNvPr id="928"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indent="0" algn="l">
              <a:buNone/>
            </a:pPr>
            <a:endParaRPr lang="fr-FR" sz="1800" b="0" u="none" strike="noStrike">
              <a:solidFill>
                <a:srgbClr val="000000"/>
              </a:solidFill>
              <a:effectLst/>
              <a:uFillTx/>
              <a:latin typeface="Arial"/>
            </a:endParaRPr>
          </a:p>
        </p:txBody>
      </p:sp>
      <p:sp>
        <p:nvSpPr>
          <p:cNvPr id="929" name="PlaceHolder 3"/>
          <p:cNvSpPr>
            <a:spLocks noGrp="1"/>
          </p:cNvSpPr>
          <p:nvPr>
            <p:ph type="sldNum" idx="116"/>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AC44B67-1A91-41EF-A153-EE056CF380BB}"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0" name="PlaceHolder 1"/>
          <p:cNvSpPr>
            <a:spLocks noGrp="1"/>
          </p:cNvSpPr>
          <p:nvPr>
            <p:ph type="sldImg"/>
          </p:nvPr>
        </p:nvSpPr>
        <p:spPr>
          <a:xfrm>
            <a:off x="685800" y="1143000"/>
            <a:ext cx="5484240" cy="3084120"/>
          </a:xfrm>
          <a:prstGeom prst="rect">
            <a:avLst/>
          </a:prstGeom>
          <a:ln w="0">
            <a:noFill/>
          </a:ln>
        </p:spPr>
      </p:sp>
      <p:sp>
        <p:nvSpPr>
          <p:cNvPr id="931"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Ce journal doit être identique à celui du dépôt (livrables/JOURNAL_DECISIONS.md).</a:t>
            </a:r>
            <a:endParaRPr lang="fr-FR" sz="2000" b="0" u="none" strike="noStrike">
              <a:solidFill>
                <a:srgbClr val="000000"/>
              </a:solidFill>
              <a:effectLst/>
              <a:uFillTx/>
              <a:latin typeface="Arial"/>
            </a:endParaRPr>
          </a:p>
        </p:txBody>
      </p:sp>
      <p:sp>
        <p:nvSpPr>
          <p:cNvPr id="932" name="PlaceHolder 3"/>
          <p:cNvSpPr>
            <a:spLocks noGrp="1"/>
          </p:cNvSpPr>
          <p:nvPr>
            <p:ph type="sldNum" idx="117"/>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9F609CB-9D76-4DEE-AFB7-2CEF898170CF}"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3" name="PlaceHolder 1"/>
          <p:cNvSpPr>
            <a:spLocks noGrp="1"/>
          </p:cNvSpPr>
          <p:nvPr>
            <p:ph type="sldImg"/>
          </p:nvPr>
        </p:nvSpPr>
        <p:spPr>
          <a:xfrm>
            <a:off x="685800" y="1143000"/>
            <a:ext cx="5484240" cy="3084120"/>
          </a:xfrm>
          <a:prstGeom prst="rect">
            <a:avLst/>
          </a:prstGeom>
          <a:ln w="0">
            <a:noFill/>
          </a:ln>
        </p:spPr>
      </p:sp>
      <p:sp>
        <p:nvSpPr>
          <p:cNvPr id="934"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Reprenez les totaux de AVANCEMENT.md.</a:t>
            </a:r>
            <a:endParaRPr lang="fr-FR" sz="2000" b="0" u="none" strike="noStrike">
              <a:solidFill>
                <a:srgbClr val="000000"/>
              </a:solidFill>
              <a:effectLst/>
              <a:uFillTx/>
              <a:latin typeface="Arial"/>
            </a:endParaRPr>
          </a:p>
        </p:txBody>
      </p:sp>
      <p:sp>
        <p:nvSpPr>
          <p:cNvPr id="935" name="PlaceHolder 3"/>
          <p:cNvSpPr>
            <a:spLocks noGrp="1"/>
          </p:cNvSpPr>
          <p:nvPr>
            <p:ph type="sldNum" idx="118"/>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B08C1146-8D11-47BE-9129-0124C1696C51}"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6" name="PlaceHolder 1"/>
          <p:cNvSpPr>
            <a:spLocks noGrp="1"/>
          </p:cNvSpPr>
          <p:nvPr>
            <p:ph type="sldImg"/>
          </p:nvPr>
        </p:nvSpPr>
        <p:spPr>
          <a:xfrm>
            <a:off x="685800" y="1143000"/>
            <a:ext cx="5484240" cy="3084120"/>
          </a:xfrm>
          <a:prstGeom prst="rect">
            <a:avLst/>
          </a:prstGeom>
          <a:ln w="0">
            <a:noFill/>
          </a:ln>
        </p:spPr>
      </p:sp>
      <p:sp>
        <p:nvSpPr>
          <p:cNvPr id="937"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Les étiquettes fixent l'état rendu à la fin de chaque séance.</a:t>
            </a:r>
            <a:endParaRPr lang="fr-FR" sz="2000" b="0" u="none" strike="noStrike">
              <a:solidFill>
                <a:srgbClr val="000000"/>
              </a:solidFill>
              <a:effectLst/>
              <a:uFillTx/>
              <a:latin typeface="Arial"/>
            </a:endParaRPr>
          </a:p>
        </p:txBody>
      </p:sp>
      <p:sp>
        <p:nvSpPr>
          <p:cNvPr id="938" name="PlaceHolder 3"/>
          <p:cNvSpPr>
            <a:spLocks noGrp="1"/>
          </p:cNvSpPr>
          <p:nvPr>
            <p:ph type="sldNum" idx="119"/>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ED026C-1409-4917-8133-D08D6F6825A6}"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9" name="PlaceHolder 1"/>
          <p:cNvSpPr>
            <a:spLocks noGrp="1"/>
          </p:cNvSpPr>
          <p:nvPr>
            <p:ph type="sldImg"/>
          </p:nvPr>
        </p:nvSpPr>
        <p:spPr>
          <a:xfrm>
            <a:off x="685800" y="1143000"/>
            <a:ext cx="5484240" cy="3084120"/>
          </a:xfrm>
          <a:prstGeom prst="rect">
            <a:avLst/>
          </a:prstGeom>
          <a:ln w="0">
            <a:noFill/>
          </a:ln>
        </p:spPr>
      </p:sp>
      <p:sp>
        <p:nvSpPr>
          <p:cNvPr id="940" name="PlaceHolder 2"/>
          <p:cNvSpPr>
            <a:spLocks noGrp="1"/>
          </p:cNvSpPr>
          <p:nvPr>
            <p:ph type="body"/>
          </p:nvPr>
        </p:nvSpPr>
        <p:spPr>
          <a:xfrm>
            <a:off x="685800" y="4400640"/>
            <a:ext cx="5484240" cy="359820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Cochez en remplaçant [ ] par [x].</a:t>
            </a:r>
            <a:endParaRPr lang="fr-FR" sz="2000" b="0" u="none" strike="noStrike">
              <a:solidFill>
                <a:srgbClr val="000000"/>
              </a:solidFill>
              <a:effectLst/>
              <a:uFillTx/>
              <a:latin typeface="Arial"/>
            </a:endParaRPr>
          </a:p>
        </p:txBody>
      </p:sp>
      <p:sp>
        <p:nvSpPr>
          <p:cNvPr id="941" name="PlaceHolder 3"/>
          <p:cNvSpPr>
            <a:spLocks noGrp="1"/>
          </p:cNvSpPr>
          <p:nvPr>
            <p:ph type="sldNum" idx="120"/>
          </p:nvPr>
        </p:nvSpPr>
        <p:spPr>
          <a:xfrm>
            <a:off x="3884760" y="8685360"/>
            <a:ext cx="2969640" cy="456480"/>
          </a:xfrm>
          <a:prstGeom prst="rect">
            <a:avLst/>
          </a:prstGeom>
          <a:noFill/>
          <a:ln w="0">
            <a:noFill/>
          </a:ln>
        </p:spPr>
        <p:txBody>
          <a:bodyPr lIns="0" tIns="0" rIns="0" bIns="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B2F02D-8C3C-496E-A13D-D7C6CB11034C}"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Title, 2 Content and Content">
    <p:bg>
      <p:bgPr>
        <a:solidFill>
          <a:srgbClr val="0D1B2A"/>
        </a:solidFill>
      </p:bgPr>
    </p:bg>
    <p:spTree>
      <p:nvGrpSpPr>
        <p:cNvPr id="1" name=""/>
        <p:cNvGrpSpPr/>
        <p:nvPr/>
      </p:nvGrpSpPr>
      <p:grpSpPr>
        <a:xfrm>
          <a:off x="0" y="0"/>
          <a:ext cx="0" cy="0"/>
          <a:chOff x="0" y="0"/>
          <a:chExt cx="0" cy="0"/>
        </a:xfrm>
      </p:grpSpPr>
      <p:pic>
        <p:nvPicPr>
          <p:cNvPr id="2" name="Image 0" descr="img/deco_dark.png"/>
          <p:cNvPicPr/>
          <p:nvPr/>
        </p:nvPicPr>
        <p:blipFill>
          <a:blip r:embed="rId2"/>
          <a:stretch/>
        </p:blipFill>
        <p:spPr>
          <a:xfrm>
            <a:off x="6949440" y="1097280"/>
            <a:ext cx="4752720" cy="4752720"/>
          </a:xfrm>
          <a:prstGeom prst="rect">
            <a:avLst/>
          </a:prstGeom>
          <a:noFill/>
          <a:ln w="0">
            <a:noFill/>
          </a:ln>
        </p:spPr>
      </p:pic>
      <p:pic>
        <p:nvPicPr>
          <p:cNvPr id="3" name="Image 1" descr="img/logo_dark.png"/>
          <p:cNvPicPr/>
          <p:nvPr/>
        </p:nvPicPr>
        <p:blipFill>
          <a:blip r:embed="rId3"/>
          <a:stretch/>
        </p:blipFill>
        <p:spPr>
          <a:xfrm>
            <a:off x="640080" y="640080"/>
            <a:ext cx="3472560" cy="729360"/>
          </a:xfrm>
          <a:prstGeom prst="rect">
            <a:avLst/>
          </a:prstGeom>
          <a:noFill/>
          <a:ln w="0">
            <a:noFill/>
          </a:ln>
        </p:spPr>
      </p:pic>
      <p:sp>
        <p:nvSpPr>
          <p:cNvPr id="4" name="Shape 0"/>
          <p:cNvSpPr/>
          <p:nvPr/>
        </p:nvSpPr>
        <p:spPr>
          <a:xfrm>
            <a:off x="640080" y="214884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
        <p:nvSpPr>
          <p:cNvPr id="5"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6" name="PlaceHolder 2"/>
          <p:cNvSpPr>
            <a:spLocks noGrp="1"/>
          </p:cNvSpPr>
          <p:nvPr>
            <p:ph type="body"/>
          </p:nvPr>
        </p:nvSpPr>
        <p:spPr>
          <a:xfrm>
            <a:off x="609480" y="160452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7" name="PlaceHolder 3"/>
          <p:cNvSpPr>
            <a:spLocks noGrp="1"/>
          </p:cNvSpPr>
          <p:nvPr>
            <p:ph type="body"/>
          </p:nvPr>
        </p:nvSpPr>
        <p:spPr>
          <a:xfrm>
            <a:off x="6231960" y="1604520"/>
            <a:ext cx="5353920" cy="3976920"/>
          </a:xfrm>
          <a:prstGeom prst="rect">
            <a:avLst/>
          </a:prstGeom>
          <a:noFill/>
          <a:ln w="0">
            <a:noFill/>
          </a:ln>
        </p:spPr>
        <p:txBody>
          <a:bodyPr lIns="0" tIns="0" rIns="0" bIns="0" anchor="t">
            <a:normAutofit/>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8" name="PlaceHolder 4"/>
          <p:cNvSpPr>
            <a:spLocks noGrp="1"/>
          </p:cNvSpPr>
          <p:nvPr>
            <p:ph type="body"/>
          </p:nvPr>
        </p:nvSpPr>
        <p:spPr>
          <a:xfrm>
            <a:off x="609480" y="368208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Tree>
  </p:cSld>
  <p:clrMapOvr>
    <a:masterClrMapping/>
  </p:clrMapOvr>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Title Content and 2 Content">
    <p:bg>
      <p:bgPr>
        <a:solidFill>
          <a:srgbClr val="0D1B2A"/>
        </a:solidFill>
      </p:bgPr>
    </p:bg>
    <p:spTree>
      <p:nvGrpSpPr>
        <p:cNvPr id="1" name=""/>
        <p:cNvGrpSpPr/>
        <p:nvPr/>
      </p:nvGrpSpPr>
      <p:grpSpPr>
        <a:xfrm>
          <a:off x="0" y="0"/>
          <a:ext cx="0" cy="0"/>
          <a:chOff x="0" y="0"/>
          <a:chExt cx="0" cy="0"/>
        </a:xfrm>
      </p:grpSpPr>
      <p:pic>
        <p:nvPicPr>
          <p:cNvPr id="9" name="Image 0" descr="img/deco_dark.png"/>
          <p:cNvPicPr/>
          <p:nvPr/>
        </p:nvPicPr>
        <p:blipFill>
          <a:blip r:embed="rId2"/>
          <a:stretch/>
        </p:blipFill>
        <p:spPr>
          <a:xfrm>
            <a:off x="6949440" y="1097280"/>
            <a:ext cx="4752720" cy="4752720"/>
          </a:xfrm>
          <a:prstGeom prst="rect">
            <a:avLst/>
          </a:prstGeom>
          <a:noFill/>
          <a:ln w="0">
            <a:noFill/>
          </a:ln>
        </p:spPr>
      </p:pic>
      <p:pic>
        <p:nvPicPr>
          <p:cNvPr id="10" name="Image 1" descr="img/logo_dark.png"/>
          <p:cNvPicPr/>
          <p:nvPr/>
        </p:nvPicPr>
        <p:blipFill>
          <a:blip r:embed="rId3"/>
          <a:stretch/>
        </p:blipFill>
        <p:spPr>
          <a:xfrm>
            <a:off x="640080" y="640080"/>
            <a:ext cx="3472560" cy="729360"/>
          </a:xfrm>
          <a:prstGeom prst="rect">
            <a:avLst/>
          </a:prstGeom>
          <a:noFill/>
          <a:ln w="0">
            <a:noFill/>
          </a:ln>
        </p:spPr>
      </p:pic>
      <p:sp>
        <p:nvSpPr>
          <p:cNvPr id="11" name="Shape 0"/>
          <p:cNvSpPr/>
          <p:nvPr/>
        </p:nvSpPr>
        <p:spPr>
          <a:xfrm>
            <a:off x="640080" y="214884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
        <p:nvSpPr>
          <p:cNvPr id="12"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3" name="PlaceHolder 2"/>
          <p:cNvSpPr>
            <a:spLocks noGrp="1"/>
          </p:cNvSpPr>
          <p:nvPr>
            <p:ph type="body"/>
          </p:nvPr>
        </p:nvSpPr>
        <p:spPr>
          <a:xfrm>
            <a:off x="609480" y="1604520"/>
            <a:ext cx="5353920" cy="3976920"/>
          </a:xfrm>
          <a:prstGeom prst="rect">
            <a:avLst/>
          </a:prstGeom>
          <a:noFill/>
          <a:ln w="0">
            <a:noFill/>
          </a:ln>
        </p:spPr>
        <p:txBody>
          <a:bodyPr lIns="0" tIns="0" rIns="0" bIns="0" anchor="t">
            <a:normAutofit/>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4" name="PlaceHolder 3"/>
          <p:cNvSpPr>
            <a:spLocks noGrp="1"/>
          </p:cNvSpPr>
          <p:nvPr>
            <p:ph type="body"/>
          </p:nvPr>
        </p:nvSpPr>
        <p:spPr>
          <a:xfrm>
            <a:off x="6231960" y="160452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5" name="PlaceHolder 4"/>
          <p:cNvSpPr>
            <a:spLocks noGrp="1"/>
          </p:cNvSpPr>
          <p:nvPr>
            <p:ph type="body"/>
          </p:nvPr>
        </p:nvSpPr>
        <p:spPr>
          <a:xfrm>
            <a:off x="6231960" y="368208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Tree>
  </p:cSld>
  <p:clrMapOvr>
    <a:masterClrMapping/>
  </p:clrMapOvr>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bg>
      <p:bgPr>
        <a:solidFill>
          <a:srgbClr val="0D1B2A"/>
        </a:solidFill>
      </p:bgPr>
    </p:bg>
    <p:spTree>
      <p:nvGrpSpPr>
        <p:cNvPr id="1" name=""/>
        <p:cNvGrpSpPr/>
        <p:nvPr/>
      </p:nvGrpSpPr>
      <p:grpSpPr>
        <a:xfrm>
          <a:off x="0" y="0"/>
          <a:ext cx="0" cy="0"/>
          <a:chOff x="0" y="0"/>
          <a:chExt cx="0" cy="0"/>
        </a:xfrm>
      </p:grpSpPr>
      <p:pic>
        <p:nvPicPr>
          <p:cNvPr id="16" name="Image 0" descr="img/deco_dark.png"/>
          <p:cNvPicPr/>
          <p:nvPr/>
        </p:nvPicPr>
        <p:blipFill>
          <a:blip r:embed="rId2"/>
          <a:stretch/>
        </p:blipFill>
        <p:spPr>
          <a:xfrm>
            <a:off x="6949440" y="1097280"/>
            <a:ext cx="4752720" cy="4752720"/>
          </a:xfrm>
          <a:prstGeom prst="rect">
            <a:avLst/>
          </a:prstGeom>
          <a:noFill/>
          <a:ln w="0">
            <a:noFill/>
          </a:ln>
        </p:spPr>
      </p:pic>
      <p:pic>
        <p:nvPicPr>
          <p:cNvPr id="17" name="Image 1" descr="img/logo_dark.png"/>
          <p:cNvPicPr/>
          <p:nvPr/>
        </p:nvPicPr>
        <p:blipFill>
          <a:blip r:embed="rId3"/>
          <a:stretch/>
        </p:blipFill>
        <p:spPr>
          <a:xfrm>
            <a:off x="640080" y="640080"/>
            <a:ext cx="3472560" cy="729360"/>
          </a:xfrm>
          <a:prstGeom prst="rect">
            <a:avLst/>
          </a:prstGeom>
          <a:noFill/>
          <a:ln w="0">
            <a:noFill/>
          </a:ln>
        </p:spPr>
      </p:pic>
      <p:sp>
        <p:nvSpPr>
          <p:cNvPr id="18" name="Shape 0"/>
          <p:cNvSpPr/>
          <p:nvPr/>
        </p:nvSpPr>
        <p:spPr>
          <a:xfrm>
            <a:off x="640080" y="214884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
        <p:nvSpPr>
          <p:cNvPr id="19"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20" name="PlaceHolder 2"/>
          <p:cNvSpPr>
            <a:spLocks noGrp="1"/>
          </p:cNvSpPr>
          <p:nvPr>
            <p:ph type="body"/>
          </p:nvPr>
        </p:nvSpPr>
        <p:spPr>
          <a:xfrm>
            <a:off x="609480" y="160452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21" name="PlaceHolder 3"/>
          <p:cNvSpPr>
            <a:spLocks noGrp="1"/>
          </p:cNvSpPr>
          <p:nvPr>
            <p:ph type="body"/>
          </p:nvPr>
        </p:nvSpPr>
        <p:spPr>
          <a:xfrm>
            <a:off x="6231960" y="160452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22" name="PlaceHolder 4"/>
          <p:cNvSpPr>
            <a:spLocks noGrp="1"/>
          </p:cNvSpPr>
          <p:nvPr>
            <p:ph type="body"/>
          </p:nvPr>
        </p:nvSpPr>
        <p:spPr>
          <a:xfrm>
            <a:off x="609480" y="3682080"/>
            <a:ext cx="1097208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Tree>
  </p:cSld>
  <p:clrMapOvr>
    <a:masterClrMapping/>
  </p:clrMapOvr>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bg>
      <p:bgPr>
        <a:solidFill>
          <a:srgbClr val="0D1B2A"/>
        </a:solidFill>
      </p:bgPr>
    </p:bg>
    <p:spTree>
      <p:nvGrpSpPr>
        <p:cNvPr id="1" name=""/>
        <p:cNvGrpSpPr/>
        <p:nvPr/>
      </p:nvGrpSpPr>
      <p:grpSpPr>
        <a:xfrm>
          <a:off x="0" y="0"/>
          <a:ext cx="0" cy="0"/>
          <a:chOff x="0" y="0"/>
          <a:chExt cx="0" cy="0"/>
        </a:xfrm>
      </p:grpSpPr>
      <p:pic>
        <p:nvPicPr>
          <p:cNvPr id="23" name="Image 0" descr="img/deco_dark.png"/>
          <p:cNvPicPr/>
          <p:nvPr/>
        </p:nvPicPr>
        <p:blipFill>
          <a:blip r:embed="rId2"/>
          <a:stretch/>
        </p:blipFill>
        <p:spPr>
          <a:xfrm>
            <a:off x="6949440" y="1097280"/>
            <a:ext cx="4752720" cy="4752720"/>
          </a:xfrm>
          <a:prstGeom prst="rect">
            <a:avLst/>
          </a:prstGeom>
          <a:noFill/>
          <a:ln w="0">
            <a:noFill/>
          </a:ln>
        </p:spPr>
      </p:pic>
      <p:pic>
        <p:nvPicPr>
          <p:cNvPr id="24" name="Image 1" descr="img/logo_dark.png"/>
          <p:cNvPicPr/>
          <p:nvPr/>
        </p:nvPicPr>
        <p:blipFill>
          <a:blip r:embed="rId3"/>
          <a:stretch/>
        </p:blipFill>
        <p:spPr>
          <a:xfrm>
            <a:off x="640080" y="640080"/>
            <a:ext cx="3472560" cy="729360"/>
          </a:xfrm>
          <a:prstGeom prst="rect">
            <a:avLst/>
          </a:prstGeom>
          <a:noFill/>
          <a:ln w="0">
            <a:noFill/>
          </a:ln>
        </p:spPr>
      </p:pic>
      <p:sp>
        <p:nvSpPr>
          <p:cNvPr id="25" name="Shape 0"/>
          <p:cNvSpPr/>
          <p:nvPr/>
        </p:nvSpPr>
        <p:spPr>
          <a:xfrm>
            <a:off x="640080" y="214884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
        <p:nvSpPr>
          <p:cNvPr id="26"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27" name="PlaceHolder 2"/>
          <p:cNvSpPr>
            <a:spLocks noGrp="1"/>
          </p:cNvSpPr>
          <p:nvPr>
            <p:ph type="body"/>
          </p:nvPr>
        </p:nvSpPr>
        <p:spPr>
          <a:xfrm>
            <a:off x="609480" y="1604520"/>
            <a:ext cx="1097208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28" name="PlaceHolder 3"/>
          <p:cNvSpPr>
            <a:spLocks noGrp="1"/>
          </p:cNvSpPr>
          <p:nvPr>
            <p:ph type="body"/>
          </p:nvPr>
        </p:nvSpPr>
        <p:spPr>
          <a:xfrm>
            <a:off x="609480" y="3682080"/>
            <a:ext cx="1097208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Tree>
  </p:cSld>
  <p:clrMapOvr>
    <a:masterClrMapping/>
  </p:clrMapOvr>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bg>
      <p:bgPr>
        <a:solidFill>
          <a:srgbClr val="0D1B2A"/>
        </a:solidFill>
      </p:bgPr>
    </p:bg>
    <p:spTree>
      <p:nvGrpSpPr>
        <p:cNvPr id="1" name=""/>
        <p:cNvGrpSpPr/>
        <p:nvPr/>
      </p:nvGrpSpPr>
      <p:grpSpPr>
        <a:xfrm>
          <a:off x="0" y="0"/>
          <a:ext cx="0" cy="0"/>
          <a:chOff x="0" y="0"/>
          <a:chExt cx="0" cy="0"/>
        </a:xfrm>
      </p:grpSpPr>
      <p:pic>
        <p:nvPicPr>
          <p:cNvPr id="29" name="Image 0" descr="img/deco_dark.png"/>
          <p:cNvPicPr/>
          <p:nvPr/>
        </p:nvPicPr>
        <p:blipFill>
          <a:blip r:embed="rId2"/>
          <a:stretch/>
        </p:blipFill>
        <p:spPr>
          <a:xfrm>
            <a:off x="6949440" y="1097280"/>
            <a:ext cx="4752720" cy="4752720"/>
          </a:xfrm>
          <a:prstGeom prst="rect">
            <a:avLst/>
          </a:prstGeom>
          <a:noFill/>
          <a:ln w="0">
            <a:noFill/>
          </a:ln>
        </p:spPr>
      </p:pic>
      <p:pic>
        <p:nvPicPr>
          <p:cNvPr id="30" name="Image 1" descr="img/logo_dark.png"/>
          <p:cNvPicPr/>
          <p:nvPr/>
        </p:nvPicPr>
        <p:blipFill>
          <a:blip r:embed="rId3"/>
          <a:stretch/>
        </p:blipFill>
        <p:spPr>
          <a:xfrm>
            <a:off x="640080" y="640080"/>
            <a:ext cx="3472560" cy="729360"/>
          </a:xfrm>
          <a:prstGeom prst="rect">
            <a:avLst/>
          </a:prstGeom>
          <a:noFill/>
          <a:ln w="0">
            <a:noFill/>
          </a:ln>
        </p:spPr>
      </p:pic>
      <p:sp>
        <p:nvSpPr>
          <p:cNvPr id="31" name="Shape 0"/>
          <p:cNvSpPr/>
          <p:nvPr/>
        </p:nvSpPr>
        <p:spPr>
          <a:xfrm>
            <a:off x="640080" y="214884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
        <p:nvSpPr>
          <p:cNvPr id="32"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33" name="PlaceHolder 2"/>
          <p:cNvSpPr>
            <a:spLocks noGrp="1"/>
          </p:cNvSpPr>
          <p:nvPr>
            <p:ph type="body"/>
          </p:nvPr>
        </p:nvSpPr>
        <p:spPr>
          <a:xfrm>
            <a:off x="609480" y="160452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34" name="PlaceHolder 3"/>
          <p:cNvSpPr>
            <a:spLocks noGrp="1"/>
          </p:cNvSpPr>
          <p:nvPr>
            <p:ph type="body"/>
          </p:nvPr>
        </p:nvSpPr>
        <p:spPr>
          <a:xfrm>
            <a:off x="6231960" y="160452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35" name="PlaceHolder 4"/>
          <p:cNvSpPr>
            <a:spLocks noGrp="1"/>
          </p:cNvSpPr>
          <p:nvPr>
            <p:ph type="body"/>
          </p:nvPr>
        </p:nvSpPr>
        <p:spPr>
          <a:xfrm>
            <a:off x="609480" y="368208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36" name="PlaceHolder 5"/>
          <p:cNvSpPr>
            <a:spLocks noGrp="1"/>
          </p:cNvSpPr>
          <p:nvPr>
            <p:ph type="body"/>
          </p:nvPr>
        </p:nvSpPr>
        <p:spPr>
          <a:xfrm>
            <a:off x="6231960" y="368208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Tree>
  </p:cSld>
  <p:clrMapOvr>
    <a:masterClrMapping/>
  </p:clrMapOvr>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bg>
      <p:bgPr>
        <a:solidFill>
          <a:srgbClr val="0D1B2A"/>
        </a:solidFill>
      </p:bgPr>
    </p:bg>
    <p:spTree>
      <p:nvGrpSpPr>
        <p:cNvPr id="1" name=""/>
        <p:cNvGrpSpPr/>
        <p:nvPr/>
      </p:nvGrpSpPr>
      <p:grpSpPr>
        <a:xfrm>
          <a:off x="0" y="0"/>
          <a:ext cx="0" cy="0"/>
          <a:chOff x="0" y="0"/>
          <a:chExt cx="0" cy="0"/>
        </a:xfrm>
      </p:grpSpPr>
      <p:pic>
        <p:nvPicPr>
          <p:cNvPr id="37" name="Image 0" descr="img/deco_dark.png"/>
          <p:cNvPicPr/>
          <p:nvPr/>
        </p:nvPicPr>
        <p:blipFill>
          <a:blip r:embed="rId2"/>
          <a:stretch/>
        </p:blipFill>
        <p:spPr>
          <a:xfrm>
            <a:off x="6949440" y="1097280"/>
            <a:ext cx="4752720" cy="4752720"/>
          </a:xfrm>
          <a:prstGeom prst="rect">
            <a:avLst/>
          </a:prstGeom>
          <a:noFill/>
          <a:ln w="0">
            <a:noFill/>
          </a:ln>
        </p:spPr>
      </p:pic>
      <p:pic>
        <p:nvPicPr>
          <p:cNvPr id="38" name="Image 1" descr="img/logo_dark.png"/>
          <p:cNvPicPr/>
          <p:nvPr/>
        </p:nvPicPr>
        <p:blipFill>
          <a:blip r:embed="rId3"/>
          <a:stretch/>
        </p:blipFill>
        <p:spPr>
          <a:xfrm>
            <a:off x="640080" y="640080"/>
            <a:ext cx="3472560" cy="729360"/>
          </a:xfrm>
          <a:prstGeom prst="rect">
            <a:avLst/>
          </a:prstGeom>
          <a:noFill/>
          <a:ln w="0">
            <a:noFill/>
          </a:ln>
        </p:spPr>
      </p:pic>
      <p:sp>
        <p:nvSpPr>
          <p:cNvPr id="39" name="Shape 0"/>
          <p:cNvSpPr/>
          <p:nvPr/>
        </p:nvSpPr>
        <p:spPr>
          <a:xfrm>
            <a:off x="640080" y="214884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
        <p:nvSpPr>
          <p:cNvPr id="40"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41" name="PlaceHolder 2"/>
          <p:cNvSpPr>
            <a:spLocks noGrp="1"/>
          </p:cNvSpPr>
          <p:nvPr>
            <p:ph type="body"/>
          </p:nvPr>
        </p:nvSpPr>
        <p:spPr>
          <a:xfrm>
            <a:off x="609480" y="1604520"/>
            <a:ext cx="3532680" cy="1896480"/>
          </a:xfrm>
          <a:prstGeom prst="rect">
            <a:avLst/>
          </a:prstGeom>
          <a:noFill/>
          <a:ln w="0">
            <a:noFill/>
          </a:ln>
        </p:spPr>
        <p:txBody>
          <a:bodyPr lIns="0" tIns="0" rIns="0" bIns="0" anchor="t">
            <a:normAutofit fontScale="62500" lnSpcReduction="1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42" name="PlaceHolder 3"/>
          <p:cNvSpPr>
            <a:spLocks noGrp="1"/>
          </p:cNvSpPr>
          <p:nvPr>
            <p:ph type="body"/>
          </p:nvPr>
        </p:nvSpPr>
        <p:spPr>
          <a:xfrm>
            <a:off x="4319640" y="1604520"/>
            <a:ext cx="3532680" cy="1896480"/>
          </a:xfrm>
          <a:prstGeom prst="rect">
            <a:avLst/>
          </a:prstGeom>
          <a:noFill/>
          <a:ln w="0">
            <a:noFill/>
          </a:ln>
        </p:spPr>
        <p:txBody>
          <a:bodyPr lIns="0" tIns="0" rIns="0" bIns="0" anchor="t">
            <a:normAutofit fontScale="62500" lnSpcReduction="1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43" name="PlaceHolder 4"/>
          <p:cNvSpPr>
            <a:spLocks noGrp="1"/>
          </p:cNvSpPr>
          <p:nvPr>
            <p:ph type="body"/>
          </p:nvPr>
        </p:nvSpPr>
        <p:spPr>
          <a:xfrm>
            <a:off x="8029800" y="1604520"/>
            <a:ext cx="3532680" cy="1896480"/>
          </a:xfrm>
          <a:prstGeom prst="rect">
            <a:avLst/>
          </a:prstGeom>
          <a:noFill/>
          <a:ln w="0">
            <a:noFill/>
          </a:ln>
        </p:spPr>
        <p:txBody>
          <a:bodyPr lIns="0" tIns="0" rIns="0" bIns="0" anchor="t">
            <a:normAutofit fontScale="62500" lnSpcReduction="1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44" name="PlaceHolder 5"/>
          <p:cNvSpPr>
            <a:spLocks noGrp="1"/>
          </p:cNvSpPr>
          <p:nvPr>
            <p:ph type="body"/>
          </p:nvPr>
        </p:nvSpPr>
        <p:spPr>
          <a:xfrm>
            <a:off x="609480" y="3682080"/>
            <a:ext cx="3532680" cy="1896480"/>
          </a:xfrm>
          <a:prstGeom prst="rect">
            <a:avLst/>
          </a:prstGeom>
          <a:noFill/>
          <a:ln w="0">
            <a:noFill/>
          </a:ln>
        </p:spPr>
        <p:txBody>
          <a:bodyPr lIns="0" tIns="0" rIns="0" bIns="0" anchor="t">
            <a:normAutofit fontScale="62500" lnSpcReduction="1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45" name="PlaceHolder 6"/>
          <p:cNvSpPr>
            <a:spLocks noGrp="1"/>
          </p:cNvSpPr>
          <p:nvPr>
            <p:ph type="body"/>
          </p:nvPr>
        </p:nvSpPr>
        <p:spPr>
          <a:xfrm>
            <a:off x="4319640" y="3682080"/>
            <a:ext cx="3532680" cy="1896480"/>
          </a:xfrm>
          <a:prstGeom prst="rect">
            <a:avLst/>
          </a:prstGeom>
          <a:noFill/>
          <a:ln w="0">
            <a:noFill/>
          </a:ln>
        </p:spPr>
        <p:txBody>
          <a:bodyPr lIns="0" tIns="0" rIns="0" bIns="0" anchor="t">
            <a:normAutofit fontScale="62500" lnSpcReduction="1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46" name="PlaceHolder 7"/>
          <p:cNvSpPr>
            <a:spLocks noGrp="1"/>
          </p:cNvSpPr>
          <p:nvPr>
            <p:ph type="body"/>
          </p:nvPr>
        </p:nvSpPr>
        <p:spPr>
          <a:xfrm>
            <a:off x="8029800" y="3682080"/>
            <a:ext cx="3532680" cy="1896480"/>
          </a:xfrm>
          <a:prstGeom prst="rect">
            <a:avLst/>
          </a:prstGeom>
          <a:noFill/>
          <a:ln w="0">
            <a:noFill/>
          </a:ln>
        </p:spPr>
        <p:txBody>
          <a:bodyPr lIns="0" tIns="0" rIns="0" bIns="0" anchor="t">
            <a:normAutofit fontScale="62500" lnSpcReduction="1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Tree>
  </p:cSld>
  <p:clrMapOvr>
    <a:masterClrMapping/>
  </p:clrMapOvr>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bg>
      <p:bgPr>
        <a:solidFill>
          <a:srgbClr val="0D1B2A"/>
        </a:solidFill>
      </p:bgPr>
    </p:bg>
    <p:spTree>
      <p:nvGrpSpPr>
        <p:cNvPr id="1" name=""/>
        <p:cNvGrpSpPr/>
        <p:nvPr/>
      </p:nvGrpSpPr>
      <p:grpSpPr>
        <a:xfrm>
          <a:off x="0" y="0"/>
          <a:ext cx="0" cy="0"/>
          <a:chOff x="0" y="0"/>
          <a:chExt cx="0" cy="0"/>
        </a:xfrm>
      </p:grpSpPr>
      <p:pic>
        <p:nvPicPr>
          <p:cNvPr id="47" name="Image 0" descr="img/deco_dark.png"/>
          <p:cNvPicPr/>
          <p:nvPr/>
        </p:nvPicPr>
        <p:blipFill>
          <a:blip r:embed="rId2"/>
          <a:stretch/>
        </p:blipFill>
        <p:spPr>
          <a:xfrm>
            <a:off x="6949440" y="1097280"/>
            <a:ext cx="4752720" cy="4752720"/>
          </a:xfrm>
          <a:prstGeom prst="rect">
            <a:avLst/>
          </a:prstGeom>
          <a:noFill/>
          <a:ln w="0">
            <a:noFill/>
          </a:ln>
        </p:spPr>
      </p:pic>
      <p:pic>
        <p:nvPicPr>
          <p:cNvPr id="48" name="Image 1" descr="img/logo_dark.png"/>
          <p:cNvPicPr/>
          <p:nvPr/>
        </p:nvPicPr>
        <p:blipFill>
          <a:blip r:embed="rId3"/>
          <a:stretch/>
        </p:blipFill>
        <p:spPr>
          <a:xfrm>
            <a:off x="640080" y="640080"/>
            <a:ext cx="3472560" cy="729360"/>
          </a:xfrm>
          <a:prstGeom prst="rect">
            <a:avLst/>
          </a:prstGeom>
          <a:noFill/>
          <a:ln w="0">
            <a:noFill/>
          </a:ln>
        </p:spPr>
      </p:pic>
      <p:sp>
        <p:nvSpPr>
          <p:cNvPr id="49" name="Shape 0"/>
          <p:cNvSpPr/>
          <p:nvPr/>
        </p:nvSpPr>
        <p:spPr>
          <a:xfrm>
            <a:off x="640080" y="214884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
        <p:nvSpPr>
          <p:cNvPr id="50"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fr-FR" sz="4400" b="0" u="none" strike="noStrike">
                <a:solidFill>
                  <a:srgbClr val="FFFFFF"/>
                </a:solidFill>
                <a:effectLst/>
                <a:uFillTx/>
                <a:latin typeface="Arial"/>
              </a:defRPr>
            </a:lvl1pPr>
          </a:lstStyle>
          <a:p>
            <a:pPr indent="0" algn="l">
              <a:buNone/>
            </a:pPr>
            <a:r>
              <a:rPr lang="fr-FR" sz="4400" b="0" u="none" strike="noStrike">
                <a:solidFill>
                  <a:srgbClr val="FFFFFF"/>
                </a:solidFill>
                <a:effectLst/>
                <a:uFillTx/>
                <a:latin typeface="Arial"/>
              </a:rPr>
              <a:t>Click to edit the title text format</a:t>
            </a:r>
            <a:endParaRPr lang="fr-FR" sz="4400" b="0" u="none" strike="noStrike">
              <a:solidFill>
                <a:srgbClr val="FFFFFF"/>
              </a:solidFill>
              <a:effectLst/>
              <a:uFillTx/>
              <a:latin typeface="Arial"/>
            </a:endParaRPr>
          </a:p>
        </p:txBody>
      </p:sp>
      <p:sp>
        <p:nvSpPr>
          <p:cNvPr id="51"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buClr>
                <a:srgbClr val="FFFFFF"/>
              </a:buClr>
              <a:buFont typeface="Wingdings" charset="2"/>
              <a:buChar char=""/>
              <a:defRPr lang="fr-FR" sz="3200" b="0" u="none" strike="noStrike">
                <a:solidFill>
                  <a:srgbClr val="FFFFFF"/>
                </a:solidFill>
                <a:effectLst/>
                <a:uFillTx/>
                <a:latin typeface="Arial"/>
              </a:defRPr>
            </a:lvl1pPr>
            <a:lvl2pPr lvl="1" algn="l">
              <a:buClr>
                <a:srgbClr val="FFFFFF"/>
              </a:buClr>
              <a:buSzPct val="75000"/>
              <a:buFont typeface="Symbol" charset="2"/>
              <a:buChar char=""/>
              <a:defRPr lang="fr-FR" sz="2800" b="0" u="none" strike="noStrike">
                <a:solidFill>
                  <a:srgbClr val="FFFFFF"/>
                </a:solidFill>
                <a:effectLst/>
                <a:uFillTx/>
                <a:latin typeface="Arial"/>
              </a:defRPr>
            </a:lvl2pPr>
            <a:lvl3pPr lvl="2" algn="l">
              <a:buClr>
                <a:srgbClr val="FFFFFF"/>
              </a:buClr>
              <a:buSzPct val="45000"/>
              <a:buFont typeface="Wingdings" charset="2"/>
              <a:buChar char=""/>
              <a:defRPr lang="fr-FR" sz="2400" b="0" u="none" strike="noStrike">
                <a:solidFill>
                  <a:srgbClr val="FFFFFF"/>
                </a:solidFill>
                <a:effectLst/>
                <a:uFillTx/>
                <a:latin typeface="Arial"/>
              </a:defRPr>
            </a:lvl3pPr>
            <a:lvl4pPr lvl="3" algn="l">
              <a:buClr>
                <a:srgbClr val="FFFFFF"/>
              </a:buClr>
              <a:buSzPct val="75000"/>
              <a:buFont typeface="Symbol" charset="2"/>
              <a:buChar char=""/>
              <a:defRPr lang="fr-FR" sz="2000" b="0" u="none" strike="noStrike">
                <a:solidFill>
                  <a:srgbClr val="FFFFFF"/>
                </a:solidFill>
                <a:effectLst/>
                <a:uFillTx/>
                <a:latin typeface="Arial"/>
              </a:defRPr>
            </a:lvl4pPr>
            <a:lvl5pPr lvl="4" algn="l">
              <a:buClr>
                <a:srgbClr val="FFFFFF"/>
              </a:buClr>
              <a:buSzPct val="45000"/>
              <a:buFont typeface="Wingdings" charset="2"/>
              <a:buChar char=""/>
              <a:defRPr lang="fr-FR" sz="2000" b="0" u="none" strike="noStrike">
                <a:solidFill>
                  <a:srgbClr val="FFFFFF"/>
                </a:solidFill>
                <a:effectLst/>
                <a:uFillTx/>
                <a:latin typeface="Arial"/>
              </a:defRPr>
            </a:lvl5pPr>
            <a:lvl6pPr lvl="5" algn="l">
              <a:buClr>
                <a:srgbClr val="FFFFFF"/>
              </a:buClr>
              <a:buSzPct val="45000"/>
              <a:buFont typeface="Wingdings" charset="2"/>
              <a:buChar char=""/>
              <a:defRPr lang="fr-FR" sz="2000" b="0" u="none" strike="noStrike">
                <a:solidFill>
                  <a:srgbClr val="FFFFFF"/>
                </a:solidFill>
                <a:effectLst/>
                <a:uFillTx/>
                <a:latin typeface="Arial"/>
              </a:defRPr>
            </a:lvl6pPr>
            <a:lvl7pPr lvl="6" algn="l">
              <a:buClr>
                <a:srgbClr val="FFFFFF"/>
              </a:buClr>
              <a:buSzPct val="45000"/>
              <a:buFont typeface="Wingdings" charset="2"/>
              <a:buChar char=""/>
              <a:defRPr lang="fr-FR" sz="2000" b="0" u="none" strike="noStrike">
                <a:solidFill>
                  <a:srgbClr val="FFFFFF"/>
                </a:solidFill>
                <a:effectLst/>
                <a:uFillTx/>
                <a:latin typeface="Arial"/>
              </a:defRPr>
            </a:lvl7pPr>
          </a:lstStyle>
          <a:p>
            <a:pPr indent="-324000" algn="l">
              <a:buClr>
                <a:srgbClr val="FFFFFF"/>
              </a:buClr>
              <a:buFont typeface="Wingdings" charset="2"/>
              <a:buChar char=""/>
            </a:pPr>
            <a:r>
              <a:rPr lang="fr-FR" sz="3200" b="0" u="none" strike="noStrike">
                <a:solidFill>
                  <a:srgbClr val="FFFFFF"/>
                </a:solidFill>
                <a:effectLst/>
                <a:uFillTx/>
                <a:latin typeface="Arial"/>
              </a:rPr>
              <a:t>Click to edit the outline text format</a:t>
            </a:r>
            <a:endParaRPr lang="fr-FR" sz="32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2800" b="0" u="none" strike="noStrike">
                <a:solidFill>
                  <a:srgbClr val="FFFFFF"/>
                </a:solidFill>
                <a:effectLst/>
                <a:uFillTx/>
                <a:latin typeface="Arial"/>
              </a:rPr>
              <a:t>Second Outline Level</a:t>
            </a:r>
            <a:endParaRPr lang="fr-FR" sz="2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2400" b="0" u="none" strike="noStrike">
                <a:solidFill>
                  <a:srgbClr val="FFFFFF"/>
                </a:solidFill>
                <a:effectLst/>
                <a:uFillTx/>
                <a:latin typeface="Arial"/>
              </a:rPr>
              <a:t>Third Outline Level</a:t>
            </a:r>
            <a:endParaRPr lang="fr-FR" sz="24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2000" b="0" u="none" strike="noStrike">
                <a:solidFill>
                  <a:srgbClr val="FFFFFF"/>
                </a:solidFill>
                <a:effectLst/>
                <a:uFillTx/>
                <a:latin typeface="Arial"/>
              </a:rPr>
              <a:t>Fourth Outline Level</a:t>
            </a:r>
            <a:endParaRPr lang="fr-FR" sz="20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2000" b="0" u="none" strike="noStrike">
                <a:solidFill>
                  <a:srgbClr val="FFFFFF"/>
                </a:solidFill>
                <a:effectLst/>
                <a:uFillTx/>
                <a:latin typeface="Arial"/>
              </a:rPr>
              <a:t>Fifth Outline Level</a:t>
            </a:r>
            <a:endParaRPr lang="fr-FR" sz="20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2000" b="0" u="none" strike="noStrike">
                <a:solidFill>
                  <a:srgbClr val="FFFFFF"/>
                </a:solidFill>
                <a:effectLst/>
                <a:uFillTx/>
                <a:latin typeface="Arial"/>
              </a:rPr>
              <a:t>Sixth Outline Level</a:t>
            </a:r>
            <a:endParaRPr lang="fr-FR" sz="20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2000" b="0" u="none" strike="noStrike">
                <a:solidFill>
                  <a:srgbClr val="FFFFFF"/>
                </a:solidFill>
                <a:effectLst/>
                <a:uFillTx/>
                <a:latin typeface="Arial"/>
              </a:rPr>
              <a:t>Seventh Outline Level</a:t>
            </a:r>
            <a:endParaRPr lang="fr-FR" sz="2000" b="0" u="none" strike="noStrike">
              <a:solidFill>
                <a:srgbClr val="FFFFFF"/>
              </a:solidFill>
              <a:effectLst/>
              <a:uFillTx/>
              <a:latin typeface="Arial"/>
            </a:endParaRPr>
          </a:p>
        </p:txBody>
      </p:sp>
    </p:spTree>
  </p:cSld>
  <p:clrMapOvr>
    <a:masterClrMapping/>
  </p:clrMapOvr>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bg>
      <p:bgPr>
        <a:solidFill>
          <a:srgbClr val="0D1B2A"/>
        </a:solidFill>
      </p:bgPr>
    </p:bg>
    <p:spTree>
      <p:nvGrpSpPr>
        <p:cNvPr id="1" name=""/>
        <p:cNvGrpSpPr/>
        <p:nvPr/>
      </p:nvGrpSpPr>
      <p:grpSpPr>
        <a:xfrm>
          <a:off x="0" y="0"/>
          <a:ext cx="0" cy="0"/>
          <a:chOff x="0" y="0"/>
          <a:chExt cx="0" cy="0"/>
        </a:xfrm>
      </p:grpSpPr>
      <p:pic>
        <p:nvPicPr>
          <p:cNvPr id="52" name="Image 0" descr="img/deco_dark.png"/>
          <p:cNvPicPr/>
          <p:nvPr/>
        </p:nvPicPr>
        <p:blipFill>
          <a:blip r:embed="rId2"/>
          <a:stretch/>
        </p:blipFill>
        <p:spPr>
          <a:xfrm>
            <a:off x="6949440" y="1097280"/>
            <a:ext cx="4752720" cy="4752720"/>
          </a:xfrm>
          <a:prstGeom prst="rect">
            <a:avLst/>
          </a:prstGeom>
          <a:noFill/>
          <a:ln w="0">
            <a:noFill/>
          </a:ln>
        </p:spPr>
      </p:pic>
      <p:pic>
        <p:nvPicPr>
          <p:cNvPr id="53" name="Image 1" descr="img/logo_dark.png"/>
          <p:cNvPicPr/>
          <p:nvPr/>
        </p:nvPicPr>
        <p:blipFill>
          <a:blip r:embed="rId3"/>
          <a:stretch/>
        </p:blipFill>
        <p:spPr>
          <a:xfrm>
            <a:off x="640080" y="640080"/>
            <a:ext cx="3472560" cy="729360"/>
          </a:xfrm>
          <a:prstGeom prst="rect">
            <a:avLst/>
          </a:prstGeom>
          <a:noFill/>
          <a:ln w="0">
            <a:noFill/>
          </a:ln>
        </p:spPr>
      </p:pic>
      <p:sp>
        <p:nvSpPr>
          <p:cNvPr id="54" name="Shape 0"/>
          <p:cNvSpPr/>
          <p:nvPr/>
        </p:nvSpPr>
        <p:spPr>
          <a:xfrm>
            <a:off x="640080" y="214884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
        <p:nvSpPr>
          <p:cNvPr id="55"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Tree>
  </p:cSld>
  <p:clrMapOvr>
    <a:masterClrMapping/>
  </p:clrMapOvr>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bg>
      <p:bgPr>
        <a:solidFill>
          <a:srgbClr val="0D1B2A"/>
        </a:solidFill>
      </p:bgPr>
    </p:bg>
    <p:spTree>
      <p:nvGrpSpPr>
        <p:cNvPr id="1" name=""/>
        <p:cNvGrpSpPr/>
        <p:nvPr/>
      </p:nvGrpSpPr>
      <p:grpSpPr>
        <a:xfrm>
          <a:off x="0" y="0"/>
          <a:ext cx="0" cy="0"/>
          <a:chOff x="0" y="0"/>
          <a:chExt cx="0" cy="0"/>
        </a:xfrm>
      </p:grpSpPr>
      <p:pic>
        <p:nvPicPr>
          <p:cNvPr id="56" name="Image 0" descr="img/deco_dark.png"/>
          <p:cNvPicPr/>
          <p:nvPr/>
        </p:nvPicPr>
        <p:blipFill>
          <a:blip r:embed="rId2"/>
          <a:stretch/>
        </p:blipFill>
        <p:spPr>
          <a:xfrm>
            <a:off x="6949440" y="1097280"/>
            <a:ext cx="4752720" cy="4752720"/>
          </a:xfrm>
          <a:prstGeom prst="rect">
            <a:avLst/>
          </a:prstGeom>
          <a:noFill/>
          <a:ln w="0">
            <a:noFill/>
          </a:ln>
        </p:spPr>
      </p:pic>
      <p:pic>
        <p:nvPicPr>
          <p:cNvPr id="57" name="Image 1" descr="img/logo_dark.png"/>
          <p:cNvPicPr/>
          <p:nvPr/>
        </p:nvPicPr>
        <p:blipFill>
          <a:blip r:embed="rId3"/>
          <a:stretch/>
        </p:blipFill>
        <p:spPr>
          <a:xfrm>
            <a:off x="640080" y="640080"/>
            <a:ext cx="3472560" cy="729360"/>
          </a:xfrm>
          <a:prstGeom prst="rect">
            <a:avLst/>
          </a:prstGeom>
          <a:noFill/>
          <a:ln w="0">
            <a:noFill/>
          </a:ln>
        </p:spPr>
      </p:pic>
      <p:sp>
        <p:nvSpPr>
          <p:cNvPr id="58" name="Shape 0"/>
          <p:cNvSpPr/>
          <p:nvPr/>
        </p:nvSpPr>
        <p:spPr>
          <a:xfrm>
            <a:off x="640080" y="214884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
        <p:nvSpPr>
          <p:cNvPr id="59"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60" name="PlaceHolder 2"/>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Tree>
  </p:cSld>
  <p:clrMapOvr>
    <a:masterClrMapping/>
  </p:clrMapOvr>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bg>
      <p:bgPr>
        <a:solidFill>
          <a:srgbClr val="0D1B2A"/>
        </a:solidFill>
      </p:bgPr>
    </p:bg>
    <p:spTree>
      <p:nvGrpSpPr>
        <p:cNvPr id="1" name=""/>
        <p:cNvGrpSpPr/>
        <p:nvPr/>
      </p:nvGrpSpPr>
      <p:grpSpPr>
        <a:xfrm>
          <a:off x="0" y="0"/>
          <a:ext cx="0" cy="0"/>
          <a:chOff x="0" y="0"/>
          <a:chExt cx="0" cy="0"/>
        </a:xfrm>
      </p:grpSpPr>
      <p:pic>
        <p:nvPicPr>
          <p:cNvPr id="61" name="Image 0" descr="img/deco_dark.png"/>
          <p:cNvPicPr/>
          <p:nvPr/>
        </p:nvPicPr>
        <p:blipFill>
          <a:blip r:embed="rId2"/>
          <a:stretch/>
        </p:blipFill>
        <p:spPr>
          <a:xfrm>
            <a:off x="6949440" y="1097280"/>
            <a:ext cx="4752720" cy="4752720"/>
          </a:xfrm>
          <a:prstGeom prst="rect">
            <a:avLst/>
          </a:prstGeom>
          <a:noFill/>
          <a:ln w="0">
            <a:noFill/>
          </a:ln>
        </p:spPr>
      </p:pic>
      <p:pic>
        <p:nvPicPr>
          <p:cNvPr id="62" name="Image 1" descr="img/logo_dark.png"/>
          <p:cNvPicPr/>
          <p:nvPr/>
        </p:nvPicPr>
        <p:blipFill>
          <a:blip r:embed="rId3"/>
          <a:stretch/>
        </p:blipFill>
        <p:spPr>
          <a:xfrm>
            <a:off x="640080" y="640080"/>
            <a:ext cx="3472560" cy="729360"/>
          </a:xfrm>
          <a:prstGeom prst="rect">
            <a:avLst/>
          </a:prstGeom>
          <a:noFill/>
          <a:ln w="0">
            <a:noFill/>
          </a:ln>
        </p:spPr>
      </p:pic>
      <p:sp>
        <p:nvSpPr>
          <p:cNvPr id="63" name="Shape 0"/>
          <p:cNvSpPr/>
          <p:nvPr/>
        </p:nvSpPr>
        <p:spPr>
          <a:xfrm>
            <a:off x="640080" y="214884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
        <p:nvSpPr>
          <p:cNvPr id="64"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65" name="PlaceHolder 2"/>
          <p:cNvSpPr>
            <a:spLocks noGrp="1"/>
          </p:cNvSpPr>
          <p:nvPr>
            <p:ph type="body"/>
          </p:nvPr>
        </p:nvSpPr>
        <p:spPr>
          <a:xfrm>
            <a:off x="609480" y="1604520"/>
            <a:ext cx="5353920" cy="3976920"/>
          </a:xfrm>
          <a:prstGeom prst="rect">
            <a:avLst/>
          </a:prstGeom>
          <a:noFill/>
          <a:ln w="0">
            <a:noFill/>
          </a:ln>
        </p:spPr>
        <p:txBody>
          <a:bodyPr lIns="0" tIns="0" rIns="0" bIns="0" anchor="t">
            <a:normAutofit/>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66" name="PlaceHolder 3"/>
          <p:cNvSpPr>
            <a:spLocks noGrp="1"/>
          </p:cNvSpPr>
          <p:nvPr>
            <p:ph type="body"/>
          </p:nvPr>
        </p:nvSpPr>
        <p:spPr>
          <a:xfrm>
            <a:off x="6231960" y="1604520"/>
            <a:ext cx="5353920" cy="3976920"/>
          </a:xfrm>
          <a:prstGeom prst="rect">
            <a:avLst/>
          </a:prstGeom>
          <a:noFill/>
          <a:ln w="0">
            <a:noFill/>
          </a:ln>
        </p:spPr>
        <p:txBody>
          <a:bodyPr lIns="0" tIns="0" rIns="0" bIns="0" anchor="t">
            <a:normAutofit/>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Tree>
  </p:cSld>
  <p:clrMapOvr>
    <a:masterClrMapping/>
  </p:clrMapOvr>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0D1B2A"/>
        </a:solidFill>
      </p:bgPr>
    </p:bg>
    <p:spTree>
      <p:nvGrpSpPr>
        <p:cNvPr id="1" name=""/>
        <p:cNvGrpSpPr/>
        <p:nvPr/>
      </p:nvGrpSpPr>
      <p:grpSpPr>
        <a:xfrm>
          <a:off x="0" y="0"/>
          <a:ext cx="0" cy="0"/>
          <a:chOff x="0" y="0"/>
          <a:chExt cx="0" cy="0"/>
        </a:xfrm>
      </p:grpSpPr>
      <p:pic>
        <p:nvPicPr>
          <p:cNvPr id="67" name="Image 0" descr="img/deco_dark.png"/>
          <p:cNvPicPr/>
          <p:nvPr/>
        </p:nvPicPr>
        <p:blipFill>
          <a:blip r:embed="rId2"/>
          <a:stretch/>
        </p:blipFill>
        <p:spPr>
          <a:xfrm>
            <a:off x="6949440" y="1097280"/>
            <a:ext cx="4752720" cy="4752720"/>
          </a:xfrm>
          <a:prstGeom prst="rect">
            <a:avLst/>
          </a:prstGeom>
          <a:noFill/>
          <a:ln w="0">
            <a:noFill/>
          </a:ln>
        </p:spPr>
      </p:pic>
      <p:pic>
        <p:nvPicPr>
          <p:cNvPr id="68" name="Image 1" descr="img/logo_dark.png"/>
          <p:cNvPicPr/>
          <p:nvPr/>
        </p:nvPicPr>
        <p:blipFill>
          <a:blip r:embed="rId3"/>
          <a:stretch/>
        </p:blipFill>
        <p:spPr>
          <a:xfrm>
            <a:off x="640080" y="640080"/>
            <a:ext cx="3472560" cy="729360"/>
          </a:xfrm>
          <a:prstGeom prst="rect">
            <a:avLst/>
          </a:prstGeom>
          <a:noFill/>
          <a:ln w="0">
            <a:noFill/>
          </a:ln>
        </p:spPr>
      </p:pic>
      <p:sp>
        <p:nvSpPr>
          <p:cNvPr id="69" name="Shape 0"/>
          <p:cNvSpPr/>
          <p:nvPr/>
        </p:nvSpPr>
        <p:spPr>
          <a:xfrm>
            <a:off x="640080" y="214884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
        <p:nvSpPr>
          <p:cNvPr id="70"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Tree>
  </p:cSld>
  <p:clrMapOvr>
    <a:masterClrMapping/>
  </p:clrMapOvr>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bg>
      <p:bgPr>
        <a:solidFill>
          <a:srgbClr val="0D1B2A"/>
        </a:solidFill>
      </p:bgPr>
    </p:bg>
    <p:spTree>
      <p:nvGrpSpPr>
        <p:cNvPr id="1" name=""/>
        <p:cNvGrpSpPr/>
        <p:nvPr/>
      </p:nvGrpSpPr>
      <p:grpSpPr>
        <a:xfrm>
          <a:off x="0" y="0"/>
          <a:ext cx="0" cy="0"/>
          <a:chOff x="0" y="0"/>
          <a:chExt cx="0" cy="0"/>
        </a:xfrm>
      </p:grpSpPr>
      <p:pic>
        <p:nvPicPr>
          <p:cNvPr id="71" name="Image 0" descr="img/deco_dark.png"/>
          <p:cNvPicPr/>
          <p:nvPr/>
        </p:nvPicPr>
        <p:blipFill>
          <a:blip r:embed="rId2"/>
          <a:stretch/>
        </p:blipFill>
        <p:spPr>
          <a:xfrm>
            <a:off x="6949440" y="1097280"/>
            <a:ext cx="4752720" cy="4752720"/>
          </a:xfrm>
          <a:prstGeom prst="rect">
            <a:avLst/>
          </a:prstGeom>
          <a:noFill/>
          <a:ln w="0">
            <a:noFill/>
          </a:ln>
        </p:spPr>
      </p:pic>
      <p:pic>
        <p:nvPicPr>
          <p:cNvPr id="72" name="Image 1" descr="img/logo_dark.png"/>
          <p:cNvPicPr/>
          <p:nvPr/>
        </p:nvPicPr>
        <p:blipFill>
          <a:blip r:embed="rId3"/>
          <a:stretch/>
        </p:blipFill>
        <p:spPr>
          <a:xfrm>
            <a:off x="640080" y="640080"/>
            <a:ext cx="3472560" cy="729360"/>
          </a:xfrm>
          <a:prstGeom prst="rect">
            <a:avLst/>
          </a:prstGeom>
          <a:noFill/>
          <a:ln w="0">
            <a:noFill/>
          </a:ln>
        </p:spPr>
      </p:pic>
      <p:sp>
        <p:nvSpPr>
          <p:cNvPr id="73" name="Shape 0"/>
          <p:cNvSpPr/>
          <p:nvPr/>
        </p:nvSpPr>
        <p:spPr>
          <a:xfrm>
            <a:off x="640080" y="214884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Tree>
  </p:cSld>
  <p:clrMapOvr>
    <a:masterClrMapping/>
  </p:clrMapOvr>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Default">
    <p:bg>
      <p:bgPr>
        <a:solidFill>
          <a:srgbClr val="0D1B2A"/>
        </a:solidFill>
      </p:bgPr>
    </p:bg>
    <p:spTree>
      <p:nvGrpSpPr>
        <p:cNvPr id="1" name=""/>
        <p:cNvGrpSpPr/>
        <p:nvPr/>
      </p:nvGrpSpPr>
      <p:grpSpPr>
        <a:xfrm>
          <a:off x="0" y="0"/>
          <a:ext cx="0" cy="0"/>
          <a:chOff x="0" y="0"/>
          <a:chExt cx="0" cy="0"/>
        </a:xfrm>
      </p:grpSpPr>
      <p:pic>
        <p:nvPicPr>
          <p:cNvPr id="74" name="Image 0" descr="img/mark_dark.png"/>
          <p:cNvPicPr/>
          <p:nvPr/>
        </p:nvPicPr>
        <p:blipFill>
          <a:blip r:embed="rId2"/>
          <a:stretch/>
        </p:blipFill>
        <p:spPr>
          <a:xfrm>
            <a:off x="640080" y="6336720"/>
            <a:ext cx="235440" cy="235440"/>
          </a:xfrm>
          <a:prstGeom prst="rect">
            <a:avLst/>
          </a:prstGeom>
          <a:noFill/>
          <a:ln w="0">
            <a:noFill/>
          </a:ln>
        </p:spPr>
      </p:pic>
      <p:sp>
        <p:nvSpPr>
          <p:cNvPr id="75" name="Text 0"/>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76"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77" name="PlaceHolder 2"/>
          <p:cNvSpPr>
            <a:spLocks noGrp="1"/>
          </p:cNvSpPr>
          <p:nvPr>
            <p:ph type="body"/>
          </p:nvPr>
        </p:nvSpPr>
        <p:spPr>
          <a:xfrm>
            <a:off x="609480" y="1604520"/>
            <a:ext cx="5353920" cy="3976920"/>
          </a:xfrm>
          <a:prstGeom prst="rect">
            <a:avLst/>
          </a:prstGeom>
          <a:noFill/>
          <a:ln w="0">
            <a:noFill/>
          </a:ln>
        </p:spPr>
        <p:txBody>
          <a:bodyPr lIns="0" tIns="0" rIns="0" bIns="0" anchor="t">
            <a:normAutofit/>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78" name="PlaceHolder 3"/>
          <p:cNvSpPr>
            <a:spLocks noGrp="1"/>
          </p:cNvSpPr>
          <p:nvPr>
            <p:ph type="body"/>
          </p:nvPr>
        </p:nvSpPr>
        <p:spPr>
          <a:xfrm>
            <a:off x="6231960" y="160452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79" name="PlaceHolder 4"/>
          <p:cNvSpPr>
            <a:spLocks noGrp="1"/>
          </p:cNvSpPr>
          <p:nvPr>
            <p:ph type="body"/>
          </p:nvPr>
        </p:nvSpPr>
        <p:spPr>
          <a:xfrm>
            <a:off x="6231960" y="368208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80" name="PlaceHolder 5"/>
          <p:cNvSpPr>
            <a:spLocks noGrp="1"/>
          </p:cNvSpPr>
          <p:nvPr>
            <p:ph type="sldNum" idx="1"/>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9210EEBC-EAB1-4C9D-B867-CB483B82F129}"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1">
    <p:bg>
      <p:bgPr>
        <a:solidFill>
          <a:srgbClr val="0D1B2A"/>
        </a:solidFill>
      </p:bgPr>
    </p:bg>
    <p:spTree>
      <p:nvGrpSpPr>
        <p:cNvPr id="1" name=""/>
        <p:cNvGrpSpPr/>
        <p:nvPr/>
      </p:nvGrpSpPr>
      <p:grpSpPr>
        <a:xfrm>
          <a:off x="0" y="0"/>
          <a:ext cx="0" cy="0"/>
          <a:chOff x="0" y="0"/>
          <a:chExt cx="0" cy="0"/>
        </a:xfrm>
      </p:grpSpPr>
      <p:pic>
        <p:nvPicPr>
          <p:cNvPr id="81" name="Image 0" descr="img/mark_dark.png"/>
          <p:cNvPicPr/>
          <p:nvPr/>
        </p:nvPicPr>
        <p:blipFill>
          <a:blip r:embed="rId2"/>
          <a:stretch/>
        </p:blipFill>
        <p:spPr>
          <a:xfrm>
            <a:off x="640080" y="6336720"/>
            <a:ext cx="235440" cy="235440"/>
          </a:xfrm>
          <a:prstGeom prst="rect">
            <a:avLst/>
          </a:prstGeom>
          <a:noFill/>
          <a:ln w="0">
            <a:noFill/>
          </a:ln>
        </p:spPr>
      </p:pic>
      <p:sp>
        <p:nvSpPr>
          <p:cNvPr id="82" name="Text 0"/>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83"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84" name="PlaceHolder 2"/>
          <p:cNvSpPr>
            <a:spLocks noGrp="1"/>
          </p:cNvSpPr>
          <p:nvPr>
            <p:ph type="body"/>
          </p:nvPr>
        </p:nvSpPr>
        <p:spPr>
          <a:xfrm>
            <a:off x="609480" y="160452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85" name="PlaceHolder 3"/>
          <p:cNvSpPr>
            <a:spLocks noGrp="1"/>
          </p:cNvSpPr>
          <p:nvPr>
            <p:ph type="body"/>
          </p:nvPr>
        </p:nvSpPr>
        <p:spPr>
          <a:xfrm>
            <a:off x="6231960" y="160452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86" name="PlaceHolder 4"/>
          <p:cNvSpPr>
            <a:spLocks noGrp="1"/>
          </p:cNvSpPr>
          <p:nvPr>
            <p:ph type="body"/>
          </p:nvPr>
        </p:nvSpPr>
        <p:spPr>
          <a:xfrm>
            <a:off x="609480" y="3682080"/>
            <a:ext cx="1097208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87" name="PlaceHolder 5"/>
          <p:cNvSpPr>
            <a:spLocks noGrp="1"/>
          </p:cNvSpPr>
          <p:nvPr>
            <p:ph type="sldNum" idx="2"/>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FB9FEEC8-D28C-47E8-8D23-F21C79BC3D11}"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Default 2">
    <p:bg>
      <p:bgPr>
        <a:solidFill>
          <a:srgbClr val="0D1B2A"/>
        </a:solidFill>
      </p:bgPr>
    </p:bg>
    <p:spTree>
      <p:nvGrpSpPr>
        <p:cNvPr id="1" name=""/>
        <p:cNvGrpSpPr/>
        <p:nvPr/>
      </p:nvGrpSpPr>
      <p:grpSpPr>
        <a:xfrm>
          <a:off x="0" y="0"/>
          <a:ext cx="0" cy="0"/>
          <a:chOff x="0" y="0"/>
          <a:chExt cx="0" cy="0"/>
        </a:xfrm>
      </p:grpSpPr>
      <p:pic>
        <p:nvPicPr>
          <p:cNvPr id="88" name="Image 0" descr="img/mark_dark.png"/>
          <p:cNvPicPr/>
          <p:nvPr/>
        </p:nvPicPr>
        <p:blipFill>
          <a:blip r:embed="rId2"/>
          <a:stretch/>
        </p:blipFill>
        <p:spPr>
          <a:xfrm>
            <a:off x="640080" y="6336720"/>
            <a:ext cx="235440" cy="235440"/>
          </a:xfrm>
          <a:prstGeom prst="rect">
            <a:avLst/>
          </a:prstGeom>
          <a:noFill/>
          <a:ln w="0">
            <a:noFill/>
          </a:ln>
        </p:spPr>
      </p:pic>
      <p:sp>
        <p:nvSpPr>
          <p:cNvPr id="89" name="Text 0"/>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90"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91" name="PlaceHolder 2"/>
          <p:cNvSpPr>
            <a:spLocks noGrp="1"/>
          </p:cNvSpPr>
          <p:nvPr>
            <p:ph type="body"/>
          </p:nvPr>
        </p:nvSpPr>
        <p:spPr>
          <a:xfrm>
            <a:off x="609480" y="1604520"/>
            <a:ext cx="1097208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92" name="PlaceHolder 3"/>
          <p:cNvSpPr>
            <a:spLocks noGrp="1"/>
          </p:cNvSpPr>
          <p:nvPr>
            <p:ph type="body"/>
          </p:nvPr>
        </p:nvSpPr>
        <p:spPr>
          <a:xfrm>
            <a:off x="609480" y="3682080"/>
            <a:ext cx="1097208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93" name="PlaceHolder 4"/>
          <p:cNvSpPr>
            <a:spLocks noGrp="1"/>
          </p:cNvSpPr>
          <p:nvPr>
            <p:ph type="sldNum" idx="3"/>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B4AE751B-926D-43F4-9D76-C34E64219676}"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Default 3">
    <p:bg>
      <p:bgPr>
        <a:solidFill>
          <a:srgbClr val="0D1B2A"/>
        </a:solidFill>
      </p:bgPr>
    </p:bg>
    <p:spTree>
      <p:nvGrpSpPr>
        <p:cNvPr id="1" name=""/>
        <p:cNvGrpSpPr/>
        <p:nvPr/>
      </p:nvGrpSpPr>
      <p:grpSpPr>
        <a:xfrm>
          <a:off x="0" y="0"/>
          <a:ext cx="0" cy="0"/>
          <a:chOff x="0" y="0"/>
          <a:chExt cx="0" cy="0"/>
        </a:xfrm>
      </p:grpSpPr>
      <p:pic>
        <p:nvPicPr>
          <p:cNvPr id="94" name="Image 0" descr="img/mark_dark.png"/>
          <p:cNvPicPr/>
          <p:nvPr/>
        </p:nvPicPr>
        <p:blipFill>
          <a:blip r:embed="rId2"/>
          <a:stretch/>
        </p:blipFill>
        <p:spPr>
          <a:xfrm>
            <a:off x="640080" y="6336720"/>
            <a:ext cx="235440" cy="235440"/>
          </a:xfrm>
          <a:prstGeom prst="rect">
            <a:avLst/>
          </a:prstGeom>
          <a:noFill/>
          <a:ln w="0">
            <a:noFill/>
          </a:ln>
        </p:spPr>
      </p:pic>
      <p:sp>
        <p:nvSpPr>
          <p:cNvPr id="95" name="Text 0"/>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96"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97" name="PlaceHolder 2"/>
          <p:cNvSpPr>
            <a:spLocks noGrp="1"/>
          </p:cNvSpPr>
          <p:nvPr>
            <p:ph type="body"/>
          </p:nvPr>
        </p:nvSpPr>
        <p:spPr>
          <a:xfrm>
            <a:off x="609480" y="160452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98" name="PlaceHolder 3"/>
          <p:cNvSpPr>
            <a:spLocks noGrp="1"/>
          </p:cNvSpPr>
          <p:nvPr>
            <p:ph type="body"/>
          </p:nvPr>
        </p:nvSpPr>
        <p:spPr>
          <a:xfrm>
            <a:off x="6231960" y="160452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99" name="PlaceHolder 4"/>
          <p:cNvSpPr>
            <a:spLocks noGrp="1"/>
          </p:cNvSpPr>
          <p:nvPr>
            <p:ph type="body"/>
          </p:nvPr>
        </p:nvSpPr>
        <p:spPr>
          <a:xfrm>
            <a:off x="609480" y="368208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00" name="PlaceHolder 5"/>
          <p:cNvSpPr>
            <a:spLocks noGrp="1"/>
          </p:cNvSpPr>
          <p:nvPr>
            <p:ph type="body"/>
          </p:nvPr>
        </p:nvSpPr>
        <p:spPr>
          <a:xfrm>
            <a:off x="6231960" y="368208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01" name="PlaceHolder 6"/>
          <p:cNvSpPr>
            <a:spLocks noGrp="1"/>
          </p:cNvSpPr>
          <p:nvPr>
            <p:ph type="sldNum" idx="4"/>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E28ECF58-D30B-47D4-A607-6894DD52A8EC}"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4">
    <p:bg>
      <p:bgPr>
        <a:solidFill>
          <a:srgbClr val="0D1B2A"/>
        </a:solidFill>
      </p:bgPr>
    </p:bg>
    <p:spTree>
      <p:nvGrpSpPr>
        <p:cNvPr id="1" name=""/>
        <p:cNvGrpSpPr/>
        <p:nvPr/>
      </p:nvGrpSpPr>
      <p:grpSpPr>
        <a:xfrm>
          <a:off x="0" y="0"/>
          <a:ext cx="0" cy="0"/>
          <a:chOff x="0" y="0"/>
          <a:chExt cx="0" cy="0"/>
        </a:xfrm>
      </p:grpSpPr>
      <p:pic>
        <p:nvPicPr>
          <p:cNvPr id="102" name="Image 0" descr="img/mark_dark.png"/>
          <p:cNvPicPr/>
          <p:nvPr/>
        </p:nvPicPr>
        <p:blipFill>
          <a:blip r:embed="rId2"/>
          <a:stretch/>
        </p:blipFill>
        <p:spPr>
          <a:xfrm>
            <a:off x="640080" y="6336720"/>
            <a:ext cx="235440" cy="235440"/>
          </a:xfrm>
          <a:prstGeom prst="rect">
            <a:avLst/>
          </a:prstGeom>
          <a:noFill/>
          <a:ln w="0">
            <a:noFill/>
          </a:ln>
        </p:spPr>
      </p:pic>
      <p:sp>
        <p:nvSpPr>
          <p:cNvPr id="103" name="Text 0"/>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04"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05" name="PlaceHolder 2"/>
          <p:cNvSpPr>
            <a:spLocks noGrp="1"/>
          </p:cNvSpPr>
          <p:nvPr>
            <p:ph type="body"/>
          </p:nvPr>
        </p:nvSpPr>
        <p:spPr>
          <a:xfrm>
            <a:off x="609480" y="1604520"/>
            <a:ext cx="3532680" cy="1896480"/>
          </a:xfrm>
          <a:prstGeom prst="rect">
            <a:avLst/>
          </a:prstGeom>
          <a:noFill/>
          <a:ln w="0">
            <a:noFill/>
          </a:ln>
        </p:spPr>
        <p:txBody>
          <a:bodyPr lIns="0" tIns="0" rIns="0" bIns="0" anchor="t">
            <a:normAutofit fontScale="62500" lnSpcReduction="1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06" name="PlaceHolder 3"/>
          <p:cNvSpPr>
            <a:spLocks noGrp="1"/>
          </p:cNvSpPr>
          <p:nvPr>
            <p:ph type="body"/>
          </p:nvPr>
        </p:nvSpPr>
        <p:spPr>
          <a:xfrm>
            <a:off x="4319640" y="1604520"/>
            <a:ext cx="3532680" cy="1896480"/>
          </a:xfrm>
          <a:prstGeom prst="rect">
            <a:avLst/>
          </a:prstGeom>
          <a:noFill/>
          <a:ln w="0">
            <a:noFill/>
          </a:ln>
        </p:spPr>
        <p:txBody>
          <a:bodyPr lIns="0" tIns="0" rIns="0" bIns="0" anchor="t">
            <a:normAutofit fontScale="62500" lnSpcReduction="1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07" name="PlaceHolder 4"/>
          <p:cNvSpPr>
            <a:spLocks noGrp="1"/>
          </p:cNvSpPr>
          <p:nvPr>
            <p:ph type="body"/>
          </p:nvPr>
        </p:nvSpPr>
        <p:spPr>
          <a:xfrm>
            <a:off x="8029800" y="1604520"/>
            <a:ext cx="3532680" cy="1896480"/>
          </a:xfrm>
          <a:prstGeom prst="rect">
            <a:avLst/>
          </a:prstGeom>
          <a:noFill/>
          <a:ln w="0">
            <a:noFill/>
          </a:ln>
        </p:spPr>
        <p:txBody>
          <a:bodyPr lIns="0" tIns="0" rIns="0" bIns="0" anchor="t">
            <a:normAutofit fontScale="62500" lnSpcReduction="1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08" name="PlaceHolder 5"/>
          <p:cNvSpPr>
            <a:spLocks noGrp="1"/>
          </p:cNvSpPr>
          <p:nvPr>
            <p:ph type="body"/>
          </p:nvPr>
        </p:nvSpPr>
        <p:spPr>
          <a:xfrm>
            <a:off x="609480" y="3682080"/>
            <a:ext cx="3532680" cy="1896480"/>
          </a:xfrm>
          <a:prstGeom prst="rect">
            <a:avLst/>
          </a:prstGeom>
          <a:noFill/>
          <a:ln w="0">
            <a:noFill/>
          </a:ln>
        </p:spPr>
        <p:txBody>
          <a:bodyPr lIns="0" tIns="0" rIns="0" bIns="0" anchor="t">
            <a:normAutofit fontScale="62500" lnSpcReduction="1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09" name="PlaceHolder 6"/>
          <p:cNvSpPr>
            <a:spLocks noGrp="1"/>
          </p:cNvSpPr>
          <p:nvPr>
            <p:ph type="body"/>
          </p:nvPr>
        </p:nvSpPr>
        <p:spPr>
          <a:xfrm>
            <a:off x="4319640" y="3682080"/>
            <a:ext cx="3532680" cy="1896480"/>
          </a:xfrm>
          <a:prstGeom prst="rect">
            <a:avLst/>
          </a:prstGeom>
          <a:noFill/>
          <a:ln w="0">
            <a:noFill/>
          </a:ln>
        </p:spPr>
        <p:txBody>
          <a:bodyPr lIns="0" tIns="0" rIns="0" bIns="0" anchor="t">
            <a:normAutofit fontScale="62500" lnSpcReduction="1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10" name="PlaceHolder 7"/>
          <p:cNvSpPr>
            <a:spLocks noGrp="1"/>
          </p:cNvSpPr>
          <p:nvPr>
            <p:ph type="body"/>
          </p:nvPr>
        </p:nvSpPr>
        <p:spPr>
          <a:xfrm>
            <a:off x="8029800" y="3682080"/>
            <a:ext cx="3532680" cy="1896480"/>
          </a:xfrm>
          <a:prstGeom prst="rect">
            <a:avLst/>
          </a:prstGeom>
          <a:noFill/>
          <a:ln w="0">
            <a:noFill/>
          </a:ln>
        </p:spPr>
        <p:txBody>
          <a:bodyPr lIns="0" tIns="0" rIns="0" bIns="0" anchor="t">
            <a:normAutofit fontScale="62500" lnSpcReduction="1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11" name="PlaceHolder 8"/>
          <p:cNvSpPr>
            <a:spLocks noGrp="1"/>
          </p:cNvSpPr>
          <p:nvPr>
            <p:ph type="sldNum" idx="5"/>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26DB9140-4A15-482A-8ADA-50D251F9A49C}"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5">
    <p:bg>
      <p:bgPr>
        <a:solidFill>
          <a:srgbClr val="0D1B2A"/>
        </a:solidFill>
      </p:bgPr>
    </p:bg>
    <p:spTree>
      <p:nvGrpSpPr>
        <p:cNvPr id="1" name=""/>
        <p:cNvGrpSpPr/>
        <p:nvPr/>
      </p:nvGrpSpPr>
      <p:grpSpPr>
        <a:xfrm>
          <a:off x="0" y="0"/>
          <a:ext cx="0" cy="0"/>
          <a:chOff x="0" y="0"/>
          <a:chExt cx="0" cy="0"/>
        </a:xfrm>
      </p:grpSpPr>
      <p:pic>
        <p:nvPicPr>
          <p:cNvPr id="112" name="Image 0" descr="img/mark_dark.png"/>
          <p:cNvPicPr/>
          <p:nvPr/>
        </p:nvPicPr>
        <p:blipFill>
          <a:blip r:embed="rId2"/>
          <a:stretch/>
        </p:blipFill>
        <p:spPr>
          <a:xfrm>
            <a:off x="640080" y="6336720"/>
            <a:ext cx="235440" cy="235440"/>
          </a:xfrm>
          <a:prstGeom prst="rect">
            <a:avLst/>
          </a:prstGeom>
          <a:noFill/>
          <a:ln w="0">
            <a:noFill/>
          </a:ln>
        </p:spPr>
      </p:pic>
      <p:sp>
        <p:nvSpPr>
          <p:cNvPr id="113" name="Text 0"/>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14" name="PlaceHolder 1"/>
          <p:cNvSpPr>
            <a:spLocks noGrp="1"/>
          </p:cNvSpPr>
          <p:nvPr>
            <p:ph type="sldNum" idx="6"/>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C1EA1905-3E9B-4F30-AF2A-3E82CBBBA36C}"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115"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fr-FR" sz="4400" b="0" u="none" strike="noStrike">
                <a:solidFill>
                  <a:srgbClr val="FFFFFF"/>
                </a:solidFill>
                <a:effectLst/>
                <a:uFillTx/>
                <a:latin typeface="Arial"/>
              </a:defRPr>
            </a:lvl1pPr>
          </a:lstStyle>
          <a:p>
            <a:pPr indent="0" algn="l">
              <a:buNone/>
            </a:pPr>
            <a:r>
              <a:rPr lang="fr-FR" sz="4400" b="0" u="none" strike="noStrike">
                <a:solidFill>
                  <a:srgbClr val="FFFFFF"/>
                </a:solidFill>
                <a:effectLst/>
                <a:uFillTx/>
                <a:latin typeface="Arial"/>
              </a:rPr>
              <a:t>Click to edit the title text format</a:t>
            </a:r>
            <a:endParaRPr lang="fr-FR" sz="4400" b="0" u="none" strike="noStrike">
              <a:solidFill>
                <a:srgbClr val="FFFFFF"/>
              </a:solidFill>
              <a:effectLst/>
              <a:uFillTx/>
              <a:latin typeface="Arial"/>
            </a:endParaRPr>
          </a:p>
        </p:txBody>
      </p:sp>
      <p:sp>
        <p:nvSpPr>
          <p:cNvPr id="116"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buClr>
                <a:srgbClr val="FFFFFF"/>
              </a:buClr>
              <a:buFont typeface="Wingdings" charset="2"/>
              <a:buChar char=""/>
              <a:defRPr lang="fr-FR" sz="3200" b="0" u="none" strike="noStrike">
                <a:solidFill>
                  <a:srgbClr val="FFFFFF"/>
                </a:solidFill>
                <a:effectLst/>
                <a:uFillTx/>
                <a:latin typeface="Arial"/>
              </a:defRPr>
            </a:lvl1pPr>
            <a:lvl2pPr lvl="1" algn="l">
              <a:buClr>
                <a:srgbClr val="FFFFFF"/>
              </a:buClr>
              <a:buSzPct val="75000"/>
              <a:buFont typeface="Symbol" charset="2"/>
              <a:buChar char=""/>
              <a:defRPr lang="fr-FR" sz="2800" b="0" u="none" strike="noStrike">
                <a:solidFill>
                  <a:srgbClr val="FFFFFF"/>
                </a:solidFill>
                <a:effectLst/>
                <a:uFillTx/>
                <a:latin typeface="Arial"/>
              </a:defRPr>
            </a:lvl2pPr>
            <a:lvl3pPr lvl="2" algn="l">
              <a:buClr>
                <a:srgbClr val="FFFFFF"/>
              </a:buClr>
              <a:buSzPct val="45000"/>
              <a:buFont typeface="Wingdings" charset="2"/>
              <a:buChar char=""/>
              <a:defRPr lang="fr-FR" sz="2400" b="0" u="none" strike="noStrike">
                <a:solidFill>
                  <a:srgbClr val="FFFFFF"/>
                </a:solidFill>
                <a:effectLst/>
                <a:uFillTx/>
                <a:latin typeface="Arial"/>
              </a:defRPr>
            </a:lvl3pPr>
            <a:lvl4pPr lvl="3" algn="l">
              <a:buClr>
                <a:srgbClr val="FFFFFF"/>
              </a:buClr>
              <a:buSzPct val="75000"/>
              <a:buFont typeface="Symbol" charset="2"/>
              <a:buChar char=""/>
              <a:defRPr lang="fr-FR" sz="2000" b="0" u="none" strike="noStrike">
                <a:solidFill>
                  <a:srgbClr val="FFFFFF"/>
                </a:solidFill>
                <a:effectLst/>
                <a:uFillTx/>
                <a:latin typeface="Arial"/>
              </a:defRPr>
            </a:lvl4pPr>
            <a:lvl5pPr lvl="4" algn="l">
              <a:buClr>
                <a:srgbClr val="FFFFFF"/>
              </a:buClr>
              <a:buSzPct val="45000"/>
              <a:buFont typeface="Wingdings" charset="2"/>
              <a:buChar char=""/>
              <a:defRPr lang="fr-FR" sz="2000" b="0" u="none" strike="noStrike">
                <a:solidFill>
                  <a:srgbClr val="FFFFFF"/>
                </a:solidFill>
                <a:effectLst/>
                <a:uFillTx/>
                <a:latin typeface="Arial"/>
              </a:defRPr>
            </a:lvl5pPr>
            <a:lvl6pPr lvl="5" algn="l">
              <a:buClr>
                <a:srgbClr val="FFFFFF"/>
              </a:buClr>
              <a:buSzPct val="45000"/>
              <a:buFont typeface="Wingdings" charset="2"/>
              <a:buChar char=""/>
              <a:defRPr lang="fr-FR" sz="2000" b="0" u="none" strike="noStrike">
                <a:solidFill>
                  <a:srgbClr val="FFFFFF"/>
                </a:solidFill>
                <a:effectLst/>
                <a:uFillTx/>
                <a:latin typeface="Arial"/>
              </a:defRPr>
            </a:lvl6pPr>
            <a:lvl7pPr lvl="6" algn="l">
              <a:buClr>
                <a:srgbClr val="FFFFFF"/>
              </a:buClr>
              <a:buSzPct val="45000"/>
              <a:buFont typeface="Wingdings" charset="2"/>
              <a:buChar char=""/>
              <a:defRPr lang="fr-FR" sz="2000" b="0" u="none" strike="noStrike">
                <a:solidFill>
                  <a:srgbClr val="FFFFFF"/>
                </a:solidFill>
                <a:effectLst/>
                <a:uFillTx/>
                <a:latin typeface="Arial"/>
              </a:defRPr>
            </a:lvl7pPr>
          </a:lstStyle>
          <a:p>
            <a:pPr indent="-324000" algn="l">
              <a:buClr>
                <a:srgbClr val="FFFFFF"/>
              </a:buClr>
              <a:buFont typeface="Wingdings" charset="2"/>
              <a:buChar char=""/>
            </a:pPr>
            <a:r>
              <a:rPr lang="fr-FR" sz="3200" b="0" u="none" strike="noStrike">
                <a:solidFill>
                  <a:srgbClr val="FFFFFF"/>
                </a:solidFill>
                <a:effectLst/>
                <a:uFillTx/>
                <a:latin typeface="Arial"/>
              </a:rPr>
              <a:t>Click to edit the outline text format</a:t>
            </a:r>
            <a:endParaRPr lang="fr-FR" sz="32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2800" b="0" u="none" strike="noStrike">
                <a:solidFill>
                  <a:srgbClr val="FFFFFF"/>
                </a:solidFill>
                <a:effectLst/>
                <a:uFillTx/>
                <a:latin typeface="Arial"/>
              </a:rPr>
              <a:t>Second Outline Level</a:t>
            </a:r>
            <a:endParaRPr lang="fr-FR" sz="2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2400" b="0" u="none" strike="noStrike">
                <a:solidFill>
                  <a:srgbClr val="FFFFFF"/>
                </a:solidFill>
                <a:effectLst/>
                <a:uFillTx/>
                <a:latin typeface="Arial"/>
              </a:rPr>
              <a:t>Third Outline Level</a:t>
            </a:r>
            <a:endParaRPr lang="fr-FR" sz="24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2000" b="0" u="none" strike="noStrike">
                <a:solidFill>
                  <a:srgbClr val="FFFFFF"/>
                </a:solidFill>
                <a:effectLst/>
                <a:uFillTx/>
                <a:latin typeface="Arial"/>
              </a:rPr>
              <a:t>Fourth Outline Level</a:t>
            </a:r>
            <a:endParaRPr lang="fr-FR" sz="20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2000" b="0" u="none" strike="noStrike">
                <a:solidFill>
                  <a:srgbClr val="FFFFFF"/>
                </a:solidFill>
                <a:effectLst/>
                <a:uFillTx/>
                <a:latin typeface="Arial"/>
              </a:rPr>
              <a:t>Fifth Outline Level</a:t>
            </a:r>
            <a:endParaRPr lang="fr-FR" sz="20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2000" b="0" u="none" strike="noStrike">
                <a:solidFill>
                  <a:srgbClr val="FFFFFF"/>
                </a:solidFill>
                <a:effectLst/>
                <a:uFillTx/>
                <a:latin typeface="Arial"/>
              </a:rPr>
              <a:t>Sixth Outline Level</a:t>
            </a:r>
            <a:endParaRPr lang="fr-FR" sz="20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2000" b="0" u="none" strike="noStrike">
                <a:solidFill>
                  <a:srgbClr val="FFFFFF"/>
                </a:solidFill>
                <a:effectLst/>
                <a:uFillTx/>
                <a:latin typeface="Arial"/>
              </a:rPr>
              <a:t>Seventh Outline Level</a:t>
            </a:r>
            <a:endParaRPr lang="fr-FR" sz="2000" b="0" u="none" strike="noStrike">
              <a:solidFill>
                <a:srgbClr val="FFFFFF"/>
              </a:solidFill>
              <a:effectLst/>
              <a:uFillTx/>
              <a:latin typeface="Arial"/>
            </a:endParaRPr>
          </a:p>
        </p:txBody>
      </p:sp>
    </p:spTree>
  </p:cSld>
  <p:clrMapOvr>
    <a:masterClrMapping/>
  </p:clrMapOvr>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6">
    <p:bg>
      <p:bgPr>
        <a:solidFill>
          <a:srgbClr val="0D1B2A"/>
        </a:solidFill>
      </p:bgPr>
    </p:bg>
    <p:spTree>
      <p:nvGrpSpPr>
        <p:cNvPr id="1" name=""/>
        <p:cNvGrpSpPr/>
        <p:nvPr/>
      </p:nvGrpSpPr>
      <p:grpSpPr>
        <a:xfrm>
          <a:off x="0" y="0"/>
          <a:ext cx="0" cy="0"/>
          <a:chOff x="0" y="0"/>
          <a:chExt cx="0" cy="0"/>
        </a:xfrm>
      </p:grpSpPr>
      <p:pic>
        <p:nvPicPr>
          <p:cNvPr id="117" name="Image 0" descr="img/mark_dark.png"/>
          <p:cNvPicPr/>
          <p:nvPr/>
        </p:nvPicPr>
        <p:blipFill>
          <a:blip r:embed="rId2"/>
          <a:stretch/>
        </p:blipFill>
        <p:spPr>
          <a:xfrm>
            <a:off x="640080" y="6336720"/>
            <a:ext cx="235440" cy="235440"/>
          </a:xfrm>
          <a:prstGeom prst="rect">
            <a:avLst/>
          </a:prstGeom>
          <a:noFill/>
          <a:ln w="0">
            <a:noFill/>
          </a:ln>
        </p:spPr>
      </p:pic>
      <p:sp>
        <p:nvSpPr>
          <p:cNvPr id="118" name="Text 0"/>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19"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20" name="PlaceHolder 2"/>
          <p:cNvSpPr>
            <a:spLocks noGrp="1"/>
          </p:cNvSpPr>
          <p:nvPr>
            <p:ph type="sldNum" idx="7"/>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03A5928D-B0CA-4EC0-8E14-836AE83ED383}"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7">
    <p:bg>
      <p:bgPr>
        <a:solidFill>
          <a:srgbClr val="0D1B2A"/>
        </a:solidFill>
      </p:bgPr>
    </p:bg>
    <p:spTree>
      <p:nvGrpSpPr>
        <p:cNvPr id="1" name=""/>
        <p:cNvGrpSpPr/>
        <p:nvPr/>
      </p:nvGrpSpPr>
      <p:grpSpPr>
        <a:xfrm>
          <a:off x="0" y="0"/>
          <a:ext cx="0" cy="0"/>
          <a:chOff x="0" y="0"/>
          <a:chExt cx="0" cy="0"/>
        </a:xfrm>
      </p:grpSpPr>
      <p:pic>
        <p:nvPicPr>
          <p:cNvPr id="121" name="Image 0" descr="img/mark_dark.png"/>
          <p:cNvPicPr/>
          <p:nvPr/>
        </p:nvPicPr>
        <p:blipFill>
          <a:blip r:embed="rId2"/>
          <a:stretch/>
        </p:blipFill>
        <p:spPr>
          <a:xfrm>
            <a:off x="640080" y="6336720"/>
            <a:ext cx="235440" cy="235440"/>
          </a:xfrm>
          <a:prstGeom prst="rect">
            <a:avLst/>
          </a:prstGeom>
          <a:noFill/>
          <a:ln w="0">
            <a:noFill/>
          </a:ln>
        </p:spPr>
      </p:pic>
      <p:sp>
        <p:nvSpPr>
          <p:cNvPr id="122" name="Text 0"/>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23"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24" name="PlaceHolder 2"/>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25" name="PlaceHolder 3"/>
          <p:cNvSpPr>
            <a:spLocks noGrp="1"/>
          </p:cNvSpPr>
          <p:nvPr>
            <p:ph type="sldNum" idx="8"/>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10BA7864-8D9D-4F0F-AD27-91982648C0EE}"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efault 8">
    <p:bg>
      <p:bgPr>
        <a:solidFill>
          <a:srgbClr val="0D1B2A"/>
        </a:solidFill>
      </p:bgPr>
    </p:bg>
    <p:spTree>
      <p:nvGrpSpPr>
        <p:cNvPr id="1" name=""/>
        <p:cNvGrpSpPr/>
        <p:nvPr/>
      </p:nvGrpSpPr>
      <p:grpSpPr>
        <a:xfrm>
          <a:off x="0" y="0"/>
          <a:ext cx="0" cy="0"/>
          <a:chOff x="0" y="0"/>
          <a:chExt cx="0" cy="0"/>
        </a:xfrm>
      </p:grpSpPr>
      <p:pic>
        <p:nvPicPr>
          <p:cNvPr id="126" name="Image 0" descr="img/mark_dark.png"/>
          <p:cNvPicPr/>
          <p:nvPr/>
        </p:nvPicPr>
        <p:blipFill>
          <a:blip r:embed="rId2"/>
          <a:stretch/>
        </p:blipFill>
        <p:spPr>
          <a:xfrm>
            <a:off x="640080" y="6336720"/>
            <a:ext cx="235440" cy="235440"/>
          </a:xfrm>
          <a:prstGeom prst="rect">
            <a:avLst/>
          </a:prstGeom>
          <a:noFill/>
          <a:ln w="0">
            <a:noFill/>
          </a:ln>
        </p:spPr>
      </p:pic>
      <p:sp>
        <p:nvSpPr>
          <p:cNvPr id="127" name="Text 0"/>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28"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29" name="PlaceHolder 2"/>
          <p:cNvSpPr>
            <a:spLocks noGrp="1"/>
          </p:cNvSpPr>
          <p:nvPr>
            <p:ph type="body"/>
          </p:nvPr>
        </p:nvSpPr>
        <p:spPr>
          <a:xfrm>
            <a:off x="609480" y="1604520"/>
            <a:ext cx="5353920" cy="3976920"/>
          </a:xfrm>
          <a:prstGeom prst="rect">
            <a:avLst/>
          </a:prstGeom>
          <a:noFill/>
          <a:ln w="0">
            <a:noFill/>
          </a:ln>
        </p:spPr>
        <p:txBody>
          <a:bodyPr lIns="0" tIns="0" rIns="0" bIns="0" anchor="t">
            <a:normAutofit/>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30" name="PlaceHolder 3"/>
          <p:cNvSpPr>
            <a:spLocks noGrp="1"/>
          </p:cNvSpPr>
          <p:nvPr>
            <p:ph type="body"/>
          </p:nvPr>
        </p:nvSpPr>
        <p:spPr>
          <a:xfrm>
            <a:off x="6231960" y="1604520"/>
            <a:ext cx="5353920" cy="3976920"/>
          </a:xfrm>
          <a:prstGeom prst="rect">
            <a:avLst/>
          </a:prstGeom>
          <a:noFill/>
          <a:ln w="0">
            <a:noFill/>
          </a:ln>
        </p:spPr>
        <p:txBody>
          <a:bodyPr lIns="0" tIns="0" rIns="0" bIns="0" anchor="t">
            <a:normAutofit/>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31" name="PlaceHolder 4"/>
          <p:cNvSpPr>
            <a:spLocks noGrp="1"/>
          </p:cNvSpPr>
          <p:nvPr>
            <p:ph type="sldNum" idx="9"/>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40E26AE8-BE05-46D0-8D43-6C8E013CB847}"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9">
    <p:bg>
      <p:bgPr>
        <a:solidFill>
          <a:srgbClr val="0D1B2A"/>
        </a:solidFill>
      </p:bgPr>
    </p:bg>
    <p:spTree>
      <p:nvGrpSpPr>
        <p:cNvPr id="1" name=""/>
        <p:cNvGrpSpPr/>
        <p:nvPr/>
      </p:nvGrpSpPr>
      <p:grpSpPr>
        <a:xfrm>
          <a:off x="0" y="0"/>
          <a:ext cx="0" cy="0"/>
          <a:chOff x="0" y="0"/>
          <a:chExt cx="0" cy="0"/>
        </a:xfrm>
      </p:grpSpPr>
      <p:pic>
        <p:nvPicPr>
          <p:cNvPr id="132" name="Image 0" descr="img/mark_dark.png"/>
          <p:cNvPicPr/>
          <p:nvPr/>
        </p:nvPicPr>
        <p:blipFill>
          <a:blip r:embed="rId2"/>
          <a:stretch/>
        </p:blipFill>
        <p:spPr>
          <a:xfrm>
            <a:off x="640080" y="6336720"/>
            <a:ext cx="235440" cy="235440"/>
          </a:xfrm>
          <a:prstGeom prst="rect">
            <a:avLst/>
          </a:prstGeom>
          <a:noFill/>
          <a:ln w="0">
            <a:noFill/>
          </a:ln>
        </p:spPr>
      </p:pic>
      <p:sp>
        <p:nvSpPr>
          <p:cNvPr id="133" name="Text 0"/>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34"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35" name="PlaceHolder 2"/>
          <p:cNvSpPr>
            <a:spLocks noGrp="1"/>
          </p:cNvSpPr>
          <p:nvPr>
            <p:ph type="sldNum" idx="10"/>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36B9D903-9482-4B1E-8147-4BBC65DEEEA0}"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Default 10">
    <p:bg>
      <p:bgPr>
        <a:solidFill>
          <a:srgbClr val="0D1B2A"/>
        </a:solidFill>
      </p:bgPr>
    </p:bg>
    <p:spTree>
      <p:nvGrpSpPr>
        <p:cNvPr id="1" name=""/>
        <p:cNvGrpSpPr/>
        <p:nvPr/>
      </p:nvGrpSpPr>
      <p:grpSpPr>
        <a:xfrm>
          <a:off x="0" y="0"/>
          <a:ext cx="0" cy="0"/>
          <a:chOff x="0" y="0"/>
          <a:chExt cx="0" cy="0"/>
        </a:xfrm>
      </p:grpSpPr>
      <p:pic>
        <p:nvPicPr>
          <p:cNvPr id="136" name="Image 0" descr="img/mark_dark.png"/>
          <p:cNvPicPr/>
          <p:nvPr/>
        </p:nvPicPr>
        <p:blipFill>
          <a:blip r:embed="rId2"/>
          <a:stretch/>
        </p:blipFill>
        <p:spPr>
          <a:xfrm>
            <a:off x="640080" y="6336720"/>
            <a:ext cx="235440" cy="235440"/>
          </a:xfrm>
          <a:prstGeom prst="rect">
            <a:avLst/>
          </a:prstGeom>
          <a:noFill/>
          <a:ln w="0">
            <a:noFill/>
          </a:ln>
        </p:spPr>
      </p:pic>
      <p:sp>
        <p:nvSpPr>
          <p:cNvPr id="137" name="Text 0"/>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38" name="PlaceHolder 1"/>
          <p:cNvSpPr>
            <a:spLocks noGrp="1"/>
          </p:cNvSpPr>
          <p:nvPr>
            <p:ph type="sldNum" idx="11"/>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1706E810-E427-43D2-B603-BF8CA230F463}"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Default 11">
    <p:bg>
      <p:bgPr>
        <a:solidFill>
          <a:srgbClr val="0D1B2A"/>
        </a:solidFill>
      </p:bgPr>
    </p:bg>
    <p:spTree>
      <p:nvGrpSpPr>
        <p:cNvPr id="1" name=""/>
        <p:cNvGrpSpPr/>
        <p:nvPr/>
      </p:nvGrpSpPr>
      <p:grpSpPr>
        <a:xfrm>
          <a:off x="0" y="0"/>
          <a:ext cx="0" cy="0"/>
          <a:chOff x="0" y="0"/>
          <a:chExt cx="0" cy="0"/>
        </a:xfrm>
      </p:grpSpPr>
      <p:pic>
        <p:nvPicPr>
          <p:cNvPr id="139" name="Image 0" descr="img/mark_dark.png"/>
          <p:cNvPicPr/>
          <p:nvPr/>
        </p:nvPicPr>
        <p:blipFill>
          <a:blip r:embed="rId2"/>
          <a:stretch/>
        </p:blipFill>
        <p:spPr>
          <a:xfrm>
            <a:off x="640080" y="6336720"/>
            <a:ext cx="235440" cy="235440"/>
          </a:xfrm>
          <a:prstGeom prst="rect">
            <a:avLst/>
          </a:prstGeom>
          <a:noFill/>
          <a:ln w="0">
            <a:noFill/>
          </a:ln>
        </p:spPr>
      </p:pic>
      <p:sp>
        <p:nvSpPr>
          <p:cNvPr id="140" name="Text 0"/>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41"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42" name="PlaceHolder 2"/>
          <p:cNvSpPr>
            <a:spLocks noGrp="1"/>
          </p:cNvSpPr>
          <p:nvPr>
            <p:ph type="body"/>
          </p:nvPr>
        </p:nvSpPr>
        <p:spPr>
          <a:xfrm>
            <a:off x="609480" y="160452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43" name="PlaceHolder 3"/>
          <p:cNvSpPr>
            <a:spLocks noGrp="1"/>
          </p:cNvSpPr>
          <p:nvPr>
            <p:ph type="body"/>
          </p:nvPr>
        </p:nvSpPr>
        <p:spPr>
          <a:xfrm>
            <a:off x="6231960" y="1604520"/>
            <a:ext cx="5353920" cy="3976920"/>
          </a:xfrm>
          <a:prstGeom prst="rect">
            <a:avLst/>
          </a:prstGeom>
          <a:noFill/>
          <a:ln w="0">
            <a:noFill/>
          </a:ln>
        </p:spPr>
        <p:txBody>
          <a:bodyPr lIns="0" tIns="0" rIns="0" bIns="0" anchor="t">
            <a:normAutofit/>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44" name="PlaceHolder 4"/>
          <p:cNvSpPr>
            <a:spLocks noGrp="1"/>
          </p:cNvSpPr>
          <p:nvPr>
            <p:ph type="body"/>
          </p:nvPr>
        </p:nvSpPr>
        <p:spPr>
          <a:xfrm>
            <a:off x="609480" y="368208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45" name="PlaceHolder 5"/>
          <p:cNvSpPr>
            <a:spLocks noGrp="1"/>
          </p:cNvSpPr>
          <p:nvPr>
            <p:ph type="sldNum" idx="12"/>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30838691-3026-4675-B161-0E9A43696013}"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Default 12">
    <p:bg>
      <p:bgPr>
        <a:solidFill>
          <a:srgbClr val="0D1B2A"/>
        </a:solidFill>
      </p:bgPr>
    </p:bg>
    <p:spTree>
      <p:nvGrpSpPr>
        <p:cNvPr id="1" name=""/>
        <p:cNvGrpSpPr/>
        <p:nvPr/>
      </p:nvGrpSpPr>
      <p:grpSpPr>
        <a:xfrm>
          <a:off x="0" y="0"/>
          <a:ext cx="0" cy="0"/>
          <a:chOff x="0" y="0"/>
          <a:chExt cx="0" cy="0"/>
        </a:xfrm>
      </p:grpSpPr>
      <p:pic>
        <p:nvPicPr>
          <p:cNvPr id="146" name="Image 0" descr="img/deco_dark.png"/>
          <p:cNvPicPr/>
          <p:nvPr/>
        </p:nvPicPr>
        <p:blipFill>
          <a:blip r:embed="rId2"/>
          <a:stretch/>
        </p:blipFill>
        <p:spPr>
          <a:xfrm>
            <a:off x="7498080" y="1828800"/>
            <a:ext cx="4204080" cy="4204080"/>
          </a:xfrm>
          <a:prstGeom prst="rect">
            <a:avLst/>
          </a:prstGeom>
          <a:noFill/>
          <a:ln w="0">
            <a:noFill/>
          </a:ln>
        </p:spPr>
      </p:pic>
      <p:sp>
        <p:nvSpPr>
          <p:cNvPr id="147" name="Shape 0"/>
          <p:cNvSpPr/>
          <p:nvPr/>
        </p:nvSpPr>
        <p:spPr>
          <a:xfrm>
            <a:off x="640080" y="182880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148" name="Image 1" descr="img/mark_dark.png"/>
          <p:cNvPicPr/>
          <p:nvPr/>
        </p:nvPicPr>
        <p:blipFill>
          <a:blip r:embed="rId3"/>
          <a:stretch/>
        </p:blipFill>
        <p:spPr>
          <a:xfrm>
            <a:off x="640080" y="6336720"/>
            <a:ext cx="235440" cy="235440"/>
          </a:xfrm>
          <a:prstGeom prst="rect">
            <a:avLst/>
          </a:prstGeom>
          <a:noFill/>
          <a:ln w="0">
            <a:noFill/>
          </a:ln>
        </p:spPr>
      </p:pic>
      <p:sp>
        <p:nvSpPr>
          <p:cNvPr id="149" name="Text 1"/>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50"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51" name="PlaceHolder 2"/>
          <p:cNvSpPr>
            <a:spLocks noGrp="1"/>
          </p:cNvSpPr>
          <p:nvPr>
            <p:ph type="body"/>
          </p:nvPr>
        </p:nvSpPr>
        <p:spPr>
          <a:xfrm>
            <a:off x="609480" y="160452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52" name="PlaceHolder 3"/>
          <p:cNvSpPr>
            <a:spLocks noGrp="1"/>
          </p:cNvSpPr>
          <p:nvPr>
            <p:ph type="body"/>
          </p:nvPr>
        </p:nvSpPr>
        <p:spPr>
          <a:xfrm>
            <a:off x="6231960" y="1604520"/>
            <a:ext cx="5353920" cy="3976920"/>
          </a:xfrm>
          <a:prstGeom prst="rect">
            <a:avLst/>
          </a:prstGeom>
          <a:noFill/>
          <a:ln w="0">
            <a:noFill/>
          </a:ln>
        </p:spPr>
        <p:txBody>
          <a:bodyPr lIns="0" tIns="0" rIns="0" bIns="0" anchor="t">
            <a:normAutofit/>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53" name="PlaceHolder 4"/>
          <p:cNvSpPr>
            <a:spLocks noGrp="1"/>
          </p:cNvSpPr>
          <p:nvPr>
            <p:ph type="body"/>
          </p:nvPr>
        </p:nvSpPr>
        <p:spPr>
          <a:xfrm>
            <a:off x="609480" y="368208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54" name="PlaceHolder 5"/>
          <p:cNvSpPr>
            <a:spLocks noGrp="1"/>
          </p:cNvSpPr>
          <p:nvPr>
            <p:ph type="sldNum" idx="13"/>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62FCA161-C213-486C-9EFA-6A0BDD733EC7}"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Default 13">
    <p:bg>
      <p:bgPr>
        <a:solidFill>
          <a:srgbClr val="0D1B2A"/>
        </a:solidFill>
      </p:bgPr>
    </p:bg>
    <p:spTree>
      <p:nvGrpSpPr>
        <p:cNvPr id="1" name=""/>
        <p:cNvGrpSpPr/>
        <p:nvPr/>
      </p:nvGrpSpPr>
      <p:grpSpPr>
        <a:xfrm>
          <a:off x="0" y="0"/>
          <a:ext cx="0" cy="0"/>
          <a:chOff x="0" y="0"/>
          <a:chExt cx="0" cy="0"/>
        </a:xfrm>
      </p:grpSpPr>
      <p:pic>
        <p:nvPicPr>
          <p:cNvPr id="155" name="Image 0" descr="img/deco_dark.png"/>
          <p:cNvPicPr/>
          <p:nvPr/>
        </p:nvPicPr>
        <p:blipFill>
          <a:blip r:embed="rId2"/>
          <a:stretch/>
        </p:blipFill>
        <p:spPr>
          <a:xfrm>
            <a:off x="7498080" y="1828800"/>
            <a:ext cx="4204080" cy="4204080"/>
          </a:xfrm>
          <a:prstGeom prst="rect">
            <a:avLst/>
          </a:prstGeom>
          <a:noFill/>
          <a:ln w="0">
            <a:noFill/>
          </a:ln>
        </p:spPr>
      </p:pic>
      <p:sp>
        <p:nvSpPr>
          <p:cNvPr id="156" name="Shape 0"/>
          <p:cNvSpPr/>
          <p:nvPr/>
        </p:nvSpPr>
        <p:spPr>
          <a:xfrm>
            <a:off x="640080" y="182880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157" name="Image 1" descr="img/mark_dark.png"/>
          <p:cNvPicPr/>
          <p:nvPr/>
        </p:nvPicPr>
        <p:blipFill>
          <a:blip r:embed="rId3"/>
          <a:stretch/>
        </p:blipFill>
        <p:spPr>
          <a:xfrm>
            <a:off x="640080" y="6336720"/>
            <a:ext cx="235440" cy="235440"/>
          </a:xfrm>
          <a:prstGeom prst="rect">
            <a:avLst/>
          </a:prstGeom>
          <a:noFill/>
          <a:ln w="0">
            <a:noFill/>
          </a:ln>
        </p:spPr>
      </p:pic>
      <p:sp>
        <p:nvSpPr>
          <p:cNvPr id="158" name="Text 1"/>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59"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60" name="PlaceHolder 2"/>
          <p:cNvSpPr>
            <a:spLocks noGrp="1"/>
          </p:cNvSpPr>
          <p:nvPr>
            <p:ph type="body"/>
          </p:nvPr>
        </p:nvSpPr>
        <p:spPr>
          <a:xfrm>
            <a:off x="609480" y="1604520"/>
            <a:ext cx="5353920" cy="3976920"/>
          </a:xfrm>
          <a:prstGeom prst="rect">
            <a:avLst/>
          </a:prstGeom>
          <a:noFill/>
          <a:ln w="0">
            <a:noFill/>
          </a:ln>
        </p:spPr>
        <p:txBody>
          <a:bodyPr lIns="0" tIns="0" rIns="0" bIns="0" anchor="t">
            <a:normAutofit/>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61" name="PlaceHolder 3"/>
          <p:cNvSpPr>
            <a:spLocks noGrp="1"/>
          </p:cNvSpPr>
          <p:nvPr>
            <p:ph type="body"/>
          </p:nvPr>
        </p:nvSpPr>
        <p:spPr>
          <a:xfrm>
            <a:off x="6231960" y="160452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62" name="PlaceHolder 4"/>
          <p:cNvSpPr>
            <a:spLocks noGrp="1"/>
          </p:cNvSpPr>
          <p:nvPr>
            <p:ph type="body"/>
          </p:nvPr>
        </p:nvSpPr>
        <p:spPr>
          <a:xfrm>
            <a:off x="6231960" y="368208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63" name="PlaceHolder 5"/>
          <p:cNvSpPr>
            <a:spLocks noGrp="1"/>
          </p:cNvSpPr>
          <p:nvPr>
            <p:ph type="sldNum" idx="14"/>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333F4D56-ED17-44E8-8A60-7B4444529402}"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14">
    <p:bg>
      <p:bgPr>
        <a:solidFill>
          <a:srgbClr val="0D1B2A"/>
        </a:solidFill>
      </p:bgPr>
    </p:bg>
    <p:spTree>
      <p:nvGrpSpPr>
        <p:cNvPr id="1" name=""/>
        <p:cNvGrpSpPr/>
        <p:nvPr/>
      </p:nvGrpSpPr>
      <p:grpSpPr>
        <a:xfrm>
          <a:off x="0" y="0"/>
          <a:ext cx="0" cy="0"/>
          <a:chOff x="0" y="0"/>
          <a:chExt cx="0" cy="0"/>
        </a:xfrm>
      </p:grpSpPr>
      <p:pic>
        <p:nvPicPr>
          <p:cNvPr id="164" name="Image 0" descr="img/deco_dark.png"/>
          <p:cNvPicPr/>
          <p:nvPr/>
        </p:nvPicPr>
        <p:blipFill>
          <a:blip r:embed="rId2"/>
          <a:stretch/>
        </p:blipFill>
        <p:spPr>
          <a:xfrm>
            <a:off x="7498080" y="1828800"/>
            <a:ext cx="4204080" cy="4204080"/>
          </a:xfrm>
          <a:prstGeom prst="rect">
            <a:avLst/>
          </a:prstGeom>
          <a:noFill/>
          <a:ln w="0">
            <a:noFill/>
          </a:ln>
        </p:spPr>
      </p:pic>
      <p:sp>
        <p:nvSpPr>
          <p:cNvPr id="165" name="Shape 0"/>
          <p:cNvSpPr/>
          <p:nvPr/>
        </p:nvSpPr>
        <p:spPr>
          <a:xfrm>
            <a:off x="640080" y="182880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166" name="Image 1" descr="img/mark_dark.png"/>
          <p:cNvPicPr/>
          <p:nvPr/>
        </p:nvPicPr>
        <p:blipFill>
          <a:blip r:embed="rId3"/>
          <a:stretch/>
        </p:blipFill>
        <p:spPr>
          <a:xfrm>
            <a:off x="640080" y="6336720"/>
            <a:ext cx="235440" cy="235440"/>
          </a:xfrm>
          <a:prstGeom prst="rect">
            <a:avLst/>
          </a:prstGeom>
          <a:noFill/>
          <a:ln w="0">
            <a:noFill/>
          </a:ln>
        </p:spPr>
      </p:pic>
      <p:sp>
        <p:nvSpPr>
          <p:cNvPr id="167" name="Text 1"/>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68"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69" name="PlaceHolder 2"/>
          <p:cNvSpPr>
            <a:spLocks noGrp="1"/>
          </p:cNvSpPr>
          <p:nvPr>
            <p:ph type="body"/>
          </p:nvPr>
        </p:nvSpPr>
        <p:spPr>
          <a:xfrm>
            <a:off x="609480" y="160452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70" name="PlaceHolder 3"/>
          <p:cNvSpPr>
            <a:spLocks noGrp="1"/>
          </p:cNvSpPr>
          <p:nvPr>
            <p:ph type="body"/>
          </p:nvPr>
        </p:nvSpPr>
        <p:spPr>
          <a:xfrm>
            <a:off x="6231960" y="160452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71" name="PlaceHolder 4"/>
          <p:cNvSpPr>
            <a:spLocks noGrp="1"/>
          </p:cNvSpPr>
          <p:nvPr>
            <p:ph type="body"/>
          </p:nvPr>
        </p:nvSpPr>
        <p:spPr>
          <a:xfrm>
            <a:off x="609480" y="3682080"/>
            <a:ext cx="1097208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72" name="PlaceHolder 5"/>
          <p:cNvSpPr>
            <a:spLocks noGrp="1"/>
          </p:cNvSpPr>
          <p:nvPr>
            <p:ph type="sldNum" idx="15"/>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D0033B7B-9B0E-43CC-8ADA-07EC6594E2F4}"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Default 15">
    <p:bg>
      <p:bgPr>
        <a:solidFill>
          <a:srgbClr val="0D1B2A"/>
        </a:solidFill>
      </p:bgPr>
    </p:bg>
    <p:spTree>
      <p:nvGrpSpPr>
        <p:cNvPr id="1" name=""/>
        <p:cNvGrpSpPr/>
        <p:nvPr/>
      </p:nvGrpSpPr>
      <p:grpSpPr>
        <a:xfrm>
          <a:off x="0" y="0"/>
          <a:ext cx="0" cy="0"/>
          <a:chOff x="0" y="0"/>
          <a:chExt cx="0" cy="0"/>
        </a:xfrm>
      </p:grpSpPr>
      <p:pic>
        <p:nvPicPr>
          <p:cNvPr id="173" name="Image 0" descr="img/deco_dark.png"/>
          <p:cNvPicPr/>
          <p:nvPr/>
        </p:nvPicPr>
        <p:blipFill>
          <a:blip r:embed="rId2"/>
          <a:stretch/>
        </p:blipFill>
        <p:spPr>
          <a:xfrm>
            <a:off x="7498080" y="1828800"/>
            <a:ext cx="4204080" cy="4204080"/>
          </a:xfrm>
          <a:prstGeom prst="rect">
            <a:avLst/>
          </a:prstGeom>
          <a:noFill/>
          <a:ln w="0">
            <a:noFill/>
          </a:ln>
        </p:spPr>
      </p:pic>
      <p:sp>
        <p:nvSpPr>
          <p:cNvPr id="174" name="Shape 0"/>
          <p:cNvSpPr/>
          <p:nvPr/>
        </p:nvSpPr>
        <p:spPr>
          <a:xfrm>
            <a:off x="640080" y="182880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175" name="Image 1" descr="img/mark_dark.png"/>
          <p:cNvPicPr/>
          <p:nvPr/>
        </p:nvPicPr>
        <p:blipFill>
          <a:blip r:embed="rId3"/>
          <a:stretch/>
        </p:blipFill>
        <p:spPr>
          <a:xfrm>
            <a:off x="640080" y="6336720"/>
            <a:ext cx="235440" cy="235440"/>
          </a:xfrm>
          <a:prstGeom prst="rect">
            <a:avLst/>
          </a:prstGeom>
          <a:noFill/>
          <a:ln w="0">
            <a:noFill/>
          </a:ln>
        </p:spPr>
      </p:pic>
      <p:sp>
        <p:nvSpPr>
          <p:cNvPr id="176" name="Text 1"/>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77"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78" name="PlaceHolder 2"/>
          <p:cNvSpPr>
            <a:spLocks noGrp="1"/>
          </p:cNvSpPr>
          <p:nvPr>
            <p:ph type="body"/>
          </p:nvPr>
        </p:nvSpPr>
        <p:spPr>
          <a:xfrm>
            <a:off x="609480" y="1604520"/>
            <a:ext cx="1097208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79" name="PlaceHolder 3"/>
          <p:cNvSpPr>
            <a:spLocks noGrp="1"/>
          </p:cNvSpPr>
          <p:nvPr>
            <p:ph type="body"/>
          </p:nvPr>
        </p:nvSpPr>
        <p:spPr>
          <a:xfrm>
            <a:off x="609480" y="3682080"/>
            <a:ext cx="1097208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80" name="PlaceHolder 4"/>
          <p:cNvSpPr>
            <a:spLocks noGrp="1"/>
          </p:cNvSpPr>
          <p:nvPr>
            <p:ph type="sldNum" idx="16"/>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8B2DDE84-CB00-4E3C-A8DF-CB84F2A46339}"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Default 16">
    <p:bg>
      <p:bgPr>
        <a:solidFill>
          <a:srgbClr val="0D1B2A"/>
        </a:solidFill>
      </p:bgPr>
    </p:bg>
    <p:spTree>
      <p:nvGrpSpPr>
        <p:cNvPr id="1" name=""/>
        <p:cNvGrpSpPr/>
        <p:nvPr/>
      </p:nvGrpSpPr>
      <p:grpSpPr>
        <a:xfrm>
          <a:off x="0" y="0"/>
          <a:ext cx="0" cy="0"/>
          <a:chOff x="0" y="0"/>
          <a:chExt cx="0" cy="0"/>
        </a:xfrm>
      </p:grpSpPr>
      <p:pic>
        <p:nvPicPr>
          <p:cNvPr id="181" name="Image 0" descr="img/deco_dark.png"/>
          <p:cNvPicPr/>
          <p:nvPr/>
        </p:nvPicPr>
        <p:blipFill>
          <a:blip r:embed="rId2"/>
          <a:stretch/>
        </p:blipFill>
        <p:spPr>
          <a:xfrm>
            <a:off x="7498080" y="1828800"/>
            <a:ext cx="4204080" cy="4204080"/>
          </a:xfrm>
          <a:prstGeom prst="rect">
            <a:avLst/>
          </a:prstGeom>
          <a:noFill/>
          <a:ln w="0">
            <a:noFill/>
          </a:ln>
        </p:spPr>
      </p:pic>
      <p:sp>
        <p:nvSpPr>
          <p:cNvPr id="182" name="Shape 0"/>
          <p:cNvSpPr/>
          <p:nvPr/>
        </p:nvSpPr>
        <p:spPr>
          <a:xfrm>
            <a:off x="640080" y="182880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183" name="Image 1" descr="img/mark_dark.png"/>
          <p:cNvPicPr/>
          <p:nvPr/>
        </p:nvPicPr>
        <p:blipFill>
          <a:blip r:embed="rId3"/>
          <a:stretch/>
        </p:blipFill>
        <p:spPr>
          <a:xfrm>
            <a:off x="640080" y="6336720"/>
            <a:ext cx="235440" cy="235440"/>
          </a:xfrm>
          <a:prstGeom prst="rect">
            <a:avLst/>
          </a:prstGeom>
          <a:noFill/>
          <a:ln w="0">
            <a:noFill/>
          </a:ln>
        </p:spPr>
      </p:pic>
      <p:sp>
        <p:nvSpPr>
          <p:cNvPr id="184" name="Text 1"/>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85"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86" name="PlaceHolder 2"/>
          <p:cNvSpPr>
            <a:spLocks noGrp="1"/>
          </p:cNvSpPr>
          <p:nvPr>
            <p:ph type="body"/>
          </p:nvPr>
        </p:nvSpPr>
        <p:spPr>
          <a:xfrm>
            <a:off x="609480" y="160452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87" name="PlaceHolder 3"/>
          <p:cNvSpPr>
            <a:spLocks noGrp="1"/>
          </p:cNvSpPr>
          <p:nvPr>
            <p:ph type="body"/>
          </p:nvPr>
        </p:nvSpPr>
        <p:spPr>
          <a:xfrm>
            <a:off x="6231960" y="160452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88" name="PlaceHolder 4"/>
          <p:cNvSpPr>
            <a:spLocks noGrp="1"/>
          </p:cNvSpPr>
          <p:nvPr>
            <p:ph type="body"/>
          </p:nvPr>
        </p:nvSpPr>
        <p:spPr>
          <a:xfrm>
            <a:off x="609480" y="368208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89" name="PlaceHolder 5"/>
          <p:cNvSpPr>
            <a:spLocks noGrp="1"/>
          </p:cNvSpPr>
          <p:nvPr>
            <p:ph type="body"/>
          </p:nvPr>
        </p:nvSpPr>
        <p:spPr>
          <a:xfrm>
            <a:off x="6231960" y="3682080"/>
            <a:ext cx="5353920" cy="1896480"/>
          </a:xfrm>
          <a:prstGeom prst="rect">
            <a:avLst/>
          </a:prstGeom>
          <a:noFill/>
          <a:ln w="0">
            <a:noFill/>
          </a:ln>
        </p:spPr>
        <p:txBody>
          <a:bodyPr lIns="0" tIns="0" rIns="0" bIns="0" anchor="t">
            <a:normAutofit lnSpcReduction="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90" name="PlaceHolder 6"/>
          <p:cNvSpPr>
            <a:spLocks noGrp="1"/>
          </p:cNvSpPr>
          <p:nvPr>
            <p:ph type="sldNum" idx="17"/>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660FA17F-6B33-45D6-B185-DC7DD8351B82}"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7">
    <p:bg>
      <p:bgPr>
        <a:solidFill>
          <a:srgbClr val="0D1B2A"/>
        </a:solidFill>
      </p:bgPr>
    </p:bg>
    <p:spTree>
      <p:nvGrpSpPr>
        <p:cNvPr id="1" name=""/>
        <p:cNvGrpSpPr/>
        <p:nvPr/>
      </p:nvGrpSpPr>
      <p:grpSpPr>
        <a:xfrm>
          <a:off x="0" y="0"/>
          <a:ext cx="0" cy="0"/>
          <a:chOff x="0" y="0"/>
          <a:chExt cx="0" cy="0"/>
        </a:xfrm>
      </p:grpSpPr>
      <p:pic>
        <p:nvPicPr>
          <p:cNvPr id="191" name="Image 0" descr="img/deco_dark.png"/>
          <p:cNvPicPr/>
          <p:nvPr/>
        </p:nvPicPr>
        <p:blipFill>
          <a:blip r:embed="rId2"/>
          <a:stretch/>
        </p:blipFill>
        <p:spPr>
          <a:xfrm>
            <a:off x="7498080" y="1828800"/>
            <a:ext cx="4204080" cy="4204080"/>
          </a:xfrm>
          <a:prstGeom prst="rect">
            <a:avLst/>
          </a:prstGeom>
          <a:noFill/>
          <a:ln w="0">
            <a:noFill/>
          </a:ln>
        </p:spPr>
      </p:pic>
      <p:sp>
        <p:nvSpPr>
          <p:cNvPr id="192" name="Shape 0"/>
          <p:cNvSpPr/>
          <p:nvPr/>
        </p:nvSpPr>
        <p:spPr>
          <a:xfrm>
            <a:off x="640080" y="182880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193" name="Image 1" descr="img/mark_dark.png"/>
          <p:cNvPicPr/>
          <p:nvPr/>
        </p:nvPicPr>
        <p:blipFill>
          <a:blip r:embed="rId3"/>
          <a:stretch/>
        </p:blipFill>
        <p:spPr>
          <a:xfrm>
            <a:off x="640080" y="6336720"/>
            <a:ext cx="235440" cy="235440"/>
          </a:xfrm>
          <a:prstGeom prst="rect">
            <a:avLst/>
          </a:prstGeom>
          <a:noFill/>
          <a:ln w="0">
            <a:noFill/>
          </a:ln>
        </p:spPr>
      </p:pic>
      <p:sp>
        <p:nvSpPr>
          <p:cNvPr id="194" name="Text 1"/>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95"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96" name="PlaceHolder 2"/>
          <p:cNvSpPr>
            <a:spLocks noGrp="1"/>
          </p:cNvSpPr>
          <p:nvPr>
            <p:ph type="body"/>
          </p:nvPr>
        </p:nvSpPr>
        <p:spPr>
          <a:xfrm>
            <a:off x="609480" y="1604520"/>
            <a:ext cx="3532680" cy="1896480"/>
          </a:xfrm>
          <a:prstGeom prst="rect">
            <a:avLst/>
          </a:prstGeom>
          <a:noFill/>
          <a:ln w="0">
            <a:noFill/>
          </a:ln>
        </p:spPr>
        <p:txBody>
          <a:bodyPr lIns="0" tIns="0" rIns="0" bIns="0" anchor="t">
            <a:normAutofit fontScale="62500" lnSpcReduction="1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97" name="PlaceHolder 3"/>
          <p:cNvSpPr>
            <a:spLocks noGrp="1"/>
          </p:cNvSpPr>
          <p:nvPr>
            <p:ph type="body"/>
          </p:nvPr>
        </p:nvSpPr>
        <p:spPr>
          <a:xfrm>
            <a:off x="4319640" y="1604520"/>
            <a:ext cx="3532680" cy="1896480"/>
          </a:xfrm>
          <a:prstGeom prst="rect">
            <a:avLst/>
          </a:prstGeom>
          <a:noFill/>
          <a:ln w="0">
            <a:noFill/>
          </a:ln>
        </p:spPr>
        <p:txBody>
          <a:bodyPr lIns="0" tIns="0" rIns="0" bIns="0" anchor="t">
            <a:normAutofit fontScale="62500" lnSpcReduction="1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98" name="PlaceHolder 4"/>
          <p:cNvSpPr>
            <a:spLocks noGrp="1"/>
          </p:cNvSpPr>
          <p:nvPr>
            <p:ph type="body"/>
          </p:nvPr>
        </p:nvSpPr>
        <p:spPr>
          <a:xfrm>
            <a:off x="8029800" y="1604520"/>
            <a:ext cx="3532680" cy="1896480"/>
          </a:xfrm>
          <a:prstGeom prst="rect">
            <a:avLst/>
          </a:prstGeom>
          <a:noFill/>
          <a:ln w="0">
            <a:noFill/>
          </a:ln>
        </p:spPr>
        <p:txBody>
          <a:bodyPr lIns="0" tIns="0" rIns="0" bIns="0" anchor="t">
            <a:normAutofit fontScale="62500" lnSpcReduction="1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99" name="PlaceHolder 5"/>
          <p:cNvSpPr>
            <a:spLocks noGrp="1"/>
          </p:cNvSpPr>
          <p:nvPr>
            <p:ph type="body"/>
          </p:nvPr>
        </p:nvSpPr>
        <p:spPr>
          <a:xfrm>
            <a:off x="609480" y="3682080"/>
            <a:ext cx="3532680" cy="1896480"/>
          </a:xfrm>
          <a:prstGeom prst="rect">
            <a:avLst/>
          </a:prstGeom>
          <a:noFill/>
          <a:ln w="0">
            <a:noFill/>
          </a:ln>
        </p:spPr>
        <p:txBody>
          <a:bodyPr lIns="0" tIns="0" rIns="0" bIns="0" anchor="t">
            <a:normAutofit fontScale="62500" lnSpcReduction="1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200" name="PlaceHolder 6"/>
          <p:cNvSpPr>
            <a:spLocks noGrp="1"/>
          </p:cNvSpPr>
          <p:nvPr>
            <p:ph type="body"/>
          </p:nvPr>
        </p:nvSpPr>
        <p:spPr>
          <a:xfrm>
            <a:off x="4319640" y="3682080"/>
            <a:ext cx="3532680" cy="1896480"/>
          </a:xfrm>
          <a:prstGeom prst="rect">
            <a:avLst/>
          </a:prstGeom>
          <a:noFill/>
          <a:ln w="0">
            <a:noFill/>
          </a:ln>
        </p:spPr>
        <p:txBody>
          <a:bodyPr lIns="0" tIns="0" rIns="0" bIns="0" anchor="t">
            <a:normAutofit fontScale="62500" lnSpcReduction="1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201" name="PlaceHolder 7"/>
          <p:cNvSpPr>
            <a:spLocks noGrp="1"/>
          </p:cNvSpPr>
          <p:nvPr>
            <p:ph type="body"/>
          </p:nvPr>
        </p:nvSpPr>
        <p:spPr>
          <a:xfrm>
            <a:off x="8029800" y="3682080"/>
            <a:ext cx="3532680" cy="1896480"/>
          </a:xfrm>
          <a:prstGeom prst="rect">
            <a:avLst/>
          </a:prstGeom>
          <a:noFill/>
          <a:ln w="0">
            <a:noFill/>
          </a:ln>
        </p:spPr>
        <p:txBody>
          <a:bodyPr lIns="0" tIns="0" rIns="0" bIns="0" anchor="t">
            <a:normAutofit fontScale="62500" lnSpcReduction="19999"/>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202" name="PlaceHolder 8"/>
          <p:cNvSpPr>
            <a:spLocks noGrp="1"/>
          </p:cNvSpPr>
          <p:nvPr>
            <p:ph type="sldNum" idx="18"/>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277E0E57-6CF9-45CD-BB77-FB44241F3B10}"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8">
    <p:bg>
      <p:bgPr>
        <a:solidFill>
          <a:srgbClr val="0D1B2A"/>
        </a:solidFill>
      </p:bgPr>
    </p:bg>
    <p:spTree>
      <p:nvGrpSpPr>
        <p:cNvPr id="1" name=""/>
        <p:cNvGrpSpPr/>
        <p:nvPr/>
      </p:nvGrpSpPr>
      <p:grpSpPr>
        <a:xfrm>
          <a:off x="0" y="0"/>
          <a:ext cx="0" cy="0"/>
          <a:chOff x="0" y="0"/>
          <a:chExt cx="0" cy="0"/>
        </a:xfrm>
      </p:grpSpPr>
      <p:pic>
        <p:nvPicPr>
          <p:cNvPr id="203" name="Image 0" descr="img/deco_dark.png"/>
          <p:cNvPicPr/>
          <p:nvPr/>
        </p:nvPicPr>
        <p:blipFill>
          <a:blip r:embed="rId2"/>
          <a:stretch/>
        </p:blipFill>
        <p:spPr>
          <a:xfrm>
            <a:off x="7498080" y="1828800"/>
            <a:ext cx="4204080" cy="4204080"/>
          </a:xfrm>
          <a:prstGeom prst="rect">
            <a:avLst/>
          </a:prstGeom>
          <a:noFill/>
          <a:ln w="0">
            <a:noFill/>
          </a:ln>
        </p:spPr>
      </p:pic>
      <p:sp>
        <p:nvSpPr>
          <p:cNvPr id="204" name="Shape 0"/>
          <p:cNvSpPr/>
          <p:nvPr/>
        </p:nvSpPr>
        <p:spPr>
          <a:xfrm>
            <a:off x="640080" y="182880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205" name="Image 1" descr="img/mark_dark.png"/>
          <p:cNvPicPr/>
          <p:nvPr/>
        </p:nvPicPr>
        <p:blipFill>
          <a:blip r:embed="rId3"/>
          <a:stretch/>
        </p:blipFill>
        <p:spPr>
          <a:xfrm>
            <a:off x="640080" y="6336720"/>
            <a:ext cx="235440" cy="235440"/>
          </a:xfrm>
          <a:prstGeom prst="rect">
            <a:avLst/>
          </a:prstGeom>
          <a:noFill/>
          <a:ln w="0">
            <a:noFill/>
          </a:ln>
        </p:spPr>
      </p:pic>
      <p:sp>
        <p:nvSpPr>
          <p:cNvPr id="206" name="Text 1"/>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207" name="PlaceHolder 1"/>
          <p:cNvSpPr>
            <a:spLocks noGrp="1"/>
          </p:cNvSpPr>
          <p:nvPr>
            <p:ph type="sldNum" idx="19"/>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E5F54136-0EFB-4503-85F3-9B74C1DD26CE}"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208"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fr-FR" sz="4400" b="0" u="none" strike="noStrike">
                <a:solidFill>
                  <a:srgbClr val="FFFFFF"/>
                </a:solidFill>
                <a:effectLst/>
                <a:uFillTx/>
                <a:latin typeface="Arial"/>
              </a:defRPr>
            </a:lvl1pPr>
          </a:lstStyle>
          <a:p>
            <a:pPr indent="0" algn="l">
              <a:buNone/>
            </a:pPr>
            <a:r>
              <a:rPr lang="fr-FR" sz="4400" b="0" u="none" strike="noStrike">
                <a:solidFill>
                  <a:srgbClr val="FFFFFF"/>
                </a:solidFill>
                <a:effectLst/>
                <a:uFillTx/>
                <a:latin typeface="Arial"/>
              </a:rPr>
              <a:t>Click to edit the title text format</a:t>
            </a:r>
            <a:endParaRPr lang="fr-FR" sz="4400" b="0" u="none" strike="noStrike">
              <a:solidFill>
                <a:srgbClr val="FFFFFF"/>
              </a:solidFill>
              <a:effectLst/>
              <a:uFillTx/>
              <a:latin typeface="Arial"/>
            </a:endParaRPr>
          </a:p>
        </p:txBody>
      </p:sp>
      <p:sp>
        <p:nvSpPr>
          <p:cNvPr id="209"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buClr>
                <a:srgbClr val="FFFFFF"/>
              </a:buClr>
              <a:buFont typeface="Wingdings" charset="2"/>
              <a:buChar char=""/>
              <a:defRPr lang="fr-FR" sz="3200" b="0" u="none" strike="noStrike">
                <a:solidFill>
                  <a:srgbClr val="FFFFFF"/>
                </a:solidFill>
                <a:effectLst/>
                <a:uFillTx/>
                <a:latin typeface="Arial"/>
              </a:defRPr>
            </a:lvl1pPr>
            <a:lvl2pPr lvl="1" algn="l">
              <a:buClr>
                <a:srgbClr val="FFFFFF"/>
              </a:buClr>
              <a:buSzPct val="75000"/>
              <a:buFont typeface="Symbol" charset="2"/>
              <a:buChar char=""/>
              <a:defRPr lang="fr-FR" sz="2800" b="0" u="none" strike="noStrike">
                <a:solidFill>
                  <a:srgbClr val="FFFFFF"/>
                </a:solidFill>
                <a:effectLst/>
                <a:uFillTx/>
                <a:latin typeface="Arial"/>
              </a:defRPr>
            </a:lvl2pPr>
            <a:lvl3pPr lvl="2" algn="l">
              <a:buClr>
                <a:srgbClr val="FFFFFF"/>
              </a:buClr>
              <a:buSzPct val="45000"/>
              <a:buFont typeface="Wingdings" charset="2"/>
              <a:buChar char=""/>
              <a:defRPr lang="fr-FR" sz="2400" b="0" u="none" strike="noStrike">
                <a:solidFill>
                  <a:srgbClr val="FFFFFF"/>
                </a:solidFill>
                <a:effectLst/>
                <a:uFillTx/>
                <a:latin typeface="Arial"/>
              </a:defRPr>
            </a:lvl3pPr>
            <a:lvl4pPr lvl="3" algn="l">
              <a:buClr>
                <a:srgbClr val="FFFFFF"/>
              </a:buClr>
              <a:buSzPct val="75000"/>
              <a:buFont typeface="Symbol" charset="2"/>
              <a:buChar char=""/>
              <a:defRPr lang="fr-FR" sz="2000" b="0" u="none" strike="noStrike">
                <a:solidFill>
                  <a:srgbClr val="FFFFFF"/>
                </a:solidFill>
                <a:effectLst/>
                <a:uFillTx/>
                <a:latin typeface="Arial"/>
              </a:defRPr>
            </a:lvl4pPr>
            <a:lvl5pPr lvl="4" algn="l">
              <a:buClr>
                <a:srgbClr val="FFFFFF"/>
              </a:buClr>
              <a:buSzPct val="45000"/>
              <a:buFont typeface="Wingdings" charset="2"/>
              <a:buChar char=""/>
              <a:defRPr lang="fr-FR" sz="2000" b="0" u="none" strike="noStrike">
                <a:solidFill>
                  <a:srgbClr val="FFFFFF"/>
                </a:solidFill>
                <a:effectLst/>
                <a:uFillTx/>
                <a:latin typeface="Arial"/>
              </a:defRPr>
            </a:lvl5pPr>
            <a:lvl6pPr lvl="5" algn="l">
              <a:buClr>
                <a:srgbClr val="FFFFFF"/>
              </a:buClr>
              <a:buSzPct val="45000"/>
              <a:buFont typeface="Wingdings" charset="2"/>
              <a:buChar char=""/>
              <a:defRPr lang="fr-FR" sz="2000" b="0" u="none" strike="noStrike">
                <a:solidFill>
                  <a:srgbClr val="FFFFFF"/>
                </a:solidFill>
                <a:effectLst/>
                <a:uFillTx/>
                <a:latin typeface="Arial"/>
              </a:defRPr>
            </a:lvl6pPr>
            <a:lvl7pPr lvl="6" algn="l">
              <a:buClr>
                <a:srgbClr val="FFFFFF"/>
              </a:buClr>
              <a:buSzPct val="45000"/>
              <a:buFont typeface="Wingdings" charset="2"/>
              <a:buChar char=""/>
              <a:defRPr lang="fr-FR" sz="2000" b="0" u="none" strike="noStrike">
                <a:solidFill>
                  <a:srgbClr val="FFFFFF"/>
                </a:solidFill>
                <a:effectLst/>
                <a:uFillTx/>
                <a:latin typeface="Arial"/>
              </a:defRPr>
            </a:lvl7pPr>
          </a:lstStyle>
          <a:p>
            <a:pPr indent="-324000" algn="l">
              <a:buClr>
                <a:srgbClr val="FFFFFF"/>
              </a:buClr>
              <a:buFont typeface="Wingdings" charset="2"/>
              <a:buChar char=""/>
            </a:pPr>
            <a:r>
              <a:rPr lang="fr-FR" sz="3200" b="0" u="none" strike="noStrike">
                <a:solidFill>
                  <a:srgbClr val="FFFFFF"/>
                </a:solidFill>
                <a:effectLst/>
                <a:uFillTx/>
                <a:latin typeface="Arial"/>
              </a:rPr>
              <a:t>Click to edit the outline text format</a:t>
            </a:r>
            <a:endParaRPr lang="fr-FR" sz="32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2800" b="0" u="none" strike="noStrike">
                <a:solidFill>
                  <a:srgbClr val="FFFFFF"/>
                </a:solidFill>
                <a:effectLst/>
                <a:uFillTx/>
                <a:latin typeface="Arial"/>
              </a:rPr>
              <a:t>Second Outline Level</a:t>
            </a:r>
            <a:endParaRPr lang="fr-FR" sz="2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2400" b="0" u="none" strike="noStrike">
                <a:solidFill>
                  <a:srgbClr val="FFFFFF"/>
                </a:solidFill>
                <a:effectLst/>
                <a:uFillTx/>
                <a:latin typeface="Arial"/>
              </a:rPr>
              <a:t>Third Outline Level</a:t>
            </a:r>
            <a:endParaRPr lang="fr-FR" sz="24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2000" b="0" u="none" strike="noStrike">
                <a:solidFill>
                  <a:srgbClr val="FFFFFF"/>
                </a:solidFill>
                <a:effectLst/>
                <a:uFillTx/>
                <a:latin typeface="Arial"/>
              </a:rPr>
              <a:t>Fourth Outline Level</a:t>
            </a:r>
            <a:endParaRPr lang="fr-FR" sz="20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2000" b="0" u="none" strike="noStrike">
                <a:solidFill>
                  <a:srgbClr val="FFFFFF"/>
                </a:solidFill>
                <a:effectLst/>
                <a:uFillTx/>
                <a:latin typeface="Arial"/>
              </a:rPr>
              <a:t>Fifth Outline Level</a:t>
            </a:r>
            <a:endParaRPr lang="fr-FR" sz="20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2000" b="0" u="none" strike="noStrike">
                <a:solidFill>
                  <a:srgbClr val="FFFFFF"/>
                </a:solidFill>
                <a:effectLst/>
                <a:uFillTx/>
                <a:latin typeface="Arial"/>
              </a:rPr>
              <a:t>Sixth Outline Level</a:t>
            </a:r>
            <a:endParaRPr lang="fr-FR" sz="20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2000" b="0" u="none" strike="noStrike">
                <a:solidFill>
                  <a:srgbClr val="FFFFFF"/>
                </a:solidFill>
                <a:effectLst/>
                <a:uFillTx/>
                <a:latin typeface="Arial"/>
              </a:rPr>
              <a:t>Seventh Outline Level</a:t>
            </a:r>
            <a:endParaRPr lang="fr-FR" sz="2000" b="0" u="none" strike="noStrike">
              <a:solidFill>
                <a:srgbClr val="FFFFFF"/>
              </a:solidFill>
              <a:effectLst/>
              <a:uFillTx/>
              <a:latin typeface="Arial"/>
            </a:endParaRPr>
          </a:p>
        </p:txBody>
      </p:sp>
    </p:spTree>
  </p:cSld>
  <p:clrMapOvr>
    <a:masterClrMapping/>
  </p:clrMapOvr>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19">
    <p:bg>
      <p:bgPr>
        <a:solidFill>
          <a:srgbClr val="0D1B2A"/>
        </a:solidFill>
      </p:bgPr>
    </p:bg>
    <p:spTree>
      <p:nvGrpSpPr>
        <p:cNvPr id="1" name=""/>
        <p:cNvGrpSpPr/>
        <p:nvPr/>
      </p:nvGrpSpPr>
      <p:grpSpPr>
        <a:xfrm>
          <a:off x="0" y="0"/>
          <a:ext cx="0" cy="0"/>
          <a:chOff x="0" y="0"/>
          <a:chExt cx="0" cy="0"/>
        </a:xfrm>
      </p:grpSpPr>
      <p:pic>
        <p:nvPicPr>
          <p:cNvPr id="210" name="Image 0" descr="img/deco_dark.png"/>
          <p:cNvPicPr/>
          <p:nvPr/>
        </p:nvPicPr>
        <p:blipFill>
          <a:blip r:embed="rId2"/>
          <a:stretch/>
        </p:blipFill>
        <p:spPr>
          <a:xfrm>
            <a:off x="7498080" y="1828800"/>
            <a:ext cx="4204080" cy="4204080"/>
          </a:xfrm>
          <a:prstGeom prst="rect">
            <a:avLst/>
          </a:prstGeom>
          <a:noFill/>
          <a:ln w="0">
            <a:noFill/>
          </a:ln>
        </p:spPr>
      </p:pic>
      <p:sp>
        <p:nvSpPr>
          <p:cNvPr id="211" name="Shape 0"/>
          <p:cNvSpPr/>
          <p:nvPr/>
        </p:nvSpPr>
        <p:spPr>
          <a:xfrm>
            <a:off x="640080" y="182880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212" name="Image 1" descr="img/mark_dark.png"/>
          <p:cNvPicPr/>
          <p:nvPr/>
        </p:nvPicPr>
        <p:blipFill>
          <a:blip r:embed="rId3"/>
          <a:stretch/>
        </p:blipFill>
        <p:spPr>
          <a:xfrm>
            <a:off x="640080" y="6336720"/>
            <a:ext cx="235440" cy="235440"/>
          </a:xfrm>
          <a:prstGeom prst="rect">
            <a:avLst/>
          </a:prstGeom>
          <a:noFill/>
          <a:ln w="0">
            <a:noFill/>
          </a:ln>
        </p:spPr>
      </p:pic>
      <p:sp>
        <p:nvSpPr>
          <p:cNvPr id="213" name="Text 1"/>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214"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215" name="PlaceHolder 2"/>
          <p:cNvSpPr>
            <a:spLocks noGrp="1"/>
          </p:cNvSpPr>
          <p:nvPr>
            <p:ph type="sldNum" idx="20"/>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334851EE-BF18-4BCD-8DA7-1E7B414223B2}"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20">
    <p:bg>
      <p:bgPr>
        <a:solidFill>
          <a:srgbClr val="0D1B2A"/>
        </a:solidFill>
      </p:bgPr>
    </p:bg>
    <p:spTree>
      <p:nvGrpSpPr>
        <p:cNvPr id="1" name=""/>
        <p:cNvGrpSpPr/>
        <p:nvPr/>
      </p:nvGrpSpPr>
      <p:grpSpPr>
        <a:xfrm>
          <a:off x="0" y="0"/>
          <a:ext cx="0" cy="0"/>
          <a:chOff x="0" y="0"/>
          <a:chExt cx="0" cy="0"/>
        </a:xfrm>
      </p:grpSpPr>
      <p:pic>
        <p:nvPicPr>
          <p:cNvPr id="216" name="Image 0" descr="img/deco_dark.png"/>
          <p:cNvPicPr/>
          <p:nvPr/>
        </p:nvPicPr>
        <p:blipFill>
          <a:blip r:embed="rId2"/>
          <a:stretch/>
        </p:blipFill>
        <p:spPr>
          <a:xfrm>
            <a:off x="7498080" y="1828800"/>
            <a:ext cx="4204080" cy="4204080"/>
          </a:xfrm>
          <a:prstGeom prst="rect">
            <a:avLst/>
          </a:prstGeom>
          <a:noFill/>
          <a:ln w="0">
            <a:noFill/>
          </a:ln>
        </p:spPr>
      </p:pic>
      <p:sp>
        <p:nvSpPr>
          <p:cNvPr id="217" name="Shape 0"/>
          <p:cNvSpPr/>
          <p:nvPr/>
        </p:nvSpPr>
        <p:spPr>
          <a:xfrm>
            <a:off x="640080" y="182880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218" name="Image 1" descr="img/mark_dark.png"/>
          <p:cNvPicPr/>
          <p:nvPr/>
        </p:nvPicPr>
        <p:blipFill>
          <a:blip r:embed="rId3"/>
          <a:stretch/>
        </p:blipFill>
        <p:spPr>
          <a:xfrm>
            <a:off x="640080" y="6336720"/>
            <a:ext cx="235440" cy="235440"/>
          </a:xfrm>
          <a:prstGeom prst="rect">
            <a:avLst/>
          </a:prstGeom>
          <a:noFill/>
          <a:ln w="0">
            <a:noFill/>
          </a:ln>
        </p:spPr>
      </p:pic>
      <p:sp>
        <p:nvSpPr>
          <p:cNvPr id="219" name="Text 1"/>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220"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221" name="PlaceHolder 2"/>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222" name="PlaceHolder 3"/>
          <p:cNvSpPr>
            <a:spLocks noGrp="1"/>
          </p:cNvSpPr>
          <p:nvPr>
            <p:ph type="sldNum" idx="21"/>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817A5BF1-A3DE-423D-A879-5A0A62E722FC}"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efault 21">
    <p:bg>
      <p:bgPr>
        <a:solidFill>
          <a:srgbClr val="0D1B2A"/>
        </a:solidFill>
      </p:bgPr>
    </p:bg>
    <p:spTree>
      <p:nvGrpSpPr>
        <p:cNvPr id="1" name=""/>
        <p:cNvGrpSpPr/>
        <p:nvPr/>
      </p:nvGrpSpPr>
      <p:grpSpPr>
        <a:xfrm>
          <a:off x="0" y="0"/>
          <a:ext cx="0" cy="0"/>
          <a:chOff x="0" y="0"/>
          <a:chExt cx="0" cy="0"/>
        </a:xfrm>
      </p:grpSpPr>
      <p:pic>
        <p:nvPicPr>
          <p:cNvPr id="223" name="Image 0" descr="img/deco_dark.png"/>
          <p:cNvPicPr/>
          <p:nvPr/>
        </p:nvPicPr>
        <p:blipFill>
          <a:blip r:embed="rId2"/>
          <a:stretch/>
        </p:blipFill>
        <p:spPr>
          <a:xfrm>
            <a:off x="7498080" y="1828800"/>
            <a:ext cx="4204080" cy="4204080"/>
          </a:xfrm>
          <a:prstGeom prst="rect">
            <a:avLst/>
          </a:prstGeom>
          <a:noFill/>
          <a:ln w="0">
            <a:noFill/>
          </a:ln>
        </p:spPr>
      </p:pic>
      <p:sp>
        <p:nvSpPr>
          <p:cNvPr id="224" name="Shape 0"/>
          <p:cNvSpPr/>
          <p:nvPr/>
        </p:nvSpPr>
        <p:spPr>
          <a:xfrm>
            <a:off x="640080" y="182880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225" name="Image 1" descr="img/mark_dark.png"/>
          <p:cNvPicPr/>
          <p:nvPr/>
        </p:nvPicPr>
        <p:blipFill>
          <a:blip r:embed="rId3"/>
          <a:stretch/>
        </p:blipFill>
        <p:spPr>
          <a:xfrm>
            <a:off x="640080" y="6336720"/>
            <a:ext cx="235440" cy="235440"/>
          </a:xfrm>
          <a:prstGeom prst="rect">
            <a:avLst/>
          </a:prstGeom>
          <a:noFill/>
          <a:ln w="0">
            <a:noFill/>
          </a:ln>
        </p:spPr>
      </p:pic>
      <p:sp>
        <p:nvSpPr>
          <p:cNvPr id="226" name="Text 1"/>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227"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228" name="PlaceHolder 2"/>
          <p:cNvSpPr>
            <a:spLocks noGrp="1"/>
          </p:cNvSpPr>
          <p:nvPr>
            <p:ph type="body"/>
          </p:nvPr>
        </p:nvSpPr>
        <p:spPr>
          <a:xfrm>
            <a:off x="609480" y="1604520"/>
            <a:ext cx="5353920" cy="3976920"/>
          </a:xfrm>
          <a:prstGeom prst="rect">
            <a:avLst/>
          </a:prstGeom>
          <a:noFill/>
          <a:ln w="0">
            <a:noFill/>
          </a:ln>
        </p:spPr>
        <p:txBody>
          <a:bodyPr lIns="0" tIns="0" rIns="0" bIns="0" anchor="t">
            <a:normAutofit/>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229" name="PlaceHolder 3"/>
          <p:cNvSpPr>
            <a:spLocks noGrp="1"/>
          </p:cNvSpPr>
          <p:nvPr>
            <p:ph type="body"/>
          </p:nvPr>
        </p:nvSpPr>
        <p:spPr>
          <a:xfrm>
            <a:off x="6231960" y="1604520"/>
            <a:ext cx="5353920" cy="3976920"/>
          </a:xfrm>
          <a:prstGeom prst="rect">
            <a:avLst/>
          </a:prstGeom>
          <a:noFill/>
          <a:ln w="0">
            <a:noFill/>
          </a:ln>
        </p:spPr>
        <p:txBody>
          <a:bodyPr lIns="0" tIns="0" rIns="0" bIns="0" anchor="t">
            <a:normAutofit/>
          </a:bodyPr>
          <a:lstStyle>
            <a:lvl1pPr algn="l">
              <a:buClr>
                <a:srgbClr val="FFFFFF"/>
              </a:buClr>
              <a:buFont typeface="Wingdings" charset="2"/>
              <a:buChar char=""/>
              <a:defRPr lang="fr-FR" sz="1800" b="0" u="none" strike="noStrike">
                <a:solidFill>
                  <a:srgbClr val="FFFFFF"/>
                </a:solidFill>
                <a:effectLst/>
                <a:uFillTx/>
                <a:latin typeface="Arial"/>
              </a:defRPr>
            </a:lvl1pPr>
            <a:lvl2pPr lvl="1" algn="l">
              <a:buClr>
                <a:srgbClr val="FFFFFF"/>
              </a:buClr>
              <a:buSzPct val="75000"/>
              <a:buFont typeface="Symbol" charset="2"/>
              <a:buChar char=""/>
              <a:defRPr lang="fr-FR" sz="1800" b="0" u="none" strike="noStrike">
                <a:solidFill>
                  <a:srgbClr val="FFFFFF"/>
                </a:solidFill>
                <a:effectLst/>
                <a:uFillTx/>
                <a:latin typeface="Arial"/>
              </a:defRPr>
            </a:lvl2pPr>
            <a:lvl3pPr lvl="2" algn="l">
              <a:buClr>
                <a:srgbClr val="FFFFFF"/>
              </a:buClr>
              <a:buSzPct val="45000"/>
              <a:buFont typeface="Wingdings" charset="2"/>
              <a:buChar char=""/>
              <a:defRPr lang="fr-FR" sz="1800" b="0" u="none" strike="noStrike">
                <a:solidFill>
                  <a:srgbClr val="FFFFFF"/>
                </a:solidFill>
                <a:effectLst/>
                <a:uFillTx/>
                <a:latin typeface="Arial"/>
              </a:defRPr>
            </a:lvl3pPr>
            <a:lvl4pPr lvl="3" algn="l">
              <a:buClr>
                <a:srgbClr val="FFFFFF"/>
              </a:buClr>
              <a:buSzPct val="75000"/>
              <a:buFont typeface="Symbol" charset="2"/>
              <a:buChar char=""/>
              <a:defRPr lang="fr-FR" sz="1800" b="0" u="none" strike="noStrike">
                <a:solidFill>
                  <a:srgbClr val="FFFFFF"/>
                </a:solidFill>
                <a:effectLst/>
                <a:uFillTx/>
                <a:latin typeface="Arial"/>
              </a:defRPr>
            </a:lvl4pPr>
            <a:lvl5pPr lvl="4" algn="l">
              <a:buClr>
                <a:srgbClr val="FFFFFF"/>
              </a:buClr>
              <a:buSzPct val="45000"/>
              <a:buFont typeface="Wingdings" charset="2"/>
              <a:buChar char=""/>
              <a:defRPr lang="fr-FR" sz="1800" b="0" u="none" strike="noStrike">
                <a:solidFill>
                  <a:srgbClr val="FFFFFF"/>
                </a:solidFill>
                <a:effectLst/>
                <a:uFillTx/>
                <a:latin typeface="Arial"/>
              </a:defRPr>
            </a:lvl5pPr>
            <a:lvl6pPr lvl="5" algn="l">
              <a:buClr>
                <a:srgbClr val="FFFFFF"/>
              </a:buClr>
              <a:buSzPct val="45000"/>
              <a:buFont typeface="Wingdings" charset="2"/>
              <a:buChar char=""/>
              <a:defRPr lang="fr-FR" sz="1800" b="0" u="none" strike="noStrike">
                <a:solidFill>
                  <a:srgbClr val="FFFFFF"/>
                </a:solidFill>
                <a:effectLst/>
                <a:uFillTx/>
                <a:latin typeface="Arial"/>
              </a:defRPr>
            </a:lvl6pPr>
            <a:lvl7pPr lvl="6" algn="l">
              <a:buClr>
                <a:srgbClr val="FFFFFF"/>
              </a:buClr>
              <a:buSzPct val="45000"/>
              <a:buFont typeface="Wingdings" charset="2"/>
              <a:buChar char=""/>
              <a:defRPr lang="fr-FR" sz="1800" b="0" u="none" strike="noStrike">
                <a:solidFill>
                  <a:srgbClr val="FFFFFF"/>
                </a:solidFill>
                <a:effectLst/>
                <a:uFillTx/>
                <a:latin typeface="Arial"/>
              </a:defRPr>
            </a:lvl7pPr>
          </a:lstStyle>
          <a:p>
            <a:pPr indent="-324000" algn="l">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230" name="PlaceHolder 4"/>
          <p:cNvSpPr>
            <a:spLocks noGrp="1"/>
          </p:cNvSpPr>
          <p:nvPr>
            <p:ph type="sldNum" idx="22"/>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F68FEF0D-8388-4CCC-9A8E-96A45D610D1B}"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22">
    <p:bg>
      <p:bgPr>
        <a:solidFill>
          <a:srgbClr val="0D1B2A"/>
        </a:solidFill>
      </p:bgPr>
    </p:bg>
    <p:spTree>
      <p:nvGrpSpPr>
        <p:cNvPr id="1" name=""/>
        <p:cNvGrpSpPr/>
        <p:nvPr/>
      </p:nvGrpSpPr>
      <p:grpSpPr>
        <a:xfrm>
          <a:off x="0" y="0"/>
          <a:ext cx="0" cy="0"/>
          <a:chOff x="0" y="0"/>
          <a:chExt cx="0" cy="0"/>
        </a:xfrm>
      </p:grpSpPr>
      <p:pic>
        <p:nvPicPr>
          <p:cNvPr id="231" name="Image 0" descr="img/deco_dark.png"/>
          <p:cNvPicPr/>
          <p:nvPr/>
        </p:nvPicPr>
        <p:blipFill>
          <a:blip r:embed="rId2"/>
          <a:stretch/>
        </p:blipFill>
        <p:spPr>
          <a:xfrm>
            <a:off x="7498080" y="1828800"/>
            <a:ext cx="4204080" cy="4204080"/>
          </a:xfrm>
          <a:prstGeom prst="rect">
            <a:avLst/>
          </a:prstGeom>
          <a:noFill/>
          <a:ln w="0">
            <a:noFill/>
          </a:ln>
        </p:spPr>
      </p:pic>
      <p:sp>
        <p:nvSpPr>
          <p:cNvPr id="232" name="Shape 0"/>
          <p:cNvSpPr/>
          <p:nvPr/>
        </p:nvSpPr>
        <p:spPr>
          <a:xfrm>
            <a:off x="640080" y="182880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233" name="Image 1" descr="img/mark_dark.png"/>
          <p:cNvPicPr/>
          <p:nvPr/>
        </p:nvPicPr>
        <p:blipFill>
          <a:blip r:embed="rId3"/>
          <a:stretch/>
        </p:blipFill>
        <p:spPr>
          <a:xfrm>
            <a:off x="640080" y="6336720"/>
            <a:ext cx="235440" cy="235440"/>
          </a:xfrm>
          <a:prstGeom prst="rect">
            <a:avLst/>
          </a:prstGeom>
          <a:noFill/>
          <a:ln w="0">
            <a:noFill/>
          </a:ln>
        </p:spPr>
      </p:pic>
      <p:sp>
        <p:nvSpPr>
          <p:cNvPr id="234" name="Text 1"/>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235"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buNone/>
              <a:defRPr lang="fr-FR" sz="1800" b="0" u="none" strike="noStrike">
                <a:solidFill>
                  <a:srgbClr val="FFFFFF"/>
                </a:solidFill>
                <a:effectLst/>
                <a:uFillTx/>
                <a:latin typeface="Arial"/>
              </a:defRPr>
            </a:lvl1pPr>
          </a:lstStyle>
          <a:p>
            <a:pPr indent="0" algn="l">
              <a:buNone/>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236" name="PlaceHolder 2"/>
          <p:cNvSpPr>
            <a:spLocks noGrp="1"/>
          </p:cNvSpPr>
          <p:nvPr>
            <p:ph type="sldNum" idx="23"/>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547B14D9-DB92-4984-8321-65F5EB9F457A}"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Default 23">
    <p:bg>
      <p:bgPr>
        <a:solidFill>
          <a:srgbClr val="0D1B2A"/>
        </a:solidFill>
      </p:bgPr>
    </p:bg>
    <p:spTree>
      <p:nvGrpSpPr>
        <p:cNvPr id="1" name=""/>
        <p:cNvGrpSpPr/>
        <p:nvPr/>
      </p:nvGrpSpPr>
      <p:grpSpPr>
        <a:xfrm>
          <a:off x="0" y="0"/>
          <a:ext cx="0" cy="0"/>
          <a:chOff x="0" y="0"/>
          <a:chExt cx="0" cy="0"/>
        </a:xfrm>
      </p:grpSpPr>
      <p:pic>
        <p:nvPicPr>
          <p:cNvPr id="237" name="Image 0" descr="img/deco_dark.png"/>
          <p:cNvPicPr/>
          <p:nvPr/>
        </p:nvPicPr>
        <p:blipFill>
          <a:blip r:embed="rId2"/>
          <a:stretch/>
        </p:blipFill>
        <p:spPr>
          <a:xfrm>
            <a:off x="7498080" y="1828800"/>
            <a:ext cx="4204080" cy="4204080"/>
          </a:xfrm>
          <a:prstGeom prst="rect">
            <a:avLst/>
          </a:prstGeom>
          <a:noFill/>
          <a:ln w="0">
            <a:noFill/>
          </a:ln>
        </p:spPr>
      </p:pic>
      <p:sp>
        <p:nvSpPr>
          <p:cNvPr id="238" name="Shape 0"/>
          <p:cNvSpPr/>
          <p:nvPr/>
        </p:nvSpPr>
        <p:spPr>
          <a:xfrm>
            <a:off x="640080" y="1828800"/>
            <a:ext cx="820800" cy="5256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239" name="Image 1" descr="img/mark_dark.png"/>
          <p:cNvPicPr/>
          <p:nvPr/>
        </p:nvPicPr>
        <p:blipFill>
          <a:blip r:embed="rId3"/>
          <a:stretch/>
        </p:blipFill>
        <p:spPr>
          <a:xfrm>
            <a:off x="640080" y="6336720"/>
            <a:ext cx="235440" cy="235440"/>
          </a:xfrm>
          <a:prstGeom prst="rect">
            <a:avLst/>
          </a:prstGeom>
          <a:noFill/>
          <a:ln w="0">
            <a:noFill/>
          </a:ln>
        </p:spPr>
      </p:pic>
      <p:sp>
        <p:nvSpPr>
          <p:cNvPr id="240" name="Text 1"/>
          <p:cNvSpPr/>
          <p:nvPr/>
        </p:nvSpPr>
        <p:spPr>
          <a:xfrm>
            <a:off x="987480" y="6309360"/>
            <a:ext cx="4569840" cy="2905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241" name="PlaceHolder 1"/>
          <p:cNvSpPr>
            <a:spLocks noGrp="1"/>
          </p:cNvSpPr>
          <p:nvPr>
            <p:ph type="sldNum" idx="24"/>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CABDD1C1-6D01-446A-8ED3-C084876E82F0}"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_rels/slideMaster25.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Masters/slideMaster2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slideLayout" Target="../slideLayouts/slideLayout18.xml"/><Relationship Id="rId7"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slideLayout" Target="../slideLayouts/slideLayout18.xml"/><Relationship Id="rId5"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11.png"/><Relationship Id="rId3" Type="http://schemas.openxmlformats.org/officeDocument/2006/relationships/slideLayout" Target="../slideLayouts/slideLayout18.xml"/><Relationship Id="rId4"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11.png"/><Relationship Id="rId3" Type="http://schemas.openxmlformats.org/officeDocument/2006/relationships/slideLayout" Target="../slideLayouts/slideLayout18.xml"/><Relationship Id="rId4"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11.png"/><Relationship Id="rId3" Type="http://schemas.openxmlformats.org/officeDocument/2006/relationships/slideLayout" Target="../slideLayouts/slideLayout18.xml"/><Relationship Id="rId4"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11.png"/><Relationship Id="rId3" Type="http://schemas.openxmlformats.org/officeDocument/2006/relationships/slideLayout" Target="../slideLayouts/slideLayout18.xml"/><Relationship Id="rId4"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11.png"/><Relationship Id="rId3" Type="http://schemas.openxmlformats.org/officeDocument/2006/relationships/slideLayout" Target="../slideLayouts/slideLayout18.xml"/><Relationship Id="rId4"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8.xml"/><Relationship Id="rId3" Type="http://schemas.openxmlformats.org/officeDocument/2006/relationships/notesSlide" Target="../notesSlides/notesSlide4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 name="PlaceHolder 1"/>
          <p:cNvSpPr>
            <a:spLocks noGrp="1"/>
          </p:cNvSpPr>
          <p:nvPr>
            <p:ph type="title"/>
          </p:nvPr>
        </p:nvSpPr>
        <p:spPr>
          <a:xfrm>
            <a:off x="640080" y="2377440"/>
            <a:ext cx="6764400" cy="1735200"/>
          </a:xfrm>
          <a:prstGeom prst="rect">
            <a:avLst/>
          </a:prstGeom>
          <a:noFill/>
          <a:ln w="0">
            <a:noFill/>
          </a:ln>
        </p:spPr>
        <p:txBody>
          <a:bodyPr lIns="90000" tIns="45000" rIns="90000" bIns="45000" anchor="t">
            <a:noAutofit/>
          </a:bodyPr>
          <a:p>
            <a:pPr indent="0" algn="l">
              <a:lnSpc>
                <a:spcPct val="100000"/>
              </a:lnSpc>
              <a:buNone/>
              <a:tabLst>
                <a:tab pos="0" algn="l"/>
              </a:tabLst>
            </a:pPr>
            <a:r>
              <a:rPr lang="en-US" sz="5000" b="0" u="none" strike="noStrike">
                <a:solidFill>
                  <a:srgbClr val="F7F6F2"/>
                </a:solidFill>
                <a:effectLst/>
                <a:uFillTx/>
                <a:latin typeface="Fraunces SemiBold"/>
                <a:ea typeface="Fraunces SemiBold"/>
              </a:rPr>
              <a:t>Livrable de groupe</a:t>
            </a:r>
            <a:endParaRPr lang="fr-FR" sz="5000" b="0" u="none" strike="noStrike">
              <a:solidFill>
                <a:srgbClr val="FFFFFF"/>
              </a:solidFill>
              <a:effectLst/>
              <a:uFillTx/>
              <a:latin typeface="Arial"/>
            </a:endParaRPr>
          </a:p>
        </p:txBody>
      </p:sp>
      <p:sp>
        <p:nvSpPr>
          <p:cNvPr id="249" name="PlaceHolder 2"/>
          <p:cNvSpPr>
            <a:spLocks noGrp="1"/>
          </p:cNvSpPr>
          <p:nvPr>
            <p:ph/>
          </p:nvPr>
        </p:nvSpPr>
        <p:spPr>
          <a:xfrm>
            <a:off x="640080" y="4251960"/>
            <a:ext cx="6398640" cy="820800"/>
          </a:xfrm>
          <a:prstGeom prst="rect">
            <a:avLst/>
          </a:prstGeom>
          <a:noFill/>
          <a:ln w="0">
            <a:noFill/>
          </a:ln>
        </p:spPr>
        <p:txBody>
          <a:bodyPr lIns="90000" tIns="45000" rIns="90000" bIns="45000" anchor="t">
            <a:noAutofit/>
          </a:bodyPr>
          <a:p>
            <a:pPr indent="0" algn="l">
              <a:lnSpc>
                <a:spcPct val="100000"/>
              </a:lnSpc>
              <a:spcBef>
                <a:spcPts val="400"/>
              </a:spcBef>
              <a:buNone/>
              <a:tabLst>
                <a:tab pos="0" algn="l"/>
              </a:tabLst>
            </a:pPr>
            <a:r>
              <a:rPr lang="en-US" sz="2000" b="0" u="none" strike="noStrike">
                <a:solidFill>
                  <a:srgbClr val="B8C0C8"/>
                </a:solidFill>
                <a:effectLst/>
                <a:uFillTx/>
                <a:latin typeface="Inter"/>
                <a:ea typeface="Inter"/>
              </a:rPr>
              <a:t>TD AssurConnect : gouvernance, profilage et qualité des données</a:t>
            </a:r>
            <a:endParaRPr lang="fr-FR" sz="2000" b="0" u="none" strike="noStrike">
              <a:solidFill>
                <a:srgbClr val="FFFFFF"/>
              </a:solidFill>
              <a:effectLst/>
              <a:uFillTx/>
              <a:latin typeface="Arial"/>
            </a:endParaRPr>
          </a:p>
        </p:txBody>
      </p:sp>
      <p:sp>
        <p:nvSpPr>
          <p:cNvPr id="250" name="PlaceHolder 3"/>
          <p:cNvSpPr>
            <a:spLocks noGrp="1"/>
          </p:cNvSpPr>
          <p:nvPr>
            <p:ph/>
          </p:nvPr>
        </p:nvSpPr>
        <p:spPr>
          <a:xfrm>
            <a:off x="640080" y="5577840"/>
            <a:ext cx="6398640" cy="363600"/>
          </a:xfrm>
          <a:prstGeom prst="rect">
            <a:avLst/>
          </a:prstGeom>
          <a:noFill/>
          <a:ln w="0">
            <a:noFill/>
          </a:ln>
        </p:spPr>
        <p:txBody>
          <a:bodyPr lIns="90000" tIns="45000" rIns="90000" bIns="45000" anchor="t">
            <a:noAutofit/>
          </a:bodyPr>
          <a:p>
            <a:pPr indent="0" algn="l">
              <a:lnSpc>
                <a:spcPct val="100000"/>
              </a:lnSpc>
              <a:spcBef>
                <a:spcPts val="241"/>
              </a:spcBef>
              <a:buNone/>
              <a:tabLst>
                <a:tab pos="0" algn="l"/>
              </a:tabLst>
            </a:pPr>
            <a:r>
              <a:rPr lang="en-US" sz="1200" b="0" u="none" spc="187" strike="noStrike">
                <a:solidFill>
                  <a:srgbClr val="F5A623"/>
                </a:solidFill>
                <a:effectLst/>
                <a:uFillTx/>
                <a:latin typeface="Inter"/>
                <a:ea typeface="Inter"/>
              </a:rPr>
              <a:t>GROUPE [N°0] · [AMY Léo – MENY Nicolas - OUERGHEMNI Mongi - TRUONG David] · [14/10/2026]</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1"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Comment remplir ce modèle</a:t>
            </a:r>
            <a:endParaRPr lang="fr-FR" sz="2800" b="0" u="none" strike="noStrike">
              <a:solidFill>
                <a:srgbClr val="FFFFFF"/>
              </a:solidFill>
              <a:effectLst/>
              <a:uFillTx/>
              <a:latin typeface="Arial"/>
            </a:endParaRPr>
          </a:p>
        </p:txBody>
      </p:sp>
      <p:sp>
        <p:nvSpPr>
          <p:cNvPr id="252" name="PlaceHolder 2"/>
          <p:cNvSpPr>
            <a:spLocks noGrp="1"/>
          </p:cNvSpPr>
          <p:nvPr>
            <p:ph type="sldNum" idx="28"/>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94C214C0-8E4A-4A72-AEB9-D8EA29C709FD}"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253"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MODE D'EMPLOI</a:t>
            </a:r>
            <a:endParaRPr lang="fr-FR" sz="1100" b="0" u="none" strike="noStrike">
              <a:solidFill>
                <a:srgbClr val="FFFFFF"/>
              </a:solidFill>
              <a:effectLst/>
              <a:uFillTx/>
              <a:latin typeface="Arial"/>
            </a:endParaRPr>
          </a:p>
        </p:txBody>
      </p:sp>
      <p:sp>
        <p:nvSpPr>
          <p:cNvPr id="254" name="Rectangle 26"/>
          <p:cNvSpPr/>
          <p:nvPr/>
        </p:nvSpPr>
        <p:spPr>
          <a:xfrm>
            <a:off x="640080" y="1371600"/>
            <a:ext cx="10906560" cy="80244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pic>
        <p:nvPicPr>
          <p:cNvPr id="255" name="Icône target" descr="Icône target"/>
          <p:cNvPicPr/>
          <p:nvPr/>
        </p:nvPicPr>
        <p:blipFill>
          <a:blip r:embed="rId1"/>
          <a:stretch/>
        </p:blipFill>
        <p:spPr>
          <a:xfrm>
            <a:off x="868680" y="1572840"/>
            <a:ext cx="400320" cy="400320"/>
          </a:xfrm>
          <a:prstGeom prst="rect">
            <a:avLst/>
          </a:prstGeom>
          <a:noFill/>
          <a:ln w="0">
            <a:noFill/>
          </a:ln>
        </p:spPr>
      </p:pic>
      <p:sp>
        <p:nvSpPr>
          <p:cNvPr id="256" name="TextBox 28"/>
          <p:cNvSpPr/>
          <p:nvPr/>
        </p:nvSpPr>
        <p:spPr>
          <a:xfrm>
            <a:off x="1463040" y="1658160"/>
            <a:ext cx="3289680" cy="22896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400" b="1" u="none" strike="noStrike">
                <a:solidFill>
                  <a:srgbClr val="F7F6F2"/>
                </a:solidFill>
                <a:effectLst/>
                <a:uFillTx/>
                <a:latin typeface="Inter"/>
                <a:ea typeface="DejaVu Sans"/>
              </a:rPr>
              <a:t>Encadré ambre « Attendu »</a:t>
            </a:r>
            <a:endParaRPr lang="fr-FR" sz="1400" b="0" u="none" strike="noStrike">
              <a:solidFill>
                <a:srgbClr val="FFFFFF"/>
              </a:solidFill>
              <a:effectLst/>
              <a:uFillTx/>
              <a:latin typeface="Arial"/>
            </a:endParaRPr>
          </a:p>
        </p:txBody>
      </p:sp>
      <p:sp>
        <p:nvSpPr>
          <p:cNvPr id="257" name="TextBox 29"/>
          <p:cNvSpPr/>
          <p:nvPr/>
        </p:nvSpPr>
        <p:spPr>
          <a:xfrm>
            <a:off x="4846320" y="1666440"/>
            <a:ext cx="6581520" cy="21276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300" b="0" u="none" strike="noStrike">
                <a:solidFill>
                  <a:srgbClr val="B8C0C8"/>
                </a:solidFill>
                <a:effectLst/>
                <a:uFillTx/>
                <a:latin typeface="Inter"/>
                <a:ea typeface="DejaVu Sans"/>
              </a:rPr>
              <a:t>Ce qui doit apparaître sur la page. À lire avant de rédiger ; ne pas supprimer.</a:t>
            </a:r>
            <a:endParaRPr lang="fr-FR" sz="1300" b="0" u="none" strike="noStrike">
              <a:solidFill>
                <a:srgbClr val="FFFFFF"/>
              </a:solidFill>
              <a:effectLst/>
              <a:uFillTx/>
              <a:latin typeface="Arial"/>
            </a:endParaRPr>
          </a:p>
        </p:txBody>
      </p:sp>
      <p:sp>
        <p:nvSpPr>
          <p:cNvPr id="258" name="Rectangle 30"/>
          <p:cNvSpPr/>
          <p:nvPr/>
        </p:nvSpPr>
        <p:spPr>
          <a:xfrm>
            <a:off x="640080" y="2286000"/>
            <a:ext cx="10906560" cy="80244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pic>
        <p:nvPicPr>
          <p:cNvPr id="259" name="Icône pen" descr="Icône pen"/>
          <p:cNvPicPr/>
          <p:nvPr/>
        </p:nvPicPr>
        <p:blipFill>
          <a:blip r:embed="rId2"/>
          <a:stretch/>
        </p:blipFill>
        <p:spPr>
          <a:xfrm>
            <a:off x="868680" y="2487240"/>
            <a:ext cx="400320" cy="400320"/>
          </a:xfrm>
          <a:prstGeom prst="rect">
            <a:avLst/>
          </a:prstGeom>
          <a:noFill/>
          <a:ln w="0">
            <a:noFill/>
          </a:ln>
        </p:spPr>
      </p:pic>
      <p:sp>
        <p:nvSpPr>
          <p:cNvPr id="260" name="TextBox 32"/>
          <p:cNvSpPr/>
          <p:nvPr/>
        </p:nvSpPr>
        <p:spPr>
          <a:xfrm>
            <a:off x="1463040" y="2572560"/>
            <a:ext cx="3289680" cy="22896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400" b="1" u="none" strike="noStrike">
                <a:solidFill>
                  <a:srgbClr val="F7F6F2"/>
                </a:solidFill>
                <a:effectLst/>
                <a:uFillTx/>
                <a:latin typeface="Inter"/>
                <a:ea typeface="DejaVu Sans"/>
              </a:rPr>
              <a:t>Cellule ou zone ambre sombre</a:t>
            </a:r>
            <a:endParaRPr lang="fr-FR" sz="1400" b="0" u="none" strike="noStrike">
              <a:solidFill>
                <a:srgbClr val="FFFFFF"/>
              </a:solidFill>
              <a:effectLst/>
              <a:uFillTx/>
              <a:latin typeface="Arial"/>
            </a:endParaRPr>
          </a:p>
        </p:txBody>
      </p:sp>
      <p:sp>
        <p:nvSpPr>
          <p:cNvPr id="261" name="TextBox 33"/>
          <p:cNvSpPr/>
          <p:nvPr/>
        </p:nvSpPr>
        <p:spPr>
          <a:xfrm>
            <a:off x="4846320" y="2473920"/>
            <a:ext cx="6581520" cy="42660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300" b="0" u="none" strike="noStrike">
                <a:solidFill>
                  <a:srgbClr val="B8C0C8"/>
                </a:solidFill>
                <a:effectLst/>
                <a:uFillTx/>
                <a:latin typeface="Inter"/>
                <a:ea typeface="DejaVu Sans"/>
              </a:rPr>
              <a:t>À compléter : remplacez « … » ou le texte gris entre crochets par votre contenu.</a:t>
            </a:r>
            <a:endParaRPr lang="fr-FR" sz="1300" b="0" u="none" strike="noStrike">
              <a:solidFill>
                <a:srgbClr val="FFFFFF"/>
              </a:solidFill>
              <a:effectLst/>
              <a:uFillTx/>
              <a:latin typeface="Arial"/>
            </a:endParaRPr>
          </a:p>
        </p:txBody>
      </p:sp>
      <p:sp>
        <p:nvSpPr>
          <p:cNvPr id="262" name="Rectangle 34"/>
          <p:cNvSpPr/>
          <p:nvPr/>
        </p:nvSpPr>
        <p:spPr>
          <a:xfrm>
            <a:off x="640080" y="3200400"/>
            <a:ext cx="10906560" cy="80244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pic>
        <p:nvPicPr>
          <p:cNvPr id="263" name="Icône chart" descr="Icône chart"/>
          <p:cNvPicPr/>
          <p:nvPr/>
        </p:nvPicPr>
        <p:blipFill>
          <a:blip r:embed="rId3"/>
          <a:stretch/>
        </p:blipFill>
        <p:spPr>
          <a:xfrm>
            <a:off x="868680" y="3401640"/>
            <a:ext cx="400320" cy="400320"/>
          </a:xfrm>
          <a:prstGeom prst="rect">
            <a:avLst/>
          </a:prstGeom>
          <a:noFill/>
          <a:ln w="0">
            <a:noFill/>
          </a:ln>
        </p:spPr>
      </p:pic>
      <p:sp>
        <p:nvSpPr>
          <p:cNvPr id="264" name="TextBox 36"/>
          <p:cNvSpPr/>
          <p:nvPr/>
        </p:nvSpPr>
        <p:spPr>
          <a:xfrm>
            <a:off x="1463040" y="3372120"/>
            <a:ext cx="3289680" cy="45900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400" b="1" u="none" strike="noStrike">
                <a:solidFill>
                  <a:srgbClr val="F7F6F2"/>
                </a:solidFill>
                <a:effectLst/>
                <a:uFillTx/>
                <a:latin typeface="Inter"/>
                <a:ea typeface="DejaVu Sans"/>
              </a:rPr>
              <a:t>Une page prouve, elle ne raconte pas</a:t>
            </a:r>
            <a:endParaRPr lang="fr-FR" sz="1400" b="0" u="none" strike="noStrike">
              <a:solidFill>
                <a:srgbClr val="FFFFFF"/>
              </a:solidFill>
              <a:effectLst/>
              <a:uFillTx/>
              <a:latin typeface="Arial"/>
            </a:endParaRPr>
          </a:p>
        </p:txBody>
      </p:sp>
      <p:sp>
        <p:nvSpPr>
          <p:cNvPr id="265" name="TextBox 37"/>
          <p:cNvSpPr/>
          <p:nvPr/>
        </p:nvSpPr>
        <p:spPr>
          <a:xfrm>
            <a:off x="4846320" y="3388320"/>
            <a:ext cx="6581520" cy="42660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300" b="0" u="none" strike="noStrike">
                <a:solidFill>
                  <a:srgbClr val="B8C0C8"/>
                </a:solidFill>
                <a:effectLst/>
                <a:uFillTx/>
                <a:latin typeface="Inter"/>
                <a:ea typeface="DejaVu Sans"/>
              </a:rPr>
              <a:t>Pour chaque constat : un </a:t>
            </a:r>
            <a:r>
              <a:rPr lang="fr-FR" sz="1300" b="1" u="none" strike="noStrike">
                <a:solidFill>
                  <a:srgbClr val="F5A623"/>
                </a:solidFill>
                <a:effectLst/>
                <a:uFillTx/>
                <a:latin typeface="Inter"/>
                <a:ea typeface="DejaVu Sans"/>
              </a:rPr>
              <a:t>chiffre mesuré</a:t>
            </a:r>
            <a:r>
              <a:rPr lang="fr-FR" sz="1300" b="0" u="none" strike="noStrike">
                <a:solidFill>
                  <a:srgbClr val="B8C0C8"/>
                </a:solidFill>
                <a:effectLst/>
                <a:uFillTx/>
                <a:latin typeface="Inter"/>
                <a:ea typeface="DejaVu Sans"/>
              </a:rPr>
              <a:t> (règle RQ, couche), la </a:t>
            </a:r>
            <a:r>
              <a:rPr lang="fr-FR" sz="1300" b="1" u="none" strike="noStrike">
                <a:solidFill>
                  <a:srgbClr val="F5A623"/>
                </a:solidFill>
                <a:effectLst/>
                <a:uFillTx/>
                <a:latin typeface="Inter"/>
                <a:ea typeface="DejaVu Sans"/>
              </a:rPr>
              <a:t>preuve</a:t>
            </a:r>
            <a:r>
              <a:rPr lang="fr-FR" sz="1300" b="0" u="none" strike="noStrike">
                <a:solidFill>
                  <a:srgbClr val="B8C0C8"/>
                </a:solidFill>
                <a:effectLst/>
                <a:uFillTx/>
                <a:latin typeface="Inter"/>
                <a:ea typeface="DejaVu Sans"/>
              </a:rPr>
              <a:t> (chemin du dépôt), la </a:t>
            </a:r>
            <a:r>
              <a:rPr lang="fr-FR" sz="1300" b="1" u="none" strike="noStrike">
                <a:solidFill>
                  <a:srgbClr val="F5A623"/>
                </a:solidFill>
                <a:effectLst/>
                <a:uFillTx/>
                <a:latin typeface="Inter"/>
                <a:ea typeface="DejaVu Sans"/>
              </a:rPr>
              <a:t>conséquence</a:t>
            </a:r>
            <a:r>
              <a:rPr lang="fr-FR" sz="1300" b="0" u="none" strike="noStrike">
                <a:solidFill>
                  <a:srgbClr val="B8C0C8"/>
                </a:solidFill>
                <a:effectLst/>
                <a:uFillTx/>
                <a:latin typeface="Inter"/>
                <a:ea typeface="DejaVu Sans"/>
              </a:rPr>
              <a:t> attribuée à un rôle.</a:t>
            </a:r>
            <a:endParaRPr lang="fr-FR" sz="1300" b="0" u="none" strike="noStrike">
              <a:solidFill>
                <a:srgbClr val="FFFFFF"/>
              </a:solidFill>
              <a:effectLst/>
              <a:uFillTx/>
              <a:latin typeface="Arial"/>
            </a:endParaRPr>
          </a:p>
        </p:txBody>
      </p:sp>
      <p:sp>
        <p:nvSpPr>
          <p:cNvPr id="266" name="Rectangle 38"/>
          <p:cNvSpPr/>
          <p:nvPr/>
        </p:nvSpPr>
        <p:spPr>
          <a:xfrm>
            <a:off x="640080" y="4114800"/>
            <a:ext cx="10906560" cy="80244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pic>
        <p:nvPicPr>
          <p:cNvPr id="267" name="Icône branch" descr="Icône branch"/>
          <p:cNvPicPr/>
          <p:nvPr/>
        </p:nvPicPr>
        <p:blipFill>
          <a:blip r:embed="rId4"/>
          <a:stretch/>
        </p:blipFill>
        <p:spPr>
          <a:xfrm>
            <a:off x="868680" y="4316040"/>
            <a:ext cx="400320" cy="400320"/>
          </a:xfrm>
          <a:prstGeom prst="rect">
            <a:avLst/>
          </a:prstGeom>
          <a:noFill/>
          <a:ln w="0">
            <a:noFill/>
          </a:ln>
        </p:spPr>
      </p:pic>
      <p:sp>
        <p:nvSpPr>
          <p:cNvPr id="268" name="TextBox 40"/>
          <p:cNvSpPr/>
          <p:nvPr/>
        </p:nvSpPr>
        <p:spPr>
          <a:xfrm>
            <a:off x="1463040" y="4401360"/>
            <a:ext cx="3289680" cy="22896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400" b="1" u="none" strike="noStrike">
                <a:solidFill>
                  <a:srgbClr val="F7F6F2"/>
                </a:solidFill>
                <a:effectLst/>
                <a:uFillTx/>
                <a:latin typeface="Inter"/>
                <a:ea typeface="DejaVu Sans"/>
              </a:rPr>
              <a:t>Le dépôt Git est la preuve</a:t>
            </a:r>
            <a:endParaRPr lang="fr-FR" sz="1400" b="0" u="none" strike="noStrike">
              <a:solidFill>
                <a:srgbClr val="FFFFFF"/>
              </a:solidFill>
              <a:effectLst/>
              <a:uFillTx/>
              <a:latin typeface="Arial"/>
            </a:endParaRPr>
          </a:p>
        </p:txBody>
      </p:sp>
      <p:sp>
        <p:nvSpPr>
          <p:cNvPr id="269" name="TextBox 41"/>
          <p:cNvSpPr/>
          <p:nvPr/>
        </p:nvSpPr>
        <p:spPr>
          <a:xfrm>
            <a:off x="4846320" y="4302720"/>
            <a:ext cx="6581520" cy="42660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300" b="0" u="none" strike="noStrike">
                <a:solidFill>
                  <a:srgbClr val="B8C0C8"/>
                </a:solidFill>
                <a:effectLst/>
                <a:uFillTx/>
                <a:latin typeface="Inter"/>
                <a:ea typeface="DejaVu Sans"/>
              </a:rPr>
              <a:t>Chaque chemin cité existe dans votre dépôt. Étiquette </a:t>
            </a:r>
            <a:r>
              <a:rPr lang="fr-FR" sz="1300" b="0" u="none" strike="noStrike">
                <a:solidFill>
                  <a:srgbClr val="F7F6F2"/>
                </a:solidFill>
                <a:effectLst/>
                <a:uFillTx/>
                <a:latin typeface="Consolas"/>
                <a:ea typeface="DejaVu Sans"/>
              </a:rPr>
              <a:t>seance-N</a:t>
            </a:r>
            <a:r>
              <a:rPr lang="fr-FR" sz="1300" b="0" u="none" strike="noStrike">
                <a:solidFill>
                  <a:srgbClr val="B8C0C8"/>
                </a:solidFill>
                <a:effectLst/>
                <a:uFillTx/>
                <a:latin typeface="Inter"/>
                <a:ea typeface="DejaVu Sans"/>
              </a:rPr>
              <a:t> posée en fin de chaque séance.</a:t>
            </a:r>
            <a:endParaRPr lang="fr-FR" sz="1300" b="0" u="none" strike="noStrike">
              <a:solidFill>
                <a:srgbClr val="FFFFFF"/>
              </a:solidFill>
              <a:effectLst/>
              <a:uFillTx/>
              <a:latin typeface="Arial"/>
            </a:endParaRPr>
          </a:p>
        </p:txBody>
      </p:sp>
      <p:sp>
        <p:nvSpPr>
          <p:cNvPr id="270" name="Rectangle 42"/>
          <p:cNvSpPr/>
          <p:nvPr/>
        </p:nvSpPr>
        <p:spPr>
          <a:xfrm>
            <a:off x="640080" y="5029200"/>
            <a:ext cx="10906560" cy="80244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pic>
        <p:nvPicPr>
          <p:cNvPr id="271" name="Icône warn" descr="Icône warn"/>
          <p:cNvPicPr/>
          <p:nvPr/>
        </p:nvPicPr>
        <p:blipFill>
          <a:blip r:embed="rId5"/>
          <a:stretch/>
        </p:blipFill>
        <p:spPr>
          <a:xfrm>
            <a:off x="868680" y="5230440"/>
            <a:ext cx="400320" cy="400320"/>
          </a:xfrm>
          <a:prstGeom prst="rect">
            <a:avLst/>
          </a:prstGeom>
          <a:noFill/>
          <a:ln w="0">
            <a:noFill/>
          </a:ln>
        </p:spPr>
      </p:pic>
      <p:sp>
        <p:nvSpPr>
          <p:cNvPr id="272" name="TextBox 44"/>
          <p:cNvSpPr/>
          <p:nvPr/>
        </p:nvSpPr>
        <p:spPr>
          <a:xfrm>
            <a:off x="1463040" y="5315760"/>
            <a:ext cx="3289680" cy="22896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400" b="1" u="none" strike="noStrike">
                <a:solidFill>
                  <a:srgbClr val="F7F6F2"/>
                </a:solidFill>
                <a:effectLst/>
                <a:uFillTx/>
                <a:latin typeface="Inter"/>
                <a:ea typeface="DejaVu Sans"/>
              </a:rPr>
              <a:t>Si vous n'avez pas fini</a:t>
            </a:r>
            <a:endParaRPr lang="fr-FR" sz="1400" b="0" u="none" strike="noStrike">
              <a:solidFill>
                <a:srgbClr val="FFFFFF"/>
              </a:solidFill>
              <a:effectLst/>
              <a:uFillTx/>
              <a:latin typeface="Arial"/>
            </a:endParaRPr>
          </a:p>
        </p:txBody>
      </p:sp>
      <p:sp>
        <p:nvSpPr>
          <p:cNvPr id="273" name="TextBox 45"/>
          <p:cNvSpPr/>
          <p:nvPr/>
        </p:nvSpPr>
        <p:spPr>
          <a:xfrm>
            <a:off x="4846320" y="5217120"/>
            <a:ext cx="6581520" cy="42660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300" b="0" u="none" strike="noStrike">
                <a:solidFill>
                  <a:srgbClr val="B8C0C8"/>
                </a:solidFill>
                <a:effectLst/>
                <a:uFillTx/>
                <a:latin typeface="Inter"/>
                <a:ea typeface="DejaVu Sans"/>
              </a:rPr>
              <a:t>Laissez les zones ambre visibles : un livrable inachevé doit le rester. Ne mettez jamais un chiffre sans l'avoir mesuré.</a:t>
            </a:r>
            <a:endParaRPr lang="fr-FR" sz="1300" b="0" u="none" strike="noStrike">
              <a:solidFill>
                <a:srgbClr val="FFFFFF"/>
              </a:solidFill>
              <a:effectLst/>
              <a:uFillTx/>
              <a:latin typeface="Arial"/>
            </a:endParaRPr>
          </a:p>
        </p:txBody>
      </p:sp>
      <p:sp>
        <p:nvSpPr>
          <p:cNvPr id="274" name="TextBox 46"/>
          <p:cNvSpPr/>
          <p:nvPr/>
        </p:nvSpPr>
        <p:spPr>
          <a:xfrm>
            <a:off x="640080" y="5989320"/>
            <a:ext cx="10906560" cy="18000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Si le texte déborde d'une cellule, réduisez la police à 11 pt plutôt que d'étendre le tableau hors de la page.</a:t>
            </a:r>
            <a:endParaRPr lang="fr-FR"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5"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Où se trouve quoi, et ce que pèse chaque critère</a:t>
            </a:r>
            <a:endParaRPr lang="fr-FR" sz="2800" b="0" u="none" strike="noStrike">
              <a:solidFill>
                <a:srgbClr val="FFFFFF"/>
              </a:solidFill>
              <a:effectLst/>
              <a:uFillTx/>
              <a:latin typeface="Arial"/>
            </a:endParaRPr>
          </a:p>
        </p:txBody>
      </p:sp>
      <p:sp>
        <p:nvSpPr>
          <p:cNvPr id="276" name="PlaceHolder 2"/>
          <p:cNvSpPr>
            <a:spLocks noGrp="1"/>
          </p:cNvSpPr>
          <p:nvPr>
            <p:ph type="sldNum" idx="29"/>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31C85E55-D1F6-4EB5-A425-D7A0AAA41FC5}"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277"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PLAN DU LIVRABLE</a:t>
            </a:r>
            <a:endParaRPr lang="fr-FR" sz="1100" b="0" u="none" strike="noStrike">
              <a:solidFill>
                <a:srgbClr val="FFFFFF"/>
              </a:solidFill>
              <a:effectLst/>
              <a:uFillTx/>
              <a:latin typeface="Arial"/>
            </a:endParaRPr>
          </a:p>
        </p:txBody>
      </p:sp>
      <p:graphicFrame>
        <p:nvGraphicFramePr>
          <p:cNvPr id="278" name="Table 26"/>
          <p:cNvGraphicFramePr/>
          <p:nvPr/>
        </p:nvGraphicFramePr>
        <p:xfrm>
          <a:off x="640080" y="1371600"/>
          <a:ext cx="10908360" cy="3071880"/>
        </p:xfrm>
        <a:graphic>
          <a:graphicData uri="http://schemas.openxmlformats.org/drawingml/2006/table">
            <a:tbl>
              <a:tblPr/>
              <a:tblGrid>
                <a:gridCol w="4023360"/>
                <a:gridCol w="1097280"/>
                <a:gridCol w="4690800"/>
                <a:gridCol w="1097280"/>
              </a:tblGrid>
              <a:tr h="383760">
                <a:tc>
                  <a:txBody>
                    <a:bodyPr lIns="73080" rIns="73080" anchor="ctr">
                      <a:noAutofit/>
                    </a:bodyPr>
                    <a:p>
                      <a:pPr>
                        <a:lnSpc>
                          <a:spcPct val="100000"/>
                        </a:lnSpc>
                      </a:pPr>
                      <a:r>
                        <a:rPr lang="en-US" sz="1200" b="1" u="none" spc="45" strike="noStrike">
                          <a:solidFill>
                            <a:srgbClr val="F5A623"/>
                          </a:solidFill>
                          <a:effectLst/>
                          <a:uFillTx/>
                          <a:latin typeface="Inter"/>
                        </a:rPr>
                        <a:t>Partie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200" b="1" u="none" spc="45" strike="noStrike">
                          <a:solidFill>
                            <a:srgbClr val="F5A623"/>
                          </a:solidFill>
                          <a:effectLst/>
                          <a:uFillTx/>
                          <a:latin typeface="Inter"/>
                        </a:rPr>
                        <a:t>Pages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200" b="1" u="none" spc="45" strike="noStrike">
                          <a:solidFill>
                            <a:srgbClr val="F5A623"/>
                          </a:solidFill>
                          <a:effectLst/>
                          <a:uFillTx/>
                          <a:latin typeface="Inter"/>
                        </a:rPr>
                        <a:t>Critère de la grille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200" b="1" u="none" spc="45" strike="noStrike">
                          <a:solidFill>
                            <a:srgbClr val="F5A623"/>
                          </a:solidFill>
                          <a:effectLst/>
                          <a:uFillTx/>
                          <a:latin typeface="Inter"/>
                        </a:rPr>
                        <a:t>Poids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83760">
                <a:tc>
                  <a:txBody>
                    <a:bodyPr lIns="73080" rIns="73080" anchor="ctr">
                      <a:noAutofit/>
                    </a:bodyPr>
                    <a:p>
                      <a:pPr>
                        <a:lnSpc>
                          <a:spcPct val="100000"/>
                        </a:lnSpc>
                      </a:pPr>
                      <a:r>
                        <a:rPr lang="en-US" sz="1300" b="1" u="none" strike="noStrike">
                          <a:solidFill>
                            <a:srgbClr val="F7F6F2"/>
                          </a:solidFill>
                          <a:effectLst/>
                          <a:uFillTx/>
                          <a:latin typeface="Inter"/>
                        </a:rPr>
                        <a:t>Équipe et mandat</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4 à 5</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Contribution individuelle (vérifiée dans l'historique Git)</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r>
              <a:tr h="383760">
                <a:tc>
                  <a:txBody>
                    <a:bodyPr lIns="73080" rIns="73080" anchor="ctr">
                      <a:noAutofit/>
                    </a:bodyPr>
                    <a:p>
                      <a:pPr>
                        <a:lnSpc>
                          <a:spcPct val="100000"/>
                        </a:lnSpc>
                      </a:pPr>
                      <a:r>
                        <a:rPr lang="en-US" sz="1300" b="1" u="none" strike="noStrike">
                          <a:solidFill>
                            <a:srgbClr val="F7F6F2"/>
                          </a:solidFill>
                          <a:effectLst/>
                          <a:uFillTx/>
                          <a:latin typeface="Inter"/>
                        </a:rPr>
                        <a:t>S1 : bronze, porte B, profilage</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300" b="0" u="none" strike="noStrike">
                          <a:solidFill>
                            <a:srgbClr val="F7F6F2"/>
                          </a:solidFill>
                          <a:effectLst/>
                          <a:uFillTx/>
                          <a:latin typeface="Inter"/>
                        </a:rPr>
                        <a:t>S1</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300" b="0" u="none" strike="noStrike">
                          <a:solidFill>
                            <a:srgbClr val="F7F6F2"/>
                          </a:solidFill>
                          <a:effectLst/>
                          <a:uFillTx/>
                          <a:latin typeface="Inter"/>
                        </a:rPr>
                        <a:t>Profilage et diagnostic</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300" b="0" u="none" strike="noStrike">
                          <a:solidFill>
                            <a:srgbClr val="F7F6F2"/>
                          </a:solidFill>
                          <a:effectLst/>
                          <a:uFillTx/>
                          <a:latin typeface="Inter"/>
                        </a:rPr>
                        <a:t>20 %</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r>
              <a:tr h="383760">
                <a:tc>
                  <a:txBody>
                    <a:bodyPr lIns="73080" rIns="73080" anchor="ctr">
                      <a:noAutofit/>
                    </a:bodyPr>
                    <a:p>
                      <a:pPr>
                        <a:lnSpc>
                          <a:spcPct val="100000"/>
                        </a:lnSpc>
                      </a:pPr>
                      <a:r>
                        <a:rPr lang="en-US" sz="1300" b="1" u="none" strike="noStrike">
                          <a:solidFill>
                            <a:srgbClr val="F7F6F2"/>
                          </a:solidFill>
                          <a:effectLst/>
                          <a:uFillTx/>
                          <a:latin typeface="Inter"/>
                        </a:rPr>
                        <a:t>S2 : règles en tests (Great Expectations)</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S2</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Règles et tests</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20 %</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r>
              <a:tr h="383760">
                <a:tc>
                  <a:txBody>
                    <a:bodyPr lIns="73080" rIns="73080" anchor="ctr">
                      <a:noAutofit/>
                    </a:bodyPr>
                    <a:p>
                      <a:pPr>
                        <a:lnSpc>
                          <a:spcPct val="100000"/>
                        </a:lnSpc>
                      </a:pPr>
                      <a:r>
                        <a:rPr lang="en-US" sz="1300" b="1" u="none" strike="noStrike">
                          <a:solidFill>
                            <a:srgbClr val="F7F6F2"/>
                          </a:solidFill>
                          <a:effectLst/>
                          <a:uFillTx/>
                          <a:latin typeface="Inter"/>
                        </a:rPr>
                        <a:t>S3 : intégrité et portes (Soda Core)</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300" b="0" u="none" strike="noStrike">
                          <a:solidFill>
                            <a:srgbClr val="F7F6F2"/>
                          </a:solidFill>
                          <a:effectLst/>
                          <a:uFillTx/>
                          <a:latin typeface="Inter"/>
                        </a:rPr>
                        <a:t>S3</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300" b="0" u="none" strike="noStrike">
                          <a:solidFill>
                            <a:srgbClr val="F7F6F2"/>
                          </a:solidFill>
                          <a:effectLst/>
                          <a:uFillTx/>
                          <a:latin typeface="Inter"/>
                        </a:rPr>
                        <a:t>Règles et tests (suite)</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300" b="0" u="none" strike="noStrike">
                          <a:solidFill>
                            <a:srgbClr val="F7F6F2"/>
                          </a:solidFill>
                          <a:effectLst/>
                          <a:uFillTx/>
                          <a:latin typeface="Inter"/>
                        </a:rPr>
                        <a:t>inclus</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r>
              <a:tr h="383760">
                <a:tc>
                  <a:txBody>
                    <a:bodyPr lIns="73080" rIns="73080" anchor="ctr">
                      <a:noAutofit/>
                    </a:bodyPr>
                    <a:p>
                      <a:pPr>
                        <a:lnSpc>
                          <a:spcPct val="100000"/>
                        </a:lnSpc>
                      </a:pPr>
                      <a:r>
                        <a:rPr lang="en-US" sz="1300" b="1" u="none" strike="noStrike">
                          <a:solidFill>
                            <a:srgbClr val="F7F6F2"/>
                          </a:solidFill>
                          <a:effectLst/>
                          <a:uFillTx/>
                          <a:latin typeface="Inter"/>
                        </a:rPr>
                        <a:t>S4 : silver, gold, traçabilité</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S4</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Silver, gold et traçabilité</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25 %</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r>
              <a:tr h="383760">
                <a:tc>
                  <a:txBody>
                    <a:bodyPr lIns="73080" rIns="73080" anchor="ctr">
                      <a:noAutofit/>
                    </a:bodyPr>
                    <a:p>
                      <a:pPr>
                        <a:lnSpc>
                          <a:spcPct val="100000"/>
                        </a:lnSpc>
                      </a:pPr>
                      <a:r>
                        <a:rPr lang="en-US" sz="1300" b="1" u="none" strike="noStrike">
                          <a:solidFill>
                            <a:srgbClr val="F7F6F2"/>
                          </a:solidFill>
                          <a:effectLst/>
                          <a:uFillTx/>
                          <a:latin typeface="Inter"/>
                        </a:rPr>
                        <a:t>S5 : certificat, publication</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300" b="0" u="none" strike="noStrike">
                          <a:solidFill>
                            <a:srgbClr val="F7F6F2"/>
                          </a:solidFill>
                          <a:effectLst/>
                          <a:uFillTx/>
                          <a:latin typeface="Inter"/>
                        </a:rPr>
                        <a:t>S5</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300" b="0" u="none" strike="noStrike">
                          <a:solidFill>
                            <a:srgbClr val="F7F6F2"/>
                          </a:solidFill>
                          <a:effectLst/>
                          <a:uFillTx/>
                          <a:latin typeface="Inter"/>
                        </a:rPr>
                        <a:t>Preuve et certificat</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300" b="0" u="none" strike="noStrike">
                          <a:solidFill>
                            <a:srgbClr val="F7F6F2"/>
                          </a:solidFill>
                          <a:effectLst/>
                          <a:uFillTx/>
                          <a:latin typeface="Inter"/>
                        </a:rPr>
                        <a:t>20 %</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r>
              <a:tr h="385560">
                <a:tc>
                  <a:txBody>
                    <a:bodyPr lIns="73080" rIns="73080" anchor="ctr">
                      <a:noAutofit/>
                    </a:bodyPr>
                    <a:p>
                      <a:pPr>
                        <a:lnSpc>
                          <a:spcPct val="100000"/>
                        </a:lnSpc>
                      </a:pPr>
                      <a:r>
                        <a:rPr lang="en-US" sz="1300" b="1" u="none" strike="noStrike">
                          <a:solidFill>
                            <a:srgbClr val="F7F6F2"/>
                          </a:solidFill>
                          <a:effectLst/>
                          <a:uFillTx/>
                          <a:latin typeface="Inter"/>
                        </a:rPr>
                        <a:t>Dossier go/no-go, journal des décisions</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Dossier</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Gouvernance et décision</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15 %</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r>
            </a:tbl>
          </a:graphicData>
        </a:graphic>
      </p:graphicFrame>
      <p:sp>
        <p:nvSpPr>
          <p:cNvPr id="279" name="TextBox 27"/>
          <p:cNvSpPr/>
          <p:nvPr/>
        </p:nvSpPr>
        <p:spPr>
          <a:xfrm>
            <a:off x="640080" y="4581000"/>
            <a:ext cx="10906560" cy="18000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Définition de « terminé » pour une story : critères démontrés avec les chiffres, règle identifiée par son RQ et la couche mesurée, décision attribuée à un rôle, aucune donnée modifiée en place.</a:t>
            </a:r>
            <a:endParaRPr lang="fr-FR"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Membres, rôles par séance et contribution</a:t>
            </a:r>
            <a:endParaRPr lang="fr-FR" sz="2800" b="0" u="none" strike="noStrike">
              <a:solidFill>
                <a:srgbClr val="FFFFFF"/>
              </a:solidFill>
              <a:effectLst/>
              <a:uFillTx/>
              <a:latin typeface="Arial"/>
            </a:endParaRPr>
          </a:p>
        </p:txBody>
      </p:sp>
      <p:sp>
        <p:nvSpPr>
          <p:cNvPr id="281" name="PlaceHolder 2"/>
          <p:cNvSpPr>
            <a:spLocks noGrp="1"/>
          </p:cNvSpPr>
          <p:nvPr>
            <p:ph type="sldNum" idx="30"/>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9352E415-CD66-4918-A489-58C75E3E7375}"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282"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ÉQUIPE</a:t>
            </a:r>
            <a:endParaRPr lang="fr-FR" sz="1100" b="0" u="none" strike="noStrike">
              <a:solidFill>
                <a:srgbClr val="FFFFFF"/>
              </a:solidFill>
              <a:effectLst/>
              <a:uFillTx/>
              <a:latin typeface="Arial"/>
            </a:endParaRPr>
          </a:p>
        </p:txBody>
      </p:sp>
      <p:sp>
        <p:nvSpPr>
          <p:cNvPr id="283" name="Attendu"/>
          <p:cNvSpPr/>
          <p:nvPr/>
        </p:nvSpPr>
        <p:spPr>
          <a:xfrm>
            <a:off x="640080" y="1325880"/>
            <a:ext cx="10906560" cy="1068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284" name="Attendu barre"/>
          <p:cNvSpPr/>
          <p:nvPr/>
        </p:nvSpPr>
        <p:spPr>
          <a:xfrm>
            <a:off x="640080" y="1325880"/>
            <a:ext cx="80280" cy="1068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285" name="Icône target" descr="Icône target"/>
          <p:cNvPicPr/>
          <p:nvPr/>
        </p:nvPicPr>
        <p:blipFill>
          <a:blip r:embed="rId1"/>
          <a:stretch/>
        </p:blipFill>
        <p:spPr>
          <a:xfrm>
            <a:off x="896040" y="1435680"/>
            <a:ext cx="272160" cy="272160"/>
          </a:xfrm>
          <a:prstGeom prst="rect">
            <a:avLst/>
          </a:prstGeom>
          <a:noFill/>
          <a:ln w="0">
            <a:noFill/>
          </a:ln>
        </p:spPr>
      </p:pic>
      <p:sp>
        <p:nvSpPr>
          <p:cNvPr id="286" name="TextBox 29"/>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287" name="TextBox 30"/>
          <p:cNvSpPr/>
          <p:nvPr/>
        </p:nvSpPr>
        <p:spPr>
          <a:xfrm>
            <a:off x="914400" y="1783080"/>
            <a:ext cx="10357920" cy="465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rôles tournent</a:t>
            </a:r>
            <a:r>
              <a:rPr lang="fr-FR" sz="1300" b="0" u="none" strike="noStrike">
                <a:solidFill>
                  <a:srgbClr val="F7F6F2"/>
                </a:solidFill>
                <a:effectLst/>
                <a:uFillTx/>
                <a:latin typeface="Inter"/>
                <a:ea typeface="DejaVu Sans"/>
              </a:rPr>
              <a:t> à chaque séance et un rôle est tenu par une personne à la fois.</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contribution déclarée est </a:t>
            </a:r>
            <a:r>
              <a:rPr lang="fr-FR" sz="1300" b="1" u="none" strike="noStrike">
                <a:solidFill>
                  <a:srgbClr val="F5A623"/>
                </a:solidFill>
                <a:effectLst/>
                <a:uFillTx/>
                <a:latin typeface="Inter"/>
                <a:ea typeface="DejaVu Sans"/>
              </a:rPr>
              <a:t>vérifiable</a:t>
            </a:r>
            <a:r>
              <a:rPr lang="fr-FR" sz="1300" b="0" u="none" strike="noStrike">
                <a:solidFill>
                  <a:srgbClr val="F7F6F2"/>
                </a:solidFill>
                <a:effectLst/>
                <a:uFillTx/>
                <a:latin typeface="Inter"/>
                <a:ea typeface="DejaVu Sans"/>
              </a:rPr>
              <a:t> dans l'historique Git : une ligne par membre, deux lignes de texte.</a:t>
            </a:r>
            <a:endParaRPr lang="fr-FR" sz="1300" b="0" u="none" strike="noStrike">
              <a:solidFill>
                <a:srgbClr val="FFFFFF"/>
              </a:solidFill>
              <a:effectLst/>
              <a:uFillTx/>
              <a:latin typeface="Arial"/>
            </a:endParaRPr>
          </a:p>
        </p:txBody>
      </p:sp>
      <p:graphicFrame>
        <p:nvGraphicFramePr>
          <p:cNvPr id="288" name="Table 31"/>
          <p:cNvGraphicFramePr/>
          <p:nvPr/>
        </p:nvGraphicFramePr>
        <p:xfrm>
          <a:off x="640080" y="2579760"/>
          <a:ext cx="10908360" cy="2012400"/>
        </p:xfrm>
        <a:graphic>
          <a:graphicData uri="http://schemas.openxmlformats.org/drawingml/2006/table">
            <a:tbl>
              <a:tblPr/>
              <a:tblGrid>
                <a:gridCol w="2560320"/>
                <a:gridCol w="2194560"/>
                <a:gridCol w="1188720"/>
                <a:gridCol w="1188720"/>
                <a:gridCol w="1188720"/>
                <a:gridCol w="1280160"/>
                <a:gridCol w="1307520"/>
              </a:tblGrid>
              <a:tr h="365760">
                <a:tc>
                  <a:txBody>
                    <a:bodyPr lIns="73080" rIns="73080" anchor="ctr">
                      <a:noAutofit/>
                    </a:bodyPr>
                    <a:p>
                      <a:pPr>
                        <a:lnSpc>
                          <a:spcPct val="100000"/>
                        </a:lnSpc>
                      </a:pPr>
                      <a:r>
                        <a:rPr lang="en-US" sz="1100" b="1" u="none" spc="45" strike="noStrike">
                          <a:solidFill>
                            <a:srgbClr val="F5A623"/>
                          </a:solidFill>
                          <a:effectLst/>
                          <a:uFillTx/>
                          <a:latin typeface="Inter"/>
                        </a:rPr>
                        <a:t>Membre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Identifiant Git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S1</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S2</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S3</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S4</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S5</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65760">
                <a:tc>
                  <a:txBody>
                    <a:bodyPr lIns="73080" rIns="73080" anchor="ctr">
                      <a:noAutofit/>
                    </a:bodyPr>
                    <a:p>
                      <a:pPr>
                        <a:lnSpc>
                          <a:spcPct val="100000"/>
                        </a:lnSpc>
                      </a:pPr>
                      <a:r>
                        <a:rPr lang="en-US" sz="1200" b="0" u="none" strike="noStrike">
                          <a:solidFill>
                            <a:srgbClr val="F5A623"/>
                          </a:solidFill>
                          <a:effectLst/>
                          <a:uFillTx/>
                          <a:latin typeface="Inter"/>
                        </a:rPr>
                        <a:t>AMY Léo</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LeoAugustinAmy</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Rédacteur du livrable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0" u="none" strike="noStrike">
                          <a:solidFill>
                            <a:srgbClr val="F5A623"/>
                          </a:solidFill>
                          <a:effectLst/>
                          <a:uFillTx/>
                          <a:latin typeface="Inter"/>
                        </a:rPr>
                        <a:t>MENY Nicolas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Tastycoole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Data Owner</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0" u="none" strike="noStrike">
                          <a:solidFill>
                            <a:srgbClr val="F5A623"/>
                          </a:solidFill>
                          <a:effectLst/>
                          <a:uFillTx/>
                          <a:latin typeface="Inter"/>
                        </a:rPr>
                        <a:t>OUERGHEMNI Mongi</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mongi-ouerghemmi</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Ingénieur qualité</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0" u="none" strike="noStrike">
                          <a:solidFill>
                            <a:srgbClr val="F5A623"/>
                          </a:solidFill>
                          <a:effectLst/>
                          <a:uFillTx/>
                          <a:latin typeface="Inter"/>
                        </a:rPr>
                        <a:t>TRUONG David</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0TRDavid</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Data Steward</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289" name="TextBox 32"/>
          <p:cNvSpPr/>
          <p:nvPr/>
        </p:nvSpPr>
        <p:spPr>
          <a:xfrm>
            <a:off x="640440" y="4590360"/>
            <a:ext cx="10906560" cy="18000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Rôles : Data Owner (décide des seuils et du GO) · Data Steward (définit les règles et leur sévérité) · Ingénieur qualité (mesure, implémente) · Rédacteur du livrable.</a:t>
            </a:r>
            <a:endParaRPr lang="fr-FR" sz="1100" b="0" u="none" strike="noStrike">
              <a:solidFill>
                <a:srgbClr val="FFFFFF"/>
              </a:solidFill>
              <a:effectLst/>
              <a:uFillTx/>
              <a:latin typeface="Arial"/>
            </a:endParaRPr>
          </a:p>
        </p:txBody>
      </p:sp>
      <p:graphicFrame>
        <p:nvGraphicFramePr>
          <p:cNvPr id="290" name="Table 33"/>
          <p:cNvGraphicFramePr/>
          <p:nvPr/>
        </p:nvGraphicFramePr>
        <p:xfrm>
          <a:off x="640080" y="4865760"/>
          <a:ext cx="10908360" cy="1828800"/>
        </p:xfrm>
        <a:graphic>
          <a:graphicData uri="http://schemas.openxmlformats.org/drawingml/2006/table">
            <a:tbl>
              <a:tblPr/>
              <a:tblGrid>
                <a:gridCol w="2560320"/>
                <a:gridCol w="6035040"/>
                <a:gridCol w="2313360"/>
              </a:tblGrid>
              <a:tr h="365760">
                <a:tc>
                  <a:txBody>
                    <a:bodyPr lIns="73080" rIns="73080" anchor="ctr">
                      <a:noAutofit/>
                    </a:bodyPr>
                    <a:p>
                      <a:pPr>
                        <a:lnSpc>
                          <a:spcPct val="100000"/>
                        </a:lnSpc>
                      </a:pPr>
                      <a:r>
                        <a:rPr lang="en-US" sz="1100" b="1" u="none" spc="45" strike="noStrike">
                          <a:solidFill>
                            <a:srgbClr val="F5A623"/>
                          </a:solidFill>
                          <a:effectLst/>
                          <a:uFillTx/>
                          <a:latin typeface="Inter"/>
                        </a:rPr>
                        <a:t>Membre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Contribution (deux lignes)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Stories principales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65760">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1"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Notre compréhension du mandat</a:t>
            </a:r>
            <a:endParaRPr lang="fr-FR" sz="2800" b="0" u="none" strike="noStrike">
              <a:solidFill>
                <a:srgbClr val="FFFFFF"/>
              </a:solidFill>
              <a:effectLst/>
              <a:uFillTx/>
              <a:latin typeface="Arial"/>
            </a:endParaRPr>
          </a:p>
        </p:txBody>
      </p:sp>
      <p:sp>
        <p:nvSpPr>
          <p:cNvPr id="292" name="PlaceHolder 2"/>
          <p:cNvSpPr>
            <a:spLocks noGrp="1"/>
          </p:cNvSpPr>
          <p:nvPr>
            <p:ph type="sldNum" idx="31"/>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33190ACE-5EEB-46C1-A34B-952EC169B67D}"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293"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CONTEXTE</a:t>
            </a:r>
            <a:endParaRPr lang="fr-FR" sz="1100" b="0" u="none" strike="noStrike">
              <a:solidFill>
                <a:srgbClr val="FFFFFF"/>
              </a:solidFill>
              <a:effectLst/>
              <a:uFillTx/>
              <a:latin typeface="Arial"/>
            </a:endParaRPr>
          </a:p>
        </p:txBody>
      </p:sp>
      <p:sp>
        <p:nvSpPr>
          <p:cNvPr id="294" name="Attendu"/>
          <p:cNvSpPr/>
          <p:nvPr/>
        </p:nvSpPr>
        <p:spPr>
          <a:xfrm>
            <a:off x="640080" y="1325880"/>
            <a:ext cx="10906560" cy="1320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295" name="Attendu barre"/>
          <p:cNvSpPr/>
          <p:nvPr/>
        </p:nvSpPr>
        <p:spPr>
          <a:xfrm>
            <a:off x="640080" y="1325880"/>
            <a:ext cx="80280" cy="1320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296" name="Icône target" descr="Icône target"/>
          <p:cNvPicPr/>
          <p:nvPr/>
        </p:nvPicPr>
        <p:blipFill>
          <a:blip r:embed="rId1"/>
          <a:stretch/>
        </p:blipFill>
        <p:spPr>
          <a:xfrm>
            <a:off x="896040" y="1435680"/>
            <a:ext cx="272160" cy="272160"/>
          </a:xfrm>
          <a:prstGeom prst="rect">
            <a:avLst/>
          </a:prstGeom>
          <a:noFill/>
          <a:ln w="0">
            <a:noFill/>
          </a:ln>
        </p:spPr>
      </p:pic>
      <p:sp>
        <p:nvSpPr>
          <p:cNvPr id="297" name="TextBox 29"/>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298" name="TextBox 30"/>
          <p:cNvSpPr/>
          <p:nvPr/>
        </p:nvSpPr>
        <p:spPr>
          <a:xfrm>
            <a:off x="914400" y="1783080"/>
            <a:ext cx="10357920" cy="717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condition posée par la </a:t>
            </a:r>
            <a:r>
              <a:rPr lang="fr-FR" sz="1300" b="1" u="none" strike="noStrike">
                <a:solidFill>
                  <a:srgbClr val="F5A623"/>
                </a:solidFill>
                <a:effectLst/>
                <a:uFillTx/>
                <a:latin typeface="Inter"/>
                <a:ea typeface="DejaVu Sans"/>
              </a:rPr>
              <a:t>Direction Générale</a:t>
            </a:r>
            <a:r>
              <a:rPr lang="fr-FR" sz="1300" b="0" u="none" strike="noStrike">
                <a:solidFill>
                  <a:srgbClr val="F7F6F2"/>
                </a:solidFill>
                <a:effectLst/>
                <a:uFillTx/>
                <a:latin typeface="Inter"/>
                <a:ea typeface="DejaVu Sans"/>
              </a:rPr>
              <a:t> reformulée avec vos mots.</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 </a:t>
            </a:r>
            <a:r>
              <a:rPr lang="fr-FR" sz="1300" b="1" u="none" strike="noStrike">
                <a:solidFill>
                  <a:srgbClr val="F5A623"/>
                </a:solidFill>
                <a:effectLst/>
                <a:uFillTx/>
                <a:latin typeface="Inter"/>
                <a:ea typeface="DejaVu Sans"/>
              </a:rPr>
              <a:t>périmètre</a:t>
            </a:r>
            <a:r>
              <a:rPr lang="fr-FR" sz="1300" b="0" u="none" strike="noStrike">
                <a:solidFill>
                  <a:srgbClr val="F7F6F2"/>
                </a:solidFill>
                <a:effectLst/>
                <a:uFillTx/>
                <a:latin typeface="Inter"/>
                <a:ea typeface="DejaVu Sans"/>
              </a:rPr>
              <a:t> : sources, couches du médaillon, portes B, S, G et C.</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trois rôles</a:t>
            </a:r>
            <a:r>
              <a:rPr lang="fr-FR" sz="1300" b="0" u="none" strike="noStrike">
                <a:solidFill>
                  <a:srgbClr val="F7F6F2"/>
                </a:solidFill>
                <a:effectLst/>
                <a:uFillTx/>
                <a:latin typeface="Inter"/>
                <a:ea typeface="DejaVu Sans"/>
              </a:rPr>
              <a:t> de gouvernance et ce que chacun décide.</a:t>
            </a:r>
            <a:endParaRPr lang="fr-FR" sz="1300" b="0" u="none" strike="noStrike">
              <a:solidFill>
                <a:srgbClr val="FFFFFF"/>
              </a:solidFill>
              <a:effectLst/>
              <a:uFillTx/>
              <a:latin typeface="Arial"/>
            </a:endParaRPr>
          </a:p>
        </p:txBody>
      </p:sp>
      <p:sp>
        <p:nvSpPr>
          <p:cNvPr id="299" name="TextBox 31"/>
          <p:cNvSpPr/>
          <p:nvPr/>
        </p:nvSpPr>
        <p:spPr>
          <a:xfrm>
            <a:off x="640080" y="2868840"/>
            <a:ext cx="53013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MANDAT ET CONDITION DE LA DG</a:t>
            </a:r>
            <a:endParaRPr lang="fr-FR" sz="1100" b="0" u="none" strike="noStrike">
              <a:solidFill>
                <a:srgbClr val="FFFFFF"/>
              </a:solidFill>
              <a:effectLst/>
              <a:uFillTx/>
              <a:latin typeface="Arial"/>
            </a:endParaRPr>
          </a:p>
        </p:txBody>
      </p:sp>
      <p:sp>
        <p:nvSpPr>
          <p:cNvPr id="300" name="Zone à rédiger"/>
          <p:cNvSpPr/>
          <p:nvPr/>
        </p:nvSpPr>
        <p:spPr>
          <a:xfrm>
            <a:off x="640080" y="3124440"/>
            <a:ext cx="5301360" cy="29998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 cinq lignes au plus]</a:t>
            </a:r>
            <a:endParaRPr lang="fr-FR" sz="1200" b="0" u="none" strike="noStrike">
              <a:solidFill>
                <a:srgbClr val="FFFFFF"/>
              </a:solidFill>
              <a:effectLst/>
              <a:uFillTx/>
              <a:latin typeface="Arial"/>
            </a:endParaRPr>
          </a:p>
        </p:txBody>
      </p:sp>
      <p:sp>
        <p:nvSpPr>
          <p:cNvPr id="301" name="TextBox 33"/>
          <p:cNvSpPr/>
          <p:nvPr/>
        </p:nvSpPr>
        <p:spPr>
          <a:xfrm>
            <a:off x="6245280" y="2868840"/>
            <a:ext cx="53013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PÉRIMÈTRE ET RÔLES</a:t>
            </a:r>
            <a:endParaRPr lang="fr-FR" sz="1100" b="0" u="none" strike="noStrike">
              <a:solidFill>
                <a:srgbClr val="FFFFFF"/>
              </a:solidFill>
              <a:effectLst/>
              <a:uFillTx/>
              <a:latin typeface="Arial"/>
            </a:endParaRPr>
          </a:p>
        </p:txBody>
      </p:sp>
      <p:sp>
        <p:nvSpPr>
          <p:cNvPr id="302" name="Zone à rédiger"/>
          <p:cNvSpPr/>
          <p:nvPr/>
        </p:nvSpPr>
        <p:spPr>
          <a:xfrm>
            <a:off x="6245280" y="3124440"/>
            <a:ext cx="5301360" cy="29998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 cinq lignes au plus]</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3" name="PlaceHolder 1"/>
          <p:cNvSpPr>
            <a:spLocks noGrp="1"/>
          </p:cNvSpPr>
          <p:nvPr>
            <p:ph/>
          </p:nvPr>
        </p:nvSpPr>
        <p:spPr>
          <a:xfrm>
            <a:off x="640080" y="2011680"/>
            <a:ext cx="2741040" cy="1186560"/>
          </a:xfrm>
          <a:prstGeom prst="rect">
            <a:avLst/>
          </a:prstGeom>
          <a:noFill/>
          <a:ln w="0">
            <a:noFill/>
          </a:ln>
        </p:spPr>
        <p:txBody>
          <a:bodyPr lIns="90000" tIns="45000" rIns="90000" bIns="45000" anchor="t">
            <a:noAutofit/>
          </a:bodyPr>
          <a:p>
            <a:pPr indent="0" algn="l">
              <a:lnSpc>
                <a:spcPct val="100000"/>
              </a:lnSpc>
              <a:spcBef>
                <a:spcPts val="1440"/>
              </a:spcBef>
              <a:buNone/>
              <a:tabLst>
                <a:tab pos="0" algn="l"/>
              </a:tabLst>
            </a:pPr>
            <a:r>
              <a:rPr lang="en-US" sz="7200" b="0" u="none" strike="noStrike">
                <a:solidFill>
                  <a:srgbClr val="F5A623"/>
                </a:solidFill>
                <a:effectLst/>
                <a:uFillTx/>
                <a:latin typeface="Fraunces SemiBold"/>
                <a:ea typeface="Fraunces SemiBold"/>
              </a:rPr>
              <a:t>01</a:t>
            </a:r>
            <a:endParaRPr lang="fr-FR" sz="7200" b="0" u="none" strike="noStrike">
              <a:solidFill>
                <a:srgbClr val="FFFFFF"/>
              </a:solidFill>
              <a:effectLst/>
              <a:uFillTx/>
              <a:latin typeface="Arial"/>
            </a:endParaRPr>
          </a:p>
        </p:txBody>
      </p:sp>
      <p:sp>
        <p:nvSpPr>
          <p:cNvPr id="304" name="PlaceHolder 2"/>
          <p:cNvSpPr>
            <a:spLocks noGrp="1"/>
          </p:cNvSpPr>
          <p:nvPr>
            <p:ph type="title"/>
          </p:nvPr>
        </p:nvSpPr>
        <p:spPr>
          <a:xfrm>
            <a:off x="640080" y="3200400"/>
            <a:ext cx="6581520" cy="1643760"/>
          </a:xfrm>
          <a:prstGeom prst="rect">
            <a:avLst/>
          </a:prstGeom>
          <a:noFill/>
          <a:ln w="0">
            <a:noFill/>
          </a:ln>
        </p:spPr>
        <p:txBody>
          <a:bodyPr lIns="90000" tIns="45000" rIns="90000" bIns="45000" anchor="t">
            <a:noAutofit/>
          </a:bodyPr>
          <a:p>
            <a:pPr indent="0" algn="l">
              <a:lnSpc>
                <a:spcPct val="100000"/>
              </a:lnSpc>
              <a:buNone/>
              <a:tabLst>
                <a:tab pos="0" algn="l"/>
              </a:tabLst>
            </a:pPr>
            <a:r>
              <a:rPr lang="en-US" sz="4200" b="0" u="none" strike="noStrike">
                <a:solidFill>
                  <a:srgbClr val="F7F6F2"/>
                </a:solidFill>
                <a:effectLst/>
                <a:uFillTx/>
                <a:latin typeface="Fraunces SemiBold"/>
                <a:ea typeface="Fraunces SemiBold"/>
              </a:rPr>
              <a:t>Stack, profilage, bronze</a:t>
            </a:r>
            <a:endParaRPr lang="fr-FR" sz="4200" b="0" u="none" strike="noStrike">
              <a:solidFill>
                <a:srgbClr val="FFFFFF"/>
              </a:solidFill>
              <a:effectLst/>
              <a:uFillTx/>
              <a:latin typeface="Arial"/>
            </a:endParaRPr>
          </a:p>
        </p:txBody>
      </p:sp>
      <p:sp>
        <p:nvSpPr>
          <p:cNvPr id="305" name="PlaceHolder 3"/>
          <p:cNvSpPr>
            <a:spLocks noGrp="1"/>
          </p:cNvSpPr>
          <p:nvPr>
            <p:ph type="sldNum" idx="32"/>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BDAC12EA-227E-41F3-A112-FCD10F84B1AF}"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306" name="TextBox 25"/>
          <p:cNvSpPr/>
          <p:nvPr/>
        </p:nvSpPr>
        <p:spPr>
          <a:xfrm>
            <a:off x="640080" y="4892040"/>
            <a:ext cx="6398640" cy="838440"/>
          </a:xfrm>
          <a:prstGeom prst="rect">
            <a:avLst/>
          </a:prstGeom>
          <a:noFill/>
          <a:ln w="0">
            <a:noFill/>
          </a:ln>
        </p:spPr>
        <p:style>
          <a:lnRef idx="0"/>
          <a:fillRef idx="0"/>
          <a:effectRef idx="0"/>
          <a:fontRef idx="minor"/>
        </p:style>
        <p:txBody>
          <a:bodyPr lIns="0" tIns="0" rIns="0" bIns="0" anchor="t">
            <a:spAutoFit/>
          </a:bodyPr>
          <a:p>
            <a:pPr>
              <a:lnSpc>
                <a:spcPct val="115000"/>
              </a:lnSpc>
              <a:spcAft>
                <a:spcPts val="400"/>
              </a:spcAft>
            </a:pPr>
            <a:r>
              <a:rPr lang="fr-FR" sz="1600" b="0" u="none" strike="noStrike">
                <a:solidFill>
                  <a:srgbClr val="B8C0C8"/>
                </a:solidFill>
                <a:effectLst/>
                <a:uFillTx/>
                <a:latin typeface="Inter"/>
                <a:ea typeface="DejaVu Sans"/>
              </a:rPr>
              <a:t>Séance 1 · Porte B · US-01 à 09. Inventaire des sources, bronze, réconciliation, profil de crm.client, dictionnaire du CIF, client actif.</a:t>
            </a:r>
            <a:endParaRPr lang="fr-FR" sz="16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7"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Inventaire des sources</a:t>
            </a:r>
            <a:endParaRPr lang="fr-FR" sz="2800" b="0" u="none" strike="noStrike">
              <a:solidFill>
                <a:srgbClr val="FFFFFF"/>
              </a:solidFill>
              <a:effectLst/>
              <a:uFillTx/>
              <a:latin typeface="Arial"/>
            </a:endParaRPr>
          </a:p>
        </p:txBody>
      </p:sp>
      <p:sp>
        <p:nvSpPr>
          <p:cNvPr id="308" name="PlaceHolder 2"/>
          <p:cNvSpPr>
            <a:spLocks noGrp="1"/>
          </p:cNvSpPr>
          <p:nvPr>
            <p:ph type="sldNum" idx="33"/>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45CE33AF-ECD6-4403-A44D-5C38417BF2EC}"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309"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S1 · US-01</a:t>
            </a:r>
            <a:endParaRPr lang="fr-FR" sz="1100" b="0" u="none" strike="noStrike">
              <a:solidFill>
                <a:srgbClr val="FFFFFF"/>
              </a:solidFill>
              <a:effectLst/>
              <a:uFillTx/>
              <a:latin typeface="Arial"/>
            </a:endParaRPr>
          </a:p>
        </p:txBody>
      </p:sp>
      <p:sp>
        <p:nvSpPr>
          <p:cNvPr id="310"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PROFILAGE ET DIAGNOSTIC · 20 %</a:t>
            </a:r>
            <a:endParaRPr lang="fr-FR" sz="1000" b="0" u="none" strike="noStrike">
              <a:solidFill>
                <a:srgbClr val="FFFFFF"/>
              </a:solidFill>
              <a:effectLst/>
              <a:uFillTx/>
              <a:latin typeface="Arial"/>
            </a:endParaRPr>
          </a:p>
        </p:txBody>
      </p:sp>
      <p:sp>
        <p:nvSpPr>
          <p:cNvPr id="311" name="Attendu"/>
          <p:cNvSpPr/>
          <p:nvPr/>
        </p:nvSpPr>
        <p:spPr>
          <a:xfrm>
            <a:off x="640080" y="1325880"/>
            <a:ext cx="10906560" cy="1068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312" name="Attendu barre"/>
          <p:cNvSpPr/>
          <p:nvPr/>
        </p:nvSpPr>
        <p:spPr>
          <a:xfrm>
            <a:off x="640080" y="1325880"/>
            <a:ext cx="80280" cy="1068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313" name="Icône target" descr="Icône target"/>
          <p:cNvPicPr/>
          <p:nvPr/>
        </p:nvPicPr>
        <p:blipFill>
          <a:blip r:embed="rId1"/>
          <a:stretch/>
        </p:blipFill>
        <p:spPr>
          <a:xfrm>
            <a:off x="896040" y="1435680"/>
            <a:ext cx="272160" cy="272160"/>
          </a:xfrm>
          <a:prstGeom prst="rect">
            <a:avLst/>
          </a:prstGeom>
          <a:noFill/>
          <a:ln w="0">
            <a:noFill/>
          </a:ln>
        </p:spPr>
      </p:pic>
      <p:sp>
        <p:nvSpPr>
          <p:cNvPr id="314"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315" name="TextBox 31"/>
          <p:cNvSpPr/>
          <p:nvPr/>
        </p:nvSpPr>
        <p:spPr>
          <a:xfrm>
            <a:off x="914400" y="1783080"/>
            <a:ext cx="10357920" cy="465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sept tables</a:t>
            </a:r>
            <a:r>
              <a:rPr lang="fr-FR" sz="1300" b="0" u="none" strike="noStrike">
                <a:solidFill>
                  <a:srgbClr val="F7F6F2"/>
                </a:solidFill>
                <a:effectLst/>
                <a:uFillTx/>
                <a:latin typeface="Inter"/>
                <a:ea typeface="DejaVu Sans"/>
              </a:rPr>
              <a:t> des deux sources, avec le </a:t>
            </a:r>
            <a:r>
              <a:rPr lang="fr-FR" sz="1300" b="1" u="none" strike="noStrike">
                <a:solidFill>
                  <a:srgbClr val="F5A623"/>
                </a:solidFill>
                <a:effectLst/>
                <a:uFillTx/>
                <a:latin typeface="Inter"/>
                <a:ea typeface="DejaVu Sans"/>
              </a:rPr>
              <a:t>nombre de lignes</a:t>
            </a:r>
            <a:r>
              <a:rPr lang="fr-FR" sz="1300" b="0" u="none" strike="noStrike">
                <a:solidFill>
                  <a:srgbClr val="F7F6F2"/>
                </a:solidFill>
                <a:effectLst/>
                <a:uFillTx/>
                <a:latin typeface="Inter"/>
                <a:ea typeface="DejaVu Sans"/>
              </a:rPr>
              <a:t> mesuré et la </a:t>
            </a:r>
            <a:r>
              <a:rPr lang="fr-FR" sz="1300" b="1" u="none" strike="noStrike">
                <a:solidFill>
                  <a:srgbClr val="F5A623"/>
                </a:solidFill>
                <a:effectLst/>
                <a:uFillTx/>
                <a:latin typeface="Inter"/>
                <a:ea typeface="DejaVu Sans"/>
              </a:rPr>
              <a:t>clé primaire</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Une </a:t>
            </a:r>
            <a:r>
              <a:rPr lang="fr-FR" sz="1300" b="1" u="none" strike="noStrike">
                <a:solidFill>
                  <a:srgbClr val="F5A623"/>
                </a:solidFill>
                <a:effectLst/>
                <a:uFillTx/>
                <a:latin typeface="Inter"/>
                <a:ea typeface="DejaVu Sans"/>
              </a:rPr>
              <a:t>observation chiffrée</a:t>
            </a:r>
            <a:r>
              <a:rPr lang="fr-FR" sz="1300" b="0" u="none" strike="noStrike">
                <a:solidFill>
                  <a:srgbClr val="F7F6F2"/>
                </a:solidFill>
                <a:effectLst/>
                <a:uFillTx/>
                <a:latin typeface="Inter"/>
                <a:ea typeface="DejaVu Sans"/>
              </a:rPr>
              <a:t> par table (nulls, doublons de clé, particularités).</a:t>
            </a:r>
            <a:endParaRPr lang="fr-FR" sz="1300" b="0" u="none" strike="noStrike">
              <a:solidFill>
                <a:srgbClr val="FFFFFF"/>
              </a:solidFill>
              <a:effectLst/>
              <a:uFillTx/>
              <a:latin typeface="Arial"/>
            </a:endParaRPr>
          </a:p>
        </p:txBody>
      </p:sp>
      <p:graphicFrame>
        <p:nvGraphicFramePr>
          <p:cNvPr id="316" name="Table 32"/>
          <p:cNvGraphicFramePr/>
          <p:nvPr/>
        </p:nvGraphicFramePr>
        <p:xfrm>
          <a:off x="640080" y="2579760"/>
          <a:ext cx="10908360" cy="2926080"/>
        </p:xfrm>
        <a:graphic>
          <a:graphicData uri="http://schemas.openxmlformats.org/drawingml/2006/table">
            <a:tbl>
              <a:tblPr/>
              <a:tblGrid>
                <a:gridCol w="1188720"/>
                <a:gridCol w="2011680"/>
                <a:gridCol w="1463040"/>
                <a:gridCol w="2194560"/>
                <a:gridCol w="4050720"/>
              </a:tblGrid>
              <a:tr h="365760">
                <a:tc>
                  <a:txBody>
                    <a:bodyPr lIns="73080" rIns="73080" anchor="ctr">
                      <a:noAutofit/>
                    </a:bodyPr>
                    <a:p>
                      <a:pPr>
                        <a:lnSpc>
                          <a:spcPct val="100000"/>
                        </a:lnSpc>
                      </a:pPr>
                      <a:r>
                        <a:rPr lang="en-US" sz="1100" b="1" u="none" spc="45" strike="noStrike">
                          <a:solidFill>
                            <a:srgbClr val="F5A623"/>
                          </a:solidFill>
                          <a:effectLst/>
                          <a:uFillTx/>
                          <a:latin typeface="Inter"/>
                        </a:rPr>
                        <a:t>Source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Table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Lignes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Clé primaire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Observation chiffrée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crm</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7F6F2"/>
                          </a:solidFill>
                          <a:effectLst/>
                          <a:uFillTx/>
                          <a:latin typeface="Inter"/>
                        </a:rPr>
                        <a:t>client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100000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client_id</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Nulls: 133918 | doublons de clé: 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crm</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7F6F2"/>
                          </a:solidFill>
                          <a:effectLst/>
                          <a:uFillTx/>
                          <a:latin typeface="Inter"/>
                        </a:rPr>
                        <a:t>contrat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100000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contrat_id</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Nulls: 7460 | doublons de clé: 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crm</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7F6F2"/>
                          </a:solidFill>
                          <a:effectLst/>
                          <a:uFillTx/>
                          <a:latin typeface="Inter"/>
                        </a:rPr>
                        <a:t>sinistre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100000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sinistre_id</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Nulls: 0 | doublons de clé: 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crm</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7F6F2"/>
                          </a:solidFill>
                          <a:effectLst/>
                          <a:uFillTx/>
                          <a:latin typeface="Inter"/>
                        </a:rPr>
                        <a:t>type_contrat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12</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code_type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Nulls: 0 | doublons de clé: 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cif</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7F6F2"/>
                          </a:solidFill>
                          <a:effectLst/>
                          <a:uFillTx/>
                          <a:latin typeface="Inter"/>
                        </a:rPr>
                        <a:t>clients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40000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column0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Nulls: 26486 | doublons de clé: 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cif</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7F6F2"/>
                          </a:solidFill>
                          <a:effectLst/>
                          <a:uFillTx/>
                          <a:latin typeface="Inter"/>
                        </a:rPr>
                        <a:t>compte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45000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column0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Nulls: 0 | doublons de clé: 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cif</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7F6F2"/>
                          </a:solidFill>
                          <a:effectLst/>
                          <a:uFillTx/>
                          <a:latin typeface="Inter"/>
                        </a:rPr>
                        <a:t>pays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250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code_pays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Nulls: 0 | doublons de clé: 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317" name="TextBox 33"/>
          <p:cNvSpPr/>
          <p:nvPr/>
        </p:nvSpPr>
        <p:spPr>
          <a:xfrm>
            <a:off x="640080" y="5890320"/>
            <a:ext cx="1090656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0" u="none" strike="noStrike">
                <a:solidFill>
                  <a:srgbClr val="B8C0C8"/>
                </a:solidFill>
                <a:effectLst/>
                <a:uFillTx/>
                <a:latin typeface="Inter"/>
                <a:ea typeface="DejaVu Sans"/>
              </a:rPr>
              <a:t>Preuve (chemin du notebook, du fichier ou de la requête dans le dépôt) : </a:t>
            </a:r>
            <a:r>
              <a:rPr lang="fr-FR" sz="1200" b="1" u="none" strike="noStrike">
                <a:solidFill>
                  <a:srgbClr val="F5A623"/>
                </a:solidFill>
                <a:effectLst/>
                <a:uFillTx/>
                <a:latin typeface="Inter"/>
                <a:ea typeface="DejaVu Sans"/>
              </a:rPr>
              <a:t>notebooks/S1_bronze_profilage.ipynb</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8"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Bronze et porte B : la copie est-elle fidèle ?</a:t>
            </a:r>
            <a:endParaRPr lang="fr-FR" sz="2800" b="0" u="none" strike="noStrike">
              <a:solidFill>
                <a:srgbClr val="FFFFFF"/>
              </a:solidFill>
              <a:effectLst/>
              <a:uFillTx/>
              <a:latin typeface="Arial"/>
            </a:endParaRPr>
          </a:p>
        </p:txBody>
      </p:sp>
      <p:sp>
        <p:nvSpPr>
          <p:cNvPr id="319" name="PlaceHolder 2"/>
          <p:cNvSpPr>
            <a:spLocks noGrp="1"/>
          </p:cNvSpPr>
          <p:nvPr>
            <p:ph type="sldNum" idx="34"/>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034A37C9-2DB5-4A17-B0A2-E2A5E27791BA}"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320"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S1 · US-02, 03</a:t>
            </a:r>
            <a:endParaRPr lang="fr-FR" sz="1100" b="0" u="none" strike="noStrike">
              <a:solidFill>
                <a:srgbClr val="FFFFFF"/>
              </a:solidFill>
              <a:effectLst/>
              <a:uFillTx/>
              <a:latin typeface="Arial"/>
            </a:endParaRPr>
          </a:p>
        </p:txBody>
      </p:sp>
      <p:sp>
        <p:nvSpPr>
          <p:cNvPr id="321"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PROFILAGE ET DIAGNOSTIC · 20 %</a:t>
            </a:r>
            <a:endParaRPr lang="fr-FR" sz="1000" b="0" u="none" strike="noStrike">
              <a:solidFill>
                <a:srgbClr val="FFFFFF"/>
              </a:solidFill>
              <a:effectLst/>
              <a:uFillTx/>
              <a:latin typeface="Arial"/>
            </a:endParaRPr>
          </a:p>
        </p:txBody>
      </p:sp>
      <p:sp>
        <p:nvSpPr>
          <p:cNvPr id="322" name="Attendu"/>
          <p:cNvSpPr/>
          <p:nvPr/>
        </p:nvSpPr>
        <p:spPr>
          <a:xfrm>
            <a:off x="640080" y="1325880"/>
            <a:ext cx="10906560" cy="1068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323" name="Attendu barre"/>
          <p:cNvSpPr/>
          <p:nvPr/>
        </p:nvSpPr>
        <p:spPr>
          <a:xfrm>
            <a:off x="640080" y="1325880"/>
            <a:ext cx="80280" cy="1068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324" name="Icône target" descr="Icône target"/>
          <p:cNvPicPr/>
          <p:nvPr/>
        </p:nvPicPr>
        <p:blipFill>
          <a:blip r:embed="rId1"/>
          <a:stretch/>
        </p:blipFill>
        <p:spPr>
          <a:xfrm>
            <a:off x="896040" y="1435680"/>
            <a:ext cx="272160" cy="272160"/>
          </a:xfrm>
          <a:prstGeom prst="rect">
            <a:avLst/>
          </a:prstGeom>
          <a:noFill/>
          <a:ln w="0">
            <a:noFill/>
          </a:ln>
        </p:spPr>
      </p:pic>
      <p:sp>
        <p:nvSpPr>
          <p:cNvPr id="325"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326" name="TextBox 31"/>
          <p:cNvSpPr/>
          <p:nvPr/>
        </p:nvSpPr>
        <p:spPr>
          <a:xfrm>
            <a:off x="914400" y="1783080"/>
            <a:ext cx="10357920" cy="465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1" u="none" strike="noStrike">
                <a:solidFill>
                  <a:srgbClr val="F5A623"/>
                </a:solidFill>
                <a:effectLst/>
                <a:uFillTx/>
                <a:latin typeface="Inter"/>
                <a:ea typeface="DejaVu Sans"/>
              </a:rPr>
              <a:t>RQ-021</a:t>
            </a:r>
            <a:r>
              <a:rPr lang="fr-FR" sz="1300" b="0" u="none" strike="noStrike">
                <a:solidFill>
                  <a:srgbClr val="F7F6F2"/>
                </a:solidFill>
                <a:effectLst/>
                <a:uFillTx/>
                <a:latin typeface="Inter"/>
                <a:ea typeface="DejaVu Sans"/>
              </a:rPr>
              <a:t> (comptage) et </a:t>
            </a:r>
            <a:r>
              <a:rPr lang="fr-FR" sz="1300" b="1" u="none" strike="noStrike">
                <a:solidFill>
                  <a:srgbClr val="F5A623"/>
                </a:solidFill>
                <a:effectLst/>
                <a:uFillTx/>
                <a:latin typeface="Inter"/>
                <a:ea typeface="DejaVu Sans"/>
              </a:rPr>
              <a:t>RQ-022</a:t>
            </a:r>
            <a:r>
              <a:rPr lang="fr-FR" sz="1300" b="0" u="none" strike="noStrike">
                <a:solidFill>
                  <a:srgbClr val="F7F6F2"/>
                </a:solidFill>
                <a:effectLst/>
                <a:uFillTx/>
                <a:latin typeface="Inter"/>
                <a:ea typeface="DejaVu Sans"/>
              </a:rPr>
              <a:t> (somme de contrôle) mesurées </a:t>
            </a:r>
            <a:r>
              <a:rPr lang="fr-FR" sz="1300" b="1" u="none" strike="noStrike">
                <a:solidFill>
                  <a:srgbClr val="F5A623"/>
                </a:solidFill>
                <a:effectLst/>
                <a:uFillTx/>
                <a:latin typeface="Inter"/>
                <a:ea typeface="DejaVu Sans"/>
              </a:rPr>
              <a:t>table par table</a:t>
            </a:r>
            <a:r>
              <a:rPr lang="fr-FR" sz="1300" b="0" u="none" strike="noStrike">
                <a:solidFill>
                  <a:srgbClr val="F7F6F2"/>
                </a:solidFill>
                <a:effectLst/>
                <a:uFillTx/>
                <a:latin typeface="Inter"/>
                <a:ea typeface="DejaVu Sans"/>
              </a:rPr>
              <a:t>, même quand l'écart est nul.</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Chaque ligne bronze porte ses </a:t>
            </a:r>
            <a:r>
              <a:rPr lang="fr-FR" sz="1300" b="1" u="none" strike="noStrike">
                <a:solidFill>
                  <a:srgbClr val="F5A623"/>
                </a:solidFill>
                <a:effectLst/>
                <a:uFillTx/>
                <a:latin typeface="Inter"/>
                <a:ea typeface="DejaVu Sans"/>
              </a:rPr>
              <a:t>quatre métadonnées</a:t>
            </a:r>
            <a:r>
              <a:rPr lang="fr-FR" sz="1300" b="0" u="none" strike="noStrike">
                <a:solidFill>
                  <a:srgbClr val="F7F6F2"/>
                </a:solidFill>
                <a:effectLst/>
                <a:uFillTx/>
                <a:latin typeface="Inter"/>
                <a:ea typeface="DejaVu Sans"/>
              </a:rPr>
              <a:t> (lot, source, horodatage, empreinte de ligne).</a:t>
            </a:r>
            <a:endParaRPr lang="fr-FR" sz="1300" b="0" u="none" strike="noStrike">
              <a:solidFill>
                <a:srgbClr val="FFFFFF"/>
              </a:solidFill>
              <a:effectLst/>
              <a:uFillTx/>
              <a:latin typeface="Arial"/>
            </a:endParaRPr>
          </a:p>
        </p:txBody>
      </p:sp>
      <p:graphicFrame>
        <p:nvGraphicFramePr>
          <p:cNvPr id="327" name="Table 32"/>
          <p:cNvGraphicFramePr/>
          <p:nvPr/>
        </p:nvGraphicFramePr>
        <p:xfrm>
          <a:off x="640080" y="2579760"/>
          <a:ext cx="10908360" cy="2987640"/>
        </p:xfrm>
        <a:graphic>
          <a:graphicData uri="http://schemas.openxmlformats.org/drawingml/2006/table">
            <a:tbl>
              <a:tblPr/>
              <a:tblGrid>
                <a:gridCol w="2651760"/>
                <a:gridCol w="1828800"/>
                <a:gridCol w="1828800"/>
                <a:gridCol w="2194560"/>
                <a:gridCol w="2404800"/>
              </a:tblGrid>
              <a:tr h="365760">
                <a:tc>
                  <a:txBody>
                    <a:bodyPr lIns="73080" rIns="73080" anchor="ctr">
                      <a:noAutofit/>
                    </a:bodyPr>
                    <a:p>
                      <a:pPr>
                        <a:lnSpc>
                          <a:spcPct val="100000"/>
                        </a:lnSpc>
                      </a:pPr>
                      <a:r>
                        <a:rPr lang="en-US" sz="1100" b="1" u="none" spc="45" strike="noStrike">
                          <a:solidFill>
                            <a:srgbClr val="F5A623"/>
                          </a:solidFill>
                          <a:effectLst/>
                          <a:uFillTx/>
                          <a:latin typeface="Inter"/>
                        </a:rPr>
                        <a:t>Table bronze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Lignes source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Lignes bronze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Écart de comptage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Écart de somme de contrôle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crm_client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100000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crm_contrat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100000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ea typeface="Microsoft YaHei"/>
                        </a:rPr>
                        <a:t>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crm_sinistre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100000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crm_type_contrat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12</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12</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cif_clients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40000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40000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cif_compte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45000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45000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cif_pays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250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250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328" name="TextBox 33"/>
          <p:cNvSpPr/>
          <p:nvPr/>
        </p:nvSpPr>
        <p:spPr>
          <a:xfrm>
            <a:off x="640080" y="5890320"/>
            <a:ext cx="1090656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0" u="none" strike="noStrike">
                <a:solidFill>
                  <a:srgbClr val="B8C0C8"/>
                </a:solidFill>
                <a:effectLst/>
                <a:uFillTx/>
                <a:latin typeface="Inter"/>
                <a:ea typeface="DejaVu Sans"/>
              </a:rPr>
              <a:t>Preuve (chemin du notebook, du fichier ou de la requête dans le dépôt) : </a:t>
            </a:r>
            <a:r>
              <a:rPr lang="fr-FR" sz="1200" b="1" u="none" strike="noStrike">
                <a:solidFill>
                  <a:srgbClr val="F5A623"/>
                </a:solidFill>
                <a:effectLst/>
                <a:uFillTx/>
                <a:latin typeface="Inter"/>
                <a:ea typeface="DejaVu Sans"/>
              </a:rPr>
              <a:t>notebooks/S1_bronze_profilage.ipynb</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9"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Épreuves de la porte B et méthode d'ingestion</a:t>
            </a:r>
            <a:endParaRPr lang="fr-FR" sz="2800" b="0" u="none" strike="noStrike">
              <a:solidFill>
                <a:srgbClr val="FFFFFF"/>
              </a:solidFill>
              <a:effectLst/>
              <a:uFillTx/>
              <a:latin typeface="Arial"/>
            </a:endParaRPr>
          </a:p>
        </p:txBody>
      </p:sp>
      <p:sp>
        <p:nvSpPr>
          <p:cNvPr id="330" name="PlaceHolder 2"/>
          <p:cNvSpPr>
            <a:spLocks noGrp="1"/>
          </p:cNvSpPr>
          <p:nvPr>
            <p:ph type="sldNum" idx="35"/>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8C6BFD2D-2078-4413-9308-6487705CBB95}"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331"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S1 · US-02, 03</a:t>
            </a:r>
            <a:endParaRPr lang="fr-FR" sz="1100" b="0" u="none" strike="noStrike">
              <a:solidFill>
                <a:srgbClr val="FFFFFF"/>
              </a:solidFill>
              <a:effectLst/>
              <a:uFillTx/>
              <a:latin typeface="Arial"/>
            </a:endParaRPr>
          </a:p>
        </p:txBody>
      </p:sp>
      <p:sp>
        <p:nvSpPr>
          <p:cNvPr id="332"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PROFILAGE ET DIAGNOSTIC · 20 %</a:t>
            </a:r>
            <a:endParaRPr lang="fr-FR" sz="1000" b="0" u="none" strike="noStrike">
              <a:solidFill>
                <a:srgbClr val="FFFFFF"/>
              </a:solidFill>
              <a:effectLst/>
              <a:uFillTx/>
              <a:latin typeface="Arial"/>
            </a:endParaRPr>
          </a:p>
        </p:txBody>
      </p:sp>
      <p:sp>
        <p:nvSpPr>
          <p:cNvPr id="333" name="Attendu"/>
          <p:cNvSpPr/>
          <p:nvPr/>
        </p:nvSpPr>
        <p:spPr>
          <a:xfrm>
            <a:off x="640080" y="1325880"/>
            <a:ext cx="10906560" cy="1068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334" name="Attendu barre"/>
          <p:cNvSpPr/>
          <p:nvPr/>
        </p:nvSpPr>
        <p:spPr>
          <a:xfrm>
            <a:off x="640080" y="1325880"/>
            <a:ext cx="80280" cy="1068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335" name="Icône target" descr="Icône target"/>
          <p:cNvPicPr/>
          <p:nvPr/>
        </p:nvPicPr>
        <p:blipFill>
          <a:blip r:embed="rId1"/>
          <a:stretch/>
        </p:blipFill>
        <p:spPr>
          <a:xfrm>
            <a:off x="896040" y="1435680"/>
            <a:ext cx="272160" cy="272160"/>
          </a:xfrm>
          <a:prstGeom prst="rect">
            <a:avLst/>
          </a:prstGeom>
          <a:noFill/>
          <a:ln w="0">
            <a:noFill/>
          </a:ln>
        </p:spPr>
      </p:pic>
      <p:sp>
        <p:nvSpPr>
          <p:cNvPr id="336"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337" name="TextBox 31"/>
          <p:cNvSpPr/>
          <p:nvPr/>
        </p:nvSpPr>
        <p:spPr>
          <a:xfrm>
            <a:off x="914400" y="1783080"/>
            <a:ext cx="10357920" cy="465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trois épreuves</a:t>
            </a:r>
            <a:r>
              <a:rPr lang="fr-FR" sz="1300" b="0" u="none" strike="noStrike">
                <a:solidFill>
                  <a:srgbClr val="F7F6F2"/>
                </a:solidFill>
                <a:effectLst/>
                <a:uFillTx/>
                <a:latin typeface="Inter"/>
                <a:ea typeface="DejaVu Sans"/>
              </a:rPr>
              <a:t> documentées, chacune avec son </a:t>
            </a:r>
            <a:r>
              <a:rPr lang="fr-FR" sz="1300" b="1" u="none" strike="noStrike">
                <a:solidFill>
                  <a:srgbClr val="F5A623"/>
                </a:solidFill>
                <a:effectLst/>
                <a:uFillTx/>
                <a:latin typeface="Inter"/>
                <a:ea typeface="DejaVu Sans"/>
              </a:rPr>
              <a:t>résultat obtenu</a:t>
            </a:r>
            <a:r>
              <a:rPr lang="fr-FR" sz="1300" b="0" u="none" strike="noStrike">
                <a:solidFill>
                  <a:srgbClr val="F7F6F2"/>
                </a:solidFill>
                <a:effectLst/>
                <a:uFillTx/>
                <a:latin typeface="Inter"/>
                <a:ea typeface="DejaVu Sans"/>
              </a:rPr>
              <a:t> et sa </a:t>
            </a:r>
            <a:r>
              <a:rPr lang="fr-FR" sz="1300" b="1" u="none" strike="noStrike">
                <a:solidFill>
                  <a:srgbClr val="F5A623"/>
                </a:solidFill>
                <a:effectLst/>
                <a:uFillTx/>
                <a:latin typeface="Inter"/>
                <a:ea typeface="DejaVu Sans"/>
              </a:rPr>
              <a:t>preuve</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méthode d'ingestion en </a:t>
            </a:r>
            <a:r>
              <a:rPr lang="fr-FR" sz="1300" b="1" u="none" strike="noStrike">
                <a:solidFill>
                  <a:srgbClr val="F5A623"/>
                </a:solidFill>
                <a:effectLst/>
                <a:uFillTx/>
                <a:latin typeface="Inter"/>
                <a:ea typeface="DejaVu Sans"/>
              </a:rPr>
              <a:t>trois lignes</a:t>
            </a:r>
            <a:r>
              <a:rPr lang="fr-FR" sz="1300" b="0" u="none" strike="noStrike">
                <a:solidFill>
                  <a:srgbClr val="F7F6F2"/>
                </a:solidFill>
                <a:effectLst/>
                <a:uFillTx/>
                <a:latin typeface="Inter"/>
                <a:ea typeface="DejaVu Sans"/>
              </a:rPr>
              <a:t> : lecture, conversion, métadonnées, relance du lot.</a:t>
            </a:r>
            <a:endParaRPr lang="fr-FR" sz="1300" b="0" u="none" strike="noStrike">
              <a:solidFill>
                <a:srgbClr val="FFFFFF"/>
              </a:solidFill>
              <a:effectLst/>
              <a:uFillTx/>
              <a:latin typeface="Arial"/>
            </a:endParaRPr>
          </a:p>
        </p:txBody>
      </p:sp>
      <p:graphicFrame>
        <p:nvGraphicFramePr>
          <p:cNvPr id="338" name="Table 32"/>
          <p:cNvGraphicFramePr/>
          <p:nvPr/>
        </p:nvGraphicFramePr>
        <p:xfrm>
          <a:off x="640080" y="2579760"/>
          <a:ext cx="10908360" cy="2011680"/>
        </p:xfrm>
        <a:graphic>
          <a:graphicData uri="http://schemas.openxmlformats.org/drawingml/2006/table">
            <a:tbl>
              <a:tblPr/>
              <a:tblGrid>
                <a:gridCol w="5120640"/>
                <a:gridCol w="3108960"/>
                <a:gridCol w="2679120"/>
              </a:tblGrid>
              <a:tr h="502920">
                <a:tc>
                  <a:txBody>
                    <a:bodyPr lIns="73080" rIns="73080" anchor="ctr">
                      <a:noAutofit/>
                    </a:bodyPr>
                    <a:p>
                      <a:pPr>
                        <a:lnSpc>
                          <a:spcPct val="100000"/>
                        </a:lnSpc>
                      </a:pPr>
                      <a:r>
                        <a:rPr lang="en-US" sz="1100" b="1" u="none" spc="45" strike="noStrike">
                          <a:solidFill>
                            <a:srgbClr val="F5A623"/>
                          </a:solidFill>
                          <a:effectLst/>
                          <a:uFillTx/>
                          <a:latin typeface="Inter"/>
                        </a:rPr>
                        <a:t>Épreuve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Résultat obtenu</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Preuve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502920">
                <a:tc>
                  <a:txBody>
                    <a:bodyPr lIns="73080" rIns="73080" anchor="ctr">
                      <a:noAutofit/>
                    </a:bodyPr>
                    <a:p>
                      <a:pPr>
                        <a:lnSpc>
                          <a:spcPct val="100000"/>
                        </a:lnSpc>
                      </a:pPr>
                      <a:r>
                        <a:rPr lang="en-US" sz="1200" b="1" u="none" strike="noStrike">
                          <a:solidFill>
                            <a:srgbClr val="F7F6F2"/>
                          </a:solidFill>
                          <a:effectLst/>
                          <a:uFillTx/>
                          <a:latin typeface="Inter"/>
                        </a:rPr>
                        <a:t>Relance du même lot : doublons créés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Non</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502920">
                <a:tc>
                  <a:txBody>
                    <a:bodyPr lIns="73080" rIns="73080" anchor="ctr">
                      <a:noAutofit/>
                    </a:bodyPr>
                    <a:p>
                      <a:pPr>
                        <a:lnSpc>
                          <a:spcPct val="100000"/>
                        </a:lnSpc>
                      </a:pPr>
                      <a:r>
                        <a:rPr lang="en-US" sz="1200" b="1" u="none" strike="noStrike">
                          <a:solidFill>
                            <a:srgbClr val="F7F6F2"/>
                          </a:solidFill>
                          <a:effectLst/>
                          <a:uFillTx/>
                          <a:latin typeface="Inter"/>
                        </a:rPr>
                        <a:t>Écart introduit volontairement sur une copie : la porte échoue-t-elle ?</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1 écart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502920">
                <a:tc>
                  <a:txBody>
                    <a:bodyPr lIns="73080" rIns="73080" anchor="ctr">
                      <a:noAutofit/>
                    </a:bodyPr>
                    <a:p>
                      <a:pPr>
                        <a:lnSpc>
                          <a:spcPct val="100000"/>
                        </a:lnSpc>
                      </a:pPr>
                      <a:r>
                        <a:rPr lang="en-US" sz="1200" b="1" u="none" strike="noStrike">
                          <a:solidFill>
                            <a:srgbClr val="F7F6F2"/>
                          </a:solidFill>
                          <a:effectLst/>
                          <a:uFillTx/>
                          <a:latin typeface="Inter"/>
                        </a:rPr>
                        <a:t>Un problème de conversion rencontré (décimales, NULL, accents) et sa correction</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Non</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339" name="TextBox 33"/>
          <p:cNvSpPr/>
          <p:nvPr/>
        </p:nvSpPr>
        <p:spPr>
          <a:xfrm>
            <a:off x="640080" y="4857120"/>
            <a:ext cx="10906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MÉTHODE D'INGESTION EN TROIS LIGNES</a:t>
            </a:r>
            <a:endParaRPr lang="fr-FR" sz="1100" b="0" u="none" strike="noStrike">
              <a:solidFill>
                <a:srgbClr val="FFFFFF"/>
              </a:solidFill>
              <a:effectLst/>
              <a:uFillTx/>
              <a:latin typeface="Arial"/>
            </a:endParaRPr>
          </a:p>
        </p:txBody>
      </p:sp>
      <p:sp>
        <p:nvSpPr>
          <p:cNvPr id="340" name="Zone à rédiger"/>
          <p:cNvSpPr/>
          <p:nvPr/>
        </p:nvSpPr>
        <p:spPr>
          <a:xfrm>
            <a:off x="640080" y="5112720"/>
            <a:ext cx="10906560" cy="10116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pic>
        <p:nvPicPr>
          <p:cNvPr id="341" name=""/>
          <p:cNvPicPr/>
          <p:nvPr/>
        </p:nvPicPr>
        <p:blipFill>
          <a:blip r:embed="rId2"/>
          <a:stretch/>
        </p:blipFill>
        <p:spPr>
          <a:xfrm>
            <a:off x="8820000" y="3578040"/>
            <a:ext cx="2698920" cy="560880"/>
          </a:xfrm>
          <a:prstGeom prst="rect">
            <a:avLst/>
          </a:prstGeom>
          <a:noFill/>
          <a:ln w="0">
            <a:noFill/>
          </a:ln>
        </p:spPr>
      </p:pic>
      <p:pic>
        <p:nvPicPr>
          <p:cNvPr id="342" name=""/>
          <p:cNvPicPr/>
          <p:nvPr/>
        </p:nvPicPr>
        <p:blipFill>
          <a:blip r:embed="rId3"/>
          <a:stretch/>
        </p:blipFill>
        <p:spPr>
          <a:xfrm>
            <a:off x="8862840" y="3087000"/>
            <a:ext cx="1216080" cy="511920"/>
          </a:xfrm>
          <a:prstGeom prst="rect">
            <a:avLst/>
          </a:prstGeom>
          <a:noFill/>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3"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Profil de crm.client et motifs</a:t>
            </a:r>
            <a:endParaRPr lang="fr-FR" sz="2800" b="0" u="none" strike="noStrike">
              <a:solidFill>
                <a:srgbClr val="FFFFFF"/>
              </a:solidFill>
              <a:effectLst/>
              <a:uFillTx/>
              <a:latin typeface="Arial"/>
            </a:endParaRPr>
          </a:p>
        </p:txBody>
      </p:sp>
      <p:sp>
        <p:nvSpPr>
          <p:cNvPr id="344" name="PlaceHolder 2"/>
          <p:cNvSpPr>
            <a:spLocks noGrp="1"/>
          </p:cNvSpPr>
          <p:nvPr>
            <p:ph type="sldNum" idx="36"/>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4F9025B6-AEAC-4164-AE6A-155A553A6682}"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345"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S1 · US-06, 07</a:t>
            </a:r>
            <a:endParaRPr lang="fr-FR" sz="1100" b="0" u="none" strike="noStrike">
              <a:solidFill>
                <a:srgbClr val="FFFFFF"/>
              </a:solidFill>
              <a:effectLst/>
              <a:uFillTx/>
              <a:latin typeface="Arial"/>
            </a:endParaRPr>
          </a:p>
        </p:txBody>
      </p:sp>
      <p:sp>
        <p:nvSpPr>
          <p:cNvPr id="346"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PROFILAGE ET DIAGNOSTIC · 20 %</a:t>
            </a:r>
            <a:endParaRPr lang="fr-FR" sz="1000" b="0" u="none" strike="noStrike">
              <a:solidFill>
                <a:srgbClr val="FFFFFF"/>
              </a:solidFill>
              <a:effectLst/>
              <a:uFillTx/>
              <a:latin typeface="Arial"/>
            </a:endParaRPr>
          </a:p>
        </p:txBody>
      </p:sp>
      <p:sp>
        <p:nvSpPr>
          <p:cNvPr id="347" name="Attendu"/>
          <p:cNvSpPr/>
          <p:nvPr/>
        </p:nvSpPr>
        <p:spPr>
          <a:xfrm>
            <a:off x="640080" y="1325880"/>
            <a:ext cx="10906560" cy="1068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348" name="Attendu barre"/>
          <p:cNvSpPr/>
          <p:nvPr/>
        </p:nvSpPr>
        <p:spPr>
          <a:xfrm>
            <a:off x="640080" y="1325880"/>
            <a:ext cx="80280" cy="1068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349" name="Icône target" descr="Icône target"/>
          <p:cNvPicPr/>
          <p:nvPr/>
        </p:nvPicPr>
        <p:blipFill>
          <a:blip r:embed="rId1"/>
          <a:stretch/>
        </p:blipFill>
        <p:spPr>
          <a:xfrm>
            <a:off x="896040" y="1435680"/>
            <a:ext cx="272160" cy="272160"/>
          </a:xfrm>
          <a:prstGeom prst="rect">
            <a:avLst/>
          </a:prstGeom>
          <a:noFill/>
          <a:ln w="0">
            <a:noFill/>
          </a:ln>
        </p:spPr>
      </p:pic>
      <p:sp>
        <p:nvSpPr>
          <p:cNvPr id="350"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351" name="TextBox 31"/>
          <p:cNvSpPr/>
          <p:nvPr/>
        </p:nvSpPr>
        <p:spPr>
          <a:xfrm>
            <a:off x="914400" y="1783080"/>
            <a:ext cx="10357920" cy="465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Au moins </a:t>
            </a:r>
            <a:r>
              <a:rPr lang="fr-FR" sz="1300" b="1" u="none" strike="noStrike">
                <a:solidFill>
                  <a:srgbClr val="F5A623"/>
                </a:solidFill>
                <a:effectLst/>
                <a:uFillTx/>
                <a:latin typeface="Inter"/>
                <a:ea typeface="DejaVu Sans"/>
              </a:rPr>
              <a:t>cinq constats chiffrés</a:t>
            </a:r>
            <a:r>
              <a:rPr lang="fr-FR" sz="1300" b="0" u="none" strike="noStrike">
                <a:solidFill>
                  <a:srgbClr val="F7F6F2"/>
                </a:solidFill>
                <a:effectLst/>
                <a:uFillTx/>
                <a:latin typeface="Inter"/>
                <a:ea typeface="DejaVu Sans"/>
              </a:rPr>
              <a:t> : colonne, indicateur, valeur mesurée, conséquence pour la qualité.</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motifs</a:t>
            </a:r>
            <a:r>
              <a:rPr lang="fr-FR" sz="1300" b="0" u="none" strike="noStrike">
                <a:solidFill>
                  <a:srgbClr val="F7F6F2"/>
                </a:solidFill>
                <a:effectLst/>
                <a:uFillTx/>
                <a:latin typeface="Inter"/>
                <a:ea typeface="DejaVu Sans"/>
              </a:rPr>
              <a:t> de code postal, de téléphone et de pays : lignes conformes, non conformes, un exemple.</a:t>
            </a:r>
            <a:endParaRPr lang="fr-FR" sz="1300" b="0" u="none" strike="noStrike">
              <a:solidFill>
                <a:srgbClr val="FFFFFF"/>
              </a:solidFill>
              <a:effectLst/>
              <a:uFillTx/>
              <a:latin typeface="Arial"/>
            </a:endParaRPr>
          </a:p>
        </p:txBody>
      </p:sp>
      <p:graphicFrame>
        <p:nvGraphicFramePr>
          <p:cNvPr id="352" name="Table 32"/>
          <p:cNvGraphicFramePr/>
          <p:nvPr/>
        </p:nvGraphicFramePr>
        <p:xfrm>
          <a:off x="640080" y="2534040"/>
          <a:ext cx="10908360" cy="2170080"/>
        </p:xfrm>
        <a:graphic>
          <a:graphicData uri="http://schemas.openxmlformats.org/drawingml/2006/table">
            <a:tbl>
              <a:tblPr/>
              <a:tblGrid>
                <a:gridCol w="548640"/>
                <a:gridCol w="1828800"/>
                <a:gridCol w="3291840"/>
                <a:gridCol w="1737360"/>
                <a:gridCol w="3502080"/>
              </a:tblGrid>
              <a:tr h="411480">
                <a:tc>
                  <a:txBody>
                    <a:bodyPr lIns="73080" rIns="73080" anchor="ctr">
                      <a:noAutofit/>
                    </a:bodyPr>
                    <a:p>
                      <a:pPr>
                        <a:lnSpc>
                          <a:spcPct val="100000"/>
                        </a:lnSpc>
                      </a:pPr>
                      <a:r>
                        <a:rPr lang="en-US" sz="1050" b="1" u="none" spc="45" strike="noStrike">
                          <a:solidFill>
                            <a:srgbClr val="F5A623"/>
                          </a:solidFill>
                          <a:effectLst/>
                          <a:uFillTx/>
                          <a:latin typeface="Inter"/>
                        </a:rPr>
                        <a:t>N°</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Colonne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Indicateur (nulls, vides, distincts, motif)</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Valeur mesurée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Ce que cela change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29040">
                <a:tc>
                  <a:txBody>
                    <a:bodyPr lIns="73080" rIns="73080" anchor="ctr">
                      <a:noAutofit/>
                    </a:bodyPr>
                    <a:p>
                      <a:pPr>
                        <a:lnSpc>
                          <a:spcPct val="100000"/>
                        </a:lnSpc>
                      </a:pPr>
                      <a:r>
                        <a:rPr lang="en-US" sz="1150" b="1" u="none" strike="noStrike">
                          <a:solidFill>
                            <a:srgbClr val="F7F6F2"/>
                          </a:solidFill>
                          <a:effectLst/>
                          <a:uFillTx/>
                          <a:latin typeface="Inter"/>
                        </a:rPr>
                        <a:t>1</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nom</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nulls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4277</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Cette colonne peut ne pas être fiable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50" b="1" u="none" strike="noStrike">
                          <a:solidFill>
                            <a:srgbClr val="F7F6F2"/>
                          </a:solidFill>
                          <a:effectLst/>
                          <a:uFillTx/>
                          <a:latin typeface="Inter"/>
                        </a:rPr>
                        <a:t>2</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prenom</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nulls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4277</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Cette colonne peut ne pas être fiable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50" b="1" u="none" strike="noStrike">
                          <a:solidFill>
                            <a:srgbClr val="F7F6F2"/>
                          </a:solidFill>
                          <a:effectLst/>
                          <a:uFillTx/>
                          <a:latin typeface="Inter"/>
                        </a:rPr>
                        <a:t>3</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raison_social</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nulls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95723</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Cette colonne n’est pas fiable car extremement vide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50" b="1" u="none" strike="noStrike">
                          <a:solidFill>
                            <a:srgbClr val="F7F6F2"/>
                          </a:solidFill>
                          <a:effectLst/>
                          <a:uFillTx/>
                          <a:latin typeface="Inter"/>
                        </a:rPr>
                        <a:t>4</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pays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vides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400</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Faible manque par rapport au 100000 lignes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50" b="1" u="none" strike="noStrike">
                          <a:solidFill>
                            <a:srgbClr val="F7F6F2"/>
                          </a:solidFill>
                          <a:effectLst/>
                          <a:uFillTx/>
                          <a:latin typeface="Inter"/>
                        </a:rPr>
                        <a:t>5</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telephone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blancs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2000</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Faible manque par rapport au 100000 lignes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graphicFrame>
        <p:nvGraphicFramePr>
          <p:cNvPr id="353" name="Table 33"/>
          <p:cNvGraphicFramePr/>
          <p:nvPr/>
        </p:nvGraphicFramePr>
        <p:xfrm>
          <a:off x="640080" y="4646520"/>
          <a:ext cx="10908360" cy="1429920"/>
        </p:xfrm>
        <a:graphic>
          <a:graphicData uri="http://schemas.openxmlformats.org/drawingml/2006/table">
            <a:tbl>
              <a:tblPr/>
              <a:tblGrid>
                <a:gridCol w="1828800"/>
                <a:gridCol w="3108960"/>
                <a:gridCol w="1554480"/>
                <a:gridCol w="1737360"/>
                <a:gridCol w="2679120"/>
              </a:tblGrid>
              <a:tr h="329040">
                <a:tc>
                  <a:txBody>
                    <a:bodyPr lIns="73080" rIns="73080" anchor="ctr">
                      <a:noAutofit/>
                    </a:bodyPr>
                    <a:p>
                      <a:pPr>
                        <a:lnSpc>
                          <a:spcPct val="100000"/>
                        </a:lnSpc>
                      </a:pPr>
                      <a:r>
                        <a:rPr lang="en-US" sz="1050" b="1" u="none" spc="45" strike="noStrike">
                          <a:solidFill>
                            <a:srgbClr val="F5A623"/>
                          </a:solidFill>
                          <a:effectLst/>
                          <a:uFillTx/>
                          <a:latin typeface="Inter"/>
                        </a:rPr>
                        <a:t>Attribut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Motif testé</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Conformes</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Non conformes</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Exemple non conforme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29040">
                <a:tc>
                  <a:txBody>
                    <a:bodyPr lIns="73080" rIns="73080" anchor="ctr">
                      <a:noAutofit/>
                    </a:bodyPr>
                    <a:p>
                      <a:pPr>
                        <a:lnSpc>
                          <a:spcPct val="100000"/>
                        </a:lnSpc>
                      </a:pPr>
                      <a:r>
                        <a:rPr lang="en-US" sz="1150" b="1" u="none" strike="noStrike">
                          <a:solidFill>
                            <a:srgbClr val="F7F6F2"/>
                          </a:solidFill>
                          <a:effectLst/>
                          <a:uFillTx/>
                          <a:latin typeface="Inter"/>
                        </a:rPr>
                        <a:t>Code postal</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Code postal à 5 chiffres (RQ-05)</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93981</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1456</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7100 (enlève le 0 devant)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50" b="1" u="none" strike="noStrike">
                          <a:solidFill>
                            <a:srgbClr val="F7F6F2"/>
                          </a:solidFill>
                          <a:effectLst/>
                          <a:uFillTx/>
                          <a:latin typeface="Inter"/>
                        </a:rPr>
                        <a:t>Téléphone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regex r"(?:"r"0[1-9](?:[ .-]?\d{2}){4}" r"|(?:+|00)[1-9]\d{0,2}(?:[ .-]?\d){6,14}"r")")</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89115</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886</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06289748656</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400">
                <a:tc>
                  <a:txBody>
                    <a:bodyPr lIns="73080" rIns="73080" anchor="ctr">
                      <a:noAutofit/>
                    </a:bodyPr>
                    <a:p>
                      <a:pPr>
                        <a:lnSpc>
                          <a:spcPct val="100000"/>
                        </a:lnSpc>
                      </a:pPr>
                      <a:r>
                        <a:rPr lang="en-US" sz="1150" b="1" u="none" strike="noStrike">
                          <a:solidFill>
                            <a:srgbClr val="F7F6F2"/>
                          </a:solidFill>
                          <a:effectLst/>
                          <a:uFillTx/>
                          <a:latin typeface="Inter"/>
                        </a:rPr>
                        <a:t>Pays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N’est pas dans le référentiel</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97950</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3050</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Frnace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354" name="TextBox 34"/>
          <p:cNvSpPr/>
          <p:nvPr/>
        </p:nvSpPr>
        <p:spPr>
          <a:xfrm>
            <a:off x="642960" y="6237360"/>
            <a:ext cx="1090656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0" u="none" strike="noStrike">
                <a:solidFill>
                  <a:srgbClr val="B8C0C8"/>
                </a:solidFill>
                <a:effectLst/>
                <a:uFillTx/>
                <a:latin typeface="Inter"/>
                <a:ea typeface="DejaVu Sans"/>
              </a:rPr>
              <a:t>Preuve (chemin du notebook, du fichier ou de la requête dans le dépôt) : </a:t>
            </a:r>
            <a:r>
              <a:rPr lang="fr-FR" sz="1200" b="1" u="none" strike="noStrike">
                <a:solidFill>
                  <a:srgbClr val="F5A623"/>
                </a:solidFill>
                <a:effectLst/>
                <a:uFillTx/>
                <a:latin typeface="Inter"/>
                <a:ea typeface="DejaVu Sans"/>
              </a:rPr>
              <a:t>notebooks/S1_bronze_profilage.ipynb</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5"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Dictionnaire du CIF : dix colonnes anonymes</a:t>
            </a:r>
            <a:endParaRPr lang="fr-FR" sz="2800" b="0" u="none" strike="noStrike">
              <a:solidFill>
                <a:srgbClr val="FFFFFF"/>
              </a:solidFill>
              <a:effectLst/>
              <a:uFillTx/>
              <a:latin typeface="Arial"/>
            </a:endParaRPr>
          </a:p>
        </p:txBody>
      </p:sp>
      <p:sp>
        <p:nvSpPr>
          <p:cNvPr id="356" name="PlaceHolder 2"/>
          <p:cNvSpPr>
            <a:spLocks noGrp="1"/>
          </p:cNvSpPr>
          <p:nvPr>
            <p:ph type="sldNum" idx="37"/>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FA8BD2B1-7F95-4855-836A-C7261446030B}"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357"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S1 · US-04</a:t>
            </a:r>
            <a:endParaRPr lang="fr-FR" sz="1100" b="0" u="none" strike="noStrike">
              <a:solidFill>
                <a:srgbClr val="FFFFFF"/>
              </a:solidFill>
              <a:effectLst/>
              <a:uFillTx/>
              <a:latin typeface="Arial"/>
            </a:endParaRPr>
          </a:p>
        </p:txBody>
      </p:sp>
      <p:sp>
        <p:nvSpPr>
          <p:cNvPr id="358"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PROFILAGE ET DIAGNOSTIC · 20 %</a:t>
            </a:r>
            <a:endParaRPr lang="fr-FR" sz="1000" b="0" u="none" strike="noStrike">
              <a:solidFill>
                <a:srgbClr val="FFFFFF"/>
              </a:solidFill>
              <a:effectLst/>
              <a:uFillTx/>
              <a:latin typeface="Arial"/>
            </a:endParaRPr>
          </a:p>
        </p:txBody>
      </p:sp>
      <p:sp>
        <p:nvSpPr>
          <p:cNvPr id="359" name="Attendu"/>
          <p:cNvSpPr/>
          <p:nvPr/>
        </p:nvSpPr>
        <p:spPr>
          <a:xfrm>
            <a:off x="640080" y="1325880"/>
            <a:ext cx="10906560" cy="10306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360" name="Attendu barre"/>
          <p:cNvSpPr/>
          <p:nvPr/>
        </p:nvSpPr>
        <p:spPr>
          <a:xfrm>
            <a:off x="640080" y="1325880"/>
            <a:ext cx="80280" cy="10306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361" name="Icône target" descr="Icône target"/>
          <p:cNvPicPr/>
          <p:nvPr/>
        </p:nvPicPr>
        <p:blipFill>
          <a:blip r:embed="rId1"/>
          <a:stretch/>
        </p:blipFill>
        <p:spPr>
          <a:xfrm>
            <a:off x="896040" y="1435680"/>
            <a:ext cx="272160" cy="272160"/>
          </a:xfrm>
          <a:prstGeom prst="rect">
            <a:avLst/>
          </a:prstGeom>
          <a:noFill/>
          <a:ln w="0">
            <a:noFill/>
          </a:ln>
        </p:spPr>
      </p:pic>
      <p:sp>
        <p:nvSpPr>
          <p:cNvPr id="362"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363" name="TextBox 31"/>
          <p:cNvSpPr/>
          <p:nvPr/>
        </p:nvSpPr>
        <p:spPr>
          <a:xfrm>
            <a:off x="914400" y="1783080"/>
            <a:ext cx="10357920" cy="213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Pour </a:t>
            </a:r>
            <a:r>
              <a:rPr lang="fr-FR" sz="1300" b="1" u="none" strike="noStrike">
                <a:solidFill>
                  <a:srgbClr val="F5A623"/>
                </a:solidFill>
                <a:effectLst/>
                <a:uFillTx/>
                <a:latin typeface="Inter"/>
                <a:ea typeface="DejaVu Sans"/>
              </a:rPr>
              <a:t>chacune des dix colonnes</a:t>
            </a:r>
            <a:r>
              <a:rPr lang="fr-FR" sz="1300" b="0" u="none" strike="noStrike">
                <a:solidFill>
                  <a:srgbClr val="F7F6F2"/>
                </a:solidFill>
                <a:effectLst/>
                <a:uFillTx/>
                <a:latin typeface="Inter"/>
                <a:ea typeface="DejaVu Sans"/>
              </a:rPr>
              <a:t> : un nom proposé, un type et une </a:t>
            </a:r>
            <a:r>
              <a:rPr lang="fr-FR" sz="1300" b="1" u="none" strike="noStrike">
                <a:solidFill>
                  <a:srgbClr val="F5A623"/>
                </a:solidFill>
                <a:effectLst/>
                <a:uFillTx/>
                <a:latin typeface="Inter"/>
                <a:ea typeface="DejaVu Sans"/>
              </a:rPr>
              <a:t>justification chiffrée</a:t>
            </a:r>
            <a:r>
              <a:rPr lang="fr-FR" sz="1300" b="0" u="none" strike="noStrike">
                <a:solidFill>
                  <a:srgbClr val="F7F6F2"/>
                </a:solidFill>
                <a:effectLst/>
                <a:uFillTx/>
                <a:latin typeface="Inter"/>
                <a:ea typeface="DejaVu Sans"/>
              </a:rPr>
              <a:t> (comment l'avez-vous déduit ?).</a:t>
            </a:r>
            <a:endParaRPr lang="fr-FR" sz="1300" b="0" u="none" strike="noStrike">
              <a:solidFill>
                <a:srgbClr val="FFFFFF"/>
              </a:solidFill>
              <a:effectLst/>
              <a:uFillTx/>
              <a:latin typeface="Arial"/>
            </a:endParaRPr>
          </a:p>
        </p:txBody>
      </p:sp>
      <p:graphicFrame>
        <p:nvGraphicFramePr>
          <p:cNvPr id="364" name="Table 32"/>
          <p:cNvGraphicFramePr/>
          <p:nvPr/>
        </p:nvGraphicFramePr>
        <p:xfrm>
          <a:off x="640080" y="2495880"/>
          <a:ext cx="10908360" cy="3735000"/>
        </p:xfrm>
        <a:graphic>
          <a:graphicData uri="http://schemas.openxmlformats.org/drawingml/2006/table">
            <a:tbl>
              <a:tblPr/>
              <a:tblGrid>
                <a:gridCol w="1828800"/>
                <a:gridCol w="2194560"/>
                <a:gridCol w="1463040"/>
                <a:gridCol w="5422320"/>
              </a:tblGrid>
              <a:tr h="320040">
                <a:tc>
                  <a:txBody>
                    <a:bodyPr lIns="73080" rIns="73080" anchor="ctr">
                      <a:noAutofit/>
                    </a:bodyPr>
                    <a:p>
                      <a:pPr>
                        <a:lnSpc>
                          <a:spcPct val="100000"/>
                        </a:lnSpc>
                      </a:pPr>
                      <a:r>
                        <a:rPr lang="en-US" sz="1000" b="1" u="none" spc="45" strike="noStrike">
                          <a:solidFill>
                            <a:srgbClr val="F5A623"/>
                          </a:solidFill>
                          <a:effectLst/>
                          <a:uFillTx/>
                          <a:latin typeface="Inter"/>
                        </a:rPr>
                        <a:t>Colonne d'origine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Nom proposé</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Type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Justification chiffrée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20040">
                <a:tc>
                  <a:txBody>
                    <a:bodyPr lIns="73080" rIns="73080" anchor="ctr">
                      <a:noAutofit/>
                    </a:bodyPr>
                    <a:p>
                      <a:pPr>
                        <a:lnSpc>
                          <a:spcPct val="100000"/>
                        </a:lnSpc>
                      </a:pPr>
                      <a:r>
                        <a:rPr lang="en-US" sz="1100" b="0" u="none" strike="noStrike">
                          <a:solidFill>
                            <a:srgbClr val="F5A623"/>
                          </a:solidFill>
                          <a:effectLst/>
                          <a:uFillTx/>
                          <a:latin typeface="Inter"/>
                        </a:rPr>
                        <a:t>Column0</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IdClient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String</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Chaque ligne (40000) est disticte et semble aléatoire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0" u="none" strike="noStrike">
                          <a:solidFill>
                            <a:srgbClr val="F5A623"/>
                          </a:solidFill>
                          <a:effectLst/>
                          <a:uFillTx/>
                          <a:latin typeface="Inter"/>
                        </a:rPr>
                        <a:t>Column1</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NomClient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String</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Des chaines courtes (3-31), peu distinctes (731), et semblable à des noms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0" u="none" strike="noStrike">
                          <a:solidFill>
                            <a:srgbClr val="F5A623"/>
                          </a:solidFill>
                          <a:effectLst/>
                          <a:uFillTx/>
                          <a:latin typeface="Inter"/>
                        </a:rPr>
                        <a:t>Column2</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PrénomClient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String</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Des chaines courtes (3-10), peu distinctes (180), et semblable à des prénoms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0" u="none" strike="noStrike">
                          <a:solidFill>
                            <a:srgbClr val="F5A623"/>
                          </a:solidFill>
                          <a:effectLst/>
                          <a:uFillTx/>
                          <a:latin typeface="Inter"/>
                        </a:rPr>
                        <a:t>Column3</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DateDeNaissance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Date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Uniquement des chaine de 10 caractères dans le format XX/XX/XXXX</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0" u="none" strike="noStrike">
                          <a:solidFill>
                            <a:srgbClr val="F5A623"/>
                          </a:solidFill>
                          <a:effectLst/>
                          <a:uFillTx/>
                          <a:latin typeface="Inter"/>
                        </a:rPr>
                        <a:t>Column4</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Adresse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String</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Les exemples représente des adresses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0" u="none" strike="noStrike">
                          <a:solidFill>
                            <a:srgbClr val="F5A623"/>
                          </a:solidFill>
                          <a:effectLst/>
                          <a:uFillTx/>
                          <a:latin typeface="Inter"/>
                        </a:rPr>
                        <a:t>Column5</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CodePostal</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String</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Uniquement des chaine de 5 chiffres dans le format XXXXX</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0" u="none" strike="noStrike">
                          <a:solidFill>
                            <a:srgbClr val="F5A623"/>
                          </a:solidFill>
                          <a:effectLst/>
                          <a:uFillTx/>
                          <a:latin typeface="Inter"/>
                        </a:rPr>
                        <a:t>Column6</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Ville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String</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Peu de distincte (172) et des noms de villes dans les exemples (Nice)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0" u="none" strike="noStrike">
                          <a:solidFill>
                            <a:srgbClr val="F5A623"/>
                          </a:solidFill>
                          <a:effectLst/>
                          <a:uFillTx/>
                          <a:latin typeface="Inter"/>
                        </a:rPr>
                        <a:t>Column7</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CodePays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String</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Peu de distincte (9), et des exemples de ressemblant à des abréviations de pays. Longueurs min et max de 2 (FR)</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0" u="none" strike="noStrike">
                          <a:solidFill>
                            <a:srgbClr val="F5A623"/>
                          </a:solidFill>
                          <a:effectLst/>
                          <a:uFillTx/>
                          <a:latin typeface="Inter"/>
                        </a:rPr>
                        <a:t>Column8</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NuméroTélephone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String</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Colonne entierement distincte sans les nulls, qui est tout le temps dans le format XXXXXXXXXX</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0" u="none" strike="noStrike">
                          <a:solidFill>
                            <a:srgbClr val="F5A623"/>
                          </a:solidFill>
                          <a:effectLst/>
                          <a:uFillTx/>
                          <a:latin typeface="Inter"/>
                        </a:rPr>
                        <a:t>Column9</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Mail</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String</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Colonne entierement distincte sans les nulls, et exemples possédants des @</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5"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Trois directions, trois définitions du « client actif »</a:t>
            </a:r>
            <a:endParaRPr lang="fr-FR" sz="2800" b="0" u="none" strike="noStrike">
              <a:solidFill>
                <a:srgbClr val="FFFFFF"/>
              </a:solidFill>
              <a:effectLst/>
              <a:uFillTx/>
              <a:latin typeface="Arial"/>
            </a:endParaRPr>
          </a:p>
        </p:txBody>
      </p:sp>
      <p:sp>
        <p:nvSpPr>
          <p:cNvPr id="366" name="PlaceHolder 2"/>
          <p:cNvSpPr>
            <a:spLocks noGrp="1"/>
          </p:cNvSpPr>
          <p:nvPr>
            <p:ph type="sldNum" idx="38"/>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AB407E01-A2FD-456F-8834-848EEAAB59C8}"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367"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S1 · US-09</a:t>
            </a:r>
            <a:endParaRPr lang="fr-FR" sz="1100" b="0" u="none" strike="noStrike">
              <a:solidFill>
                <a:srgbClr val="FFFFFF"/>
              </a:solidFill>
              <a:effectLst/>
              <a:uFillTx/>
              <a:latin typeface="Arial"/>
            </a:endParaRPr>
          </a:p>
        </p:txBody>
      </p:sp>
      <p:sp>
        <p:nvSpPr>
          <p:cNvPr id="368"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PROFILAGE ET DIAGNOSTIC · 20 %</a:t>
            </a:r>
            <a:endParaRPr lang="fr-FR" sz="1000" b="0" u="none" strike="noStrike">
              <a:solidFill>
                <a:srgbClr val="FFFFFF"/>
              </a:solidFill>
              <a:effectLst/>
              <a:uFillTx/>
              <a:latin typeface="Arial"/>
            </a:endParaRPr>
          </a:p>
        </p:txBody>
      </p:sp>
      <p:sp>
        <p:nvSpPr>
          <p:cNvPr id="369" name="Attendu"/>
          <p:cNvSpPr/>
          <p:nvPr/>
        </p:nvSpPr>
        <p:spPr>
          <a:xfrm>
            <a:off x="640080" y="1325880"/>
            <a:ext cx="10906560" cy="1068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370" name="Attendu barre"/>
          <p:cNvSpPr/>
          <p:nvPr/>
        </p:nvSpPr>
        <p:spPr>
          <a:xfrm>
            <a:off x="640080" y="1325880"/>
            <a:ext cx="80280" cy="1068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371" name="Icône target" descr="Icône target"/>
          <p:cNvPicPr/>
          <p:nvPr/>
        </p:nvPicPr>
        <p:blipFill>
          <a:blip r:embed="rId1"/>
          <a:stretch/>
        </p:blipFill>
        <p:spPr>
          <a:xfrm>
            <a:off x="896040" y="1435680"/>
            <a:ext cx="272160" cy="272160"/>
          </a:xfrm>
          <a:prstGeom prst="rect">
            <a:avLst/>
          </a:prstGeom>
          <a:noFill/>
          <a:ln w="0">
            <a:noFill/>
          </a:ln>
        </p:spPr>
      </p:pic>
      <p:sp>
        <p:nvSpPr>
          <p:cNvPr id="372"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373" name="TextBox 31"/>
          <p:cNvSpPr/>
          <p:nvPr/>
        </p:nvSpPr>
        <p:spPr>
          <a:xfrm>
            <a:off x="914400" y="1783080"/>
            <a:ext cx="10357920" cy="465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 </a:t>
            </a:r>
            <a:r>
              <a:rPr lang="fr-FR" sz="1300" b="1" u="none" strike="noStrike">
                <a:solidFill>
                  <a:srgbClr val="F5A623"/>
                </a:solidFill>
                <a:effectLst/>
                <a:uFillTx/>
                <a:latin typeface="Inter"/>
                <a:ea typeface="DejaVu Sans"/>
              </a:rPr>
              <a:t>nombre de clients actifs</a:t>
            </a:r>
            <a:r>
              <a:rPr lang="fr-FR" sz="1300" b="0" u="none" strike="noStrike">
                <a:solidFill>
                  <a:srgbClr val="F7F6F2"/>
                </a:solidFill>
                <a:effectLst/>
                <a:uFillTx/>
                <a:latin typeface="Inter"/>
                <a:ea typeface="DejaVu Sans"/>
              </a:rPr>
              <a:t> selon chaque direction, avec la définition utilisée.</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t>
            </a:r>
            <a:r>
              <a:rPr lang="fr-FR" sz="1300" b="1" u="none" strike="noStrike">
                <a:solidFill>
                  <a:srgbClr val="F5A623"/>
                </a:solidFill>
                <a:effectLst/>
                <a:uFillTx/>
                <a:latin typeface="Inter"/>
                <a:ea typeface="DejaVu Sans"/>
              </a:rPr>
              <a:t>écart</a:t>
            </a:r>
            <a:r>
              <a:rPr lang="fr-FR" sz="1300" b="0" u="none" strike="noStrike">
                <a:solidFill>
                  <a:srgbClr val="F7F6F2"/>
                </a:solidFill>
                <a:effectLst/>
                <a:uFillTx/>
                <a:latin typeface="Inter"/>
                <a:ea typeface="DejaVu Sans"/>
              </a:rPr>
              <a:t> avec la définition de la fiche </a:t>
            </a:r>
            <a:r>
              <a:rPr lang="fr-FR" sz="1300" b="1" u="none" strike="noStrike">
                <a:solidFill>
                  <a:srgbClr val="F5A623"/>
                </a:solidFill>
                <a:effectLst/>
                <a:uFillTx/>
                <a:latin typeface="Inter"/>
                <a:ea typeface="DejaVu Sans"/>
              </a:rPr>
              <a:t>CD-001</a:t>
            </a:r>
            <a:r>
              <a:rPr lang="fr-FR" sz="1300" b="0" u="none" strike="noStrike">
                <a:solidFill>
                  <a:srgbClr val="F7F6F2"/>
                </a:solidFill>
                <a:effectLst/>
                <a:uFillTx/>
                <a:latin typeface="Inter"/>
                <a:ea typeface="DejaVu Sans"/>
              </a:rPr>
              <a:t>, et la conséquence pour la gouvernance.</a:t>
            </a:r>
            <a:endParaRPr lang="fr-FR" sz="1300" b="0" u="none" strike="noStrike">
              <a:solidFill>
                <a:srgbClr val="FFFFFF"/>
              </a:solidFill>
              <a:effectLst/>
              <a:uFillTx/>
              <a:latin typeface="Arial"/>
            </a:endParaRPr>
          </a:p>
        </p:txBody>
      </p:sp>
      <p:graphicFrame>
        <p:nvGraphicFramePr>
          <p:cNvPr id="374" name="Table 32"/>
          <p:cNvGraphicFramePr/>
          <p:nvPr/>
        </p:nvGraphicFramePr>
        <p:xfrm>
          <a:off x="640080" y="2579760"/>
          <a:ext cx="10908360" cy="1608840"/>
        </p:xfrm>
        <a:graphic>
          <a:graphicData uri="http://schemas.openxmlformats.org/drawingml/2006/table">
            <a:tbl>
              <a:tblPr/>
              <a:tblGrid>
                <a:gridCol w="2011680"/>
                <a:gridCol w="4754880"/>
                <a:gridCol w="2011680"/>
                <a:gridCol w="2130480"/>
              </a:tblGrid>
              <a:tr h="383760">
                <a:tc>
                  <a:txBody>
                    <a:bodyPr lIns="73080" rIns="73080" anchor="ctr">
                      <a:noAutofit/>
                    </a:bodyPr>
                    <a:p>
                      <a:pPr>
                        <a:lnSpc>
                          <a:spcPct val="100000"/>
                        </a:lnSpc>
                      </a:pPr>
                      <a:r>
                        <a:rPr lang="en-US" sz="1100" b="1" u="none" spc="45" strike="noStrike">
                          <a:solidFill>
                            <a:srgbClr val="F5A623"/>
                          </a:solidFill>
                          <a:effectLst/>
                          <a:uFillTx/>
                          <a:latin typeface="Inter"/>
                        </a:rPr>
                        <a:t>Direction</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Définition utilisée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Nombre de clients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Écart avec CD-001</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83760">
                <a:tc>
                  <a:txBody>
                    <a:bodyPr lIns="73080" rIns="73080" anchor="ctr">
                      <a:noAutofit/>
                    </a:bodyPr>
                    <a:p>
                      <a:pPr>
                        <a:lnSpc>
                          <a:spcPct val="100000"/>
                        </a:lnSpc>
                      </a:pPr>
                      <a:r>
                        <a:rPr lang="en-US" sz="1200" b="1" u="none" strike="noStrike">
                          <a:solidFill>
                            <a:srgbClr val="F7F6F2"/>
                          </a:solidFill>
                          <a:effectLst/>
                          <a:uFillTx/>
                          <a:latin typeface="Inter"/>
                        </a:rPr>
                        <a:t>Commerciale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Un client à au moins un contrat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50508</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+12459</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83760">
                <a:tc>
                  <a:txBody>
                    <a:bodyPr lIns="73080" rIns="73080" anchor="ctr">
                      <a:noAutofit/>
                    </a:bodyPr>
                    <a:p>
                      <a:pPr>
                        <a:lnSpc>
                          <a:spcPct val="100000"/>
                        </a:lnSpc>
                      </a:pPr>
                      <a:r>
                        <a:rPr lang="en-US" sz="1200" b="1" u="none" strike="noStrike">
                          <a:solidFill>
                            <a:srgbClr val="F7F6F2"/>
                          </a:solidFill>
                          <a:effectLst/>
                          <a:uFillTx/>
                          <a:latin typeface="Inter"/>
                        </a:rPr>
                        <a:t>Sinistres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Un client à un contract actif par rapport à la date de référence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44116</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+6067</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84480">
                <a:tc>
                  <a:txBody>
                    <a:bodyPr lIns="73080" rIns="73080" anchor="ctr">
                      <a:noAutofit/>
                    </a:bodyPr>
                    <a:p>
                      <a:pPr>
                        <a:lnSpc>
                          <a:spcPct val="100000"/>
                        </a:lnSpc>
                      </a:pPr>
                      <a:r>
                        <a:rPr lang="en-US" sz="1200" b="1" u="none" strike="noStrike">
                          <a:solidFill>
                            <a:srgbClr val="F7F6F2"/>
                          </a:solidFill>
                          <a:effectLst/>
                          <a:uFillTx/>
                          <a:latin typeface="Inter"/>
                        </a:rPr>
                        <a:t>Risques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Un client à un contract actif par rapport à la date de référence et une cotisation sur les trois derniers mois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38049</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375" name="TextBox 33"/>
          <p:cNvSpPr/>
          <p:nvPr/>
        </p:nvSpPr>
        <p:spPr>
          <a:xfrm>
            <a:off x="640080" y="4381560"/>
            <a:ext cx="10906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CONSÉQUENCE POUR LA GOUVERNANCE, EN TROIS PHRASES</a:t>
            </a:r>
            <a:endParaRPr lang="fr-FR" sz="1100" b="0" u="none" strike="noStrike">
              <a:solidFill>
                <a:srgbClr val="FFFFFF"/>
              </a:solidFill>
              <a:effectLst/>
              <a:uFillTx/>
              <a:latin typeface="Arial"/>
            </a:endParaRPr>
          </a:p>
        </p:txBody>
      </p:sp>
      <p:sp>
        <p:nvSpPr>
          <p:cNvPr id="376" name="Zone à rédiger"/>
          <p:cNvSpPr/>
          <p:nvPr/>
        </p:nvSpPr>
        <p:spPr>
          <a:xfrm>
            <a:off x="640080" y="4637160"/>
            <a:ext cx="10906560" cy="14871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Cela empêche la direction d'avoir une vision unifiée du chiffre d'affaires potentiel et de piloter les activités. De plus, cela impose de créer d'urgence un dictionnaire de données  définissant un socle commun tout en documentant ces différentes spécificitées.</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7"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Bilan de S1 : critères de fin et difficultés</a:t>
            </a:r>
            <a:endParaRPr lang="fr-FR" sz="2800" b="0" u="none" strike="noStrike">
              <a:solidFill>
                <a:srgbClr val="FFFFFF"/>
              </a:solidFill>
              <a:effectLst/>
              <a:uFillTx/>
              <a:latin typeface="Arial"/>
            </a:endParaRPr>
          </a:p>
        </p:txBody>
      </p:sp>
      <p:sp>
        <p:nvSpPr>
          <p:cNvPr id="378" name="PlaceHolder 2"/>
          <p:cNvSpPr>
            <a:spLocks noGrp="1"/>
          </p:cNvSpPr>
          <p:nvPr>
            <p:ph type="sldNum" idx="39"/>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877D1AD3-942C-4333-914D-0DEE9B09178B}"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379"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S1 · BILAN</a:t>
            </a:r>
            <a:endParaRPr lang="fr-FR" sz="1100" b="0" u="none" strike="noStrike">
              <a:solidFill>
                <a:srgbClr val="FFFFFF"/>
              </a:solidFill>
              <a:effectLst/>
              <a:uFillTx/>
              <a:latin typeface="Arial"/>
            </a:endParaRPr>
          </a:p>
        </p:txBody>
      </p:sp>
      <p:sp>
        <p:nvSpPr>
          <p:cNvPr id="380"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PROFILAGE ET DIAGNOSTIC · 20 %</a:t>
            </a:r>
            <a:endParaRPr lang="fr-FR" sz="1000" b="0" u="none" strike="noStrike">
              <a:solidFill>
                <a:srgbClr val="FFFFFF"/>
              </a:solidFill>
              <a:effectLst/>
              <a:uFillTx/>
              <a:latin typeface="Arial"/>
            </a:endParaRPr>
          </a:p>
        </p:txBody>
      </p:sp>
      <p:sp>
        <p:nvSpPr>
          <p:cNvPr id="381" name="Attendu"/>
          <p:cNvSpPr/>
          <p:nvPr/>
        </p:nvSpPr>
        <p:spPr>
          <a:xfrm>
            <a:off x="640080" y="1325880"/>
            <a:ext cx="10906560" cy="1068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382" name="Attendu barre"/>
          <p:cNvSpPr/>
          <p:nvPr/>
        </p:nvSpPr>
        <p:spPr>
          <a:xfrm>
            <a:off x="640080" y="1325880"/>
            <a:ext cx="80280" cy="1068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383" name="Icône target" descr="Icône target"/>
          <p:cNvPicPr/>
          <p:nvPr/>
        </p:nvPicPr>
        <p:blipFill>
          <a:blip r:embed="rId1"/>
          <a:stretch/>
        </p:blipFill>
        <p:spPr>
          <a:xfrm>
            <a:off x="896040" y="1435680"/>
            <a:ext cx="272160" cy="272160"/>
          </a:xfrm>
          <a:prstGeom prst="rect">
            <a:avLst/>
          </a:prstGeom>
          <a:noFill/>
          <a:ln w="0">
            <a:noFill/>
          </a:ln>
        </p:spPr>
      </p:pic>
      <p:sp>
        <p:nvSpPr>
          <p:cNvPr id="384"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385" name="TextBox 31"/>
          <p:cNvSpPr/>
          <p:nvPr/>
        </p:nvSpPr>
        <p:spPr>
          <a:xfrm>
            <a:off x="914400" y="1783080"/>
            <a:ext cx="10357920" cy="465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Chaque critère coché est </a:t>
            </a:r>
            <a:r>
              <a:rPr lang="fr-FR" sz="1300" b="1" u="none" strike="noStrike">
                <a:solidFill>
                  <a:srgbClr val="F5A623"/>
                </a:solidFill>
                <a:effectLst/>
                <a:uFillTx/>
                <a:latin typeface="Inter"/>
                <a:ea typeface="DejaVu Sans"/>
              </a:rPr>
              <a:t>démontré</a:t>
            </a:r>
            <a:r>
              <a:rPr lang="fr-FR" sz="1300" b="0" u="none" strike="noStrike">
                <a:solidFill>
                  <a:srgbClr val="F7F6F2"/>
                </a:solidFill>
                <a:effectLst/>
                <a:uFillTx/>
                <a:latin typeface="Inter"/>
                <a:ea typeface="DejaVu Sans"/>
              </a:rPr>
              <a:t> par une page de ce livrable ou par un fichier du dépôt.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difficultés sont </a:t>
            </a:r>
            <a:r>
              <a:rPr lang="fr-FR" sz="1300" b="1" u="none" strike="noStrike">
                <a:solidFill>
                  <a:srgbClr val="F5A623"/>
                </a:solidFill>
                <a:effectLst/>
                <a:uFillTx/>
                <a:latin typeface="Inter"/>
                <a:ea typeface="DejaVu Sans"/>
              </a:rPr>
              <a:t>chiffrées en temps perdu</a:t>
            </a:r>
            <a:r>
              <a:rPr lang="fr-FR" sz="1300" b="0" u="none" strike="noStrike">
                <a:solidFill>
                  <a:srgbClr val="F7F6F2"/>
                </a:solidFill>
                <a:effectLst/>
                <a:uFillTx/>
                <a:latin typeface="Inter"/>
                <a:ea typeface="DejaVu Sans"/>
              </a:rPr>
              <a:t> ; un point de reprise utilisé est </a:t>
            </a:r>
            <a:r>
              <a:rPr lang="fr-FR" sz="1300" b="1" u="none" strike="noStrike">
                <a:solidFill>
                  <a:srgbClr val="F5A623"/>
                </a:solidFill>
                <a:effectLst/>
                <a:uFillTx/>
                <a:latin typeface="Inter"/>
                <a:ea typeface="DejaVu Sans"/>
              </a:rPr>
              <a:t>déclaré</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p:txBody>
      </p:sp>
      <p:sp>
        <p:nvSpPr>
          <p:cNvPr id="386" name="Rectangle 32"/>
          <p:cNvSpPr/>
          <p:nvPr/>
        </p:nvSpPr>
        <p:spPr>
          <a:xfrm>
            <a:off x="640080" y="2579760"/>
            <a:ext cx="5118480" cy="354456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pic>
        <p:nvPicPr>
          <p:cNvPr id="387" name="Icône ok" descr="Icône ok"/>
          <p:cNvPicPr/>
          <p:nvPr/>
        </p:nvPicPr>
        <p:blipFill>
          <a:blip r:embed="rId2"/>
          <a:stretch/>
        </p:blipFill>
        <p:spPr>
          <a:xfrm>
            <a:off x="868680" y="2735280"/>
            <a:ext cx="308880" cy="308880"/>
          </a:xfrm>
          <a:prstGeom prst="rect">
            <a:avLst/>
          </a:prstGeom>
          <a:noFill/>
          <a:ln w="0">
            <a:noFill/>
          </a:ln>
        </p:spPr>
      </p:pic>
      <p:sp>
        <p:nvSpPr>
          <p:cNvPr id="388" name="TextBox 34"/>
          <p:cNvSpPr/>
          <p:nvPr/>
        </p:nvSpPr>
        <p:spPr>
          <a:xfrm>
            <a:off x="1289160" y="2783160"/>
            <a:ext cx="4569840" cy="21276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300" b="1" u="none" spc="105" strike="noStrike">
                <a:solidFill>
                  <a:srgbClr val="F7F6F2"/>
                </a:solidFill>
                <a:effectLst/>
                <a:uFillTx/>
                <a:latin typeface="Inter"/>
                <a:ea typeface="DejaVu Sans"/>
              </a:rPr>
              <a:t>CRITÈRES DE FIN</a:t>
            </a:r>
            <a:endParaRPr lang="fr-FR" sz="1300" b="0" u="none" strike="noStrike">
              <a:solidFill>
                <a:srgbClr val="FFFFFF"/>
              </a:solidFill>
              <a:effectLst/>
              <a:uFillTx/>
              <a:latin typeface="Arial"/>
            </a:endParaRPr>
          </a:p>
        </p:txBody>
      </p:sp>
      <p:sp>
        <p:nvSpPr>
          <p:cNvPr id="389" name="TextBox 35"/>
          <p:cNvSpPr/>
          <p:nvPr/>
        </p:nvSpPr>
        <p:spPr>
          <a:xfrm>
            <a:off x="868680" y="3219840"/>
            <a:ext cx="4661280" cy="2410560"/>
          </a:xfrm>
          <a:prstGeom prst="rect">
            <a:avLst/>
          </a:prstGeom>
          <a:noFill/>
          <a:ln w="0">
            <a:noFill/>
          </a:ln>
        </p:spPr>
        <p:style>
          <a:lnRef idx="0"/>
          <a:fillRef idx="0"/>
          <a:effectRef idx="0"/>
          <a:fontRef idx="minor"/>
        </p:style>
        <p:txBody>
          <a:bodyPr lIns="0" tIns="0" rIns="0" bIns="0" anchor="t">
            <a:spAutoFit/>
          </a:bodyPr>
          <a:p>
            <a:pPr>
              <a:lnSpc>
                <a:spcPct val="108000"/>
              </a:lnSpc>
              <a:spcAft>
                <a:spcPts val="700"/>
              </a:spcAft>
            </a:pPr>
            <a:r>
              <a:rPr lang="fr-FR" sz="1250" b="0" u="none" strike="noStrike">
                <a:solidFill>
                  <a:srgbClr val="F7F6F2"/>
                </a:solidFill>
                <a:effectLst/>
                <a:uFillTx/>
                <a:latin typeface="Consolas"/>
                <a:ea typeface="DejaVu Sans"/>
              </a:rPr>
              <a:t>[X]</a:t>
            </a:r>
            <a:r>
              <a:rPr lang="fr-FR" sz="1250" b="0" u="none" strike="noStrike">
                <a:solidFill>
                  <a:srgbClr val="F7F6F2"/>
                </a:solidFill>
                <a:effectLst/>
                <a:uFillTx/>
                <a:latin typeface="Inter"/>
                <a:ea typeface="DejaVu Sans"/>
              </a:rPr>
              <a:t> Les sept tables bronze existent et chaque ligne porte ses quatre métadonnées.</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[X]</a:t>
            </a:r>
            <a:r>
              <a:rPr lang="fr-FR" sz="1250" b="0" u="none" strike="noStrike">
                <a:solidFill>
                  <a:srgbClr val="F7F6F2"/>
                </a:solidFill>
                <a:effectLst/>
                <a:uFillTx/>
                <a:latin typeface="Inter"/>
                <a:ea typeface="DejaVu Sans"/>
              </a:rPr>
              <a:t> La porte B ne montre aucun écart de comptage ni de somme de contrôle.</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[X]</a:t>
            </a:r>
            <a:r>
              <a:rPr lang="fr-FR" sz="1250" b="0" u="none" strike="noStrike">
                <a:solidFill>
                  <a:srgbClr val="F7F6F2"/>
                </a:solidFill>
                <a:effectLst/>
                <a:uFillTx/>
                <a:latin typeface="Inter"/>
                <a:ea typeface="DejaVu Sans"/>
              </a:rPr>
              <a:t> Relancer l'ingestion du même lot ne crée aucun doublon.</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[X]</a:t>
            </a:r>
            <a:r>
              <a:rPr lang="fr-FR" sz="1250" b="0" u="none" strike="noStrike">
                <a:solidFill>
                  <a:srgbClr val="F7F6F2"/>
                </a:solidFill>
                <a:effectLst/>
                <a:uFillTx/>
                <a:latin typeface="Inter"/>
                <a:ea typeface="DejaVu Sans"/>
              </a:rPr>
              <a:t> Un écart introduit volontairement fait échouer la porte.</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a:t>
            </a:r>
            <a:r>
              <a:rPr lang="fr-FR" sz="1250" b="0" u="none" strike="noStrike">
                <a:solidFill>
                  <a:srgbClr val="F7F6F2"/>
                </a:solidFill>
                <a:effectLst/>
                <a:uFillTx/>
                <a:latin typeface="Inter"/>
                <a:ea typeface="DejaVu Sans"/>
              </a:rPr>
              <a:t> RQ-021 est écrite dans dq.dq_history (couche BRONZE).</a:t>
            </a:r>
            <a:endParaRPr lang="fr-FR" sz="1250" b="0" u="none" strike="noStrike">
              <a:solidFill>
                <a:srgbClr val="FFFFFF"/>
              </a:solidFill>
              <a:effectLst/>
              <a:uFillTx/>
              <a:latin typeface="Arial"/>
            </a:endParaRPr>
          </a:p>
        </p:txBody>
      </p:sp>
      <p:sp>
        <p:nvSpPr>
          <p:cNvPr id="390" name="TextBox 36"/>
          <p:cNvSpPr/>
          <p:nvPr/>
        </p:nvSpPr>
        <p:spPr>
          <a:xfrm>
            <a:off x="640080" y="5852160"/>
            <a:ext cx="10906560" cy="18000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Remplacez [ ] par [x] une fois le critère démontré.</a:t>
            </a:r>
            <a:endParaRPr lang="fr-FR" sz="1100" b="0" u="none" strike="noStrike">
              <a:solidFill>
                <a:srgbClr val="FFFFFF"/>
              </a:solidFill>
              <a:effectLst/>
              <a:uFillTx/>
              <a:latin typeface="Arial"/>
            </a:endParaRPr>
          </a:p>
        </p:txBody>
      </p:sp>
      <p:sp>
        <p:nvSpPr>
          <p:cNvPr id="391" name="TextBox 37"/>
          <p:cNvSpPr/>
          <p:nvPr/>
        </p:nvSpPr>
        <p:spPr>
          <a:xfrm>
            <a:off x="5943600" y="2616840"/>
            <a:ext cx="560304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DIFFICULTÉS RENCONTRÉES ET TEMPS PERDU</a:t>
            </a:r>
            <a:endParaRPr lang="fr-FR" sz="1100" b="0" u="none" strike="noStrike">
              <a:solidFill>
                <a:srgbClr val="FFFFFF"/>
              </a:solidFill>
              <a:effectLst/>
              <a:uFillTx/>
              <a:latin typeface="Arial"/>
            </a:endParaRPr>
          </a:p>
        </p:txBody>
      </p:sp>
      <p:sp>
        <p:nvSpPr>
          <p:cNvPr id="392" name="Zone à rédiger"/>
          <p:cNvSpPr/>
          <p:nvPr/>
        </p:nvSpPr>
        <p:spPr>
          <a:xfrm>
            <a:off x="5943600" y="2872440"/>
            <a:ext cx="5603040" cy="11682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Lors du S1, nous avons principalement perdue beaucoup de temps, en pensant que nous devions développer nous même les codes pythons. Une fois que nous nous en sommes rendues compte, nous avons pu dérouller le td sans trop de difficulte (à part quelque blocage sur la compréhension des retours demandés).</a:t>
            </a:r>
            <a:endParaRPr lang="fr-FR" sz="1200" b="0" u="none" strike="noStrike">
              <a:solidFill>
                <a:srgbClr val="FFFFFF"/>
              </a:solidFill>
              <a:effectLst/>
              <a:uFillTx/>
              <a:latin typeface="Arial"/>
            </a:endParaRPr>
          </a:p>
        </p:txBody>
      </p:sp>
      <p:sp>
        <p:nvSpPr>
          <p:cNvPr id="393" name="TextBox 39"/>
          <p:cNvSpPr/>
          <p:nvPr/>
        </p:nvSpPr>
        <p:spPr>
          <a:xfrm>
            <a:off x="5943600" y="4217040"/>
            <a:ext cx="560304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POINT DE REPRISE UTILISÉ (OUI / NON, LEQUEL)</a:t>
            </a:r>
            <a:endParaRPr lang="fr-FR" sz="1100" b="0" u="none" strike="noStrike">
              <a:solidFill>
                <a:srgbClr val="FFFFFF"/>
              </a:solidFill>
              <a:effectLst/>
              <a:uFillTx/>
              <a:latin typeface="Arial"/>
            </a:endParaRPr>
          </a:p>
        </p:txBody>
      </p:sp>
      <p:sp>
        <p:nvSpPr>
          <p:cNvPr id="394" name="Zone à rédiger"/>
          <p:cNvSpPr/>
          <p:nvPr/>
        </p:nvSpPr>
        <p:spPr>
          <a:xfrm>
            <a:off x="5943600" y="4472640"/>
            <a:ext cx="5603040" cy="6195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Non</a:t>
            </a:r>
            <a:endParaRPr lang="fr-FR" sz="1200" b="0" u="none" strike="noStrike">
              <a:solidFill>
                <a:srgbClr val="FFFFFF"/>
              </a:solidFill>
              <a:effectLst/>
              <a:uFillTx/>
              <a:latin typeface="Arial"/>
            </a:endParaRPr>
          </a:p>
        </p:txBody>
      </p:sp>
      <p:sp>
        <p:nvSpPr>
          <p:cNvPr id="395" name="TextBox 41"/>
          <p:cNvSpPr/>
          <p:nvPr/>
        </p:nvSpPr>
        <p:spPr>
          <a:xfrm>
            <a:off x="5943600" y="5268600"/>
            <a:ext cx="560304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CE QUE NOUS FERIONS AUTREMENT</a:t>
            </a:r>
            <a:endParaRPr lang="fr-FR" sz="1100" b="0" u="none" strike="noStrike">
              <a:solidFill>
                <a:srgbClr val="FFFFFF"/>
              </a:solidFill>
              <a:effectLst/>
              <a:uFillTx/>
              <a:latin typeface="Arial"/>
            </a:endParaRPr>
          </a:p>
        </p:txBody>
      </p:sp>
      <p:sp>
        <p:nvSpPr>
          <p:cNvPr id="396" name="Zone à rédiger"/>
          <p:cNvSpPr/>
          <p:nvPr/>
        </p:nvSpPr>
        <p:spPr>
          <a:xfrm>
            <a:off x="5943600" y="5524200"/>
            <a:ext cx="5603040" cy="6001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Être plus vigilant sur l’ensemble des documents mis à disposition pour avancer sur le TD.</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7" name="PlaceHolder 1"/>
          <p:cNvSpPr>
            <a:spLocks noGrp="1"/>
          </p:cNvSpPr>
          <p:nvPr>
            <p:ph/>
          </p:nvPr>
        </p:nvSpPr>
        <p:spPr>
          <a:xfrm>
            <a:off x="640080" y="2011680"/>
            <a:ext cx="2741040" cy="1186560"/>
          </a:xfrm>
          <a:prstGeom prst="rect">
            <a:avLst/>
          </a:prstGeom>
          <a:noFill/>
          <a:ln w="0">
            <a:noFill/>
          </a:ln>
        </p:spPr>
        <p:txBody>
          <a:bodyPr lIns="90000" tIns="45000" rIns="90000" bIns="45000" anchor="t">
            <a:noAutofit/>
          </a:bodyPr>
          <a:p>
            <a:pPr indent="0" algn="l">
              <a:lnSpc>
                <a:spcPct val="100000"/>
              </a:lnSpc>
              <a:spcBef>
                <a:spcPts val="1440"/>
              </a:spcBef>
              <a:buNone/>
              <a:tabLst>
                <a:tab pos="0" algn="l"/>
              </a:tabLst>
            </a:pPr>
            <a:r>
              <a:rPr lang="en-US" sz="7200" b="0" u="none" strike="noStrike">
                <a:solidFill>
                  <a:srgbClr val="F5A623"/>
                </a:solidFill>
                <a:effectLst/>
                <a:uFillTx/>
                <a:latin typeface="Fraunces SemiBold"/>
                <a:ea typeface="Fraunces SemiBold"/>
              </a:rPr>
              <a:t>02</a:t>
            </a:r>
            <a:endParaRPr lang="fr-FR" sz="7200" b="0" u="none" strike="noStrike">
              <a:solidFill>
                <a:srgbClr val="FFFFFF"/>
              </a:solidFill>
              <a:effectLst/>
              <a:uFillTx/>
              <a:latin typeface="Arial"/>
            </a:endParaRPr>
          </a:p>
        </p:txBody>
      </p:sp>
      <p:sp>
        <p:nvSpPr>
          <p:cNvPr id="398" name="PlaceHolder 2"/>
          <p:cNvSpPr>
            <a:spLocks noGrp="1"/>
          </p:cNvSpPr>
          <p:nvPr>
            <p:ph type="title"/>
          </p:nvPr>
        </p:nvSpPr>
        <p:spPr>
          <a:xfrm>
            <a:off x="640080" y="3200400"/>
            <a:ext cx="6581520" cy="1643760"/>
          </a:xfrm>
          <a:prstGeom prst="rect">
            <a:avLst/>
          </a:prstGeom>
          <a:noFill/>
          <a:ln w="0">
            <a:noFill/>
          </a:ln>
        </p:spPr>
        <p:txBody>
          <a:bodyPr lIns="90000" tIns="45000" rIns="90000" bIns="45000" anchor="t">
            <a:noAutofit/>
          </a:bodyPr>
          <a:p>
            <a:pPr indent="0" algn="l">
              <a:lnSpc>
                <a:spcPct val="100000"/>
              </a:lnSpc>
              <a:buNone/>
              <a:tabLst>
                <a:tab pos="0" algn="l"/>
              </a:tabLst>
            </a:pPr>
            <a:r>
              <a:rPr lang="en-US" sz="4200" b="0" u="none" strike="noStrike">
                <a:solidFill>
                  <a:srgbClr val="F7F6F2"/>
                </a:solidFill>
                <a:effectLst/>
                <a:uFillTx/>
                <a:latin typeface="Fraunces SemiBold"/>
                <a:ea typeface="Fraunces SemiBold"/>
              </a:rPr>
              <a:t>Règles en tests automatisés</a:t>
            </a:r>
            <a:endParaRPr lang="fr-FR" sz="4200" b="0" u="none" strike="noStrike">
              <a:solidFill>
                <a:srgbClr val="FFFFFF"/>
              </a:solidFill>
              <a:effectLst/>
              <a:uFillTx/>
              <a:latin typeface="Arial"/>
            </a:endParaRPr>
          </a:p>
        </p:txBody>
      </p:sp>
      <p:sp>
        <p:nvSpPr>
          <p:cNvPr id="399" name="PlaceHolder 3"/>
          <p:cNvSpPr>
            <a:spLocks noGrp="1"/>
          </p:cNvSpPr>
          <p:nvPr>
            <p:ph type="sldNum" idx="40"/>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981E14F6-D9EA-4DA0-BCD2-BE92806C816F}"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400" name="TextBox 25"/>
          <p:cNvSpPr/>
          <p:nvPr/>
        </p:nvSpPr>
        <p:spPr>
          <a:xfrm>
            <a:off x="640080" y="4892040"/>
            <a:ext cx="6398640" cy="558720"/>
          </a:xfrm>
          <a:prstGeom prst="rect">
            <a:avLst/>
          </a:prstGeom>
          <a:noFill/>
          <a:ln w="0">
            <a:noFill/>
          </a:ln>
        </p:spPr>
        <p:style>
          <a:lnRef idx="0"/>
          <a:fillRef idx="0"/>
          <a:effectRef idx="0"/>
          <a:fontRef idx="minor"/>
        </p:style>
        <p:txBody>
          <a:bodyPr lIns="0" tIns="0" rIns="0" bIns="0" anchor="t">
            <a:spAutoFit/>
          </a:bodyPr>
          <a:p>
            <a:pPr>
              <a:lnSpc>
                <a:spcPct val="115000"/>
              </a:lnSpc>
              <a:spcAft>
                <a:spcPts val="400"/>
              </a:spcAft>
            </a:pPr>
            <a:r>
              <a:rPr lang="fr-FR" sz="1600" b="0" u="none" strike="noStrike">
                <a:solidFill>
                  <a:srgbClr val="B8C0C8"/>
                </a:solidFill>
                <a:effectLst/>
                <a:uFillTx/>
                <a:latin typeface="Inter"/>
                <a:ea typeface="DejaVu Sans"/>
              </a:rPr>
              <a:t>Séance 2 · Great Expectations · US-10, 11, 13, 15. Une règle métier devient un test nommé par son identifiant RQ.</a:t>
            </a:r>
            <a:endParaRPr lang="fr-FR" sz="16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1"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Règles en tests : une expectation par règle</a:t>
            </a:r>
            <a:endParaRPr lang="fr-FR" sz="2800" b="0" u="none" strike="noStrike">
              <a:solidFill>
                <a:srgbClr val="FFFFFF"/>
              </a:solidFill>
              <a:effectLst/>
              <a:uFillTx/>
              <a:latin typeface="Arial"/>
            </a:endParaRPr>
          </a:p>
        </p:txBody>
      </p:sp>
      <p:sp>
        <p:nvSpPr>
          <p:cNvPr id="402" name="PlaceHolder 2"/>
          <p:cNvSpPr>
            <a:spLocks noGrp="1"/>
          </p:cNvSpPr>
          <p:nvPr>
            <p:ph type="sldNum" idx="41"/>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15DD059D-9A41-419E-A1BF-6574BD40C6D4}"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403"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S2 · US-10</a:t>
            </a:r>
            <a:endParaRPr lang="fr-FR" sz="1100" b="0" u="none" strike="noStrike">
              <a:solidFill>
                <a:srgbClr val="FFFFFF"/>
              </a:solidFill>
              <a:effectLst/>
              <a:uFillTx/>
              <a:latin typeface="Arial"/>
            </a:endParaRPr>
          </a:p>
        </p:txBody>
      </p:sp>
      <p:sp>
        <p:nvSpPr>
          <p:cNvPr id="404"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RÈGLES ET TESTS · 20 %</a:t>
            </a:r>
            <a:endParaRPr lang="fr-FR" sz="1000" b="0" u="none" strike="noStrike">
              <a:solidFill>
                <a:srgbClr val="FFFFFF"/>
              </a:solidFill>
              <a:effectLst/>
              <a:uFillTx/>
              <a:latin typeface="Arial"/>
            </a:endParaRPr>
          </a:p>
        </p:txBody>
      </p:sp>
      <p:sp>
        <p:nvSpPr>
          <p:cNvPr id="405" name="Attendu"/>
          <p:cNvSpPr/>
          <p:nvPr/>
        </p:nvSpPr>
        <p:spPr>
          <a:xfrm>
            <a:off x="640080" y="1325880"/>
            <a:ext cx="10906560" cy="12830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406" name="Attendu barre"/>
          <p:cNvSpPr/>
          <p:nvPr/>
        </p:nvSpPr>
        <p:spPr>
          <a:xfrm>
            <a:off x="640080" y="1325880"/>
            <a:ext cx="80280" cy="12830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407" name="Icône target" descr="Icône target"/>
          <p:cNvPicPr/>
          <p:nvPr/>
        </p:nvPicPr>
        <p:blipFill>
          <a:blip r:embed="rId1"/>
          <a:stretch/>
        </p:blipFill>
        <p:spPr>
          <a:xfrm>
            <a:off x="896040" y="1435680"/>
            <a:ext cx="272160" cy="272160"/>
          </a:xfrm>
          <a:prstGeom prst="rect">
            <a:avLst/>
          </a:prstGeom>
          <a:noFill/>
          <a:ln w="0">
            <a:noFill/>
          </a:ln>
        </p:spPr>
      </p:pic>
      <p:sp>
        <p:nvSpPr>
          <p:cNvPr id="408"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409" name="TextBox 31"/>
          <p:cNvSpPr/>
          <p:nvPr/>
        </p:nvSpPr>
        <p:spPr>
          <a:xfrm>
            <a:off x="914400" y="1783080"/>
            <a:ext cx="10357920" cy="6789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Pour </a:t>
            </a:r>
            <a:r>
              <a:rPr lang="fr-FR" sz="1300" b="1" u="none" strike="noStrike">
                <a:solidFill>
                  <a:srgbClr val="F5A623"/>
                </a:solidFill>
                <a:effectLst/>
                <a:uFillTx/>
                <a:latin typeface="Inter"/>
                <a:ea typeface="DejaVu Sans"/>
              </a:rPr>
              <a:t>RQ-001, 002, 003, 005, 009, 010 et 020</a:t>
            </a:r>
            <a:r>
              <a:rPr lang="fr-FR" sz="1300" b="0" u="none" strike="noStrike">
                <a:solidFill>
                  <a:srgbClr val="F7F6F2"/>
                </a:solidFill>
                <a:effectLst/>
                <a:uFillTx/>
                <a:latin typeface="Inter"/>
                <a:ea typeface="DejaVu Sans"/>
              </a:rPr>
              <a:t> : l'expectation porte son </a:t>
            </a:r>
            <a:r>
              <a:rPr lang="fr-FR" sz="1300" b="1" u="none" strike="noStrike">
                <a:solidFill>
                  <a:srgbClr val="F5A623"/>
                </a:solidFill>
                <a:effectLst/>
                <a:uFillTx/>
                <a:latin typeface="Inter"/>
                <a:ea typeface="DejaVu Sans"/>
              </a:rPr>
              <a:t>rule_id</a:t>
            </a:r>
            <a:r>
              <a:rPr lang="fr-FR" sz="1300" b="0" u="none" strike="noStrike">
                <a:solidFill>
                  <a:srgbClr val="F7F6F2"/>
                </a:solidFill>
                <a:effectLst/>
                <a:uFillTx/>
                <a:latin typeface="Inter"/>
                <a:ea typeface="DejaVu Sans"/>
              </a:rPr>
              <a:t>, avec lignes testées, échecs, taux et sévérité.</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base et la table visées sont des </a:t>
            </a:r>
            <a:r>
              <a:rPr lang="fr-FR" sz="1300" b="1" u="none" strike="noStrike">
                <a:solidFill>
                  <a:srgbClr val="F5A623"/>
                </a:solidFill>
                <a:effectLst/>
                <a:uFillTx/>
                <a:latin typeface="Inter"/>
                <a:ea typeface="DejaVu Sans"/>
              </a:rPr>
              <a:t>paramètres</a:t>
            </a:r>
            <a:r>
              <a:rPr lang="fr-FR" sz="1300" b="0" u="none" strike="noStrike">
                <a:solidFill>
                  <a:srgbClr val="F7F6F2"/>
                </a:solidFill>
                <a:effectLst/>
                <a:uFillTx/>
                <a:latin typeface="Inter"/>
                <a:ea typeface="DejaVu Sans"/>
              </a:rPr>
              <a:t> : la suite se relance sur silver sans modification.</a:t>
            </a:r>
            <a:endParaRPr lang="fr-FR" sz="1300" b="0" u="none" strike="noStrike">
              <a:solidFill>
                <a:srgbClr val="FFFFFF"/>
              </a:solidFill>
              <a:effectLst/>
              <a:uFillTx/>
              <a:latin typeface="Arial"/>
            </a:endParaRPr>
          </a:p>
        </p:txBody>
      </p:sp>
      <p:graphicFrame>
        <p:nvGraphicFramePr>
          <p:cNvPr id="410" name="Table 32"/>
          <p:cNvGraphicFramePr/>
          <p:nvPr/>
        </p:nvGraphicFramePr>
        <p:xfrm>
          <a:off x="640080" y="2793960"/>
          <a:ext cx="10908360" cy="2926080"/>
        </p:xfrm>
        <a:graphic>
          <a:graphicData uri="http://schemas.openxmlformats.org/drawingml/2006/table">
            <a:tbl>
              <a:tblPr/>
              <a:tblGrid>
                <a:gridCol w="1005840"/>
                <a:gridCol w="2011680"/>
                <a:gridCol w="2926080"/>
                <a:gridCol w="1097280"/>
                <a:gridCol w="1188720"/>
                <a:gridCol w="1188720"/>
                <a:gridCol w="1490400"/>
              </a:tblGrid>
              <a:tr h="365760">
                <a:tc>
                  <a:txBody>
                    <a:bodyPr lIns="73080" rIns="73080" anchor="ctr">
                      <a:noAutofit/>
                    </a:bodyPr>
                    <a:p>
                      <a:pPr>
                        <a:lnSpc>
                          <a:spcPct val="100000"/>
                        </a:lnSpc>
                      </a:pPr>
                      <a:r>
                        <a:rPr lang="en-US" sz="1100" b="1" u="none" spc="45" strike="noStrike">
                          <a:solidFill>
                            <a:srgbClr val="F5A623"/>
                          </a:solidFill>
                          <a:effectLst/>
                          <a:uFillTx/>
                          <a:latin typeface="Inter"/>
                        </a:rPr>
                        <a:t>Règle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Table bronze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Expectation (type)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Testées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En échec</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Taux</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Sévérité</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RQ-001</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Crm_contrat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Coherence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100 000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800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99,2%</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Bloquante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RQ-002</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Crm_contrat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Validite metier</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100 000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301</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99,7%</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Bloquante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RQ-003</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Crm_Client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Completude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49 898</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5989</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88%</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Avertissement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RQ-005</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Crm_Client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Validite format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95 137</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1546</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98,4%</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Avertissement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RQ-009</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Crm_Client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Validite domaine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100 000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200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99,8%</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Bloquante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RQ-010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Crm_contrat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Validite domaine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100 000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600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99,4%</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Bloquante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RQ-020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Toutes les tables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Unicite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340 000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Bloquante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411" name="TextBox 33"/>
          <p:cNvSpPr/>
          <p:nvPr/>
        </p:nvSpPr>
        <p:spPr>
          <a:xfrm>
            <a:off x="640080" y="5811480"/>
            <a:ext cx="10906560" cy="18000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Sévérité : bloquante ou avertissement. Chemin des suites de validation : voir le dépôt, reports/ge/gx/expectations.</a:t>
            </a:r>
            <a:endParaRPr lang="fr-FR"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2"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Pièges rencontrés et lignes en échec</a:t>
            </a:r>
            <a:endParaRPr lang="fr-FR" sz="2800" b="0" u="none" strike="noStrike">
              <a:solidFill>
                <a:srgbClr val="FFFFFF"/>
              </a:solidFill>
              <a:effectLst/>
              <a:uFillTx/>
              <a:latin typeface="Arial"/>
            </a:endParaRPr>
          </a:p>
        </p:txBody>
      </p:sp>
      <p:sp>
        <p:nvSpPr>
          <p:cNvPr id="413" name="PlaceHolder 2"/>
          <p:cNvSpPr>
            <a:spLocks noGrp="1"/>
          </p:cNvSpPr>
          <p:nvPr>
            <p:ph type="sldNum" idx="42"/>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E7781AD6-3403-4223-98C1-44E08D192130}"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414"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S2 · US-10, 11</a:t>
            </a:r>
            <a:endParaRPr lang="fr-FR" sz="1100" b="0" u="none" strike="noStrike">
              <a:solidFill>
                <a:srgbClr val="FFFFFF"/>
              </a:solidFill>
              <a:effectLst/>
              <a:uFillTx/>
              <a:latin typeface="Arial"/>
            </a:endParaRPr>
          </a:p>
        </p:txBody>
      </p:sp>
      <p:sp>
        <p:nvSpPr>
          <p:cNvPr id="415"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RÈGLES ET TESTS · 20 %</a:t>
            </a:r>
            <a:endParaRPr lang="fr-FR" sz="1000" b="0" u="none" strike="noStrike">
              <a:solidFill>
                <a:srgbClr val="FFFFFF"/>
              </a:solidFill>
              <a:effectLst/>
              <a:uFillTx/>
              <a:latin typeface="Arial"/>
            </a:endParaRPr>
          </a:p>
        </p:txBody>
      </p:sp>
      <p:sp>
        <p:nvSpPr>
          <p:cNvPr id="416" name="Attendu"/>
          <p:cNvSpPr/>
          <p:nvPr/>
        </p:nvSpPr>
        <p:spPr>
          <a:xfrm>
            <a:off x="640080" y="1325880"/>
            <a:ext cx="10906560" cy="12830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417" name="Attendu barre"/>
          <p:cNvSpPr/>
          <p:nvPr/>
        </p:nvSpPr>
        <p:spPr>
          <a:xfrm>
            <a:off x="640080" y="1325880"/>
            <a:ext cx="80280" cy="12830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418" name="Icône target" descr="Icône target"/>
          <p:cNvPicPr/>
          <p:nvPr/>
        </p:nvPicPr>
        <p:blipFill>
          <a:blip r:embed="rId1"/>
          <a:stretch/>
        </p:blipFill>
        <p:spPr>
          <a:xfrm>
            <a:off x="896040" y="1435680"/>
            <a:ext cx="272160" cy="272160"/>
          </a:xfrm>
          <a:prstGeom prst="rect">
            <a:avLst/>
          </a:prstGeom>
          <a:noFill/>
          <a:ln w="0">
            <a:noFill/>
          </a:ln>
        </p:spPr>
      </p:pic>
      <p:sp>
        <p:nvSpPr>
          <p:cNvPr id="419"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420" name="TextBox 31"/>
          <p:cNvSpPr/>
          <p:nvPr/>
        </p:nvSpPr>
        <p:spPr>
          <a:xfrm>
            <a:off x="914400" y="1783080"/>
            <a:ext cx="10357920" cy="465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pièges</a:t>
            </a:r>
            <a:r>
              <a:rPr lang="fr-FR" sz="1300" b="0" u="none" strike="noStrike">
                <a:solidFill>
                  <a:srgbClr val="F7F6F2"/>
                </a:solidFill>
                <a:effectLst/>
                <a:uFillTx/>
                <a:latin typeface="Inter"/>
                <a:ea typeface="DejaVu Sans"/>
              </a:rPr>
              <a:t> (nul, vide, blanc ; adresses étrangères ; comparaisons exactes) avec le chiffre </a:t>
            </a:r>
            <a:r>
              <a:rPr lang="fr-FR" sz="1300" b="1" u="none" strike="noStrike">
                <a:solidFill>
                  <a:srgbClr val="F5A623"/>
                </a:solidFill>
                <a:effectLst/>
                <a:uFillTx/>
                <a:latin typeface="Inter"/>
                <a:ea typeface="DejaVu Sans"/>
              </a:rPr>
              <a:t>avant</a:t>
            </a:r>
            <a:r>
              <a:rPr lang="fr-FR" sz="1300" b="0" u="none" strike="noStrike">
                <a:solidFill>
                  <a:srgbClr val="F7F6F2"/>
                </a:solidFill>
                <a:effectLst/>
                <a:uFillTx/>
                <a:latin typeface="Inter"/>
                <a:ea typeface="DejaVu Sans"/>
              </a:rPr>
              <a:t> et </a:t>
            </a:r>
            <a:r>
              <a:rPr lang="fr-FR" sz="1300" b="1" u="none" strike="noStrike">
                <a:solidFill>
                  <a:srgbClr val="F5A623"/>
                </a:solidFill>
                <a:effectLst/>
                <a:uFillTx/>
                <a:latin typeface="Inter"/>
                <a:ea typeface="DejaVu Sans"/>
              </a:rPr>
              <a:t>après</a:t>
            </a:r>
            <a:r>
              <a:rPr lang="fr-FR" sz="1300" b="0" u="none" strike="noStrike">
                <a:solidFill>
                  <a:srgbClr val="F7F6F2"/>
                </a:solidFill>
                <a:effectLst/>
                <a:uFillTx/>
                <a:latin typeface="Inter"/>
                <a:ea typeface="DejaVu Sans"/>
              </a:rPr>
              <a:t> correction.</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Un </a:t>
            </a:r>
            <a:r>
              <a:rPr lang="fr-FR" sz="1300" b="1" u="none" strike="noStrike">
                <a:solidFill>
                  <a:srgbClr val="F5A623"/>
                </a:solidFill>
                <a:effectLst/>
                <a:uFillTx/>
                <a:latin typeface="Inter"/>
                <a:ea typeface="DejaVu Sans"/>
              </a:rPr>
              <a:t>échantillon commenté de 20 lignes</a:t>
            </a:r>
            <a:r>
              <a:rPr lang="fr-FR" sz="1300" b="0" u="none" strike="noStrike">
                <a:solidFill>
                  <a:srgbClr val="F7F6F2"/>
                </a:solidFill>
                <a:effectLst/>
                <a:uFillTx/>
                <a:latin typeface="Inter"/>
                <a:ea typeface="DejaVu Sans"/>
              </a:rPr>
              <a:t> en échec : famille d'erreur, cause probable, action proposée.</a:t>
            </a:r>
            <a:endParaRPr lang="fr-FR" sz="1300" b="0" u="none" strike="noStrike">
              <a:solidFill>
                <a:srgbClr val="FFFFFF"/>
              </a:solidFill>
              <a:effectLst/>
              <a:uFillTx/>
              <a:latin typeface="Arial"/>
            </a:endParaRPr>
          </a:p>
        </p:txBody>
      </p:sp>
      <p:graphicFrame>
        <p:nvGraphicFramePr>
          <p:cNvPr id="421" name="Table 32"/>
          <p:cNvGraphicFramePr/>
          <p:nvPr/>
        </p:nvGraphicFramePr>
        <p:xfrm>
          <a:off x="640080" y="2748240"/>
          <a:ext cx="10908360" cy="1042200"/>
        </p:xfrm>
        <a:graphic>
          <a:graphicData uri="http://schemas.openxmlformats.org/drawingml/2006/table">
            <a:tbl>
              <a:tblPr/>
              <a:tblGrid>
                <a:gridCol w="1097280"/>
                <a:gridCol w="3840480"/>
                <a:gridCol w="1737360"/>
                <a:gridCol w="1737360"/>
                <a:gridCol w="2496240"/>
              </a:tblGrid>
              <a:tr h="347400">
                <a:tc>
                  <a:txBody>
                    <a:bodyPr lIns="73080" rIns="73080" anchor="ctr">
                      <a:noAutofit/>
                    </a:bodyPr>
                    <a:p>
                      <a:pPr>
                        <a:lnSpc>
                          <a:spcPct val="100000"/>
                        </a:lnSpc>
                      </a:pPr>
                      <a:r>
                        <a:rPr lang="en-US" sz="1050" b="1" u="none" spc="45" strike="noStrike">
                          <a:solidFill>
                            <a:srgbClr val="F5A623"/>
                          </a:solidFill>
                          <a:effectLst/>
                          <a:uFillTx/>
                          <a:latin typeface="Inter"/>
                        </a:rPr>
                        <a:t>Règle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Piège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Avant correction</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Après correction</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Preuve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RQ-005</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Code postale &lt; 5 chiffres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1500</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01500</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graphicFrame>
        <p:nvGraphicFramePr>
          <p:cNvPr id="422" name="Table 33"/>
          <p:cNvGraphicFramePr/>
          <p:nvPr/>
        </p:nvGraphicFramePr>
        <p:xfrm>
          <a:off x="640080" y="3927600"/>
          <a:ext cx="10908360" cy="1389600"/>
        </p:xfrm>
        <a:graphic>
          <a:graphicData uri="http://schemas.openxmlformats.org/drawingml/2006/table">
            <a:tbl>
              <a:tblPr/>
              <a:tblGrid>
                <a:gridCol w="1097280"/>
                <a:gridCol w="2926080"/>
                <a:gridCol w="1463040"/>
                <a:gridCol w="2926080"/>
                <a:gridCol w="2496240"/>
              </a:tblGrid>
              <a:tr h="347400">
                <a:tc>
                  <a:txBody>
                    <a:bodyPr lIns="73080" rIns="73080" anchor="ctr">
                      <a:noAutofit/>
                    </a:bodyPr>
                    <a:p>
                      <a:pPr>
                        <a:lnSpc>
                          <a:spcPct val="100000"/>
                        </a:lnSpc>
                      </a:pPr>
                      <a:r>
                        <a:rPr lang="en-US" sz="1050" b="1" u="none" spc="45" strike="noStrike">
                          <a:solidFill>
                            <a:srgbClr val="F5A623"/>
                          </a:solidFill>
                          <a:effectLst/>
                          <a:uFillTx/>
                          <a:latin typeface="Inter"/>
                        </a:rPr>
                        <a:t>Règle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Famille d'erreur</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Lignes (sur 20)</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Cause probable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Action proposée (à qui ?)</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RQ-009</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Type personne hors domaine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20</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Valeur non normalise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Formalisation, Data Engineer</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RQ-001</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Date de fin identique au debut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20</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Mauvaise saisie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Suppression des infos incoherents,Data Engineer</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RQ-003</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Telephones null vide ou blanc</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20</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Non reinsegne dans le crm</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Completer les informations, Relation Client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423" name="TextBox 34"/>
          <p:cNvSpPr/>
          <p:nvPr/>
        </p:nvSpPr>
        <p:spPr>
          <a:xfrm>
            <a:off x="640080" y="5409000"/>
            <a:ext cx="10906560" cy="18000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Chemins : export complet des lignes en échec ; échantillon commenté de 20 lignes.</a:t>
            </a:r>
            <a:endParaRPr lang="fr-FR"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4"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Âge à la bonne date et mesure de référence sur bronze</a:t>
            </a:r>
            <a:endParaRPr lang="fr-FR" sz="2800" b="0" u="none" strike="noStrike">
              <a:solidFill>
                <a:srgbClr val="FFFFFF"/>
              </a:solidFill>
              <a:effectLst/>
              <a:uFillTx/>
              <a:latin typeface="Arial"/>
            </a:endParaRPr>
          </a:p>
        </p:txBody>
      </p:sp>
      <p:sp>
        <p:nvSpPr>
          <p:cNvPr id="425" name="PlaceHolder 2"/>
          <p:cNvSpPr>
            <a:spLocks noGrp="1"/>
          </p:cNvSpPr>
          <p:nvPr>
            <p:ph type="sldNum" idx="43"/>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6D2F5301-64F6-4C2D-B49D-6F4F93D2F4D1}"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426"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S2 · US-13, 15</a:t>
            </a:r>
            <a:endParaRPr lang="fr-FR" sz="1100" b="0" u="none" strike="noStrike">
              <a:solidFill>
                <a:srgbClr val="FFFFFF"/>
              </a:solidFill>
              <a:effectLst/>
              <a:uFillTx/>
              <a:latin typeface="Arial"/>
            </a:endParaRPr>
          </a:p>
        </p:txBody>
      </p:sp>
      <p:sp>
        <p:nvSpPr>
          <p:cNvPr id="427"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RÈGLES ET TESTS · 20 %</a:t>
            </a:r>
            <a:endParaRPr lang="fr-FR" sz="1000" b="0" u="none" strike="noStrike">
              <a:solidFill>
                <a:srgbClr val="FFFFFF"/>
              </a:solidFill>
              <a:effectLst/>
              <a:uFillTx/>
              <a:latin typeface="Arial"/>
            </a:endParaRPr>
          </a:p>
        </p:txBody>
      </p:sp>
      <p:sp>
        <p:nvSpPr>
          <p:cNvPr id="428" name="Attendu"/>
          <p:cNvSpPr/>
          <p:nvPr/>
        </p:nvSpPr>
        <p:spPr>
          <a:xfrm>
            <a:off x="640080" y="1325880"/>
            <a:ext cx="10906560" cy="1320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429" name="Attendu barre"/>
          <p:cNvSpPr/>
          <p:nvPr/>
        </p:nvSpPr>
        <p:spPr>
          <a:xfrm>
            <a:off x="640080" y="1325880"/>
            <a:ext cx="80280" cy="1320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430" name="Icône target" descr="Icône target"/>
          <p:cNvPicPr/>
          <p:nvPr/>
        </p:nvPicPr>
        <p:blipFill>
          <a:blip r:embed="rId1"/>
          <a:stretch/>
        </p:blipFill>
        <p:spPr>
          <a:xfrm>
            <a:off x="896040" y="1435680"/>
            <a:ext cx="272160" cy="272160"/>
          </a:xfrm>
          <a:prstGeom prst="rect">
            <a:avLst/>
          </a:prstGeom>
          <a:noFill/>
          <a:ln w="0">
            <a:noFill/>
          </a:ln>
        </p:spPr>
      </p:pic>
      <p:sp>
        <p:nvSpPr>
          <p:cNvPr id="431"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432" name="TextBox 31"/>
          <p:cNvSpPr/>
          <p:nvPr/>
        </p:nvSpPr>
        <p:spPr>
          <a:xfrm>
            <a:off x="914400" y="1783080"/>
            <a:ext cx="10357920" cy="7185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1" u="none" strike="noStrike">
                <a:solidFill>
                  <a:srgbClr val="F5A623"/>
                </a:solidFill>
                <a:effectLst/>
                <a:uFillTx/>
                <a:latin typeface="Inter"/>
                <a:ea typeface="DejaVu Sans"/>
              </a:rPr>
              <a:t>RQ-002</a:t>
            </a:r>
            <a:r>
              <a:rPr lang="fr-FR" sz="1300" b="0" u="none" strike="noStrike">
                <a:solidFill>
                  <a:srgbClr val="F7F6F2"/>
                </a:solidFill>
                <a:effectLst/>
                <a:uFillTx/>
                <a:latin typeface="Inter"/>
                <a:ea typeface="DejaVu Sans"/>
              </a:rPr>
              <a:t> documentée avec sa </a:t>
            </a:r>
            <a:r>
              <a:rPr lang="fr-FR" sz="1300" b="1" u="none" strike="noStrike">
                <a:solidFill>
                  <a:srgbClr val="F5A623"/>
                </a:solidFill>
                <a:effectLst/>
                <a:uFillTx/>
                <a:latin typeface="Inter"/>
                <a:ea typeface="DejaVu Sans"/>
              </a:rPr>
              <a:t>date de référence</a:t>
            </a:r>
            <a:r>
              <a:rPr lang="fr-FR" sz="1300" b="0" u="none" strike="noStrike">
                <a:solidFill>
                  <a:srgbClr val="F7F6F2"/>
                </a:solidFill>
                <a:effectLst/>
                <a:uFillTx/>
                <a:latin typeface="Inter"/>
                <a:ea typeface="DejaVu Sans"/>
              </a:rPr>
              <a:t>, et un cas où « à la date du jour » donne un autre résultat.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a:t>
            </a:r>
            <a:r>
              <a:rPr lang="fr-FR" sz="1300" b="1" u="none" strike="noStrike">
                <a:solidFill>
                  <a:srgbClr val="F5A623"/>
                </a:solidFill>
                <a:effectLst/>
                <a:uFillTx/>
                <a:latin typeface="Inter"/>
                <a:ea typeface="DejaVu Sans"/>
              </a:rPr>
              <a:t>mesure de référence</a:t>
            </a:r>
            <a:r>
              <a:rPr lang="fr-FR" sz="1300" b="0" u="none" strike="noStrike">
                <a:solidFill>
                  <a:srgbClr val="F7F6F2"/>
                </a:solidFill>
                <a:effectLst/>
                <a:uFillTx/>
                <a:latin typeface="Inter"/>
                <a:ea typeface="DejaVu Sans"/>
              </a:rPr>
              <a:t> écrite dans dq.dq_history (couche BRONZE), avec la synthèse </a:t>
            </a:r>
            <a:r>
              <a:rPr lang="fr-FR" sz="1300" b="1" u="none" strike="noStrike">
                <a:solidFill>
                  <a:srgbClr val="F5A623"/>
                </a:solidFill>
                <a:effectLst/>
                <a:uFillTx/>
                <a:latin typeface="Inter"/>
                <a:ea typeface="DejaVu Sans"/>
              </a:rPr>
              <a:t>par dimension</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Une </a:t>
            </a:r>
            <a:r>
              <a:rPr lang="fr-FR" sz="1300" b="1" u="none" strike="noStrike">
                <a:solidFill>
                  <a:srgbClr val="F5A623"/>
                </a:solidFill>
                <a:effectLst/>
                <a:uFillTx/>
                <a:latin typeface="Inter"/>
                <a:ea typeface="DejaVu Sans"/>
              </a:rPr>
              <a:t>phrase de synthèse</a:t>
            </a:r>
            <a:r>
              <a:rPr lang="fr-FR" sz="1300" b="0" u="none" strike="noStrike">
                <a:solidFill>
                  <a:srgbClr val="F7F6F2"/>
                </a:solidFill>
                <a:effectLst/>
                <a:uFillTx/>
                <a:latin typeface="Inter"/>
                <a:ea typeface="DejaVu Sans"/>
              </a:rPr>
              <a:t> chiffrée : « voici la qualité de ce qui nous est livré ».</a:t>
            </a:r>
            <a:endParaRPr lang="fr-FR" sz="1300" b="0" u="none" strike="noStrike">
              <a:solidFill>
                <a:srgbClr val="FFFFFF"/>
              </a:solidFill>
              <a:effectLst/>
              <a:uFillTx/>
              <a:latin typeface="Arial"/>
            </a:endParaRPr>
          </a:p>
        </p:txBody>
      </p:sp>
      <p:graphicFrame>
        <p:nvGraphicFramePr>
          <p:cNvPr id="433" name="Table 32"/>
          <p:cNvGraphicFramePr/>
          <p:nvPr/>
        </p:nvGraphicFramePr>
        <p:xfrm>
          <a:off x="640080" y="2786040"/>
          <a:ext cx="10908360" cy="905040"/>
        </p:xfrm>
        <a:graphic>
          <a:graphicData uri="http://schemas.openxmlformats.org/drawingml/2006/table">
            <a:tbl>
              <a:tblPr/>
              <a:tblGrid>
                <a:gridCol w="2743200"/>
                <a:gridCol w="3840480"/>
                <a:gridCol w="1828800"/>
                <a:gridCol w="2496240"/>
              </a:tblGrid>
              <a:tr h="301680">
                <a:tc>
                  <a:txBody>
                    <a:bodyPr lIns="73080" rIns="73080" anchor="ctr">
                      <a:noAutofit/>
                    </a:bodyPr>
                    <a:p>
                      <a:pPr>
                        <a:lnSpc>
                          <a:spcPct val="100000"/>
                        </a:lnSpc>
                      </a:pPr>
                      <a:r>
                        <a:rPr lang="en-US" sz="1000" b="1" u="none" spc="45" strike="noStrike">
                          <a:solidFill>
                            <a:srgbClr val="F5A623"/>
                          </a:solidFill>
                          <a:effectLst/>
                          <a:uFillTx/>
                          <a:latin typeface="Inter"/>
                        </a:rPr>
                        <a:t>Date de référence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Définition de l'âge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Lignes en échec</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Preuve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Date de début du contrat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Age &lt;= 18</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301</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Script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Date du jour</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Age &lt;=18 a la date de reference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157</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Script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graphicFrame>
        <p:nvGraphicFramePr>
          <p:cNvPr id="434" name="Table 33"/>
          <p:cNvGraphicFramePr/>
          <p:nvPr/>
        </p:nvGraphicFramePr>
        <p:xfrm>
          <a:off x="640080" y="3801240"/>
          <a:ext cx="10908360" cy="1508400"/>
        </p:xfrm>
        <a:graphic>
          <a:graphicData uri="http://schemas.openxmlformats.org/drawingml/2006/table">
            <a:tbl>
              <a:tblPr/>
              <a:tblGrid>
                <a:gridCol w="1828800"/>
                <a:gridCol w="2194560"/>
                <a:gridCol w="1554480"/>
                <a:gridCol w="2377440"/>
                <a:gridCol w="2953440"/>
              </a:tblGrid>
              <a:tr h="301680">
                <a:tc>
                  <a:txBody>
                    <a:bodyPr lIns="73080" rIns="73080" anchor="ctr">
                      <a:noAutofit/>
                    </a:bodyPr>
                    <a:p>
                      <a:pPr>
                        <a:lnSpc>
                          <a:spcPct val="100000"/>
                        </a:lnSpc>
                      </a:pPr>
                      <a:r>
                        <a:rPr lang="en-US" sz="1000" b="1" u="none" spc="45" strike="noStrike">
                          <a:solidFill>
                            <a:srgbClr val="F5A623"/>
                          </a:solidFill>
                          <a:effectLst/>
                          <a:uFillTx/>
                          <a:latin typeface="Inter"/>
                        </a:rPr>
                        <a:t>Dimension</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Règles</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Taux moyen</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Règle la plus faible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Constat</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Unicité</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RQ-019/020</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100%</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Aucune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Les clients sont bien unique, les cles aussi</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Complétude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RQ-003/024/021</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88%</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RQ-003</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Manque de numeros de telephone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Validité</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RQ-002 /004/005/007/008/009/010</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99,7%</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RQ-007</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Code pays mal saisi</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Cohérence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RQ-001/018/015/016/017</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99,2%</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RQ-001</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Date de fin mal reinsegne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435" name="TextBox 34"/>
          <p:cNvSpPr/>
          <p:nvPr/>
        </p:nvSpPr>
        <p:spPr>
          <a:xfrm>
            <a:off x="640080" y="5456880"/>
            <a:ext cx="10906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PHRASE DE SYNTHÈSE</a:t>
            </a:r>
            <a:endParaRPr lang="fr-FR" sz="1100" b="0" u="none" strike="noStrike">
              <a:solidFill>
                <a:srgbClr val="FFFFFF"/>
              </a:solidFill>
              <a:effectLst/>
              <a:uFillTx/>
              <a:latin typeface="Arial"/>
            </a:endParaRPr>
          </a:p>
        </p:txBody>
      </p:sp>
      <p:sp>
        <p:nvSpPr>
          <p:cNvPr id="436" name="Zone à rédiger"/>
          <p:cNvSpPr/>
          <p:nvPr/>
        </p:nvSpPr>
        <p:spPr>
          <a:xfrm>
            <a:off x="640080" y="5712120"/>
            <a:ext cx="10906560" cy="4122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marL="182880" indent="-182880">
              <a:lnSpc>
                <a:spcPct val="108000"/>
              </a:lnSpc>
              <a:spcAft>
                <a:spcPts val="300"/>
              </a:spcAft>
              <a:buClr>
                <a:srgbClr val="F5A623"/>
              </a:buClr>
              <a:buFont typeface="Symbol"/>
              <a:buChar char=""/>
            </a:pPr>
            <a:r>
              <a:rPr lang="fr-FR" sz="1100" b="0" u="none" strike="noStrike">
                <a:solidFill>
                  <a:srgbClr val="F7F6F2"/>
                </a:solidFill>
                <a:effectLst/>
                <a:uFillTx/>
                <a:latin typeface="Inter"/>
                <a:ea typeface="DejaVu Sans"/>
              </a:rPr>
              <a:t>Voici la qualité de ce qui nous est livré : La qualite des donnees est proche de 100 % mais il manque une partie des donnees des clients (88 % de taux de completude), un conseil est celui de remplir de maniere complete les fiches clients</a:t>
            </a:r>
            <a:endParaRPr lang="fr-FR"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7"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Bilan de S2 : critères de fin et difficultés</a:t>
            </a:r>
            <a:endParaRPr lang="fr-FR" sz="2800" b="0" u="none" strike="noStrike">
              <a:solidFill>
                <a:srgbClr val="FFFFFF"/>
              </a:solidFill>
              <a:effectLst/>
              <a:uFillTx/>
              <a:latin typeface="Arial"/>
            </a:endParaRPr>
          </a:p>
        </p:txBody>
      </p:sp>
      <p:sp>
        <p:nvSpPr>
          <p:cNvPr id="438" name="PlaceHolder 2"/>
          <p:cNvSpPr>
            <a:spLocks noGrp="1"/>
          </p:cNvSpPr>
          <p:nvPr>
            <p:ph type="sldNum" idx="44"/>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4148771E-EDA2-40A1-A7BE-C9BEFA824EED}"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439"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S2 · BILAN</a:t>
            </a:r>
            <a:endParaRPr lang="fr-FR" sz="1100" b="0" u="none" strike="noStrike">
              <a:solidFill>
                <a:srgbClr val="FFFFFF"/>
              </a:solidFill>
              <a:effectLst/>
              <a:uFillTx/>
              <a:latin typeface="Arial"/>
            </a:endParaRPr>
          </a:p>
        </p:txBody>
      </p:sp>
      <p:sp>
        <p:nvSpPr>
          <p:cNvPr id="440"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RÈGLES ET TESTS · 20 %</a:t>
            </a:r>
            <a:endParaRPr lang="fr-FR" sz="1000" b="0" u="none" strike="noStrike">
              <a:solidFill>
                <a:srgbClr val="FFFFFF"/>
              </a:solidFill>
              <a:effectLst/>
              <a:uFillTx/>
              <a:latin typeface="Arial"/>
            </a:endParaRPr>
          </a:p>
        </p:txBody>
      </p:sp>
      <p:sp>
        <p:nvSpPr>
          <p:cNvPr id="441" name="Attendu"/>
          <p:cNvSpPr/>
          <p:nvPr/>
        </p:nvSpPr>
        <p:spPr>
          <a:xfrm>
            <a:off x="640080" y="1325880"/>
            <a:ext cx="10906560" cy="1068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442" name="Attendu barre"/>
          <p:cNvSpPr/>
          <p:nvPr/>
        </p:nvSpPr>
        <p:spPr>
          <a:xfrm>
            <a:off x="640080" y="1325880"/>
            <a:ext cx="80280" cy="1068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443" name="Icône target" descr="Icône target"/>
          <p:cNvPicPr/>
          <p:nvPr/>
        </p:nvPicPr>
        <p:blipFill>
          <a:blip r:embed="rId1"/>
          <a:stretch/>
        </p:blipFill>
        <p:spPr>
          <a:xfrm>
            <a:off x="896040" y="1435680"/>
            <a:ext cx="272160" cy="272160"/>
          </a:xfrm>
          <a:prstGeom prst="rect">
            <a:avLst/>
          </a:prstGeom>
          <a:noFill/>
          <a:ln w="0">
            <a:noFill/>
          </a:ln>
        </p:spPr>
      </p:pic>
      <p:sp>
        <p:nvSpPr>
          <p:cNvPr id="444"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445" name="TextBox 31"/>
          <p:cNvSpPr/>
          <p:nvPr/>
        </p:nvSpPr>
        <p:spPr>
          <a:xfrm>
            <a:off x="914400" y="1783080"/>
            <a:ext cx="10357920" cy="465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Chaque critère coché est </a:t>
            </a:r>
            <a:r>
              <a:rPr lang="fr-FR" sz="1300" b="1" u="none" strike="noStrike">
                <a:solidFill>
                  <a:srgbClr val="F5A623"/>
                </a:solidFill>
                <a:effectLst/>
                <a:uFillTx/>
                <a:latin typeface="Inter"/>
                <a:ea typeface="DejaVu Sans"/>
              </a:rPr>
              <a:t>démontré</a:t>
            </a:r>
            <a:r>
              <a:rPr lang="fr-FR" sz="1300" b="0" u="none" strike="noStrike">
                <a:solidFill>
                  <a:srgbClr val="F7F6F2"/>
                </a:solidFill>
                <a:effectLst/>
                <a:uFillTx/>
                <a:latin typeface="Inter"/>
                <a:ea typeface="DejaVu Sans"/>
              </a:rPr>
              <a:t> par une page de ce livrable ou par un fichier du dépôt.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difficultés sont </a:t>
            </a:r>
            <a:r>
              <a:rPr lang="fr-FR" sz="1300" b="1" u="none" strike="noStrike">
                <a:solidFill>
                  <a:srgbClr val="F5A623"/>
                </a:solidFill>
                <a:effectLst/>
                <a:uFillTx/>
                <a:latin typeface="Inter"/>
                <a:ea typeface="DejaVu Sans"/>
              </a:rPr>
              <a:t>chiffrées en temps perdu</a:t>
            </a:r>
            <a:r>
              <a:rPr lang="fr-FR" sz="1300" b="0" u="none" strike="noStrike">
                <a:solidFill>
                  <a:srgbClr val="F7F6F2"/>
                </a:solidFill>
                <a:effectLst/>
                <a:uFillTx/>
                <a:latin typeface="Inter"/>
                <a:ea typeface="DejaVu Sans"/>
              </a:rPr>
              <a:t> ; un point de reprise utilisé est </a:t>
            </a:r>
            <a:r>
              <a:rPr lang="fr-FR" sz="1300" b="1" u="none" strike="noStrike">
                <a:solidFill>
                  <a:srgbClr val="F5A623"/>
                </a:solidFill>
                <a:effectLst/>
                <a:uFillTx/>
                <a:latin typeface="Inter"/>
                <a:ea typeface="DejaVu Sans"/>
              </a:rPr>
              <a:t>déclaré</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p:txBody>
      </p:sp>
      <p:sp>
        <p:nvSpPr>
          <p:cNvPr id="446" name="Rectangle 32"/>
          <p:cNvSpPr/>
          <p:nvPr/>
        </p:nvSpPr>
        <p:spPr>
          <a:xfrm>
            <a:off x="640080" y="2579760"/>
            <a:ext cx="5118480" cy="354456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pic>
        <p:nvPicPr>
          <p:cNvPr id="447" name="Icône ok" descr="Icône ok"/>
          <p:cNvPicPr/>
          <p:nvPr/>
        </p:nvPicPr>
        <p:blipFill>
          <a:blip r:embed="rId2"/>
          <a:stretch/>
        </p:blipFill>
        <p:spPr>
          <a:xfrm>
            <a:off x="868680" y="2735280"/>
            <a:ext cx="308880" cy="308880"/>
          </a:xfrm>
          <a:prstGeom prst="rect">
            <a:avLst/>
          </a:prstGeom>
          <a:noFill/>
          <a:ln w="0">
            <a:noFill/>
          </a:ln>
        </p:spPr>
      </p:pic>
      <p:sp>
        <p:nvSpPr>
          <p:cNvPr id="448" name="TextBox 34"/>
          <p:cNvSpPr/>
          <p:nvPr/>
        </p:nvSpPr>
        <p:spPr>
          <a:xfrm>
            <a:off x="1289160" y="2783160"/>
            <a:ext cx="4569840" cy="21276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300" b="1" u="none" spc="105" strike="noStrike">
                <a:solidFill>
                  <a:srgbClr val="F7F6F2"/>
                </a:solidFill>
                <a:effectLst/>
                <a:uFillTx/>
                <a:latin typeface="Inter"/>
                <a:ea typeface="DejaVu Sans"/>
              </a:rPr>
              <a:t>CRITÈRES DE FIN</a:t>
            </a:r>
            <a:endParaRPr lang="fr-FR" sz="1300" b="0" u="none" strike="noStrike">
              <a:solidFill>
                <a:srgbClr val="FFFFFF"/>
              </a:solidFill>
              <a:effectLst/>
              <a:uFillTx/>
              <a:latin typeface="Arial"/>
            </a:endParaRPr>
          </a:p>
        </p:txBody>
      </p:sp>
      <p:sp>
        <p:nvSpPr>
          <p:cNvPr id="449" name="TextBox 35"/>
          <p:cNvSpPr/>
          <p:nvPr/>
        </p:nvSpPr>
        <p:spPr>
          <a:xfrm>
            <a:off x="868680" y="3219840"/>
            <a:ext cx="4661280" cy="1705320"/>
          </a:xfrm>
          <a:prstGeom prst="rect">
            <a:avLst/>
          </a:prstGeom>
          <a:noFill/>
          <a:ln w="0">
            <a:noFill/>
          </a:ln>
        </p:spPr>
        <p:style>
          <a:lnRef idx="0"/>
          <a:fillRef idx="0"/>
          <a:effectRef idx="0"/>
          <a:fontRef idx="minor"/>
        </p:style>
        <p:txBody>
          <a:bodyPr lIns="0" tIns="0" rIns="0" bIns="0" anchor="t">
            <a:spAutoFit/>
          </a:bodyPr>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Chaque expectation porte l'identifiant de sa règle.</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La même suite se relance sur une autre base ou table sans modification de code.</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La mesure de référence est dans dq.dq_history (lot, couche, testées, échecs).</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Les règles s'exécutent d'un seul geste (notebook relançable de bout en bout).</a:t>
            </a:r>
            <a:endParaRPr lang="fr-FR" sz="1250" b="0" u="none" strike="noStrike">
              <a:solidFill>
                <a:srgbClr val="FFFFFF"/>
              </a:solidFill>
              <a:effectLst/>
              <a:uFillTx/>
              <a:latin typeface="Arial"/>
            </a:endParaRPr>
          </a:p>
        </p:txBody>
      </p:sp>
      <p:sp>
        <p:nvSpPr>
          <p:cNvPr id="450" name="TextBox 36"/>
          <p:cNvSpPr/>
          <p:nvPr/>
        </p:nvSpPr>
        <p:spPr>
          <a:xfrm>
            <a:off x="640080" y="5852160"/>
            <a:ext cx="10906560" cy="18000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Remplacez [ ] par [x] une fois le critère démontré.</a:t>
            </a:r>
            <a:endParaRPr lang="fr-FR" sz="1100" b="0" u="none" strike="noStrike">
              <a:solidFill>
                <a:srgbClr val="FFFFFF"/>
              </a:solidFill>
              <a:effectLst/>
              <a:uFillTx/>
              <a:latin typeface="Arial"/>
            </a:endParaRPr>
          </a:p>
        </p:txBody>
      </p:sp>
      <p:sp>
        <p:nvSpPr>
          <p:cNvPr id="451" name="TextBox 37"/>
          <p:cNvSpPr/>
          <p:nvPr/>
        </p:nvSpPr>
        <p:spPr>
          <a:xfrm>
            <a:off x="5943600" y="2616840"/>
            <a:ext cx="560304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DIFFICULTÉS RENCONTRÉES ET TEMPS PERDU</a:t>
            </a:r>
            <a:endParaRPr lang="fr-FR" sz="1100" b="0" u="none" strike="noStrike">
              <a:solidFill>
                <a:srgbClr val="FFFFFF"/>
              </a:solidFill>
              <a:effectLst/>
              <a:uFillTx/>
              <a:latin typeface="Arial"/>
            </a:endParaRPr>
          </a:p>
        </p:txBody>
      </p:sp>
      <p:sp>
        <p:nvSpPr>
          <p:cNvPr id="452" name="Zone à rédiger"/>
          <p:cNvSpPr/>
          <p:nvPr/>
        </p:nvSpPr>
        <p:spPr>
          <a:xfrm>
            <a:off x="5943600" y="2872440"/>
            <a:ext cx="5603040" cy="11682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Lors du S2 il y’a eu une mauvaise comprehension des directives  donnees.</a:t>
            </a:r>
            <a:endParaRPr lang="fr-FR" sz="1200" b="0" u="none" strike="noStrike">
              <a:solidFill>
                <a:srgbClr val="FFFFFF"/>
              </a:solidFill>
              <a:effectLst/>
              <a:uFillTx/>
              <a:latin typeface="Arial"/>
            </a:endParaRPr>
          </a:p>
          <a:p>
            <a:pPr>
              <a:lnSpc>
                <a:spcPct val="100000"/>
              </a:lnSpc>
            </a:pPr>
            <a:r>
              <a:rPr lang="fr-FR" sz="1200" b="0" i="1" u="none" strike="noStrike">
                <a:solidFill>
                  <a:srgbClr val="8E99A4"/>
                </a:solidFill>
                <a:effectLst/>
                <a:uFillTx/>
                <a:latin typeface="Inter"/>
                <a:ea typeface="DejaVu Sans"/>
              </a:rPr>
              <a:t>Avec plusieurs formulaires les informations sont confussionelles et se dispersent. </a:t>
            </a:r>
            <a:endParaRPr lang="fr-FR" sz="1200" b="0" u="none" strike="noStrike">
              <a:solidFill>
                <a:srgbClr val="FFFFFF"/>
              </a:solidFill>
              <a:effectLst/>
              <a:uFillTx/>
              <a:latin typeface="Arial"/>
            </a:endParaRPr>
          </a:p>
        </p:txBody>
      </p:sp>
      <p:sp>
        <p:nvSpPr>
          <p:cNvPr id="453" name="TextBox 39"/>
          <p:cNvSpPr/>
          <p:nvPr/>
        </p:nvSpPr>
        <p:spPr>
          <a:xfrm>
            <a:off x="5943600" y="4217040"/>
            <a:ext cx="560304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POINT DE REPRISE UTILISÉ (OUI / NON, LEQUEL)</a:t>
            </a:r>
            <a:endParaRPr lang="fr-FR" sz="1100" b="0" u="none" strike="noStrike">
              <a:solidFill>
                <a:srgbClr val="FFFFFF"/>
              </a:solidFill>
              <a:effectLst/>
              <a:uFillTx/>
              <a:latin typeface="Arial"/>
            </a:endParaRPr>
          </a:p>
        </p:txBody>
      </p:sp>
      <p:sp>
        <p:nvSpPr>
          <p:cNvPr id="454" name="Zone à rédiger"/>
          <p:cNvSpPr/>
          <p:nvPr/>
        </p:nvSpPr>
        <p:spPr>
          <a:xfrm>
            <a:off x="5943600" y="4472640"/>
            <a:ext cx="5603040" cy="6195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Non</a:t>
            </a:r>
            <a:endParaRPr lang="fr-FR" sz="1200" b="0" u="none" strike="noStrike">
              <a:solidFill>
                <a:srgbClr val="FFFFFF"/>
              </a:solidFill>
              <a:effectLst/>
              <a:uFillTx/>
              <a:latin typeface="Arial"/>
            </a:endParaRPr>
          </a:p>
        </p:txBody>
      </p:sp>
      <p:sp>
        <p:nvSpPr>
          <p:cNvPr id="455" name="TextBox 41"/>
          <p:cNvSpPr/>
          <p:nvPr/>
        </p:nvSpPr>
        <p:spPr>
          <a:xfrm>
            <a:off x="5943600" y="5268600"/>
            <a:ext cx="560304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CE QUE NOUS FERIONS AUTREMENT</a:t>
            </a:r>
            <a:endParaRPr lang="fr-FR" sz="1100" b="0" u="none" strike="noStrike">
              <a:solidFill>
                <a:srgbClr val="FFFFFF"/>
              </a:solidFill>
              <a:effectLst/>
              <a:uFillTx/>
              <a:latin typeface="Arial"/>
            </a:endParaRPr>
          </a:p>
        </p:txBody>
      </p:sp>
      <p:sp>
        <p:nvSpPr>
          <p:cNvPr id="456" name="Zone à rédiger"/>
          <p:cNvSpPr/>
          <p:nvPr/>
        </p:nvSpPr>
        <p:spPr>
          <a:xfrm>
            <a:off x="5943600" y="5524200"/>
            <a:ext cx="5603040" cy="6001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Essayer prendre du temps pour analyser les resultats de maniere individuelle</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7" name="PlaceHolder 1"/>
          <p:cNvSpPr>
            <a:spLocks noGrp="1"/>
          </p:cNvSpPr>
          <p:nvPr>
            <p:ph/>
          </p:nvPr>
        </p:nvSpPr>
        <p:spPr>
          <a:xfrm>
            <a:off x="640080" y="2011680"/>
            <a:ext cx="2741040" cy="1186560"/>
          </a:xfrm>
          <a:prstGeom prst="rect">
            <a:avLst/>
          </a:prstGeom>
          <a:noFill/>
          <a:ln w="0">
            <a:noFill/>
          </a:ln>
        </p:spPr>
        <p:txBody>
          <a:bodyPr lIns="90000" tIns="45000" rIns="90000" bIns="45000" anchor="t">
            <a:noAutofit/>
          </a:bodyPr>
          <a:p>
            <a:pPr indent="0" algn="l">
              <a:lnSpc>
                <a:spcPct val="100000"/>
              </a:lnSpc>
              <a:spcBef>
                <a:spcPts val="1440"/>
              </a:spcBef>
              <a:buNone/>
              <a:tabLst>
                <a:tab pos="0" algn="l"/>
              </a:tabLst>
            </a:pPr>
            <a:r>
              <a:rPr lang="en-US" sz="7200" b="0" u="none" strike="noStrike">
                <a:solidFill>
                  <a:srgbClr val="F5A623"/>
                </a:solidFill>
                <a:effectLst/>
                <a:uFillTx/>
                <a:latin typeface="Fraunces SemiBold"/>
                <a:ea typeface="Fraunces SemiBold"/>
              </a:rPr>
              <a:t>03</a:t>
            </a:r>
            <a:endParaRPr lang="fr-FR" sz="7200" b="0" u="none" strike="noStrike">
              <a:solidFill>
                <a:srgbClr val="FFFFFF"/>
              </a:solidFill>
              <a:effectLst/>
              <a:uFillTx/>
              <a:latin typeface="Arial"/>
            </a:endParaRPr>
          </a:p>
        </p:txBody>
      </p:sp>
      <p:sp>
        <p:nvSpPr>
          <p:cNvPr id="458" name="PlaceHolder 2"/>
          <p:cNvSpPr>
            <a:spLocks noGrp="1"/>
          </p:cNvSpPr>
          <p:nvPr>
            <p:ph type="title"/>
          </p:nvPr>
        </p:nvSpPr>
        <p:spPr>
          <a:xfrm>
            <a:off x="640080" y="3200400"/>
            <a:ext cx="6581520" cy="1643760"/>
          </a:xfrm>
          <a:prstGeom prst="rect">
            <a:avLst/>
          </a:prstGeom>
          <a:noFill/>
          <a:ln w="0">
            <a:noFill/>
          </a:ln>
        </p:spPr>
        <p:txBody>
          <a:bodyPr lIns="90000" tIns="45000" rIns="90000" bIns="45000" anchor="t">
            <a:noAutofit/>
          </a:bodyPr>
          <a:p>
            <a:pPr indent="0" algn="l">
              <a:lnSpc>
                <a:spcPct val="100000"/>
              </a:lnSpc>
              <a:buNone/>
              <a:tabLst>
                <a:tab pos="0" algn="l"/>
              </a:tabLst>
            </a:pPr>
            <a:r>
              <a:rPr lang="en-US" sz="4200" b="0" u="none" strike="noStrike">
                <a:solidFill>
                  <a:srgbClr val="F7F6F2"/>
                </a:solidFill>
                <a:effectLst/>
                <a:uFillTx/>
                <a:latin typeface="Fraunces SemiBold"/>
                <a:ea typeface="Fraunces SemiBold"/>
              </a:rPr>
              <a:t>Intégrité et portes en SodaCL</a:t>
            </a:r>
            <a:endParaRPr lang="fr-FR" sz="4200" b="0" u="none" strike="noStrike">
              <a:solidFill>
                <a:srgbClr val="FFFFFF"/>
              </a:solidFill>
              <a:effectLst/>
              <a:uFillTx/>
              <a:latin typeface="Arial"/>
            </a:endParaRPr>
          </a:p>
        </p:txBody>
      </p:sp>
      <p:sp>
        <p:nvSpPr>
          <p:cNvPr id="459" name="PlaceHolder 3"/>
          <p:cNvSpPr>
            <a:spLocks noGrp="1"/>
          </p:cNvSpPr>
          <p:nvPr>
            <p:ph type="sldNum" idx="45"/>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F53DC1C3-2706-467E-9646-CFD975DE0CD7}"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460" name="TextBox 25"/>
          <p:cNvSpPr/>
          <p:nvPr/>
        </p:nvSpPr>
        <p:spPr>
          <a:xfrm>
            <a:off x="640080" y="4892040"/>
            <a:ext cx="6398640" cy="838440"/>
          </a:xfrm>
          <a:prstGeom prst="rect">
            <a:avLst/>
          </a:prstGeom>
          <a:noFill/>
          <a:ln w="0">
            <a:noFill/>
          </a:ln>
        </p:spPr>
        <p:style>
          <a:lnRef idx="0"/>
          <a:fillRef idx="0"/>
          <a:effectRef idx="0"/>
          <a:fontRef idx="minor"/>
        </p:style>
        <p:txBody>
          <a:bodyPr lIns="0" tIns="0" rIns="0" bIns="0" anchor="t">
            <a:spAutoFit/>
          </a:bodyPr>
          <a:p>
            <a:pPr>
              <a:lnSpc>
                <a:spcPct val="115000"/>
              </a:lnSpc>
              <a:spcAft>
                <a:spcPts val="400"/>
              </a:spcAft>
            </a:pPr>
            <a:r>
              <a:rPr lang="fr-FR" sz="1600" b="0" u="none" strike="noStrike">
                <a:solidFill>
                  <a:srgbClr val="B8C0C8"/>
                </a:solidFill>
                <a:effectLst/>
                <a:uFillTx/>
                <a:latin typeface="Inter"/>
                <a:ea typeface="DejaVu Sans"/>
              </a:rPr>
              <a:t>Séance 3 · Soda Core · US-12, 14, 16 à 20. Mêmes contrôles en SodaCL, code retour qui peut fermer une porte, intégrité entre tables.</a:t>
            </a:r>
            <a:endParaRPr lang="fr-FR" sz="16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1"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Checks Soda : une source de données par couche</a:t>
            </a:r>
            <a:endParaRPr lang="fr-FR" sz="2800" b="0" u="none" strike="noStrike">
              <a:solidFill>
                <a:srgbClr val="FFFFFF"/>
              </a:solidFill>
              <a:effectLst/>
              <a:uFillTx/>
              <a:latin typeface="Arial"/>
            </a:endParaRPr>
          </a:p>
        </p:txBody>
      </p:sp>
      <p:sp>
        <p:nvSpPr>
          <p:cNvPr id="462" name="PlaceHolder 2"/>
          <p:cNvSpPr>
            <a:spLocks noGrp="1"/>
          </p:cNvSpPr>
          <p:nvPr>
            <p:ph type="sldNum" idx="46"/>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292CF36D-5145-4494-BD75-BA00E8094308}"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463"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S3 · US-12</a:t>
            </a:r>
            <a:endParaRPr lang="fr-FR" sz="1100" b="0" u="none" strike="noStrike">
              <a:solidFill>
                <a:srgbClr val="FFFFFF"/>
              </a:solidFill>
              <a:effectLst/>
              <a:uFillTx/>
              <a:latin typeface="Arial"/>
            </a:endParaRPr>
          </a:p>
        </p:txBody>
      </p:sp>
      <p:sp>
        <p:nvSpPr>
          <p:cNvPr id="464"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RÈGLES ET TESTS · 20 %</a:t>
            </a:r>
            <a:endParaRPr lang="fr-FR" sz="1000" b="0" u="none" strike="noStrike">
              <a:solidFill>
                <a:srgbClr val="FFFFFF"/>
              </a:solidFill>
              <a:effectLst/>
              <a:uFillTx/>
              <a:latin typeface="Arial"/>
            </a:endParaRPr>
          </a:p>
        </p:txBody>
      </p:sp>
      <p:sp>
        <p:nvSpPr>
          <p:cNvPr id="465" name="Attendu"/>
          <p:cNvSpPr/>
          <p:nvPr/>
        </p:nvSpPr>
        <p:spPr>
          <a:xfrm>
            <a:off x="640080" y="1325880"/>
            <a:ext cx="10906560" cy="1068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466" name="Attendu barre"/>
          <p:cNvSpPr/>
          <p:nvPr/>
        </p:nvSpPr>
        <p:spPr>
          <a:xfrm>
            <a:off x="640080" y="1325880"/>
            <a:ext cx="80280" cy="1068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467" name="Icône target" descr="Icône target"/>
          <p:cNvPicPr/>
          <p:nvPr/>
        </p:nvPicPr>
        <p:blipFill>
          <a:blip r:embed="rId1"/>
          <a:stretch/>
        </p:blipFill>
        <p:spPr>
          <a:xfrm>
            <a:off x="896040" y="1435680"/>
            <a:ext cx="272160" cy="272160"/>
          </a:xfrm>
          <a:prstGeom prst="rect">
            <a:avLst/>
          </a:prstGeom>
          <a:noFill/>
          <a:ln w="0">
            <a:noFill/>
          </a:ln>
        </p:spPr>
      </p:pic>
      <p:sp>
        <p:nvSpPr>
          <p:cNvPr id="468"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469" name="TextBox 31"/>
          <p:cNvSpPr/>
          <p:nvPr/>
        </p:nvSpPr>
        <p:spPr>
          <a:xfrm>
            <a:off x="914400" y="1783080"/>
            <a:ext cx="10357920" cy="465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Chaque contrôle porte l'identifiant de sa </a:t>
            </a:r>
            <a:r>
              <a:rPr lang="fr-FR" sz="1300" b="1" u="none" strike="noStrike">
                <a:solidFill>
                  <a:srgbClr val="F5A623"/>
                </a:solidFill>
                <a:effectLst/>
                <a:uFillTx/>
                <a:latin typeface="Inter"/>
                <a:ea typeface="DejaVu Sans"/>
              </a:rPr>
              <a:t>règle</a:t>
            </a:r>
            <a:r>
              <a:rPr lang="fr-FR" sz="1300" b="0" u="none" strike="noStrike">
                <a:solidFill>
                  <a:srgbClr val="F7F6F2"/>
                </a:solidFill>
                <a:effectLst/>
                <a:uFillTx/>
                <a:latin typeface="Inter"/>
                <a:ea typeface="DejaVu Sans"/>
              </a:rPr>
              <a:t> et la </a:t>
            </a:r>
            <a:r>
              <a:rPr lang="fr-FR" sz="1300" b="1" u="none" strike="noStrike">
                <a:solidFill>
                  <a:srgbClr val="F5A623"/>
                </a:solidFill>
                <a:effectLst/>
                <a:uFillTx/>
                <a:latin typeface="Inter"/>
                <a:ea typeface="DejaVu Sans"/>
              </a:rPr>
              <a:t>couche</a:t>
            </a:r>
            <a:r>
              <a:rPr lang="fr-FR" sz="1300" b="0" u="none" strike="noStrike">
                <a:solidFill>
                  <a:srgbClr val="F7F6F2"/>
                </a:solidFill>
                <a:effectLst/>
                <a:uFillTx/>
                <a:latin typeface="Inter"/>
                <a:ea typeface="DejaVu Sans"/>
              </a:rPr>
              <a:t> mesurée.</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 </a:t>
            </a:r>
            <a:r>
              <a:rPr lang="fr-FR" sz="1300" b="1" u="none" strike="noStrike">
                <a:solidFill>
                  <a:srgbClr val="F5A623"/>
                </a:solidFill>
                <a:effectLst/>
                <a:uFillTx/>
                <a:latin typeface="Inter"/>
                <a:ea typeface="DejaVu Sans"/>
              </a:rPr>
              <a:t>code retour</a:t>
            </a:r>
            <a:r>
              <a:rPr lang="fr-FR" sz="1300" b="0" u="none" strike="noStrike">
                <a:solidFill>
                  <a:srgbClr val="F7F6F2"/>
                </a:solidFill>
                <a:effectLst/>
                <a:uFillTx/>
                <a:latin typeface="Inter"/>
                <a:ea typeface="DejaVu Sans"/>
              </a:rPr>
              <a:t> du scan : à quelle condition devient-il non nul ? Distinguez </a:t>
            </a:r>
            <a:r>
              <a:rPr lang="fr-FR" sz="1300" b="1" u="none" strike="noStrike">
                <a:solidFill>
                  <a:srgbClr val="F5A623"/>
                </a:solidFill>
                <a:effectLst/>
                <a:uFillTx/>
                <a:latin typeface="Inter"/>
                <a:ea typeface="DejaVu Sans"/>
              </a:rPr>
              <a:t>avertissement</a:t>
            </a:r>
            <a:r>
              <a:rPr lang="fr-FR" sz="1300" b="0" u="none" strike="noStrike">
                <a:solidFill>
                  <a:srgbClr val="F7F6F2"/>
                </a:solidFill>
                <a:effectLst/>
                <a:uFillTx/>
                <a:latin typeface="Inter"/>
                <a:ea typeface="DejaVu Sans"/>
              </a:rPr>
              <a:t> et </a:t>
            </a:r>
            <a:r>
              <a:rPr lang="fr-FR" sz="1300" b="1" u="none" strike="noStrike">
                <a:solidFill>
                  <a:srgbClr val="F5A623"/>
                </a:solidFill>
                <a:effectLst/>
                <a:uFillTx/>
                <a:latin typeface="Inter"/>
                <a:ea typeface="DejaVu Sans"/>
              </a:rPr>
              <a:t>échec</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p:txBody>
      </p:sp>
      <p:graphicFrame>
        <p:nvGraphicFramePr>
          <p:cNvPr id="470" name="Table 32"/>
          <p:cNvGraphicFramePr/>
          <p:nvPr/>
        </p:nvGraphicFramePr>
        <p:xfrm>
          <a:off x="640080" y="2534040"/>
          <a:ext cx="10908360" cy="2148480"/>
        </p:xfrm>
        <a:graphic>
          <a:graphicData uri="http://schemas.openxmlformats.org/drawingml/2006/table">
            <a:tbl>
              <a:tblPr/>
              <a:tblGrid>
                <a:gridCol w="1005840"/>
                <a:gridCol w="2743200"/>
                <a:gridCol w="1280160"/>
                <a:gridCol w="2743200"/>
                <a:gridCol w="1280160"/>
                <a:gridCol w="1856160"/>
              </a:tblGrid>
              <a:tr h="411480">
                <a:tc>
                  <a:txBody>
                    <a:bodyPr lIns="73080" rIns="73080" anchor="ctr">
                      <a:noAutofit/>
                    </a:bodyPr>
                    <a:p>
                      <a:pPr>
                        <a:lnSpc>
                          <a:spcPct val="100000"/>
                        </a:lnSpc>
                      </a:pPr>
                      <a:r>
                        <a:rPr lang="en-US" sz="1050" b="1" u="none" spc="45" strike="noStrike">
                          <a:solidFill>
                            <a:srgbClr val="F5A623"/>
                          </a:solidFill>
                          <a:effectLst/>
                          <a:uFillTx/>
                          <a:latin typeface="Inter"/>
                        </a:rPr>
                        <a:t>Règle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Fichier de checks</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Couche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Résultat (PASSED, WARN, FAILED)</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Valeur</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Code retour</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471" name="TextBox 33"/>
          <p:cNvSpPr/>
          <p:nvPr/>
        </p:nvSpPr>
        <p:spPr>
          <a:xfrm>
            <a:off x="640080" y="4793040"/>
            <a:ext cx="534708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CODE RETOUR ET AVERTISSEMENTS</a:t>
            </a:r>
            <a:endParaRPr lang="fr-FR" sz="1100" b="0" u="none" strike="noStrike">
              <a:solidFill>
                <a:srgbClr val="FFFFFF"/>
              </a:solidFill>
              <a:effectLst/>
              <a:uFillTx/>
              <a:latin typeface="Arial"/>
            </a:endParaRPr>
          </a:p>
        </p:txBody>
      </p:sp>
      <p:sp>
        <p:nvSpPr>
          <p:cNvPr id="472" name="Zone à rédiger"/>
          <p:cNvSpPr/>
          <p:nvPr/>
        </p:nvSpPr>
        <p:spPr>
          <a:xfrm>
            <a:off x="640080" y="5048640"/>
            <a:ext cx="5347080" cy="10756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sp>
        <p:nvSpPr>
          <p:cNvPr id="473" name="TextBox 35"/>
          <p:cNvSpPr/>
          <p:nvPr/>
        </p:nvSpPr>
        <p:spPr>
          <a:xfrm>
            <a:off x="6199560" y="4793040"/>
            <a:ext cx="534708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COHÉRENCE AVEC GREAT EXPECTATIONS (S2)</a:t>
            </a:r>
            <a:endParaRPr lang="fr-FR" sz="1100" b="0" u="none" strike="noStrike">
              <a:solidFill>
                <a:srgbClr val="FFFFFF"/>
              </a:solidFill>
              <a:effectLst/>
              <a:uFillTx/>
              <a:latin typeface="Arial"/>
            </a:endParaRPr>
          </a:p>
        </p:txBody>
      </p:sp>
      <p:sp>
        <p:nvSpPr>
          <p:cNvPr id="474" name="Zone à rédiger"/>
          <p:cNvSpPr/>
          <p:nvPr/>
        </p:nvSpPr>
        <p:spPr>
          <a:xfrm>
            <a:off x="6199560" y="5048640"/>
            <a:ext cx="5347080" cy="10756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[Écarts et explication]</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5"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Bilan d'intégrité et valeur sentinelle</a:t>
            </a:r>
            <a:endParaRPr lang="fr-FR" sz="2800" b="0" u="none" strike="noStrike">
              <a:solidFill>
                <a:srgbClr val="FFFFFF"/>
              </a:solidFill>
              <a:effectLst/>
              <a:uFillTx/>
              <a:latin typeface="Arial"/>
            </a:endParaRPr>
          </a:p>
        </p:txBody>
      </p:sp>
      <p:sp>
        <p:nvSpPr>
          <p:cNvPr id="476" name="PlaceHolder 2"/>
          <p:cNvSpPr>
            <a:spLocks noGrp="1"/>
          </p:cNvSpPr>
          <p:nvPr>
            <p:ph type="sldNum" idx="47"/>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9F85594D-0EDD-4842-9A70-F92901E952F6}"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477"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S3 · US-16, 17</a:t>
            </a:r>
            <a:endParaRPr lang="fr-FR" sz="1100" b="0" u="none" strike="noStrike">
              <a:solidFill>
                <a:srgbClr val="FFFFFF"/>
              </a:solidFill>
              <a:effectLst/>
              <a:uFillTx/>
              <a:latin typeface="Arial"/>
            </a:endParaRPr>
          </a:p>
        </p:txBody>
      </p:sp>
      <p:sp>
        <p:nvSpPr>
          <p:cNvPr id="478"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RÈGLES ET TESTS · 20 %</a:t>
            </a:r>
            <a:endParaRPr lang="fr-FR" sz="1000" b="0" u="none" strike="noStrike">
              <a:solidFill>
                <a:srgbClr val="FFFFFF"/>
              </a:solidFill>
              <a:effectLst/>
              <a:uFillTx/>
              <a:latin typeface="Arial"/>
            </a:endParaRPr>
          </a:p>
        </p:txBody>
      </p:sp>
      <p:sp>
        <p:nvSpPr>
          <p:cNvPr id="479" name="Attendu"/>
          <p:cNvSpPr/>
          <p:nvPr/>
        </p:nvSpPr>
        <p:spPr>
          <a:xfrm>
            <a:off x="640080" y="1325880"/>
            <a:ext cx="10906560" cy="1068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480" name="Attendu barre"/>
          <p:cNvSpPr/>
          <p:nvPr/>
        </p:nvSpPr>
        <p:spPr>
          <a:xfrm>
            <a:off x="640080" y="1325880"/>
            <a:ext cx="80280" cy="1068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481" name="Icône target" descr="Icône target"/>
          <p:cNvPicPr/>
          <p:nvPr/>
        </p:nvPicPr>
        <p:blipFill>
          <a:blip r:embed="rId1"/>
          <a:stretch/>
        </p:blipFill>
        <p:spPr>
          <a:xfrm>
            <a:off x="896040" y="1435680"/>
            <a:ext cx="272160" cy="272160"/>
          </a:xfrm>
          <a:prstGeom prst="rect">
            <a:avLst/>
          </a:prstGeom>
          <a:noFill/>
          <a:ln w="0">
            <a:noFill/>
          </a:ln>
        </p:spPr>
      </p:pic>
      <p:sp>
        <p:nvSpPr>
          <p:cNvPr id="482"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483" name="TextBox 31"/>
          <p:cNvSpPr/>
          <p:nvPr/>
        </p:nvSpPr>
        <p:spPr>
          <a:xfrm>
            <a:off x="914400" y="1783080"/>
            <a:ext cx="10357920" cy="465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 </a:t>
            </a:r>
            <a:r>
              <a:rPr lang="fr-FR" sz="1300" b="1" u="none" strike="noStrike">
                <a:solidFill>
                  <a:srgbClr val="F5A623"/>
                </a:solidFill>
                <a:effectLst/>
                <a:uFillTx/>
                <a:latin typeface="Inter"/>
                <a:ea typeface="DejaVu Sans"/>
              </a:rPr>
              <a:t>nombre d'orphelins</a:t>
            </a:r>
            <a:r>
              <a:rPr lang="fr-FR" sz="1300" b="0" u="none" strike="noStrike">
                <a:solidFill>
                  <a:srgbClr val="F7F6F2"/>
                </a:solidFill>
                <a:effectLst/>
                <a:uFillTx/>
                <a:latin typeface="Inter"/>
                <a:ea typeface="DejaVu Sans"/>
              </a:rPr>
              <a:t> par relation, avec une </a:t>
            </a:r>
            <a:r>
              <a:rPr lang="fr-FR" sz="1300" b="1" u="none" strike="noStrike">
                <a:solidFill>
                  <a:srgbClr val="F5A623"/>
                </a:solidFill>
                <a:effectLst/>
                <a:uFillTx/>
                <a:latin typeface="Inter"/>
                <a:ea typeface="DejaVu Sans"/>
              </a:rPr>
              <a:t>conclusion</a:t>
            </a:r>
            <a:r>
              <a:rPr lang="fr-FR" sz="1300" b="0" u="none" strike="noStrike">
                <a:solidFill>
                  <a:srgbClr val="F7F6F2"/>
                </a:solidFill>
                <a:effectLst/>
                <a:uFillTx/>
                <a:latin typeface="Inter"/>
                <a:ea typeface="DejaVu Sans"/>
              </a:rPr>
              <a:t> pour chacune (anomalie, sentinelle, normal).</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a:t>
            </a:r>
            <a:r>
              <a:rPr lang="fr-FR" sz="1300" b="1" u="none" strike="noStrike">
                <a:solidFill>
                  <a:srgbClr val="F5A623"/>
                </a:solidFill>
                <a:effectLst/>
                <a:uFillTx/>
                <a:latin typeface="Inter"/>
                <a:ea typeface="DejaVu Sans"/>
              </a:rPr>
              <a:t>valeur sentinelle</a:t>
            </a:r>
            <a:r>
              <a:rPr lang="fr-FR" sz="1300" b="0" u="none" strike="noStrike">
                <a:solidFill>
                  <a:srgbClr val="F7F6F2"/>
                </a:solidFill>
                <a:effectLst/>
                <a:uFillTx/>
                <a:latin typeface="Inter"/>
                <a:ea typeface="DejaVu Sans"/>
              </a:rPr>
              <a:t> de assure_id : contrôle </a:t>
            </a:r>
            <a:r>
              <a:rPr lang="fr-FR" sz="1300" b="1" u="none" strike="noStrike">
                <a:solidFill>
                  <a:srgbClr val="F5A623"/>
                </a:solidFill>
                <a:effectLst/>
                <a:uFillTx/>
                <a:latin typeface="Inter"/>
                <a:ea typeface="DejaVu Sans"/>
              </a:rPr>
              <a:t>avant</a:t>
            </a:r>
            <a:r>
              <a:rPr lang="fr-FR" sz="1300" b="0" u="none" strike="noStrike">
                <a:solidFill>
                  <a:srgbClr val="F7F6F2"/>
                </a:solidFill>
                <a:effectLst/>
                <a:uFillTx/>
                <a:latin typeface="Inter"/>
                <a:ea typeface="DejaVu Sans"/>
              </a:rPr>
              <a:t> et </a:t>
            </a:r>
            <a:r>
              <a:rPr lang="fr-FR" sz="1300" b="1" u="none" strike="noStrike">
                <a:solidFill>
                  <a:srgbClr val="F5A623"/>
                </a:solidFill>
                <a:effectLst/>
                <a:uFillTx/>
                <a:latin typeface="Inter"/>
                <a:ea typeface="DejaVu Sans"/>
              </a:rPr>
              <a:t>après</a:t>
            </a:r>
            <a:r>
              <a:rPr lang="fr-FR" sz="1300" b="0" u="none" strike="noStrike">
                <a:solidFill>
                  <a:srgbClr val="F7F6F2"/>
                </a:solidFill>
                <a:effectLst/>
                <a:uFillTx/>
                <a:latin typeface="Inter"/>
                <a:ea typeface="DejaVu Sans"/>
              </a:rPr>
              <a:t>, écart chiffré, </a:t>
            </a:r>
            <a:r>
              <a:rPr lang="fr-FR" sz="1300" b="1" u="none" strike="noStrike">
                <a:solidFill>
                  <a:srgbClr val="F5A623"/>
                </a:solidFill>
                <a:effectLst/>
                <a:uFillTx/>
                <a:latin typeface="Inter"/>
                <a:ea typeface="DejaVu Sans"/>
              </a:rPr>
              <a:t>convention écrite</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p:txBody>
      </p:sp>
      <p:graphicFrame>
        <p:nvGraphicFramePr>
          <p:cNvPr id="484" name="Table 32"/>
          <p:cNvGraphicFramePr/>
          <p:nvPr/>
        </p:nvGraphicFramePr>
        <p:xfrm>
          <a:off x="640080" y="2534040"/>
          <a:ext cx="10908360" cy="1508400"/>
        </p:xfrm>
        <a:graphic>
          <a:graphicData uri="http://schemas.openxmlformats.org/drawingml/2006/table">
            <a:tbl>
              <a:tblPr/>
              <a:tblGrid>
                <a:gridCol w="3657600"/>
                <a:gridCol w="1371600"/>
                <a:gridCol w="1554480"/>
                <a:gridCol w="1188720"/>
                <a:gridCol w="3136320"/>
              </a:tblGrid>
              <a:tr h="301680">
                <a:tc>
                  <a:txBody>
                    <a:bodyPr lIns="73080" rIns="73080" anchor="ctr">
                      <a:noAutofit/>
                    </a:bodyPr>
                    <a:p>
                      <a:pPr>
                        <a:lnSpc>
                          <a:spcPct val="100000"/>
                        </a:lnSpc>
                      </a:pPr>
                      <a:r>
                        <a:rPr lang="en-US" sz="1000" b="1" u="none" spc="45" strike="noStrike">
                          <a:solidFill>
                            <a:srgbClr val="F5A623"/>
                          </a:solidFill>
                          <a:effectLst/>
                          <a:uFillTx/>
                          <a:latin typeface="Inter"/>
                        </a:rPr>
                        <a:t>Relation</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Testées</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Orphelins</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Taux</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Conclusion</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contrat.souscripteur_id → client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contrat.assure_id → client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contrat.code_type → type_contrat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sinistre.contrat_id → contrat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graphicFrame>
        <p:nvGraphicFramePr>
          <p:cNvPr id="485" name="Table 33"/>
          <p:cNvGraphicFramePr/>
          <p:nvPr/>
        </p:nvGraphicFramePr>
        <p:xfrm>
          <a:off x="640080" y="4152600"/>
          <a:ext cx="10908360" cy="905040"/>
        </p:xfrm>
        <a:graphic>
          <a:graphicData uri="http://schemas.openxmlformats.org/drawingml/2006/table">
            <a:tbl>
              <a:tblPr/>
              <a:tblGrid>
                <a:gridCol w="4572000"/>
                <a:gridCol w="2194560"/>
                <a:gridCol w="4142160"/>
              </a:tblGrid>
              <a:tr h="301680">
                <a:tc>
                  <a:txBody>
                    <a:bodyPr lIns="73080" rIns="73080" anchor="ctr">
                      <a:noAutofit/>
                    </a:bodyPr>
                    <a:p>
                      <a:pPr>
                        <a:lnSpc>
                          <a:spcPct val="100000"/>
                        </a:lnSpc>
                      </a:pPr>
                      <a:r>
                        <a:rPr lang="en-US" sz="1000" b="1" u="none" spc="45" strike="noStrike">
                          <a:solidFill>
                            <a:srgbClr val="F5A623"/>
                          </a:solidFill>
                          <a:effectLst/>
                          <a:uFillTx/>
                          <a:latin typeface="Inter"/>
                        </a:rPr>
                        <a:t>Contrôle sur assure_id</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Orphelins</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Preuve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Avant traitement de la sentinelle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Après traitement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486" name="TextBox 34"/>
          <p:cNvSpPr/>
          <p:nvPr/>
        </p:nvSpPr>
        <p:spPr>
          <a:xfrm>
            <a:off x="640080" y="5114880"/>
            <a:ext cx="10906560" cy="36036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CONVENTION (QUI TRAITE LA SENTINELLE, DANS QUELLE COUCHE) ET POURQUOI LE PREMIER CONTRÔLE EST TROMPEUR</a:t>
            </a:r>
            <a:endParaRPr lang="fr-FR" sz="1100" b="0" u="none" strike="noStrike">
              <a:solidFill>
                <a:srgbClr val="FFFFFF"/>
              </a:solidFill>
              <a:effectLst/>
              <a:uFillTx/>
              <a:latin typeface="Arial"/>
            </a:endParaRPr>
          </a:p>
        </p:txBody>
      </p:sp>
      <p:sp>
        <p:nvSpPr>
          <p:cNvPr id="487" name="Zone à rédiger"/>
          <p:cNvSpPr/>
          <p:nvPr/>
        </p:nvSpPr>
        <p:spPr>
          <a:xfrm>
            <a:off x="640080" y="5460120"/>
            <a:ext cx="10906560" cy="6642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8"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Statuts, garantie et définition unique du client actif</a:t>
            </a:r>
            <a:endParaRPr lang="fr-FR" sz="2800" b="0" u="none" strike="noStrike">
              <a:solidFill>
                <a:srgbClr val="FFFFFF"/>
              </a:solidFill>
              <a:effectLst/>
              <a:uFillTx/>
              <a:latin typeface="Arial"/>
            </a:endParaRPr>
          </a:p>
        </p:txBody>
      </p:sp>
      <p:sp>
        <p:nvSpPr>
          <p:cNvPr id="489" name="PlaceHolder 2"/>
          <p:cNvSpPr>
            <a:spLocks noGrp="1"/>
          </p:cNvSpPr>
          <p:nvPr>
            <p:ph type="sldNum" idx="48"/>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F94AB488-4D9B-4BD5-A804-92BA9335C46D}"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490"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S3 · US-18, 19, 14</a:t>
            </a:r>
            <a:endParaRPr lang="fr-FR" sz="1100" b="0" u="none" strike="noStrike">
              <a:solidFill>
                <a:srgbClr val="FFFFFF"/>
              </a:solidFill>
              <a:effectLst/>
              <a:uFillTx/>
              <a:latin typeface="Arial"/>
            </a:endParaRPr>
          </a:p>
        </p:txBody>
      </p:sp>
      <p:sp>
        <p:nvSpPr>
          <p:cNvPr id="491"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RÈGLES ET TESTS · 20 %</a:t>
            </a:r>
            <a:endParaRPr lang="fr-FR" sz="1000" b="0" u="none" strike="noStrike">
              <a:solidFill>
                <a:srgbClr val="FFFFFF"/>
              </a:solidFill>
              <a:effectLst/>
              <a:uFillTx/>
              <a:latin typeface="Arial"/>
            </a:endParaRPr>
          </a:p>
        </p:txBody>
      </p:sp>
      <p:sp>
        <p:nvSpPr>
          <p:cNvPr id="492" name="Attendu"/>
          <p:cNvSpPr/>
          <p:nvPr/>
        </p:nvSpPr>
        <p:spPr>
          <a:xfrm>
            <a:off x="640080" y="1325880"/>
            <a:ext cx="10906560" cy="12830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493" name="Attendu barre"/>
          <p:cNvSpPr/>
          <p:nvPr/>
        </p:nvSpPr>
        <p:spPr>
          <a:xfrm>
            <a:off x="640080" y="1325880"/>
            <a:ext cx="80280" cy="12830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494" name="Icône target" descr="Icône target"/>
          <p:cNvPicPr/>
          <p:nvPr/>
        </p:nvPicPr>
        <p:blipFill>
          <a:blip r:embed="rId1"/>
          <a:stretch/>
        </p:blipFill>
        <p:spPr>
          <a:xfrm>
            <a:off x="896040" y="1435680"/>
            <a:ext cx="272160" cy="272160"/>
          </a:xfrm>
          <a:prstGeom prst="rect">
            <a:avLst/>
          </a:prstGeom>
          <a:noFill/>
          <a:ln w="0">
            <a:noFill/>
          </a:ln>
        </p:spPr>
      </p:pic>
      <p:sp>
        <p:nvSpPr>
          <p:cNvPr id="495"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496" name="TextBox 31"/>
          <p:cNvSpPr/>
          <p:nvPr/>
        </p:nvSpPr>
        <p:spPr>
          <a:xfrm>
            <a:off x="914400" y="1783080"/>
            <a:ext cx="10357920" cy="6789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1" u="none" strike="noStrike">
                <a:solidFill>
                  <a:srgbClr val="F5A623"/>
                </a:solidFill>
                <a:effectLst/>
                <a:uFillTx/>
                <a:latin typeface="Inter"/>
                <a:ea typeface="DejaVu Sans"/>
              </a:rPr>
              <a:t>RQ-015, 016, 017</a:t>
            </a:r>
            <a:r>
              <a:rPr lang="fr-FR" sz="1300" b="0" u="none" strike="noStrike">
                <a:solidFill>
                  <a:srgbClr val="F7F6F2"/>
                </a:solidFill>
                <a:effectLst/>
                <a:uFillTx/>
                <a:latin typeface="Inter"/>
                <a:ea typeface="DejaVu Sans"/>
              </a:rPr>
              <a:t> mesurées, avec une </a:t>
            </a:r>
            <a:r>
              <a:rPr lang="fr-FR" sz="1300" b="1" u="none" strike="noStrike">
                <a:solidFill>
                  <a:srgbClr val="F5A623"/>
                </a:solidFill>
                <a:effectLst/>
                <a:uFillTx/>
                <a:latin typeface="Inter"/>
                <a:ea typeface="DejaVu Sans"/>
              </a:rPr>
              <a:t>règle de correction du statut</a:t>
            </a:r>
            <a:r>
              <a:rPr lang="fr-FR" sz="1300" b="0" u="none" strike="noStrike">
                <a:solidFill>
                  <a:srgbClr val="F7F6F2"/>
                </a:solidFill>
                <a:effectLst/>
                <a:uFillTx/>
                <a:latin typeface="Inter"/>
                <a:ea typeface="DejaVu Sans"/>
              </a:rPr>
              <a:t> proposée au </a:t>
            </a:r>
            <a:r>
              <a:rPr lang="fr-FR" sz="1300" b="1" u="none" strike="noStrike">
                <a:solidFill>
                  <a:srgbClr val="F5A623"/>
                </a:solidFill>
                <a:effectLst/>
                <a:uFillTx/>
                <a:latin typeface="Inter"/>
                <a:ea typeface="DejaVu Sans"/>
              </a:rPr>
              <a:t>Data Owner</a:t>
            </a:r>
            <a:r>
              <a:rPr lang="fr-FR" sz="1300" b="0" u="none" strike="noStrike">
                <a:solidFill>
                  <a:srgbClr val="F7F6F2"/>
                </a:solidFill>
                <a:effectLst/>
                <a:uFillTx/>
                <a:latin typeface="Inter"/>
                <a:ea typeface="DejaVu Sans"/>
              </a:rPr>
              <a:t> (reportée au journal des décisions).</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a:t>
            </a:r>
            <a:r>
              <a:rPr lang="fr-FR" sz="1300" b="1" u="none" strike="noStrike">
                <a:solidFill>
                  <a:srgbClr val="F5A623"/>
                </a:solidFill>
                <a:effectLst/>
                <a:uFillTx/>
                <a:latin typeface="Inter"/>
                <a:ea typeface="DejaVu Sans"/>
              </a:rPr>
              <a:t>requête unique</a:t>
            </a:r>
            <a:r>
              <a:rPr lang="fr-FR" sz="1300" b="0" u="none" strike="noStrike">
                <a:solidFill>
                  <a:srgbClr val="F7F6F2"/>
                </a:solidFill>
                <a:effectLst/>
                <a:uFillTx/>
                <a:latin typeface="Inter"/>
                <a:ea typeface="DejaVu Sans"/>
              </a:rPr>
              <a:t> du client actif : les trois directions obtiennent le </a:t>
            </a:r>
            <a:r>
              <a:rPr lang="fr-FR" sz="1300" b="1" u="none" strike="noStrike">
                <a:solidFill>
                  <a:srgbClr val="F5A623"/>
                </a:solidFill>
                <a:effectLst/>
                <a:uFillTx/>
                <a:latin typeface="Inter"/>
                <a:ea typeface="DejaVu Sans"/>
              </a:rPr>
              <a:t>même chiffre</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p:txBody>
      </p:sp>
      <p:graphicFrame>
        <p:nvGraphicFramePr>
          <p:cNvPr id="497" name="Table 32"/>
          <p:cNvGraphicFramePr/>
          <p:nvPr/>
        </p:nvGraphicFramePr>
        <p:xfrm>
          <a:off x="640080" y="2748240"/>
          <a:ext cx="10908360" cy="1389600"/>
        </p:xfrm>
        <a:graphic>
          <a:graphicData uri="http://schemas.openxmlformats.org/drawingml/2006/table">
            <a:tbl>
              <a:tblPr/>
              <a:tblGrid>
                <a:gridCol w="2377440"/>
                <a:gridCol w="2194560"/>
                <a:gridCol w="2103120"/>
                <a:gridCol w="2103120"/>
                <a:gridCol w="2130480"/>
              </a:tblGrid>
              <a:tr h="347400">
                <a:tc>
                  <a:txBody>
                    <a:bodyPr lIns="73080" rIns="73080" anchor="ctr">
                      <a:noAutofit/>
                    </a:bodyPr>
                    <a:p>
                      <a:pPr>
                        <a:lnSpc>
                          <a:spcPct val="100000"/>
                        </a:lnSpc>
                      </a:pPr>
                      <a:r>
                        <a:rPr lang="en-US" sz="1050" b="1" u="none" spc="45" strike="noStrike">
                          <a:solidFill>
                            <a:srgbClr val="F5A623"/>
                          </a:solidFill>
                          <a:effectLst/>
                          <a:uFillTx/>
                          <a:latin typeface="Inter"/>
                        </a:rPr>
                        <a:t>Règle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Couche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Testées</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Échecs</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Taux</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RQ-015</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RQ-016</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RQ-017</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graphicFrame>
        <p:nvGraphicFramePr>
          <p:cNvPr id="498" name="Table 33"/>
          <p:cNvGraphicFramePr/>
          <p:nvPr/>
        </p:nvGraphicFramePr>
        <p:xfrm>
          <a:off x="640080" y="4275000"/>
          <a:ext cx="5668920" cy="1389600"/>
        </p:xfrm>
        <a:graphic>
          <a:graphicData uri="http://schemas.openxmlformats.org/drawingml/2006/table">
            <a:tbl>
              <a:tblPr/>
              <a:tblGrid>
                <a:gridCol w="2743200"/>
                <a:gridCol w="2926080"/>
              </a:tblGrid>
              <a:tr h="347400">
                <a:tc>
                  <a:txBody>
                    <a:bodyPr lIns="73080" rIns="73080" anchor="ctr">
                      <a:noAutofit/>
                    </a:bodyPr>
                    <a:p>
                      <a:pPr>
                        <a:lnSpc>
                          <a:spcPct val="100000"/>
                        </a:lnSpc>
                      </a:pPr>
                      <a:r>
                        <a:rPr lang="en-US" sz="1050" b="1" u="none" spc="45" strike="noStrike">
                          <a:solidFill>
                            <a:srgbClr val="F5A623"/>
                          </a:solidFill>
                          <a:effectLst/>
                          <a:uFillTx/>
                          <a:latin typeface="Inter"/>
                        </a:rPr>
                        <a:t>Direction</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Chiffre avec la requête unique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Commerciale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Sinistres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Risques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499" name="TextBox 34"/>
          <p:cNvSpPr/>
          <p:nvPr/>
        </p:nvSpPr>
        <p:spPr>
          <a:xfrm>
            <a:off x="6583680" y="4312080"/>
            <a:ext cx="49629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RÈGLE DE CORRECTION DU STATUT PROPOSÉE</a:t>
            </a:r>
            <a:endParaRPr lang="fr-FR" sz="1100" b="0" u="none" strike="noStrike">
              <a:solidFill>
                <a:srgbClr val="FFFFFF"/>
              </a:solidFill>
              <a:effectLst/>
              <a:uFillTx/>
              <a:latin typeface="Arial"/>
            </a:endParaRPr>
          </a:p>
        </p:txBody>
      </p:sp>
      <p:sp>
        <p:nvSpPr>
          <p:cNvPr id="500" name="Zone à rédiger"/>
          <p:cNvSpPr/>
          <p:nvPr/>
        </p:nvSpPr>
        <p:spPr>
          <a:xfrm>
            <a:off x="6583680" y="4567680"/>
            <a:ext cx="4962960" cy="15566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[Texte, rôle destinataire, date]</a:t>
            </a:r>
            <a:endParaRPr lang="fr-FR" sz="1200" b="0" u="none" strike="noStrike">
              <a:solidFill>
                <a:srgbClr val="FFFFFF"/>
              </a:solidFill>
              <a:effectLst/>
              <a:uFillTx/>
              <a:latin typeface="Arial"/>
            </a:endParaRPr>
          </a:p>
        </p:txBody>
      </p:sp>
      <p:sp>
        <p:nvSpPr>
          <p:cNvPr id="501" name="TextBox 36"/>
          <p:cNvSpPr/>
          <p:nvPr/>
        </p:nvSpPr>
        <p:spPr>
          <a:xfrm>
            <a:off x="640080" y="5738040"/>
            <a:ext cx="10906560" cy="18000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Chemin de la requête du client actif et contrôle RQ-018 : à indiquer dans le dépôt.</a:t>
            </a:r>
            <a:endParaRPr lang="fr-FR"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2"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Bilan de S3 : critères de fin et difficultés</a:t>
            </a:r>
            <a:endParaRPr lang="fr-FR" sz="2800" b="0" u="none" strike="noStrike">
              <a:solidFill>
                <a:srgbClr val="FFFFFF"/>
              </a:solidFill>
              <a:effectLst/>
              <a:uFillTx/>
              <a:latin typeface="Arial"/>
            </a:endParaRPr>
          </a:p>
        </p:txBody>
      </p:sp>
      <p:sp>
        <p:nvSpPr>
          <p:cNvPr id="503" name="PlaceHolder 2"/>
          <p:cNvSpPr>
            <a:spLocks noGrp="1"/>
          </p:cNvSpPr>
          <p:nvPr>
            <p:ph type="sldNum" idx="49"/>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B0A7D1EA-63EF-4911-B731-1C45653EBF68}"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504"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S3 · BILAN</a:t>
            </a:r>
            <a:endParaRPr lang="fr-FR" sz="1100" b="0" u="none" strike="noStrike">
              <a:solidFill>
                <a:srgbClr val="FFFFFF"/>
              </a:solidFill>
              <a:effectLst/>
              <a:uFillTx/>
              <a:latin typeface="Arial"/>
            </a:endParaRPr>
          </a:p>
        </p:txBody>
      </p:sp>
      <p:sp>
        <p:nvSpPr>
          <p:cNvPr id="505"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RÈGLES ET TESTS · 20 %</a:t>
            </a:r>
            <a:endParaRPr lang="fr-FR" sz="1000" b="0" u="none" strike="noStrike">
              <a:solidFill>
                <a:srgbClr val="FFFFFF"/>
              </a:solidFill>
              <a:effectLst/>
              <a:uFillTx/>
              <a:latin typeface="Arial"/>
            </a:endParaRPr>
          </a:p>
        </p:txBody>
      </p:sp>
      <p:sp>
        <p:nvSpPr>
          <p:cNvPr id="506" name="Attendu"/>
          <p:cNvSpPr/>
          <p:nvPr/>
        </p:nvSpPr>
        <p:spPr>
          <a:xfrm>
            <a:off x="640080" y="1325880"/>
            <a:ext cx="10906560" cy="1068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507" name="Attendu barre"/>
          <p:cNvSpPr/>
          <p:nvPr/>
        </p:nvSpPr>
        <p:spPr>
          <a:xfrm>
            <a:off x="640080" y="1325880"/>
            <a:ext cx="80280" cy="1068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508" name="Icône target" descr="Icône target"/>
          <p:cNvPicPr/>
          <p:nvPr/>
        </p:nvPicPr>
        <p:blipFill>
          <a:blip r:embed="rId1"/>
          <a:stretch/>
        </p:blipFill>
        <p:spPr>
          <a:xfrm>
            <a:off x="896040" y="1435680"/>
            <a:ext cx="272160" cy="272160"/>
          </a:xfrm>
          <a:prstGeom prst="rect">
            <a:avLst/>
          </a:prstGeom>
          <a:noFill/>
          <a:ln w="0">
            <a:noFill/>
          </a:ln>
        </p:spPr>
      </p:pic>
      <p:sp>
        <p:nvSpPr>
          <p:cNvPr id="509"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510" name="TextBox 31"/>
          <p:cNvSpPr/>
          <p:nvPr/>
        </p:nvSpPr>
        <p:spPr>
          <a:xfrm>
            <a:off x="914400" y="1783080"/>
            <a:ext cx="10357920" cy="465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Chaque critère coché est </a:t>
            </a:r>
            <a:r>
              <a:rPr lang="fr-FR" sz="1300" b="1" u="none" strike="noStrike">
                <a:solidFill>
                  <a:srgbClr val="F5A623"/>
                </a:solidFill>
                <a:effectLst/>
                <a:uFillTx/>
                <a:latin typeface="Inter"/>
                <a:ea typeface="DejaVu Sans"/>
              </a:rPr>
              <a:t>démontré</a:t>
            </a:r>
            <a:r>
              <a:rPr lang="fr-FR" sz="1300" b="0" u="none" strike="noStrike">
                <a:solidFill>
                  <a:srgbClr val="F7F6F2"/>
                </a:solidFill>
                <a:effectLst/>
                <a:uFillTx/>
                <a:latin typeface="Inter"/>
                <a:ea typeface="DejaVu Sans"/>
              </a:rPr>
              <a:t> par une page de ce livrable ou par un fichier du dépôt.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difficultés sont </a:t>
            </a:r>
            <a:r>
              <a:rPr lang="fr-FR" sz="1300" b="1" u="none" strike="noStrike">
                <a:solidFill>
                  <a:srgbClr val="F5A623"/>
                </a:solidFill>
                <a:effectLst/>
                <a:uFillTx/>
                <a:latin typeface="Inter"/>
                <a:ea typeface="DejaVu Sans"/>
              </a:rPr>
              <a:t>chiffrées en temps perdu</a:t>
            </a:r>
            <a:r>
              <a:rPr lang="fr-FR" sz="1300" b="0" u="none" strike="noStrike">
                <a:solidFill>
                  <a:srgbClr val="F7F6F2"/>
                </a:solidFill>
                <a:effectLst/>
                <a:uFillTx/>
                <a:latin typeface="Inter"/>
                <a:ea typeface="DejaVu Sans"/>
              </a:rPr>
              <a:t> ; un point de reprise utilisé est </a:t>
            </a:r>
            <a:r>
              <a:rPr lang="fr-FR" sz="1300" b="1" u="none" strike="noStrike">
                <a:solidFill>
                  <a:srgbClr val="F5A623"/>
                </a:solidFill>
                <a:effectLst/>
                <a:uFillTx/>
                <a:latin typeface="Inter"/>
                <a:ea typeface="DejaVu Sans"/>
              </a:rPr>
              <a:t>déclaré</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p:txBody>
      </p:sp>
      <p:sp>
        <p:nvSpPr>
          <p:cNvPr id="511" name="Rectangle 32"/>
          <p:cNvSpPr/>
          <p:nvPr/>
        </p:nvSpPr>
        <p:spPr>
          <a:xfrm>
            <a:off x="640080" y="2579760"/>
            <a:ext cx="5118480" cy="354456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pic>
        <p:nvPicPr>
          <p:cNvPr id="512" name="Icône ok" descr="Icône ok"/>
          <p:cNvPicPr/>
          <p:nvPr/>
        </p:nvPicPr>
        <p:blipFill>
          <a:blip r:embed="rId2"/>
          <a:stretch/>
        </p:blipFill>
        <p:spPr>
          <a:xfrm>
            <a:off x="868680" y="2735280"/>
            <a:ext cx="308880" cy="308880"/>
          </a:xfrm>
          <a:prstGeom prst="rect">
            <a:avLst/>
          </a:prstGeom>
          <a:noFill/>
          <a:ln w="0">
            <a:noFill/>
          </a:ln>
        </p:spPr>
      </p:pic>
      <p:sp>
        <p:nvSpPr>
          <p:cNvPr id="513" name="TextBox 34"/>
          <p:cNvSpPr/>
          <p:nvPr/>
        </p:nvSpPr>
        <p:spPr>
          <a:xfrm>
            <a:off x="1289160" y="2783160"/>
            <a:ext cx="4569840" cy="21276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300" b="1" u="none" spc="105" strike="noStrike">
                <a:solidFill>
                  <a:srgbClr val="F7F6F2"/>
                </a:solidFill>
                <a:effectLst/>
                <a:uFillTx/>
                <a:latin typeface="Inter"/>
                <a:ea typeface="DejaVu Sans"/>
              </a:rPr>
              <a:t>CRITÈRES DE FIN</a:t>
            </a:r>
            <a:endParaRPr lang="fr-FR" sz="1300" b="0" u="none" strike="noStrike">
              <a:solidFill>
                <a:srgbClr val="FFFFFF"/>
              </a:solidFill>
              <a:effectLst/>
              <a:uFillTx/>
              <a:latin typeface="Arial"/>
            </a:endParaRPr>
          </a:p>
        </p:txBody>
      </p:sp>
      <p:sp>
        <p:nvSpPr>
          <p:cNvPr id="514" name="TextBox 35"/>
          <p:cNvSpPr/>
          <p:nvPr/>
        </p:nvSpPr>
        <p:spPr>
          <a:xfrm>
            <a:off x="868680" y="3219840"/>
            <a:ext cx="4661280" cy="1705320"/>
          </a:xfrm>
          <a:prstGeom prst="rect">
            <a:avLst/>
          </a:prstGeom>
          <a:noFill/>
          <a:ln w="0">
            <a:noFill/>
          </a:ln>
        </p:spPr>
        <p:style>
          <a:lnRef idx="0"/>
          <a:fillRef idx="0"/>
          <a:effectRef idx="0"/>
          <a:fontRef idx="minor"/>
        </p:style>
        <p:txBody>
          <a:bodyPr lIns="0" tIns="0" rIns="0" bIns="0" anchor="t">
            <a:spAutoFit/>
          </a:bodyPr>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Un scan renvoie un code retour non nul quand une règle bloquante échoue.</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Chaque contrôle porte l'identifiant de sa règle et la couche mesurée.</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Les trois directions obtiennent le même chiffre avec la requête unique.</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La valeur sentinelle est expliquée et traitée.</a:t>
            </a:r>
            <a:endParaRPr lang="fr-FR" sz="1250" b="0" u="none" strike="noStrike">
              <a:solidFill>
                <a:srgbClr val="FFFFFF"/>
              </a:solidFill>
              <a:effectLst/>
              <a:uFillTx/>
              <a:latin typeface="Arial"/>
            </a:endParaRPr>
          </a:p>
        </p:txBody>
      </p:sp>
      <p:sp>
        <p:nvSpPr>
          <p:cNvPr id="515" name="TextBox 36"/>
          <p:cNvSpPr/>
          <p:nvPr/>
        </p:nvSpPr>
        <p:spPr>
          <a:xfrm>
            <a:off x="640080" y="5852160"/>
            <a:ext cx="10906560" cy="18000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Remplacez [ ] par [x] une fois le critère démontré.</a:t>
            </a:r>
            <a:endParaRPr lang="fr-FR" sz="1100" b="0" u="none" strike="noStrike">
              <a:solidFill>
                <a:srgbClr val="FFFFFF"/>
              </a:solidFill>
              <a:effectLst/>
              <a:uFillTx/>
              <a:latin typeface="Arial"/>
            </a:endParaRPr>
          </a:p>
        </p:txBody>
      </p:sp>
      <p:sp>
        <p:nvSpPr>
          <p:cNvPr id="516" name="TextBox 37"/>
          <p:cNvSpPr/>
          <p:nvPr/>
        </p:nvSpPr>
        <p:spPr>
          <a:xfrm>
            <a:off x="5943600" y="2616840"/>
            <a:ext cx="560304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DIFFICULTÉS RENCONTRÉES ET TEMPS PERDU</a:t>
            </a:r>
            <a:endParaRPr lang="fr-FR" sz="1100" b="0" u="none" strike="noStrike">
              <a:solidFill>
                <a:srgbClr val="FFFFFF"/>
              </a:solidFill>
              <a:effectLst/>
              <a:uFillTx/>
              <a:latin typeface="Arial"/>
            </a:endParaRPr>
          </a:p>
        </p:txBody>
      </p:sp>
      <p:sp>
        <p:nvSpPr>
          <p:cNvPr id="517" name="Zone à rédiger"/>
          <p:cNvSpPr/>
          <p:nvPr/>
        </p:nvSpPr>
        <p:spPr>
          <a:xfrm>
            <a:off x="5943600" y="2872440"/>
            <a:ext cx="5603040" cy="11682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sp>
        <p:nvSpPr>
          <p:cNvPr id="518" name="TextBox 39"/>
          <p:cNvSpPr/>
          <p:nvPr/>
        </p:nvSpPr>
        <p:spPr>
          <a:xfrm>
            <a:off x="5943600" y="4217040"/>
            <a:ext cx="560304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POINT DE REPRISE UTILISÉ (OUI / NON, LEQUEL)</a:t>
            </a:r>
            <a:endParaRPr lang="fr-FR" sz="1100" b="0" u="none" strike="noStrike">
              <a:solidFill>
                <a:srgbClr val="FFFFFF"/>
              </a:solidFill>
              <a:effectLst/>
              <a:uFillTx/>
              <a:latin typeface="Arial"/>
            </a:endParaRPr>
          </a:p>
        </p:txBody>
      </p:sp>
      <p:sp>
        <p:nvSpPr>
          <p:cNvPr id="519" name="Zone à rédiger"/>
          <p:cNvSpPr/>
          <p:nvPr/>
        </p:nvSpPr>
        <p:spPr>
          <a:xfrm>
            <a:off x="5943600" y="4472640"/>
            <a:ext cx="5603040" cy="6195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sp>
        <p:nvSpPr>
          <p:cNvPr id="520" name="TextBox 41"/>
          <p:cNvSpPr/>
          <p:nvPr/>
        </p:nvSpPr>
        <p:spPr>
          <a:xfrm>
            <a:off x="5943600" y="5268600"/>
            <a:ext cx="560304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CE QUE NOUS FERIONS AUTREMENT</a:t>
            </a:r>
            <a:endParaRPr lang="fr-FR" sz="1100" b="0" u="none" strike="noStrike">
              <a:solidFill>
                <a:srgbClr val="FFFFFF"/>
              </a:solidFill>
              <a:effectLst/>
              <a:uFillTx/>
              <a:latin typeface="Arial"/>
            </a:endParaRPr>
          </a:p>
        </p:txBody>
      </p:sp>
      <p:sp>
        <p:nvSpPr>
          <p:cNvPr id="521" name="Zone à rédiger"/>
          <p:cNvSpPr/>
          <p:nvPr/>
        </p:nvSpPr>
        <p:spPr>
          <a:xfrm>
            <a:off x="5943600" y="5524200"/>
            <a:ext cx="5603040" cy="6001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2" name="PlaceHolder 1"/>
          <p:cNvSpPr>
            <a:spLocks noGrp="1"/>
          </p:cNvSpPr>
          <p:nvPr>
            <p:ph/>
          </p:nvPr>
        </p:nvSpPr>
        <p:spPr>
          <a:xfrm>
            <a:off x="640080" y="2011680"/>
            <a:ext cx="2741040" cy="1186560"/>
          </a:xfrm>
          <a:prstGeom prst="rect">
            <a:avLst/>
          </a:prstGeom>
          <a:noFill/>
          <a:ln w="0">
            <a:noFill/>
          </a:ln>
        </p:spPr>
        <p:txBody>
          <a:bodyPr lIns="90000" tIns="45000" rIns="90000" bIns="45000" anchor="t">
            <a:noAutofit/>
          </a:bodyPr>
          <a:p>
            <a:pPr indent="0" algn="l">
              <a:lnSpc>
                <a:spcPct val="100000"/>
              </a:lnSpc>
              <a:spcBef>
                <a:spcPts val="1440"/>
              </a:spcBef>
              <a:buNone/>
              <a:tabLst>
                <a:tab pos="0" algn="l"/>
              </a:tabLst>
            </a:pPr>
            <a:r>
              <a:rPr lang="en-US" sz="7200" b="0" u="none" strike="noStrike">
                <a:solidFill>
                  <a:srgbClr val="F5A623"/>
                </a:solidFill>
                <a:effectLst/>
                <a:uFillTx/>
                <a:latin typeface="Fraunces SemiBold"/>
                <a:ea typeface="Fraunces SemiBold"/>
              </a:rPr>
              <a:t>04</a:t>
            </a:r>
            <a:endParaRPr lang="fr-FR" sz="7200" b="0" u="none" strike="noStrike">
              <a:solidFill>
                <a:srgbClr val="FFFFFF"/>
              </a:solidFill>
              <a:effectLst/>
              <a:uFillTx/>
              <a:latin typeface="Arial"/>
            </a:endParaRPr>
          </a:p>
        </p:txBody>
      </p:sp>
      <p:sp>
        <p:nvSpPr>
          <p:cNvPr id="523" name="PlaceHolder 2"/>
          <p:cNvSpPr>
            <a:spLocks noGrp="1"/>
          </p:cNvSpPr>
          <p:nvPr>
            <p:ph type="title"/>
          </p:nvPr>
        </p:nvSpPr>
        <p:spPr>
          <a:xfrm>
            <a:off x="640080" y="3200400"/>
            <a:ext cx="6581520" cy="1643760"/>
          </a:xfrm>
          <a:prstGeom prst="rect">
            <a:avLst/>
          </a:prstGeom>
          <a:noFill/>
          <a:ln w="0">
            <a:noFill/>
          </a:ln>
        </p:spPr>
        <p:txBody>
          <a:bodyPr lIns="90000" tIns="45000" rIns="90000" bIns="45000" anchor="t">
            <a:noAutofit/>
          </a:bodyPr>
          <a:p>
            <a:pPr indent="0" algn="l">
              <a:lnSpc>
                <a:spcPct val="100000"/>
              </a:lnSpc>
              <a:buNone/>
              <a:tabLst>
                <a:tab pos="0" algn="l"/>
              </a:tabLst>
            </a:pPr>
            <a:r>
              <a:rPr lang="en-US" sz="4200" b="0" u="none" strike="noStrike">
                <a:solidFill>
                  <a:srgbClr val="F7F6F2"/>
                </a:solidFill>
                <a:effectLst/>
                <a:uFillTx/>
                <a:latin typeface="Fraunces SemiBold"/>
                <a:ea typeface="Fraunces SemiBold"/>
              </a:rPr>
              <a:t>Construire silver puis gold</a:t>
            </a:r>
            <a:endParaRPr lang="fr-FR" sz="4200" b="0" u="none" strike="noStrike">
              <a:solidFill>
                <a:srgbClr val="FFFFFF"/>
              </a:solidFill>
              <a:effectLst/>
              <a:uFillTx/>
              <a:latin typeface="Arial"/>
            </a:endParaRPr>
          </a:p>
        </p:txBody>
      </p:sp>
      <p:sp>
        <p:nvSpPr>
          <p:cNvPr id="524" name="PlaceHolder 3"/>
          <p:cNvSpPr>
            <a:spLocks noGrp="1"/>
          </p:cNvSpPr>
          <p:nvPr>
            <p:ph type="sldNum" idx="50"/>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92ABAEBD-FB56-486B-9957-8AC604FB3B3F}"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525" name="TextBox 25"/>
          <p:cNvSpPr/>
          <p:nvPr/>
        </p:nvSpPr>
        <p:spPr>
          <a:xfrm>
            <a:off x="640080" y="4892040"/>
            <a:ext cx="6398640" cy="838440"/>
          </a:xfrm>
          <a:prstGeom prst="rect">
            <a:avLst/>
          </a:prstGeom>
          <a:noFill/>
          <a:ln w="0">
            <a:noFill/>
          </a:ln>
        </p:spPr>
        <p:style>
          <a:lnRef idx="0"/>
          <a:fillRef idx="0"/>
          <a:effectRef idx="0"/>
          <a:fontRef idx="minor"/>
        </p:style>
        <p:txBody>
          <a:bodyPr lIns="0" tIns="0" rIns="0" bIns="0" anchor="t">
            <a:spAutoFit/>
          </a:bodyPr>
          <a:p>
            <a:pPr>
              <a:lnSpc>
                <a:spcPct val="115000"/>
              </a:lnSpc>
              <a:spcAft>
                <a:spcPts val="400"/>
              </a:spcAft>
            </a:pPr>
            <a:r>
              <a:rPr lang="fr-FR" sz="1600" b="0" u="none" strike="noStrike">
                <a:solidFill>
                  <a:srgbClr val="B8C0C8"/>
                </a:solidFill>
                <a:effectLst/>
                <a:uFillTx/>
                <a:latin typeface="Inter"/>
                <a:ea typeface="DejaVu Sans"/>
              </a:rPr>
              <a:t>Séance 4 · PySpark · US-21 à 28. Standardiser, mettre en quarantaine, re-mesurer, dédoublonner, construire gold, retracer.</a:t>
            </a:r>
            <a:endParaRPr lang="fr-FR" sz="16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6"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Silver : traitements et quarantaine</a:t>
            </a:r>
            <a:endParaRPr lang="fr-FR" sz="2800" b="0" u="none" strike="noStrike">
              <a:solidFill>
                <a:srgbClr val="FFFFFF"/>
              </a:solidFill>
              <a:effectLst/>
              <a:uFillTx/>
              <a:latin typeface="Arial"/>
            </a:endParaRPr>
          </a:p>
        </p:txBody>
      </p:sp>
      <p:sp>
        <p:nvSpPr>
          <p:cNvPr id="527" name="PlaceHolder 2"/>
          <p:cNvSpPr>
            <a:spLocks noGrp="1"/>
          </p:cNvSpPr>
          <p:nvPr>
            <p:ph type="sldNum" idx="51"/>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3DC46078-45F3-44C8-970C-A06779604EF1}"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528"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S4 · US-21, 22</a:t>
            </a:r>
            <a:endParaRPr lang="fr-FR" sz="1100" b="0" u="none" strike="noStrike">
              <a:solidFill>
                <a:srgbClr val="FFFFFF"/>
              </a:solidFill>
              <a:effectLst/>
              <a:uFillTx/>
              <a:latin typeface="Arial"/>
            </a:endParaRPr>
          </a:p>
        </p:txBody>
      </p:sp>
      <p:sp>
        <p:nvSpPr>
          <p:cNvPr id="529"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SILVER, GOLD ET TRAÇABILITÉ · 25 %</a:t>
            </a:r>
            <a:endParaRPr lang="fr-FR" sz="1000" b="0" u="none" strike="noStrike">
              <a:solidFill>
                <a:srgbClr val="FFFFFF"/>
              </a:solidFill>
              <a:effectLst/>
              <a:uFillTx/>
              <a:latin typeface="Arial"/>
            </a:endParaRPr>
          </a:p>
        </p:txBody>
      </p:sp>
      <p:sp>
        <p:nvSpPr>
          <p:cNvPr id="530" name="Attendu"/>
          <p:cNvSpPr/>
          <p:nvPr/>
        </p:nvSpPr>
        <p:spPr>
          <a:xfrm>
            <a:off x="640080" y="1325880"/>
            <a:ext cx="10906560" cy="1320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531" name="Attendu barre"/>
          <p:cNvSpPr/>
          <p:nvPr/>
        </p:nvSpPr>
        <p:spPr>
          <a:xfrm>
            <a:off x="640080" y="1325880"/>
            <a:ext cx="80280" cy="1320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532" name="Icône target" descr="Icône target"/>
          <p:cNvPicPr/>
          <p:nvPr/>
        </p:nvPicPr>
        <p:blipFill>
          <a:blip r:embed="rId1"/>
          <a:stretch/>
        </p:blipFill>
        <p:spPr>
          <a:xfrm>
            <a:off x="896040" y="1435680"/>
            <a:ext cx="272160" cy="272160"/>
          </a:xfrm>
          <a:prstGeom prst="rect">
            <a:avLst/>
          </a:prstGeom>
          <a:noFill/>
          <a:ln w="0">
            <a:noFill/>
          </a:ln>
        </p:spPr>
      </p:pic>
      <p:sp>
        <p:nvSpPr>
          <p:cNvPr id="533"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534" name="TextBox 31"/>
          <p:cNvSpPr/>
          <p:nvPr/>
        </p:nvSpPr>
        <p:spPr>
          <a:xfrm>
            <a:off x="914400" y="1783080"/>
            <a:ext cx="10357920" cy="717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Pour chaque traitement : les </a:t>
            </a:r>
            <a:r>
              <a:rPr lang="fr-FR" sz="1300" b="1" u="none" strike="noStrike">
                <a:solidFill>
                  <a:srgbClr val="F5A623"/>
                </a:solidFill>
                <a:effectLst/>
                <a:uFillTx/>
                <a:latin typeface="Inter"/>
                <a:ea typeface="DejaVu Sans"/>
              </a:rPr>
              <a:t>lignes modifiées</a:t>
            </a:r>
            <a:r>
              <a:rPr lang="fr-FR" sz="1300" b="0" u="none" strike="noStrike">
                <a:solidFill>
                  <a:srgbClr val="F7F6F2"/>
                </a:solidFill>
                <a:effectLst/>
                <a:uFillTx/>
                <a:latin typeface="Inter"/>
                <a:ea typeface="DejaVu Sans"/>
              </a:rPr>
              <a:t> et le </a:t>
            </a:r>
            <a:r>
              <a:rPr lang="fr-FR" sz="1300" b="1" u="none" strike="noStrike">
                <a:solidFill>
                  <a:srgbClr val="F5A623"/>
                </a:solidFill>
                <a:effectLst/>
                <a:uFillTx/>
                <a:latin typeface="Inter"/>
                <a:ea typeface="DejaVu Sans"/>
              </a:rPr>
              <a:t>garde-fou</a:t>
            </a:r>
            <a:r>
              <a:rPr lang="fr-FR" sz="1300" b="0" u="none" strike="noStrike">
                <a:solidFill>
                  <a:srgbClr val="F7F6F2"/>
                </a:solidFill>
                <a:effectLst/>
                <a:uFillTx/>
                <a:latin typeface="Inter"/>
                <a:ea typeface="DejaVu Sans"/>
              </a:rPr>
              <a:t> (ce qu'il ne doit pas faire).</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L'invariant </a:t>
            </a:r>
            <a:r>
              <a:rPr lang="fr-FR" sz="1300" b="1" u="none" strike="noStrike">
                <a:solidFill>
                  <a:srgbClr val="F5A623"/>
                </a:solidFill>
                <a:effectLst/>
                <a:uFillTx/>
                <a:latin typeface="Inter"/>
                <a:ea typeface="DejaVu Sans"/>
              </a:rPr>
              <a:t>silver + rejets = bronze</a:t>
            </a:r>
            <a:r>
              <a:rPr lang="fr-FR" sz="1300" b="0" u="none" strike="noStrike">
                <a:solidFill>
                  <a:srgbClr val="F7F6F2"/>
                </a:solidFill>
                <a:effectLst/>
                <a:uFillTx/>
                <a:latin typeface="Inter"/>
                <a:ea typeface="DejaVu Sans"/>
              </a:rPr>
              <a:t>, </a:t>
            </a:r>
            <a:r>
              <a:rPr lang="fr-FR" sz="1300" b="1" u="none" strike="noStrike">
                <a:solidFill>
                  <a:srgbClr val="F5A623"/>
                </a:solidFill>
                <a:effectLst/>
                <a:uFillTx/>
                <a:latin typeface="Inter"/>
                <a:ea typeface="DejaVu Sans"/>
              </a:rPr>
              <a:t>table par table</a:t>
            </a:r>
            <a:r>
              <a:rPr lang="fr-FR" sz="1300" b="0" u="none" strike="noStrike">
                <a:solidFill>
                  <a:srgbClr val="F7F6F2"/>
                </a:solidFill>
                <a:effectLst/>
                <a:uFillTx/>
                <a:latin typeface="Inter"/>
                <a:ea typeface="DejaVu Sans"/>
              </a:rPr>
              <a:t>, avec l'écart.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Une </a:t>
            </a:r>
            <a:r>
              <a:rPr lang="fr-FR" sz="1300" b="1" u="none" strike="noStrike">
                <a:solidFill>
                  <a:srgbClr val="F5A623"/>
                </a:solidFill>
                <a:effectLst/>
                <a:uFillTx/>
                <a:latin typeface="Inter"/>
                <a:ea typeface="DejaVu Sans"/>
              </a:rPr>
              <a:t>preuve d'idempotence</a:t>
            </a:r>
            <a:r>
              <a:rPr lang="fr-FR" sz="1300" b="0" u="none" strike="noStrike">
                <a:solidFill>
                  <a:srgbClr val="F7F6F2"/>
                </a:solidFill>
                <a:effectLst/>
                <a:uFillTx/>
                <a:latin typeface="Inter"/>
                <a:ea typeface="DejaVu Sans"/>
              </a:rPr>
              <a:t> : le traitement relancé deux fois donne le même résultat.</a:t>
            </a:r>
            <a:endParaRPr lang="fr-FR" sz="1300" b="0" u="none" strike="noStrike">
              <a:solidFill>
                <a:srgbClr val="FFFFFF"/>
              </a:solidFill>
              <a:effectLst/>
              <a:uFillTx/>
              <a:latin typeface="Arial"/>
            </a:endParaRPr>
          </a:p>
        </p:txBody>
      </p:sp>
      <p:graphicFrame>
        <p:nvGraphicFramePr>
          <p:cNvPr id="535" name="Table 32"/>
          <p:cNvGraphicFramePr/>
          <p:nvPr/>
        </p:nvGraphicFramePr>
        <p:xfrm>
          <a:off x="640080" y="2786040"/>
          <a:ext cx="10908360" cy="1389600"/>
        </p:xfrm>
        <a:graphic>
          <a:graphicData uri="http://schemas.openxmlformats.org/drawingml/2006/table">
            <a:tbl>
              <a:tblPr/>
              <a:tblGrid>
                <a:gridCol w="2926080"/>
                <a:gridCol w="1645920"/>
                <a:gridCol w="2011680"/>
                <a:gridCol w="4325040"/>
              </a:tblGrid>
              <a:tr h="347400">
                <a:tc>
                  <a:txBody>
                    <a:bodyPr lIns="73080" rIns="73080" anchor="ctr">
                      <a:noAutofit/>
                    </a:bodyPr>
                    <a:p>
                      <a:pPr>
                        <a:lnSpc>
                          <a:spcPct val="100000"/>
                        </a:lnSpc>
                      </a:pPr>
                      <a:r>
                        <a:rPr lang="en-US" sz="1050" b="1" u="none" spc="45" strike="noStrike">
                          <a:solidFill>
                            <a:srgbClr val="F5A623"/>
                          </a:solidFill>
                          <a:effectLst/>
                          <a:uFillTx/>
                          <a:latin typeface="Inter"/>
                        </a:rPr>
                        <a:t>Traitement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Table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Lignes modifiées</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Garde-fou</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graphicFrame>
        <p:nvGraphicFramePr>
          <p:cNvPr id="536" name="Table 33"/>
          <p:cNvGraphicFramePr/>
          <p:nvPr/>
        </p:nvGraphicFramePr>
        <p:xfrm>
          <a:off x="640080" y="4313160"/>
          <a:ext cx="10908360" cy="1737000"/>
        </p:xfrm>
        <a:graphic>
          <a:graphicData uri="http://schemas.openxmlformats.org/drawingml/2006/table">
            <a:tbl>
              <a:tblPr/>
              <a:tblGrid>
                <a:gridCol w="2926080"/>
                <a:gridCol w="2011680"/>
                <a:gridCol w="2011680"/>
                <a:gridCol w="2011680"/>
                <a:gridCol w="1947600"/>
              </a:tblGrid>
              <a:tr h="347400">
                <a:tc>
                  <a:txBody>
                    <a:bodyPr lIns="73080" rIns="73080" anchor="ctr">
                      <a:noAutofit/>
                    </a:bodyPr>
                    <a:p>
                      <a:pPr>
                        <a:lnSpc>
                          <a:spcPct val="100000"/>
                        </a:lnSpc>
                      </a:pPr>
                      <a:r>
                        <a:rPr lang="en-US" sz="1050" b="1" u="none" spc="45" strike="noStrike">
                          <a:solidFill>
                            <a:srgbClr val="F5A623"/>
                          </a:solidFill>
                          <a:effectLst/>
                          <a:uFillTx/>
                          <a:latin typeface="Inter"/>
                        </a:rPr>
                        <a:t>Table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Lignes bronze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Lignes silver</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Lignes rejetées</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Écart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client (crm)</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client (cif)</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contrat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sinistre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537" name="TextBox 34"/>
          <p:cNvSpPr/>
          <p:nvPr/>
        </p:nvSpPr>
        <p:spPr>
          <a:xfrm>
            <a:off x="640080" y="6123600"/>
            <a:ext cx="10906560" cy="18000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Preuve d'idempotence et chemins des scripts : à indiquer dans le dépôt.</a:t>
            </a:r>
            <a:endParaRPr lang="fr-FR"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8"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Rejets par règle et porte S : bronze contre silver</a:t>
            </a:r>
            <a:endParaRPr lang="fr-FR" sz="2800" b="0" u="none" strike="noStrike">
              <a:solidFill>
                <a:srgbClr val="FFFFFF"/>
              </a:solidFill>
              <a:effectLst/>
              <a:uFillTx/>
              <a:latin typeface="Arial"/>
            </a:endParaRPr>
          </a:p>
        </p:txBody>
      </p:sp>
      <p:sp>
        <p:nvSpPr>
          <p:cNvPr id="539" name="PlaceHolder 2"/>
          <p:cNvSpPr>
            <a:spLocks noGrp="1"/>
          </p:cNvSpPr>
          <p:nvPr>
            <p:ph type="sldNum" idx="52"/>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E0676746-F80F-45D1-BB64-75B5403A183A}"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540"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S4 · US-22, 23</a:t>
            </a:r>
            <a:endParaRPr lang="fr-FR" sz="1100" b="0" u="none" strike="noStrike">
              <a:solidFill>
                <a:srgbClr val="FFFFFF"/>
              </a:solidFill>
              <a:effectLst/>
              <a:uFillTx/>
              <a:latin typeface="Arial"/>
            </a:endParaRPr>
          </a:p>
        </p:txBody>
      </p:sp>
      <p:sp>
        <p:nvSpPr>
          <p:cNvPr id="541"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SILVER, GOLD ET TRAÇABILITÉ · 25 %</a:t>
            </a:r>
            <a:endParaRPr lang="fr-FR" sz="1000" b="0" u="none" strike="noStrike">
              <a:solidFill>
                <a:srgbClr val="FFFFFF"/>
              </a:solidFill>
              <a:effectLst/>
              <a:uFillTx/>
              <a:latin typeface="Arial"/>
            </a:endParaRPr>
          </a:p>
        </p:txBody>
      </p:sp>
      <p:sp>
        <p:nvSpPr>
          <p:cNvPr id="542" name="Attendu"/>
          <p:cNvSpPr/>
          <p:nvPr/>
        </p:nvSpPr>
        <p:spPr>
          <a:xfrm>
            <a:off x="640080" y="1325880"/>
            <a:ext cx="10906560" cy="1320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543" name="Attendu barre"/>
          <p:cNvSpPr/>
          <p:nvPr/>
        </p:nvSpPr>
        <p:spPr>
          <a:xfrm>
            <a:off x="640080" y="1325880"/>
            <a:ext cx="80280" cy="1320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544" name="Icône target" descr="Icône target"/>
          <p:cNvPicPr/>
          <p:nvPr/>
        </p:nvPicPr>
        <p:blipFill>
          <a:blip r:embed="rId1"/>
          <a:stretch/>
        </p:blipFill>
        <p:spPr>
          <a:xfrm>
            <a:off x="896040" y="1435680"/>
            <a:ext cx="272160" cy="272160"/>
          </a:xfrm>
          <a:prstGeom prst="rect">
            <a:avLst/>
          </a:prstGeom>
          <a:noFill/>
          <a:ln w="0">
            <a:noFill/>
          </a:ln>
        </p:spPr>
      </p:pic>
      <p:sp>
        <p:nvSpPr>
          <p:cNvPr id="545"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546" name="TextBox 31"/>
          <p:cNvSpPr/>
          <p:nvPr/>
        </p:nvSpPr>
        <p:spPr>
          <a:xfrm>
            <a:off x="914400" y="1783080"/>
            <a:ext cx="10357920" cy="717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rejets par règle</a:t>
            </a:r>
            <a:r>
              <a:rPr lang="fr-FR" sz="1300" b="0" u="none" strike="noStrike">
                <a:solidFill>
                  <a:srgbClr val="F7F6F2"/>
                </a:solidFill>
                <a:effectLst/>
                <a:uFillTx/>
                <a:latin typeface="Inter"/>
                <a:ea typeface="DejaVu Sans"/>
              </a:rPr>
              <a:t> (dq.rejets) avec la raison métier.</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Pour chaque règle : taux </a:t>
            </a:r>
            <a:r>
              <a:rPr lang="fr-FR" sz="1300" b="1" u="none" strike="noStrike">
                <a:solidFill>
                  <a:srgbClr val="F5A623"/>
                </a:solidFill>
                <a:effectLst/>
                <a:uFillTx/>
                <a:latin typeface="Inter"/>
                <a:ea typeface="DejaVu Sans"/>
              </a:rPr>
              <a:t>bronze</a:t>
            </a:r>
            <a:r>
              <a:rPr lang="fr-FR" sz="1300" b="0" u="none" strike="noStrike">
                <a:solidFill>
                  <a:srgbClr val="F7F6F2"/>
                </a:solidFill>
                <a:effectLst/>
                <a:uFillTx/>
                <a:latin typeface="Inter"/>
                <a:ea typeface="DejaVu Sans"/>
              </a:rPr>
              <a:t>, taux </a:t>
            </a:r>
            <a:r>
              <a:rPr lang="fr-FR" sz="1300" b="1" u="none" strike="noStrike">
                <a:solidFill>
                  <a:srgbClr val="F5A623"/>
                </a:solidFill>
                <a:effectLst/>
                <a:uFillTx/>
                <a:latin typeface="Inter"/>
                <a:ea typeface="DejaVu Sans"/>
              </a:rPr>
              <a:t>silver</a:t>
            </a:r>
            <a:r>
              <a:rPr lang="fr-FR" sz="1300" b="0" u="none" strike="noStrike">
                <a:solidFill>
                  <a:srgbClr val="F7F6F2"/>
                </a:solidFill>
                <a:effectLst/>
                <a:uFillTx/>
                <a:latin typeface="Inter"/>
                <a:ea typeface="DejaVu Sans"/>
              </a:rPr>
              <a:t>, écart, et l'</a:t>
            </a:r>
            <a:r>
              <a:rPr lang="fr-FR" sz="1300" b="1" u="none" strike="noStrike">
                <a:solidFill>
                  <a:srgbClr val="F5A623"/>
                </a:solidFill>
                <a:effectLst/>
                <a:uFillTx/>
                <a:latin typeface="Inter"/>
                <a:ea typeface="DejaVu Sans"/>
              </a:rPr>
              <a:t>explication</a:t>
            </a:r>
            <a:r>
              <a:rPr lang="fr-FR" sz="1300" b="0" u="none" strike="noStrike">
                <a:solidFill>
                  <a:srgbClr val="F7F6F2"/>
                </a:solidFill>
                <a:effectLst/>
                <a:uFillTx/>
                <a:latin typeface="Inter"/>
                <a:ea typeface="DejaVu Sans"/>
              </a:rPr>
              <a:t> de toute baisse.</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règles </a:t>
            </a:r>
            <a:r>
              <a:rPr lang="fr-FR" sz="1300" b="1" u="none" strike="noStrike">
                <a:solidFill>
                  <a:srgbClr val="F5A623"/>
                </a:solidFill>
                <a:effectLst/>
                <a:uFillTx/>
                <a:latin typeface="Inter"/>
                <a:ea typeface="DejaVu Sans"/>
              </a:rPr>
              <a:t>bloquantes</a:t>
            </a:r>
            <a:r>
              <a:rPr lang="fr-FR" sz="1300" b="0" u="none" strike="noStrike">
                <a:solidFill>
                  <a:srgbClr val="F7F6F2"/>
                </a:solidFill>
                <a:effectLst/>
                <a:uFillTx/>
                <a:latin typeface="Inter"/>
                <a:ea typeface="DejaVu Sans"/>
              </a:rPr>
              <a:t> de la porte S : conformes sur silver, ou </a:t>
            </a:r>
            <a:r>
              <a:rPr lang="fr-FR" sz="1300" b="1" u="none" strike="noStrike">
                <a:solidFill>
                  <a:srgbClr val="F5A623"/>
                </a:solidFill>
                <a:effectLst/>
                <a:uFillTx/>
                <a:latin typeface="Inter"/>
                <a:ea typeface="DejaVu Sans"/>
              </a:rPr>
              <a:t>pourquoi pas</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p:txBody>
      </p:sp>
      <p:graphicFrame>
        <p:nvGraphicFramePr>
          <p:cNvPr id="547" name="Table 32"/>
          <p:cNvGraphicFramePr/>
          <p:nvPr/>
        </p:nvGraphicFramePr>
        <p:xfrm>
          <a:off x="640080" y="2786040"/>
          <a:ext cx="10908360" cy="987120"/>
        </p:xfrm>
        <a:graphic>
          <a:graphicData uri="http://schemas.openxmlformats.org/drawingml/2006/table">
            <a:tbl>
              <a:tblPr/>
              <a:tblGrid>
                <a:gridCol w="1188720"/>
                <a:gridCol w="2011680"/>
                <a:gridCol w="1828800"/>
                <a:gridCol w="5879520"/>
              </a:tblGrid>
              <a:tr h="329040">
                <a:tc>
                  <a:txBody>
                    <a:bodyPr lIns="73080" rIns="73080" anchor="ctr">
                      <a:noAutofit/>
                    </a:bodyPr>
                    <a:p>
                      <a:pPr>
                        <a:lnSpc>
                          <a:spcPct val="100000"/>
                        </a:lnSpc>
                      </a:pPr>
                      <a:r>
                        <a:rPr lang="en-US" sz="1050" b="1" u="none" spc="45" strike="noStrike">
                          <a:solidFill>
                            <a:srgbClr val="F5A623"/>
                          </a:solidFill>
                          <a:effectLst/>
                          <a:uFillTx/>
                          <a:latin typeface="Inter"/>
                        </a:rPr>
                        <a:t>Règle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Table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Lignes rejetées</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Raison métier</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2904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graphicFrame>
        <p:nvGraphicFramePr>
          <p:cNvPr id="548" name="Table 33"/>
          <p:cNvGraphicFramePr/>
          <p:nvPr/>
        </p:nvGraphicFramePr>
        <p:xfrm>
          <a:off x="640080" y="3911040"/>
          <a:ext cx="10908360" cy="1974600"/>
        </p:xfrm>
        <a:graphic>
          <a:graphicData uri="http://schemas.openxmlformats.org/drawingml/2006/table">
            <a:tbl>
              <a:tblPr/>
              <a:tblGrid>
                <a:gridCol w="1097280"/>
                <a:gridCol w="1371600"/>
                <a:gridCol w="1463040"/>
                <a:gridCol w="1463040"/>
                <a:gridCol w="1188720"/>
                <a:gridCol w="4325040"/>
              </a:tblGrid>
              <a:tr h="329040">
                <a:tc>
                  <a:txBody>
                    <a:bodyPr lIns="73080" rIns="73080" anchor="ctr">
                      <a:noAutofit/>
                    </a:bodyPr>
                    <a:p>
                      <a:pPr>
                        <a:lnSpc>
                          <a:spcPct val="100000"/>
                        </a:lnSpc>
                      </a:pPr>
                      <a:r>
                        <a:rPr lang="en-US" sz="1050" b="1" u="none" spc="45" strike="noStrike">
                          <a:solidFill>
                            <a:srgbClr val="F5A623"/>
                          </a:solidFill>
                          <a:effectLst/>
                          <a:uFillTx/>
                          <a:latin typeface="Inter"/>
                        </a:rPr>
                        <a:t>Règle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Sévérité</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Taux bronze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Taux silver</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Écart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Explication de l'écart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2904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40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9"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Dédoublonnage : paramètres et mesures</a:t>
            </a:r>
            <a:endParaRPr lang="fr-FR" sz="2800" b="0" u="none" strike="noStrike">
              <a:solidFill>
                <a:srgbClr val="FFFFFF"/>
              </a:solidFill>
              <a:effectLst/>
              <a:uFillTx/>
              <a:latin typeface="Arial"/>
            </a:endParaRPr>
          </a:p>
        </p:txBody>
      </p:sp>
      <p:sp>
        <p:nvSpPr>
          <p:cNvPr id="550" name="PlaceHolder 2"/>
          <p:cNvSpPr>
            <a:spLocks noGrp="1"/>
          </p:cNvSpPr>
          <p:nvPr>
            <p:ph type="sldNum" idx="53"/>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6DC1BCA3-5141-4313-A0B4-37F734A303AA}"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551"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S4 · US-24</a:t>
            </a:r>
            <a:endParaRPr lang="fr-FR" sz="1100" b="0" u="none" strike="noStrike">
              <a:solidFill>
                <a:srgbClr val="FFFFFF"/>
              </a:solidFill>
              <a:effectLst/>
              <a:uFillTx/>
              <a:latin typeface="Arial"/>
            </a:endParaRPr>
          </a:p>
        </p:txBody>
      </p:sp>
      <p:sp>
        <p:nvSpPr>
          <p:cNvPr id="552"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SILVER, GOLD ET TRAÇABILITÉ · 25 %</a:t>
            </a:r>
            <a:endParaRPr lang="fr-FR" sz="1000" b="0" u="none" strike="noStrike">
              <a:solidFill>
                <a:srgbClr val="FFFFFF"/>
              </a:solidFill>
              <a:effectLst/>
              <a:uFillTx/>
              <a:latin typeface="Arial"/>
            </a:endParaRPr>
          </a:p>
        </p:txBody>
      </p:sp>
      <p:sp>
        <p:nvSpPr>
          <p:cNvPr id="553" name="Attendu"/>
          <p:cNvSpPr/>
          <p:nvPr/>
        </p:nvSpPr>
        <p:spPr>
          <a:xfrm>
            <a:off x="640080" y="1325880"/>
            <a:ext cx="10906560" cy="1068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554" name="Attendu barre"/>
          <p:cNvSpPr/>
          <p:nvPr/>
        </p:nvSpPr>
        <p:spPr>
          <a:xfrm>
            <a:off x="640080" y="1325880"/>
            <a:ext cx="80280" cy="1068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555" name="Icône target" descr="Icône target"/>
          <p:cNvPicPr/>
          <p:nvPr/>
        </p:nvPicPr>
        <p:blipFill>
          <a:blip r:embed="rId1"/>
          <a:stretch/>
        </p:blipFill>
        <p:spPr>
          <a:xfrm>
            <a:off x="896040" y="1435680"/>
            <a:ext cx="272160" cy="272160"/>
          </a:xfrm>
          <a:prstGeom prst="rect">
            <a:avLst/>
          </a:prstGeom>
          <a:noFill/>
          <a:ln w="0">
            <a:noFill/>
          </a:ln>
        </p:spPr>
      </p:pic>
      <p:sp>
        <p:nvSpPr>
          <p:cNvPr id="556"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557" name="TextBox 31"/>
          <p:cNvSpPr/>
          <p:nvPr/>
        </p:nvSpPr>
        <p:spPr>
          <a:xfrm>
            <a:off x="914400" y="1783080"/>
            <a:ext cx="10357920" cy="465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paramètres</a:t>
            </a:r>
            <a:r>
              <a:rPr lang="fr-FR" sz="1300" b="0" u="none" strike="noStrike">
                <a:solidFill>
                  <a:srgbClr val="F7F6F2"/>
                </a:solidFill>
                <a:effectLst/>
                <a:uFillTx/>
                <a:latin typeface="Inter"/>
                <a:ea typeface="DejaVu Sans"/>
              </a:rPr>
              <a:t> retenus (normalisation, clés de blocage, similarité, seuils) avec leur </a:t>
            </a:r>
            <a:r>
              <a:rPr lang="fr-FR" sz="1300" b="1" u="none" strike="noStrike">
                <a:solidFill>
                  <a:srgbClr val="F5A623"/>
                </a:solidFill>
                <a:effectLst/>
                <a:uFillTx/>
                <a:latin typeface="Inter"/>
                <a:ea typeface="DejaVu Sans"/>
              </a:rPr>
              <a:t>justification</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1" u="none" strike="noStrike">
                <a:solidFill>
                  <a:srgbClr val="F5A623"/>
                </a:solidFill>
                <a:effectLst/>
                <a:uFillTx/>
                <a:latin typeface="Inter"/>
                <a:ea typeface="DejaVu Sans"/>
              </a:rPr>
              <a:t>Précision</a:t>
            </a:r>
            <a:r>
              <a:rPr lang="fr-FR" sz="1300" b="0" u="none" strike="noStrike">
                <a:solidFill>
                  <a:srgbClr val="F7F6F2"/>
                </a:solidFill>
                <a:effectLst/>
                <a:uFillTx/>
                <a:latin typeface="Inter"/>
                <a:ea typeface="DejaVu Sans"/>
              </a:rPr>
              <a:t> et </a:t>
            </a:r>
            <a:r>
              <a:rPr lang="fr-FR" sz="1300" b="1" u="none" strike="noStrike">
                <a:solidFill>
                  <a:srgbClr val="F5A623"/>
                </a:solidFill>
                <a:effectLst/>
                <a:uFillTx/>
                <a:latin typeface="Inter"/>
                <a:ea typeface="DejaVu Sans"/>
              </a:rPr>
              <a:t>rappel</a:t>
            </a:r>
            <a:r>
              <a:rPr lang="fr-FR" sz="1300" b="0" u="none" strike="noStrike">
                <a:solidFill>
                  <a:srgbClr val="F7F6F2"/>
                </a:solidFill>
                <a:effectLst/>
                <a:uFillTx/>
                <a:latin typeface="Inter"/>
                <a:ea typeface="DejaVu Sans"/>
              </a:rPr>
              <a:t> mesurés sur les 200 paires étiquetées ; nombre d'</a:t>
            </a:r>
            <a:r>
              <a:rPr lang="fr-FR" sz="1300" b="1" u="none" strike="noStrike">
                <a:solidFill>
                  <a:srgbClr val="F5A623"/>
                </a:solidFill>
                <a:effectLst/>
                <a:uFillTx/>
                <a:latin typeface="Inter"/>
                <a:ea typeface="DejaVu Sans"/>
              </a:rPr>
              <a:t>identités distinctes</a:t>
            </a:r>
            <a:r>
              <a:rPr lang="fr-FR" sz="1300" b="0" u="none" strike="noStrike">
                <a:solidFill>
                  <a:srgbClr val="F7F6F2"/>
                </a:solidFill>
                <a:effectLst/>
                <a:uFillTx/>
                <a:latin typeface="Inter"/>
                <a:ea typeface="DejaVu Sans"/>
              </a:rPr>
              <a:t> obtenu.</a:t>
            </a:r>
            <a:endParaRPr lang="fr-FR" sz="1300" b="0" u="none" strike="noStrike">
              <a:solidFill>
                <a:srgbClr val="FFFFFF"/>
              </a:solidFill>
              <a:effectLst/>
              <a:uFillTx/>
              <a:latin typeface="Arial"/>
            </a:endParaRPr>
          </a:p>
        </p:txBody>
      </p:sp>
      <p:graphicFrame>
        <p:nvGraphicFramePr>
          <p:cNvPr id="558" name="Table 32"/>
          <p:cNvGraphicFramePr/>
          <p:nvPr/>
        </p:nvGraphicFramePr>
        <p:xfrm>
          <a:off x="640080" y="2534040"/>
          <a:ext cx="10908360" cy="1755360"/>
        </p:xfrm>
        <a:graphic>
          <a:graphicData uri="http://schemas.openxmlformats.org/drawingml/2006/table">
            <a:tbl>
              <a:tblPr/>
              <a:tblGrid>
                <a:gridCol w="3291840"/>
                <a:gridCol w="2926080"/>
                <a:gridCol w="4690800"/>
              </a:tblGrid>
              <a:tr h="292320">
                <a:tc>
                  <a:txBody>
                    <a:bodyPr lIns="73080" rIns="73080" anchor="ctr">
                      <a:noAutofit/>
                    </a:bodyPr>
                    <a:p>
                      <a:pPr>
                        <a:lnSpc>
                          <a:spcPct val="100000"/>
                        </a:lnSpc>
                      </a:pPr>
                      <a:r>
                        <a:rPr lang="en-US" sz="1000" b="1" u="none" spc="45" strike="noStrike">
                          <a:solidFill>
                            <a:srgbClr val="F5A623"/>
                          </a:solidFill>
                          <a:effectLst/>
                          <a:uFillTx/>
                          <a:latin typeface="Inter"/>
                        </a:rPr>
                        <a:t>Paramètre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Valeur retenue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Justification</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292320">
                <a:tc>
                  <a:txBody>
                    <a:bodyPr lIns="73080" rIns="73080" anchor="ctr">
                      <a:noAutofit/>
                    </a:bodyPr>
                    <a:p>
                      <a:pPr>
                        <a:lnSpc>
                          <a:spcPct val="100000"/>
                        </a:lnSpc>
                      </a:pPr>
                      <a:r>
                        <a:rPr lang="en-US" sz="1100" b="1" u="none" strike="noStrike">
                          <a:solidFill>
                            <a:srgbClr val="F7F6F2"/>
                          </a:solidFill>
                          <a:effectLst/>
                          <a:uFillTx/>
                          <a:latin typeface="Inter"/>
                        </a:rPr>
                        <a:t>Normalisation avant comparaison</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92320">
                <a:tc>
                  <a:txBody>
                    <a:bodyPr lIns="73080" rIns="73080" anchor="ctr">
                      <a:noAutofit/>
                    </a:bodyPr>
                    <a:p>
                      <a:pPr>
                        <a:lnSpc>
                          <a:spcPct val="100000"/>
                        </a:lnSpc>
                      </a:pPr>
                      <a:r>
                        <a:rPr lang="en-US" sz="1100" b="1" u="none" strike="noStrike">
                          <a:solidFill>
                            <a:srgbClr val="F7F6F2"/>
                          </a:solidFill>
                          <a:effectLst/>
                          <a:uFillTx/>
                          <a:latin typeface="Inter"/>
                        </a:rPr>
                        <a:t>Clé(s) de blocage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92320">
                <a:tc>
                  <a:txBody>
                    <a:bodyPr lIns="73080" rIns="73080" anchor="ctr">
                      <a:noAutofit/>
                    </a:bodyPr>
                    <a:p>
                      <a:pPr>
                        <a:lnSpc>
                          <a:spcPct val="100000"/>
                        </a:lnSpc>
                      </a:pPr>
                      <a:r>
                        <a:rPr lang="en-US" sz="1100" b="1" u="none" strike="noStrike">
                          <a:solidFill>
                            <a:srgbClr val="F7F6F2"/>
                          </a:solidFill>
                          <a:effectLst/>
                          <a:uFillTx/>
                          <a:latin typeface="Inter"/>
                        </a:rPr>
                        <a:t>Mesure de similarité</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92320">
                <a:tc>
                  <a:txBody>
                    <a:bodyPr lIns="73080" rIns="73080" anchor="ctr">
                      <a:noAutofit/>
                    </a:bodyPr>
                    <a:p>
                      <a:pPr>
                        <a:lnSpc>
                          <a:spcPct val="100000"/>
                        </a:lnSpc>
                      </a:pPr>
                      <a:r>
                        <a:rPr lang="en-US" sz="1100" b="1" u="none" strike="noStrike">
                          <a:solidFill>
                            <a:srgbClr val="F7F6F2"/>
                          </a:solidFill>
                          <a:effectLst/>
                          <a:uFillTx/>
                          <a:latin typeface="Inter"/>
                        </a:rPr>
                        <a:t>Seuil de fusion automatique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93760">
                <a:tc>
                  <a:txBody>
                    <a:bodyPr lIns="73080" rIns="73080" anchor="ctr">
                      <a:noAutofit/>
                    </a:bodyPr>
                    <a:p>
                      <a:pPr>
                        <a:lnSpc>
                          <a:spcPct val="100000"/>
                        </a:lnSpc>
                      </a:pPr>
                      <a:r>
                        <a:rPr lang="en-US" sz="1100" b="1" u="none" strike="noStrike">
                          <a:solidFill>
                            <a:srgbClr val="F7F6F2"/>
                          </a:solidFill>
                          <a:effectLst/>
                          <a:uFillTx/>
                          <a:latin typeface="Inter"/>
                        </a:rPr>
                        <a:t>Seuil de la zone de revue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graphicFrame>
        <p:nvGraphicFramePr>
          <p:cNvPr id="559" name="Table 33"/>
          <p:cNvGraphicFramePr/>
          <p:nvPr/>
        </p:nvGraphicFramePr>
        <p:xfrm>
          <a:off x="640080" y="4399560"/>
          <a:ext cx="8229240" cy="1700280"/>
        </p:xfrm>
        <a:graphic>
          <a:graphicData uri="http://schemas.openxmlformats.org/drawingml/2006/table">
            <a:tbl>
              <a:tblPr/>
              <a:tblGrid>
                <a:gridCol w="5486400"/>
                <a:gridCol w="2743200"/>
              </a:tblGrid>
              <a:tr h="283320">
                <a:tc>
                  <a:txBody>
                    <a:bodyPr lIns="73080" rIns="73080" anchor="ctr">
                      <a:noAutofit/>
                    </a:bodyPr>
                    <a:p>
                      <a:pPr>
                        <a:lnSpc>
                          <a:spcPct val="100000"/>
                        </a:lnSpc>
                      </a:pPr>
                      <a:r>
                        <a:rPr lang="en-US" sz="1000" b="1" u="none" spc="45" strike="noStrike">
                          <a:solidFill>
                            <a:srgbClr val="F5A623"/>
                          </a:solidFill>
                          <a:effectLst/>
                          <a:uFillTx/>
                          <a:latin typeface="Inter"/>
                        </a:rPr>
                        <a:t>Mesure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Valeur</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283320">
                <a:tc>
                  <a:txBody>
                    <a:bodyPr lIns="73080" rIns="73080" anchor="ctr">
                      <a:noAutofit/>
                    </a:bodyPr>
                    <a:p>
                      <a:pPr>
                        <a:lnSpc>
                          <a:spcPct val="100000"/>
                        </a:lnSpc>
                      </a:pPr>
                      <a:r>
                        <a:rPr lang="en-US" sz="1100" b="1" u="none" strike="noStrike">
                          <a:solidFill>
                            <a:srgbClr val="F7F6F2"/>
                          </a:solidFill>
                          <a:effectLst/>
                          <a:uFillTx/>
                          <a:latin typeface="Inter"/>
                        </a:rPr>
                        <a:t>Groupes de doublons trouvés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83320">
                <a:tc>
                  <a:txBody>
                    <a:bodyPr lIns="73080" rIns="73080" anchor="ctr">
                      <a:noAutofit/>
                    </a:bodyPr>
                    <a:p>
                      <a:pPr>
                        <a:lnSpc>
                          <a:spcPct val="100000"/>
                        </a:lnSpc>
                      </a:pPr>
                      <a:r>
                        <a:rPr lang="en-US" sz="1100" b="1" u="none" strike="noStrike">
                          <a:solidFill>
                            <a:srgbClr val="F7F6F2"/>
                          </a:solidFill>
                          <a:effectLst/>
                          <a:uFillTx/>
                          <a:latin typeface="Inter"/>
                        </a:rPr>
                        <a:t>Paires fusionnées automatiquement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83320">
                <a:tc>
                  <a:txBody>
                    <a:bodyPr lIns="73080" rIns="73080" anchor="ctr">
                      <a:noAutofit/>
                    </a:bodyPr>
                    <a:p>
                      <a:pPr>
                        <a:lnSpc>
                          <a:spcPct val="100000"/>
                        </a:lnSpc>
                      </a:pPr>
                      <a:r>
                        <a:rPr lang="en-US" sz="1100" b="1" u="none" strike="noStrike">
                          <a:solidFill>
                            <a:srgbClr val="F7F6F2"/>
                          </a:solidFill>
                          <a:effectLst/>
                          <a:uFillTx/>
                          <a:latin typeface="Inter"/>
                        </a:rPr>
                        <a:t>Paires en zone de revue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83320">
                <a:tc>
                  <a:txBody>
                    <a:bodyPr lIns="73080" rIns="73080" anchor="ctr">
                      <a:noAutofit/>
                    </a:bodyPr>
                    <a:p>
                      <a:pPr>
                        <a:lnSpc>
                          <a:spcPct val="100000"/>
                        </a:lnSpc>
                      </a:pPr>
                      <a:r>
                        <a:rPr lang="en-US" sz="1100" b="1" u="none" strike="noStrike">
                          <a:solidFill>
                            <a:srgbClr val="F7F6F2"/>
                          </a:solidFill>
                          <a:effectLst/>
                          <a:uFillTx/>
                          <a:latin typeface="Inter"/>
                        </a:rPr>
                        <a:t>Précision / rappel sur les 200 paires étiquetées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83680">
                <a:tc>
                  <a:txBody>
                    <a:bodyPr lIns="73080" rIns="73080" anchor="ctr">
                      <a:noAutofit/>
                    </a:bodyPr>
                    <a:p>
                      <a:pPr>
                        <a:lnSpc>
                          <a:spcPct val="100000"/>
                        </a:lnSpc>
                      </a:pPr>
                      <a:r>
                        <a:rPr lang="en-US" sz="1100" b="1" u="none" strike="noStrike">
                          <a:solidFill>
                            <a:srgbClr val="F7F6F2"/>
                          </a:solidFill>
                          <a:effectLst/>
                          <a:uFillTx/>
                          <a:latin typeface="Inter"/>
                        </a:rPr>
                        <a:t>Identités distinctes obtenues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560" name="TextBox 34"/>
          <p:cNvSpPr/>
          <p:nvPr/>
        </p:nvSpPr>
        <p:spPr>
          <a:xfrm>
            <a:off x="9052560" y="4436640"/>
            <a:ext cx="249408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ZONE DE REVUE</a:t>
            </a:r>
            <a:endParaRPr lang="fr-FR" sz="1100" b="0" u="none" strike="noStrike">
              <a:solidFill>
                <a:srgbClr val="FFFFFF"/>
              </a:solidFill>
              <a:effectLst/>
              <a:uFillTx/>
              <a:latin typeface="Arial"/>
            </a:endParaRPr>
          </a:p>
        </p:txBody>
      </p:sp>
      <p:sp>
        <p:nvSpPr>
          <p:cNvPr id="561" name="Zone à rédiger"/>
          <p:cNvSpPr/>
          <p:nvPr/>
        </p:nvSpPr>
        <p:spPr>
          <a:xfrm>
            <a:off x="9052560" y="4692240"/>
            <a:ext cx="2494080" cy="14320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[Règle de décision proposée]</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2"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Golden record de la Société Meunier et règle de survie</a:t>
            </a:r>
            <a:endParaRPr lang="fr-FR" sz="2800" b="0" u="none" strike="noStrike">
              <a:solidFill>
                <a:srgbClr val="FFFFFF"/>
              </a:solidFill>
              <a:effectLst/>
              <a:uFillTx/>
              <a:latin typeface="Arial"/>
            </a:endParaRPr>
          </a:p>
        </p:txBody>
      </p:sp>
      <p:sp>
        <p:nvSpPr>
          <p:cNvPr id="563" name="PlaceHolder 2"/>
          <p:cNvSpPr>
            <a:spLocks noGrp="1"/>
          </p:cNvSpPr>
          <p:nvPr>
            <p:ph type="sldNum" idx="54"/>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CC555B23-4C3B-467F-A49C-4657449E05C4}"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564"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S4 · US-25</a:t>
            </a:r>
            <a:endParaRPr lang="fr-FR" sz="1100" b="0" u="none" strike="noStrike">
              <a:solidFill>
                <a:srgbClr val="FFFFFF"/>
              </a:solidFill>
              <a:effectLst/>
              <a:uFillTx/>
              <a:latin typeface="Arial"/>
            </a:endParaRPr>
          </a:p>
        </p:txBody>
      </p:sp>
      <p:sp>
        <p:nvSpPr>
          <p:cNvPr id="565"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SILVER, GOLD ET TRAÇABILITÉ · 25 %</a:t>
            </a:r>
            <a:endParaRPr lang="fr-FR" sz="1000" b="0" u="none" strike="noStrike">
              <a:solidFill>
                <a:srgbClr val="FFFFFF"/>
              </a:solidFill>
              <a:effectLst/>
              <a:uFillTx/>
              <a:latin typeface="Arial"/>
            </a:endParaRPr>
          </a:p>
        </p:txBody>
      </p:sp>
      <p:sp>
        <p:nvSpPr>
          <p:cNvPr id="566" name="Attendu"/>
          <p:cNvSpPr/>
          <p:nvPr/>
        </p:nvSpPr>
        <p:spPr>
          <a:xfrm>
            <a:off x="640080" y="1325880"/>
            <a:ext cx="10906560" cy="1068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567" name="Attendu barre"/>
          <p:cNvSpPr/>
          <p:nvPr/>
        </p:nvSpPr>
        <p:spPr>
          <a:xfrm>
            <a:off x="640080" y="1325880"/>
            <a:ext cx="80280" cy="1068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568" name="Icône target" descr="Icône target"/>
          <p:cNvPicPr/>
          <p:nvPr/>
        </p:nvPicPr>
        <p:blipFill>
          <a:blip r:embed="rId1"/>
          <a:stretch/>
        </p:blipFill>
        <p:spPr>
          <a:xfrm>
            <a:off x="896040" y="1435680"/>
            <a:ext cx="272160" cy="272160"/>
          </a:xfrm>
          <a:prstGeom prst="rect">
            <a:avLst/>
          </a:prstGeom>
          <a:noFill/>
          <a:ln w="0">
            <a:noFill/>
          </a:ln>
        </p:spPr>
      </p:pic>
      <p:sp>
        <p:nvSpPr>
          <p:cNvPr id="569"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570" name="TextBox 31"/>
          <p:cNvSpPr/>
          <p:nvPr/>
        </p:nvSpPr>
        <p:spPr>
          <a:xfrm>
            <a:off x="914400" y="1783080"/>
            <a:ext cx="10357920" cy="465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1" u="none" strike="noStrike">
                <a:solidFill>
                  <a:srgbClr val="F5A623"/>
                </a:solidFill>
                <a:effectLst/>
                <a:uFillTx/>
                <a:latin typeface="Inter"/>
                <a:ea typeface="DejaVu Sans"/>
              </a:rPr>
              <a:t>Un seul CLI</a:t>
            </a:r>
            <a:r>
              <a:rPr lang="fr-FR" sz="1300" b="0" u="none" strike="noStrike">
                <a:solidFill>
                  <a:srgbClr val="F7F6F2"/>
                </a:solidFill>
                <a:effectLst/>
                <a:uFillTx/>
                <a:latin typeface="Inter"/>
                <a:ea typeface="DejaVu Sans"/>
              </a:rPr>
              <a:t> pour les quatre identifiants de la Société Meunier.</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Une </a:t>
            </a:r>
            <a:r>
              <a:rPr lang="fr-FR" sz="1300" b="1" u="none" strike="noStrike">
                <a:solidFill>
                  <a:srgbClr val="F5A623"/>
                </a:solidFill>
                <a:effectLst/>
                <a:uFillTx/>
                <a:latin typeface="Inter"/>
                <a:ea typeface="DejaVu Sans"/>
              </a:rPr>
              <a:t>règle de survie par attribut</a:t>
            </a:r>
            <a:r>
              <a:rPr lang="fr-FR" sz="1300" b="0" u="none" strike="noStrike">
                <a:solidFill>
                  <a:srgbClr val="F7F6F2"/>
                </a:solidFill>
                <a:effectLst/>
                <a:uFillTx/>
                <a:latin typeface="Inter"/>
                <a:ea typeface="DejaVu Sans"/>
              </a:rPr>
              <a:t>, et un cas où elle se </a:t>
            </a:r>
            <a:r>
              <a:rPr lang="fr-FR" sz="1300" b="1" u="none" strike="noStrike">
                <a:solidFill>
                  <a:srgbClr val="F5A623"/>
                </a:solidFill>
                <a:effectLst/>
                <a:uFillTx/>
                <a:latin typeface="Inter"/>
                <a:ea typeface="DejaVu Sans"/>
              </a:rPr>
              <a:t>trompe</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p:txBody>
      </p:sp>
      <p:graphicFrame>
        <p:nvGraphicFramePr>
          <p:cNvPr id="571" name="Table 32"/>
          <p:cNvGraphicFramePr/>
          <p:nvPr/>
        </p:nvGraphicFramePr>
        <p:xfrm>
          <a:off x="640080" y="2534040"/>
          <a:ext cx="6949080" cy="1508400"/>
        </p:xfrm>
        <a:graphic>
          <a:graphicData uri="http://schemas.openxmlformats.org/drawingml/2006/table">
            <a:tbl>
              <a:tblPr/>
              <a:tblGrid>
                <a:gridCol w="2926080"/>
                <a:gridCol w="1828800"/>
                <a:gridCol w="2194560"/>
              </a:tblGrid>
              <a:tr h="301680">
                <a:tc>
                  <a:txBody>
                    <a:bodyPr lIns="73080" rIns="73080" anchor="ctr">
                      <a:noAutofit/>
                    </a:bodyPr>
                    <a:p>
                      <a:pPr>
                        <a:lnSpc>
                          <a:spcPct val="100000"/>
                        </a:lnSpc>
                      </a:pPr>
                      <a:r>
                        <a:rPr lang="en-US" sz="1000" b="1" u="none" spc="45" strike="noStrike">
                          <a:solidFill>
                            <a:srgbClr val="F5A623"/>
                          </a:solidFill>
                          <a:effectLst/>
                          <a:uFillTx/>
                          <a:latin typeface="Inter"/>
                        </a:rPr>
                        <a:t>Identifiant source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Système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CLI attribué</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01680">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01680">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01680">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01680">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graphicFrame>
        <p:nvGraphicFramePr>
          <p:cNvPr id="572" name="Table 33"/>
          <p:cNvGraphicFramePr/>
          <p:nvPr/>
        </p:nvGraphicFramePr>
        <p:xfrm>
          <a:off x="640080" y="4225680"/>
          <a:ext cx="10908000" cy="1600200"/>
        </p:xfrm>
        <a:graphic>
          <a:graphicData uri="http://schemas.openxmlformats.org/drawingml/2006/table">
            <a:tbl>
              <a:tblPr/>
              <a:tblGrid>
                <a:gridCol w="1645920"/>
                <a:gridCol w="2011680"/>
                <a:gridCol w="3748680"/>
                <a:gridCol w="3502080"/>
              </a:tblGrid>
              <a:tr h="320040">
                <a:tc>
                  <a:txBody>
                    <a:bodyPr lIns="73080" rIns="73080" anchor="ctr">
                      <a:noAutofit/>
                    </a:bodyPr>
                    <a:p>
                      <a:pPr>
                        <a:lnSpc>
                          <a:spcPct val="100000"/>
                        </a:lnSpc>
                      </a:pPr>
                      <a:r>
                        <a:rPr lang="en-US" sz="1000" b="1" u="none" spc="45" strike="noStrike">
                          <a:solidFill>
                            <a:srgbClr val="F5A623"/>
                          </a:solidFill>
                          <a:effectLst/>
                          <a:uFillTx/>
                          <a:latin typeface="Inter"/>
                        </a:rPr>
                        <a:t>Attribut</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Source retenue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Règle (priorité, plus récent, non nul)</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Cas où la règle se trompe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20040">
                <a:tc>
                  <a:txBody>
                    <a:bodyPr lIns="73080" rIns="73080" anchor="ctr">
                      <a:noAutofit/>
                    </a:bodyPr>
                    <a:p>
                      <a:pPr>
                        <a:lnSpc>
                          <a:spcPct val="100000"/>
                        </a:lnSpc>
                      </a:pPr>
                      <a:r>
                        <a:rPr lang="en-US" sz="1100" b="1" u="none" strike="noStrike">
                          <a:solidFill>
                            <a:srgbClr val="F7F6F2"/>
                          </a:solidFill>
                          <a:effectLst/>
                          <a:uFillTx/>
                          <a:latin typeface="Inter"/>
                        </a:rPr>
                        <a:t>Nom</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1" u="none" strike="noStrike">
                          <a:solidFill>
                            <a:srgbClr val="F7F6F2"/>
                          </a:solidFill>
                          <a:effectLst/>
                          <a:uFillTx/>
                          <a:latin typeface="Inter"/>
                        </a:rPr>
                        <a:t>Adresse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1" u="none" strike="noStrike">
                          <a:solidFill>
                            <a:srgbClr val="F7F6F2"/>
                          </a:solidFill>
                          <a:effectLst/>
                          <a:uFillTx/>
                          <a:latin typeface="Inter"/>
                        </a:rPr>
                        <a:t>Téléphone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1" u="none" strike="noStrike">
                          <a:solidFill>
                            <a:srgbClr val="F7F6F2"/>
                          </a:solidFill>
                          <a:effectLst/>
                          <a:uFillTx/>
                          <a:latin typeface="Inter"/>
                        </a:rPr>
                        <a:t>Courriel</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573" name="TextBox 34"/>
          <p:cNvSpPr/>
          <p:nvPr/>
        </p:nvSpPr>
        <p:spPr>
          <a:xfrm>
            <a:off x="640080" y="5897880"/>
            <a:ext cx="10906560" cy="18000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Reportez la règle de survie dans le journal des décisions, avec le rôle qui l'a décidée.</a:t>
            </a:r>
            <a:endParaRPr lang="fr-FR"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4"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Gold : tables cohérentes et client actif unique</a:t>
            </a:r>
            <a:endParaRPr lang="fr-FR" sz="2800" b="0" u="none" strike="noStrike">
              <a:solidFill>
                <a:srgbClr val="FFFFFF"/>
              </a:solidFill>
              <a:effectLst/>
              <a:uFillTx/>
              <a:latin typeface="Arial"/>
            </a:endParaRPr>
          </a:p>
        </p:txBody>
      </p:sp>
      <p:sp>
        <p:nvSpPr>
          <p:cNvPr id="575" name="PlaceHolder 2"/>
          <p:cNvSpPr>
            <a:spLocks noGrp="1"/>
          </p:cNvSpPr>
          <p:nvPr>
            <p:ph type="sldNum" idx="55"/>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6DBA6417-83E3-442A-AE81-59F8A8784084}"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576"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S4 · US-27</a:t>
            </a:r>
            <a:endParaRPr lang="fr-FR" sz="1100" b="0" u="none" strike="noStrike">
              <a:solidFill>
                <a:srgbClr val="FFFFFF"/>
              </a:solidFill>
              <a:effectLst/>
              <a:uFillTx/>
              <a:latin typeface="Arial"/>
            </a:endParaRPr>
          </a:p>
        </p:txBody>
      </p:sp>
      <p:sp>
        <p:nvSpPr>
          <p:cNvPr id="577"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SILVER, GOLD ET TRAÇABILITÉ · 25 %</a:t>
            </a:r>
            <a:endParaRPr lang="fr-FR" sz="1000" b="0" u="none" strike="noStrike">
              <a:solidFill>
                <a:srgbClr val="FFFFFF"/>
              </a:solidFill>
              <a:effectLst/>
              <a:uFillTx/>
              <a:latin typeface="Arial"/>
            </a:endParaRPr>
          </a:p>
        </p:txBody>
      </p:sp>
      <p:sp>
        <p:nvSpPr>
          <p:cNvPr id="578" name="Attendu"/>
          <p:cNvSpPr/>
          <p:nvPr/>
        </p:nvSpPr>
        <p:spPr>
          <a:xfrm>
            <a:off x="640080" y="1325880"/>
            <a:ext cx="10906560" cy="1320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579" name="Attendu barre"/>
          <p:cNvSpPr/>
          <p:nvPr/>
        </p:nvSpPr>
        <p:spPr>
          <a:xfrm>
            <a:off x="640080" y="1325880"/>
            <a:ext cx="80280" cy="1320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580" name="Icône target" descr="Icône target"/>
          <p:cNvPicPr/>
          <p:nvPr/>
        </p:nvPicPr>
        <p:blipFill>
          <a:blip r:embed="rId1"/>
          <a:stretch/>
        </p:blipFill>
        <p:spPr>
          <a:xfrm>
            <a:off x="896040" y="1435680"/>
            <a:ext cx="272160" cy="272160"/>
          </a:xfrm>
          <a:prstGeom prst="rect">
            <a:avLst/>
          </a:prstGeom>
          <a:noFill/>
          <a:ln w="0">
            <a:noFill/>
          </a:ln>
        </p:spPr>
      </p:pic>
      <p:sp>
        <p:nvSpPr>
          <p:cNvPr id="581"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582" name="TextBox 31"/>
          <p:cNvSpPr/>
          <p:nvPr/>
        </p:nvSpPr>
        <p:spPr>
          <a:xfrm>
            <a:off x="914400" y="1783080"/>
            <a:ext cx="10357920" cy="717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lignes</a:t>
            </a:r>
            <a:r>
              <a:rPr lang="fr-FR" sz="1300" b="0" u="none" strike="noStrike">
                <a:solidFill>
                  <a:srgbClr val="F7F6F2"/>
                </a:solidFill>
                <a:effectLst/>
                <a:uFillTx/>
                <a:latin typeface="Inter"/>
                <a:ea typeface="DejaVu Sans"/>
              </a:rPr>
              <a:t> de chaque table gold, les </a:t>
            </a:r>
            <a:r>
              <a:rPr lang="fr-FR" sz="1300" b="1" u="none" strike="noStrike">
                <a:solidFill>
                  <a:srgbClr val="F5A623"/>
                </a:solidFill>
                <a:effectLst/>
                <a:uFillTx/>
                <a:latin typeface="Inter"/>
                <a:ea typeface="DejaVu Sans"/>
              </a:rPr>
              <a:t>lignes écartées</a:t>
            </a:r>
            <a:r>
              <a:rPr lang="fr-FR" sz="1300" b="0" u="none" strike="noStrike">
                <a:solidFill>
                  <a:srgbClr val="F7F6F2"/>
                </a:solidFill>
                <a:effectLst/>
                <a:uFillTx/>
                <a:latin typeface="Inter"/>
                <a:ea typeface="DejaVu Sans"/>
              </a:rPr>
              <a:t> à la porte G et les </a:t>
            </a:r>
            <a:r>
              <a:rPr lang="fr-FR" sz="1300" b="1" u="none" strike="noStrike">
                <a:solidFill>
                  <a:srgbClr val="F5A623"/>
                </a:solidFill>
                <a:effectLst/>
                <a:uFillTx/>
                <a:latin typeface="Inter"/>
                <a:ea typeface="DejaVu Sans"/>
              </a:rPr>
              <a:t>règles responsables</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1" u="none" strike="noStrike">
                <a:solidFill>
                  <a:srgbClr val="F5A623"/>
                </a:solidFill>
                <a:effectLst/>
                <a:uFillTx/>
                <a:latin typeface="Inter"/>
                <a:ea typeface="DejaVu Sans"/>
              </a:rPr>
              <a:t>Aucun orphelin</a:t>
            </a:r>
            <a:r>
              <a:rPr lang="fr-FR" sz="1300" b="0" u="none" strike="noStrike">
                <a:solidFill>
                  <a:srgbClr val="F7F6F2"/>
                </a:solidFill>
                <a:effectLst/>
                <a:uFillTx/>
                <a:latin typeface="Inter"/>
                <a:ea typeface="DejaVu Sans"/>
              </a:rPr>
              <a:t> dans gold ; client actif publié par la </a:t>
            </a:r>
            <a:r>
              <a:rPr lang="fr-FR" sz="1300" b="1" u="none" strike="noStrike">
                <a:solidFill>
                  <a:srgbClr val="F5A623"/>
                </a:solidFill>
                <a:effectLst/>
                <a:uFillTx/>
                <a:latin typeface="Inter"/>
                <a:ea typeface="DejaVu Sans"/>
              </a:rPr>
              <a:t>vue unique</a:t>
            </a:r>
            <a:r>
              <a:rPr lang="fr-FR" sz="1300" b="0" u="none" strike="noStrike">
                <a:solidFill>
                  <a:srgbClr val="F7F6F2"/>
                </a:solidFill>
                <a:effectLst/>
                <a:uFillTx/>
                <a:latin typeface="Inter"/>
                <a:ea typeface="DejaVu Sans"/>
              </a:rPr>
              <a:t> v_client_actif.</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t>
            </a:r>
            <a:r>
              <a:rPr lang="fr-FR" sz="1300" b="1" u="none" strike="noStrike">
                <a:solidFill>
                  <a:srgbClr val="F5A623"/>
                </a:solidFill>
                <a:effectLst/>
                <a:uFillTx/>
                <a:latin typeface="Inter"/>
                <a:ea typeface="DejaVu Sans"/>
              </a:rPr>
              <a:t>effet de la quarantaine</a:t>
            </a:r>
            <a:r>
              <a:rPr lang="fr-FR" sz="1300" b="0" u="none" strike="noStrike">
                <a:solidFill>
                  <a:srgbClr val="F7F6F2"/>
                </a:solidFill>
                <a:effectLst/>
                <a:uFillTx/>
                <a:latin typeface="Inter"/>
                <a:ea typeface="DejaVu Sans"/>
              </a:rPr>
              <a:t> en aval : un client écarté laisse-t-il des contrats orphelins ?</a:t>
            </a:r>
            <a:endParaRPr lang="fr-FR" sz="1300" b="0" u="none" strike="noStrike">
              <a:solidFill>
                <a:srgbClr val="FFFFFF"/>
              </a:solidFill>
              <a:effectLst/>
              <a:uFillTx/>
              <a:latin typeface="Arial"/>
            </a:endParaRPr>
          </a:p>
        </p:txBody>
      </p:sp>
      <p:graphicFrame>
        <p:nvGraphicFramePr>
          <p:cNvPr id="583" name="Table 32"/>
          <p:cNvGraphicFramePr/>
          <p:nvPr/>
        </p:nvGraphicFramePr>
        <p:xfrm>
          <a:off x="640080" y="2786040"/>
          <a:ext cx="10908360" cy="1737000"/>
        </p:xfrm>
        <a:graphic>
          <a:graphicData uri="http://schemas.openxmlformats.org/drawingml/2006/table">
            <a:tbl>
              <a:tblPr/>
              <a:tblGrid>
                <a:gridCol w="2743200"/>
                <a:gridCol w="1645920"/>
                <a:gridCol w="2560320"/>
                <a:gridCol w="3959280"/>
              </a:tblGrid>
              <a:tr h="347400">
                <a:tc>
                  <a:txBody>
                    <a:bodyPr lIns="73080" rIns="73080" anchor="ctr">
                      <a:noAutofit/>
                    </a:bodyPr>
                    <a:p>
                      <a:pPr>
                        <a:lnSpc>
                          <a:spcPct val="100000"/>
                        </a:lnSpc>
                      </a:pPr>
                      <a:r>
                        <a:rPr lang="en-US" sz="1050" b="1" u="none" spc="45" strike="noStrike">
                          <a:solidFill>
                            <a:srgbClr val="F5A623"/>
                          </a:solidFill>
                          <a:effectLst/>
                          <a:uFillTx/>
                          <a:latin typeface="Inter"/>
                        </a:rPr>
                        <a:t>Table gold</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Lignes</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Lignes écartées (porte G)</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Règles responsables</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client_unique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xref_identifiants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contrat_certifie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sinistre_certifie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584" name="TextBox 33"/>
          <p:cNvSpPr/>
          <p:nvPr/>
        </p:nvSpPr>
        <p:spPr>
          <a:xfrm>
            <a:off x="640080" y="4697640"/>
            <a:ext cx="534708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ORPHELINS ET CLIENT ACTIF PUBLIÉ</a:t>
            </a:r>
            <a:endParaRPr lang="fr-FR" sz="1100" b="0" u="none" strike="noStrike">
              <a:solidFill>
                <a:srgbClr val="FFFFFF"/>
              </a:solidFill>
              <a:effectLst/>
              <a:uFillTx/>
              <a:latin typeface="Arial"/>
            </a:endParaRPr>
          </a:p>
        </p:txBody>
      </p:sp>
      <p:sp>
        <p:nvSpPr>
          <p:cNvPr id="585" name="Zone à rédiger"/>
          <p:cNvSpPr/>
          <p:nvPr/>
        </p:nvSpPr>
        <p:spPr>
          <a:xfrm>
            <a:off x="640080" y="4953240"/>
            <a:ext cx="5347080" cy="11710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[Chiffres, écart avec CD-001]</a:t>
            </a:r>
            <a:endParaRPr lang="fr-FR" sz="1200" b="0" u="none" strike="noStrike">
              <a:solidFill>
                <a:srgbClr val="FFFFFF"/>
              </a:solidFill>
              <a:effectLst/>
              <a:uFillTx/>
              <a:latin typeface="Arial"/>
            </a:endParaRPr>
          </a:p>
        </p:txBody>
      </p:sp>
      <p:sp>
        <p:nvSpPr>
          <p:cNvPr id="586" name="TextBox 35"/>
          <p:cNvSpPr/>
          <p:nvPr/>
        </p:nvSpPr>
        <p:spPr>
          <a:xfrm>
            <a:off x="6199560" y="4697640"/>
            <a:ext cx="534708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EFFET DE LA QUARANTAINE SUR L'INTÉGRITÉ EN AVAL</a:t>
            </a:r>
            <a:endParaRPr lang="fr-FR" sz="1100" b="0" u="none" strike="noStrike">
              <a:solidFill>
                <a:srgbClr val="FFFFFF"/>
              </a:solidFill>
              <a:effectLst/>
              <a:uFillTx/>
              <a:latin typeface="Arial"/>
            </a:endParaRPr>
          </a:p>
        </p:txBody>
      </p:sp>
      <p:sp>
        <p:nvSpPr>
          <p:cNvPr id="587" name="Zone à rédiger"/>
          <p:cNvSpPr/>
          <p:nvPr/>
        </p:nvSpPr>
        <p:spPr>
          <a:xfrm>
            <a:off x="6199560" y="4953240"/>
            <a:ext cx="5347080" cy="11710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8"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Retracer trois données de gold jusqu'à la source</a:t>
            </a:r>
            <a:endParaRPr lang="fr-FR" sz="2800" b="0" u="none" strike="noStrike">
              <a:solidFill>
                <a:srgbClr val="FFFFFF"/>
              </a:solidFill>
              <a:effectLst/>
              <a:uFillTx/>
              <a:latin typeface="Arial"/>
            </a:endParaRPr>
          </a:p>
        </p:txBody>
      </p:sp>
      <p:sp>
        <p:nvSpPr>
          <p:cNvPr id="589" name="PlaceHolder 2"/>
          <p:cNvSpPr>
            <a:spLocks noGrp="1"/>
          </p:cNvSpPr>
          <p:nvPr>
            <p:ph type="sldNum" idx="56"/>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21ADA4E2-8F0C-41E1-8F30-AD09DB98C675}"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590"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S4 · US-28</a:t>
            </a:r>
            <a:endParaRPr lang="fr-FR" sz="1100" b="0" u="none" strike="noStrike">
              <a:solidFill>
                <a:srgbClr val="FFFFFF"/>
              </a:solidFill>
              <a:effectLst/>
              <a:uFillTx/>
              <a:latin typeface="Arial"/>
            </a:endParaRPr>
          </a:p>
        </p:txBody>
      </p:sp>
      <p:sp>
        <p:nvSpPr>
          <p:cNvPr id="591"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SILVER, GOLD ET TRAÇABILITÉ · 25 %</a:t>
            </a:r>
            <a:endParaRPr lang="fr-FR" sz="1000" b="0" u="none" strike="noStrike">
              <a:solidFill>
                <a:srgbClr val="FFFFFF"/>
              </a:solidFill>
              <a:effectLst/>
              <a:uFillTx/>
              <a:latin typeface="Arial"/>
            </a:endParaRPr>
          </a:p>
        </p:txBody>
      </p:sp>
      <p:sp>
        <p:nvSpPr>
          <p:cNvPr id="592" name="Attendu"/>
          <p:cNvSpPr/>
          <p:nvPr/>
        </p:nvSpPr>
        <p:spPr>
          <a:xfrm>
            <a:off x="640080" y="1325880"/>
            <a:ext cx="10906560" cy="12830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593" name="Attendu barre"/>
          <p:cNvSpPr/>
          <p:nvPr/>
        </p:nvSpPr>
        <p:spPr>
          <a:xfrm>
            <a:off x="640080" y="1325880"/>
            <a:ext cx="80280" cy="12830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594" name="Icône target" descr="Icône target"/>
          <p:cNvPicPr/>
          <p:nvPr/>
        </p:nvPicPr>
        <p:blipFill>
          <a:blip r:embed="rId1"/>
          <a:stretch/>
        </p:blipFill>
        <p:spPr>
          <a:xfrm>
            <a:off x="896040" y="1435680"/>
            <a:ext cx="272160" cy="272160"/>
          </a:xfrm>
          <a:prstGeom prst="rect">
            <a:avLst/>
          </a:prstGeom>
          <a:noFill/>
          <a:ln w="0">
            <a:noFill/>
          </a:ln>
        </p:spPr>
      </p:pic>
      <p:sp>
        <p:nvSpPr>
          <p:cNvPr id="595"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596" name="TextBox 31"/>
          <p:cNvSpPr/>
          <p:nvPr/>
        </p:nvSpPr>
        <p:spPr>
          <a:xfrm>
            <a:off x="914400" y="1783080"/>
            <a:ext cx="10357920" cy="6789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Pour </a:t>
            </a:r>
            <a:r>
              <a:rPr lang="fr-FR" sz="1300" b="1" u="none" strike="noStrike">
                <a:solidFill>
                  <a:srgbClr val="F5A623"/>
                </a:solidFill>
                <a:effectLst/>
                <a:uFillTx/>
                <a:latin typeface="Inter"/>
                <a:ea typeface="DejaVu Sans"/>
              </a:rPr>
              <a:t>chacune des trois données</a:t>
            </a:r>
            <a:r>
              <a:rPr lang="fr-FR" sz="1300" b="0" u="none" strike="noStrike">
                <a:solidFill>
                  <a:srgbClr val="F7F6F2"/>
                </a:solidFill>
                <a:effectLst/>
                <a:uFillTx/>
                <a:latin typeface="Inter"/>
                <a:ea typeface="DejaVu Sans"/>
              </a:rPr>
              <a:t> : la valeur dans gold, les identifiants de ligne silver et bronze (avec le lot), la source (table, clé).</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a:t>
            </a:r>
            <a:r>
              <a:rPr lang="fr-FR" sz="1300" b="1" u="none" strike="noStrike">
                <a:solidFill>
                  <a:srgbClr val="F5A623"/>
                </a:solidFill>
                <a:effectLst/>
                <a:uFillTx/>
                <a:latin typeface="Inter"/>
                <a:ea typeface="DejaVu Sans"/>
              </a:rPr>
              <a:t>requête de traçabilité</a:t>
            </a:r>
            <a:r>
              <a:rPr lang="fr-FR" sz="1300" b="0" u="none" strike="noStrike">
                <a:solidFill>
                  <a:srgbClr val="F7F6F2"/>
                </a:solidFill>
                <a:effectLst/>
                <a:uFillTx/>
                <a:latin typeface="Inter"/>
                <a:ea typeface="DejaVu Sans"/>
              </a:rPr>
              <a:t> est dans le dépôt.</a:t>
            </a:r>
            <a:endParaRPr lang="fr-FR" sz="1300" b="0" u="none" strike="noStrike">
              <a:solidFill>
                <a:srgbClr val="FFFFFF"/>
              </a:solidFill>
              <a:effectLst/>
              <a:uFillTx/>
              <a:latin typeface="Arial"/>
            </a:endParaRPr>
          </a:p>
        </p:txBody>
      </p:sp>
      <p:graphicFrame>
        <p:nvGraphicFramePr>
          <p:cNvPr id="597" name="Table 32"/>
          <p:cNvGraphicFramePr/>
          <p:nvPr/>
        </p:nvGraphicFramePr>
        <p:xfrm>
          <a:off x="640080" y="2793960"/>
          <a:ext cx="10908360" cy="1828800"/>
        </p:xfrm>
        <a:graphic>
          <a:graphicData uri="http://schemas.openxmlformats.org/drawingml/2006/table">
            <a:tbl>
              <a:tblPr/>
              <a:tblGrid>
                <a:gridCol w="2560320"/>
                <a:gridCol w="1828800"/>
                <a:gridCol w="2194560"/>
                <a:gridCol w="2377440"/>
                <a:gridCol w="1947600"/>
              </a:tblGrid>
              <a:tr h="457200">
                <a:tc>
                  <a:txBody>
                    <a:bodyPr lIns="73080" rIns="73080" anchor="ctr">
                      <a:noAutofit/>
                    </a:bodyPr>
                    <a:p>
                      <a:pPr>
                        <a:lnSpc>
                          <a:spcPct val="100000"/>
                        </a:lnSpc>
                      </a:pPr>
                      <a:r>
                        <a:rPr lang="en-US" sz="1100" b="1" u="none" spc="45" strike="noStrike">
                          <a:solidFill>
                            <a:srgbClr val="F5A623"/>
                          </a:solidFill>
                          <a:effectLst/>
                          <a:uFillTx/>
                          <a:latin typeface="Inter"/>
                        </a:rPr>
                        <a:t>Donnée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Gold</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Silver (identifiants)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Bronze (identifiants, lot)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Source (table, clé)</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457200">
                <a:tc>
                  <a:txBody>
                    <a:bodyPr lIns="73080" rIns="73080" anchor="ctr">
                      <a:noAutofit/>
                    </a:bodyPr>
                    <a:p>
                      <a:pPr>
                        <a:lnSpc>
                          <a:spcPct val="100000"/>
                        </a:lnSpc>
                      </a:pPr>
                      <a:r>
                        <a:rPr lang="en-US" sz="1200" b="1" u="none" strike="noStrike">
                          <a:solidFill>
                            <a:srgbClr val="F7F6F2"/>
                          </a:solidFill>
                          <a:effectLst/>
                          <a:uFillTx/>
                          <a:latin typeface="Inter"/>
                        </a:rPr>
                        <a:t>Société Meunier</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457200">
                <a:tc>
                  <a:txBody>
                    <a:bodyPr lIns="73080" rIns="73080" anchor="ctr">
                      <a:noAutofit/>
                    </a:bodyPr>
                    <a:p>
                      <a:pPr>
                        <a:lnSpc>
                          <a:spcPct val="100000"/>
                        </a:lnSpc>
                      </a:pPr>
                      <a:r>
                        <a:rPr lang="en-US" sz="1200" b="1" u="none" strike="noStrike">
                          <a:solidFill>
                            <a:srgbClr val="F7F6F2"/>
                          </a:solidFill>
                          <a:effectLst/>
                          <a:uFillTx/>
                          <a:latin typeface="Inter"/>
                        </a:rPr>
                        <a:t>Un code postal à zéro initial</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457200">
                <a:tc>
                  <a:txBody>
                    <a:bodyPr lIns="73080" rIns="73080" anchor="ctr">
                      <a:noAutofit/>
                    </a:bodyPr>
                    <a:p>
                      <a:pPr>
                        <a:lnSpc>
                          <a:spcPct val="100000"/>
                        </a:lnSpc>
                      </a:pPr>
                      <a:r>
                        <a:rPr lang="en-US" sz="1200" b="1" u="none" strike="noStrike">
                          <a:solidFill>
                            <a:srgbClr val="F7F6F2"/>
                          </a:solidFill>
                          <a:effectLst/>
                          <a:uFillTx/>
                          <a:latin typeface="Inter"/>
                        </a:rPr>
                        <a:t>Une adresse de sinistre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598" name="TextBox 33"/>
          <p:cNvSpPr/>
          <p:nvPr/>
        </p:nvSpPr>
        <p:spPr>
          <a:xfrm>
            <a:off x="640080" y="5890320"/>
            <a:ext cx="1090656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0" u="none" strike="noStrike">
                <a:solidFill>
                  <a:srgbClr val="B8C0C8"/>
                </a:solidFill>
                <a:effectLst/>
                <a:uFillTx/>
                <a:latin typeface="Inter"/>
                <a:ea typeface="DejaVu Sans"/>
              </a:rPr>
              <a:t>Preuve (chemin du notebook, du fichier ou de la requête dans le dépôt) : </a:t>
            </a:r>
            <a:r>
              <a:rPr lang="fr-FR" sz="1200" b="1" u="none" strike="noStrike">
                <a:solidFill>
                  <a:srgbClr val="F5A623"/>
                </a:solidFill>
                <a:effectLst/>
                <a:uFillTx/>
                <a:latin typeface="Inter"/>
                <a:ea typeface="DejaVu Sans"/>
              </a:rPr>
              <a:t>…</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9"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Bilan de S4 : critères de fin et difficultés</a:t>
            </a:r>
            <a:endParaRPr lang="fr-FR" sz="2800" b="0" u="none" strike="noStrike">
              <a:solidFill>
                <a:srgbClr val="FFFFFF"/>
              </a:solidFill>
              <a:effectLst/>
              <a:uFillTx/>
              <a:latin typeface="Arial"/>
            </a:endParaRPr>
          </a:p>
        </p:txBody>
      </p:sp>
      <p:sp>
        <p:nvSpPr>
          <p:cNvPr id="600" name="PlaceHolder 2"/>
          <p:cNvSpPr>
            <a:spLocks noGrp="1"/>
          </p:cNvSpPr>
          <p:nvPr>
            <p:ph type="sldNum" idx="57"/>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7C567824-EC8C-44D4-9E42-D31A9E293B9F}"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601"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S4 · BILAN</a:t>
            </a:r>
            <a:endParaRPr lang="fr-FR" sz="1100" b="0" u="none" strike="noStrike">
              <a:solidFill>
                <a:srgbClr val="FFFFFF"/>
              </a:solidFill>
              <a:effectLst/>
              <a:uFillTx/>
              <a:latin typeface="Arial"/>
            </a:endParaRPr>
          </a:p>
        </p:txBody>
      </p:sp>
      <p:sp>
        <p:nvSpPr>
          <p:cNvPr id="602"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SILVER, GOLD ET TRAÇABILITÉ · 25 %</a:t>
            </a:r>
            <a:endParaRPr lang="fr-FR" sz="1000" b="0" u="none" strike="noStrike">
              <a:solidFill>
                <a:srgbClr val="FFFFFF"/>
              </a:solidFill>
              <a:effectLst/>
              <a:uFillTx/>
              <a:latin typeface="Arial"/>
            </a:endParaRPr>
          </a:p>
        </p:txBody>
      </p:sp>
      <p:sp>
        <p:nvSpPr>
          <p:cNvPr id="603" name="Attendu"/>
          <p:cNvSpPr/>
          <p:nvPr/>
        </p:nvSpPr>
        <p:spPr>
          <a:xfrm>
            <a:off x="640080" y="1325880"/>
            <a:ext cx="10906560" cy="1068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604" name="Attendu barre"/>
          <p:cNvSpPr/>
          <p:nvPr/>
        </p:nvSpPr>
        <p:spPr>
          <a:xfrm>
            <a:off x="640080" y="1325880"/>
            <a:ext cx="80280" cy="1068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605" name="Icône target" descr="Icône target"/>
          <p:cNvPicPr/>
          <p:nvPr/>
        </p:nvPicPr>
        <p:blipFill>
          <a:blip r:embed="rId1"/>
          <a:stretch/>
        </p:blipFill>
        <p:spPr>
          <a:xfrm>
            <a:off x="896040" y="1435680"/>
            <a:ext cx="272160" cy="272160"/>
          </a:xfrm>
          <a:prstGeom prst="rect">
            <a:avLst/>
          </a:prstGeom>
          <a:noFill/>
          <a:ln w="0">
            <a:noFill/>
          </a:ln>
        </p:spPr>
      </p:pic>
      <p:sp>
        <p:nvSpPr>
          <p:cNvPr id="606"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607" name="TextBox 31"/>
          <p:cNvSpPr/>
          <p:nvPr/>
        </p:nvSpPr>
        <p:spPr>
          <a:xfrm>
            <a:off x="914400" y="1783080"/>
            <a:ext cx="10357920" cy="465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Chaque critère coché est </a:t>
            </a:r>
            <a:r>
              <a:rPr lang="fr-FR" sz="1300" b="1" u="none" strike="noStrike">
                <a:solidFill>
                  <a:srgbClr val="F5A623"/>
                </a:solidFill>
                <a:effectLst/>
                <a:uFillTx/>
                <a:latin typeface="Inter"/>
                <a:ea typeface="DejaVu Sans"/>
              </a:rPr>
              <a:t>démontré</a:t>
            </a:r>
            <a:r>
              <a:rPr lang="fr-FR" sz="1300" b="0" u="none" strike="noStrike">
                <a:solidFill>
                  <a:srgbClr val="F7F6F2"/>
                </a:solidFill>
                <a:effectLst/>
                <a:uFillTx/>
                <a:latin typeface="Inter"/>
                <a:ea typeface="DejaVu Sans"/>
              </a:rPr>
              <a:t> par une page de ce livrable ou par un fichier du dépôt.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difficultés sont </a:t>
            </a:r>
            <a:r>
              <a:rPr lang="fr-FR" sz="1300" b="1" u="none" strike="noStrike">
                <a:solidFill>
                  <a:srgbClr val="F5A623"/>
                </a:solidFill>
                <a:effectLst/>
                <a:uFillTx/>
                <a:latin typeface="Inter"/>
                <a:ea typeface="DejaVu Sans"/>
              </a:rPr>
              <a:t>chiffrées en temps perdu</a:t>
            </a:r>
            <a:r>
              <a:rPr lang="fr-FR" sz="1300" b="0" u="none" strike="noStrike">
                <a:solidFill>
                  <a:srgbClr val="F7F6F2"/>
                </a:solidFill>
                <a:effectLst/>
                <a:uFillTx/>
                <a:latin typeface="Inter"/>
                <a:ea typeface="DejaVu Sans"/>
              </a:rPr>
              <a:t> ; un point de reprise utilisé est </a:t>
            </a:r>
            <a:r>
              <a:rPr lang="fr-FR" sz="1300" b="1" u="none" strike="noStrike">
                <a:solidFill>
                  <a:srgbClr val="F5A623"/>
                </a:solidFill>
                <a:effectLst/>
                <a:uFillTx/>
                <a:latin typeface="Inter"/>
                <a:ea typeface="DejaVu Sans"/>
              </a:rPr>
              <a:t>déclaré</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p:txBody>
      </p:sp>
      <p:sp>
        <p:nvSpPr>
          <p:cNvPr id="608" name="Rectangle 32"/>
          <p:cNvSpPr/>
          <p:nvPr/>
        </p:nvSpPr>
        <p:spPr>
          <a:xfrm>
            <a:off x="640080" y="2579760"/>
            <a:ext cx="5118480" cy="354456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pic>
        <p:nvPicPr>
          <p:cNvPr id="609" name="Icône ok" descr="Icône ok"/>
          <p:cNvPicPr/>
          <p:nvPr/>
        </p:nvPicPr>
        <p:blipFill>
          <a:blip r:embed="rId2"/>
          <a:stretch/>
        </p:blipFill>
        <p:spPr>
          <a:xfrm>
            <a:off x="868680" y="2735280"/>
            <a:ext cx="308880" cy="308880"/>
          </a:xfrm>
          <a:prstGeom prst="rect">
            <a:avLst/>
          </a:prstGeom>
          <a:noFill/>
          <a:ln w="0">
            <a:noFill/>
          </a:ln>
        </p:spPr>
      </p:pic>
      <p:sp>
        <p:nvSpPr>
          <p:cNvPr id="610" name="TextBox 34"/>
          <p:cNvSpPr/>
          <p:nvPr/>
        </p:nvSpPr>
        <p:spPr>
          <a:xfrm>
            <a:off x="1289160" y="2783160"/>
            <a:ext cx="4569840" cy="21276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300" b="1" u="none" spc="105" strike="noStrike">
                <a:solidFill>
                  <a:srgbClr val="F7F6F2"/>
                </a:solidFill>
                <a:effectLst/>
                <a:uFillTx/>
                <a:latin typeface="Inter"/>
                <a:ea typeface="DejaVu Sans"/>
              </a:rPr>
              <a:t>CRITÈRES DE FIN</a:t>
            </a:r>
            <a:endParaRPr lang="fr-FR" sz="1300" b="0" u="none" strike="noStrike">
              <a:solidFill>
                <a:srgbClr val="FFFFFF"/>
              </a:solidFill>
              <a:effectLst/>
              <a:uFillTx/>
              <a:latin typeface="Arial"/>
            </a:endParaRPr>
          </a:p>
        </p:txBody>
      </p:sp>
      <p:sp>
        <p:nvSpPr>
          <p:cNvPr id="611" name="TextBox 35"/>
          <p:cNvSpPr/>
          <p:nvPr/>
        </p:nvSpPr>
        <p:spPr>
          <a:xfrm>
            <a:off x="868680" y="3219840"/>
            <a:ext cx="4661280" cy="2410560"/>
          </a:xfrm>
          <a:prstGeom prst="rect">
            <a:avLst/>
          </a:prstGeom>
          <a:noFill/>
          <a:ln w="0">
            <a:noFill/>
          </a:ln>
        </p:spPr>
        <p:style>
          <a:lnRef idx="0"/>
          <a:fillRef idx="0"/>
          <a:effectRef idx="0"/>
          <a:fontRef idx="minor"/>
        </p:style>
        <p:txBody>
          <a:bodyPr lIns="0" tIns="0" rIns="0" bIns="0" anchor="t">
            <a:spAutoFit/>
          </a:bodyPr>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Pour chaque table, silver + rejets = bronze, sans suppression silencieuse.</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Relancer le traitement deux fois donne le même résultat.</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Les règles bloquantes de la porte S sont conformes sur silver.</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Le gold ne contient aucun orphelin ; le client actif est publié par une seule vue.</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Les trois traces remontent du gold à la source avec identifiants de ligne et de lot.</a:t>
            </a:r>
            <a:endParaRPr lang="fr-FR" sz="1250" b="0" u="none" strike="noStrike">
              <a:solidFill>
                <a:srgbClr val="FFFFFF"/>
              </a:solidFill>
              <a:effectLst/>
              <a:uFillTx/>
              <a:latin typeface="Arial"/>
            </a:endParaRPr>
          </a:p>
        </p:txBody>
      </p:sp>
      <p:sp>
        <p:nvSpPr>
          <p:cNvPr id="612" name="TextBox 36"/>
          <p:cNvSpPr/>
          <p:nvPr/>
        </p:nvSpPr>
        <p:spPr>
          <a:xfrm>
            <a:off x="640080" y="5852160"/>
            <a:ext cx="10906560" cy="18000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Remplacez [ ] par [x] une fois le critère démontré.</a:t>
            </a:r>
            <a:endParaRPr lang="fr-FR" sz="1100" b="0" u="none" strike="noStrike">
              <a:solidFill>
                <a:srgbClr val="FFFFFF"/>
              </a:solidFill>
              <a:effectLst/>
              <a:uFillTx/>
              <a:latin typeface="Arial"/>
            </a:endParaRPr>
          </a:p>
        </p:txBody>
      </p:sp>
      <p:sp>
        <p:nvSpPr>
          <p:cNvPr id="613" name="TextBox 37"/>
          <p:cNvSpPr/>
          <p:nvPr/>
        </p:nvSpPr>
        <p:spPr>
          <a:xfrm>
            <a:off x="5943600" y="2616840"/>
            <a:ext cx="560304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DIFFICULTÉS RENCONTRÉES ET TEMPS PERDU</a:t>
            </a:r>
            <a:endParaRPr lang="fr-FR" sz="1100" b="0" u="none" strike="noStrike">
              <a:solidFill>
                <a:srgbClr val="FFFFFF"/>
              </a:solidFill>
              <a:effectLst/>
              <a:uFillTx/>
              <a:latin typeface="Arial"/>
            </a:endParaRPr>
          </a:p>
        </p:txBody>
      </p:sp>
      <p:sp>
        <p:nvSpPr>
          <p:cNvPr id="614" name="Zone à rédiger"/>
          <p:cNvSpPr/>
          <p:nvPr/>
        </p:nvSpPr>
        <p:spPr>
          <a:xfrm>
            <a:off x="5943600" y="2872440"/>
            <a:ext cx="5603040" cy="11682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sp>
        <p:nvSpPr>
          <p:cNvPr id="615" name="TextBox 39"/>
          <p:cNvSpPr/>
          <p:nvPr/>
        </p:nvSpPr>
        <p:spPr>
          <a:xfrm>
            <a:off x="5943600" y="4217040"/>
            <a:ext cx="560304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POINT DE REPRISE UTILISÉ (OUI / NON, LEQUEL)</a:t>
            </a:r>
            <a:endParaRPr lang="fr-FR" sz="1100" b="0" u="none" strike="noStrike">
              <a:solidFill>
                <a:srgbClr val="FFFFFF"/>
              </a:solidFill>
              <a:effectLst/>
              <a:uFillTx/>
              <a:latin typeface="Arial"/>
            </a:endParaRPr>
          </a:p>
        </p:txBody>
      </p:sp>
      <p:sp>
        <p:nvSpPr>
          <p:cNvPr id="616" name="Zone à rédiger"/>
          <p:cNvSpPr/>
          <p:nvPr/>
        </p:nvSpPr>
        <p:spPr>
          <a:xfrm>
            <a:off x="5943600" y="4472640"/>
            <a:ext cx="5603040" cy="6195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sp>
        <p:nvSpPr>
          <p:cNvPr id="617" name="TextBox 41"/>
          <p:cNvSpPr/>
          <p:nvPr/>
        </p:nvSpPr>
        <p:spPr>
          <a:xfrm>
            <a:off x="5943600" y="5268600"/>
            <a:ext cx="560304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CE QUE NOUS FERIONS AUTREMENT</a:t>
            </a:r>
            <a:endParaRPr lang="fr-FR" sz="1100" b="0" u="none" strike="noStrike">
              <a:solidFill>
                <a:srgbClr val="FFFFFF"/>
              </a:solidFill>
              <a:effectLst/>
              <a:uFillTx/>
              <a:latin typeface="Arial"/>
            </a:endParaRPr>
          </a:p>
        </p:txBody>
      </p:sp>
      <p:sp>
        <p:nvSpPr>
          <p:cNvPr id="618" name="Zone à rédiger"/>
          <p:cNvSpPr/>
          <p:nvPr/>
        </p:nvSpPr>
        <p:spPr>
          <a:xfrm>
            <a:off x="5943600" y="5524200"/>
            <a:ext cx="5603040" cy="6001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9" name="PlaceHolder 1"/>
          <p:cNvSpPr>
            <a:spLocks noGrp="1"/>
          </p:cNvSpPr>
          <p:nvPr>
            <p:ph/>
          </p:nvPr>
        </p:nvSpPr>
        <p:spPr>
          <a:xfrm>
            <a:off x="640080" y="2011680"/>
            <a:ext cx="2741040" cy="1186560"/>
          </a:xfrm>
          <a:prstGeom prst="rect">
            <a:avLst/>
          </a:prstGeom>
          <a:noFill/>
          <a:ln w="0">
            <a:noFill/>
          </a:ln>
        </p:spPr>
        <p:txBody>
          <a:bodyPr lIns="90000" tIns="45000" rIns="90000" bIns="45000" anchor="t">
            <a:noAutofit/>
          </a:bodyPr>
          <a:p>
            <a:pPr indent="0" algn="l">
              <a:lnSpc>
                <a:spcPct val="100000"/>
              </a:lnSpc>
              <a:spcBef>
                <a:spcPts val="1440"/>
              </a:spcBef>
              <a:buNone/>
              <a:tabLst>
                <a:tab pos="0" algn="l"/>
              </a:tabLst>
            </a:pPr>
            <a:r>
              <a:rPr lang="en-US" sz="7200" b="0" u="none" strike="noStrike">
                <a:solidFill>
                  <a:srgbClr val="F5A623"/>
                </a:solidFill>
                <a:effectLst/>
                <a:uFillTx/>
                <a:latin typeface="Fraunces SemiBold"/>
                <a:ea typeface="Fraunces SemiBold"/>
              </a:rPr>
              <a:t>05</a:t>
            </a:r>
            <a:endParaRPr lang="fr-FR" sz="7200" b="0" u="none" strike="noStrike">
              <a:solidFill>
                <a:srgbClr val="FFFFFF"/>
              </a:solidFill>
              <a:effectLst/>
              <a:uFillTx/>
              <a:latin typeface="Arial"/>
            </a:endParaRPr>
          </a:p>
        </p:txBody>
      </p:sp>
      <p:sp>
        <p:nvSpPr>
          <p:cNvPr id="620" name="PlaceHolder 2"/>
          <p:cNvSpPr>
            <a:spLocks noGrp="1"/>
          </p:cNvSpPr>
          <p:nvPr>
            <p:ph type="title"/>
          </p:nvPr>
        </p:nvSpPr>
        <p:spPr>
          <a:xfrm>
            <a:off x="640080" y="3200400"/>
            <a:ext cx="6581520" cy="1643760"/>
          </a:xfrm>
          <a:prstGeom prst="rect">
            <a:avLst/>
          </a:prstGeom>
          <a:noFill/>
          <a:ln w="0">
            <a:noFill/>
          </a:ln>
        </p:spPr>
        <p:txBody>
          <a:bodyPr lIns="90000" tIns="45000" rIns="90000" bIns="45000" anchor="t">
            <a:noAutofit/>
          </a:bodyPr>
          <a:p>
            <a:pPr indent="0" algn="l">
              <a:lnSpc>
                <a:spcPct val="100000"/>
              </a:lnSpc>
              <a:buNone/>
              <a:tabLst>
                <a:tab pos="0" algn="l"/>
              </a:tabLst>
            </a:pPr>
            <a:r>
              <a:rPr lang="en-US" sz="4200" b="0" u="none" strike="noStrike">
                <a:solidFill>
                  <a:srgbClr val="F7F6F2"/>
                </a:solidFill>
                <a:effectLst/>
                <a:uFillTx/>
                <a:latin typeface="Fraunces SemiBold"/>
                <a:ea typeface="Fraunces SemiBold"/>
              </a:rPr>
              <a:t>Certifier, publier, gouverner</a:t>
            </a:r>
            <a:endParaRPr lang="fr-FR" sz="4200" b="0" u="none" strike="noStrike">
              <a:solidFill>
                <a:srgbClr val="FFFFFF"/>
              </a:solidFill>
              <a:effectLst/>
              <a:uFillTx/>
              <a:latin typeface="Arial"/>
            </a:endParaRPr>
          </a:p>
        </p:txBody>
      </p:sp>
      <p:sp>
        <p:nvSpPr>
          <p:cNvPr id="621" name="PlaceHolder 3"/>
          <p:cNvSpPr>
            <a:spLocks noGrp="1"/>
          </p:cNvSpPr>
          <p:nvPr>
            <p:ph type="sldNum" idx="58"/>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FE43E739-978B-4E55-A34B-192D8B871102}"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622" name="TextBox 25"/>
          <p:cNvSpPr/>
          <p:nvPr/>
        </p:nvSpPr>
        <p:spPr>
          <a:xfrm>
            <a:off x="640080" y="4892040"/>
            <a:ext cx="6398640" cy="558720"/>
          </a:xfrm>
          <a:prstGeom prst="rect">
            <a:avLst/>
          </a:prstGeom>
          <a:noFill/>
          <a:ln w="0">
            <a:noFill/>
          </a:ln>
        </p:spPr>
        <p:style>
          <a:lnRef idx="0"/>
          <a:fillRef idx="0"/>
          <a:effectRef idx="0"/>
          <a:fontRef idx="minor"/>
        </p:style>
        <p:txBody>
          <a:bodyPr lIns="0" tIns="0" rIns="0" bIns="0" anchor="t">
            <a:spAutoFit/>
          </a:bodyPr>
          <a:p>
            <a:pPr>
              <a:lnSpc>
                <a:spcPct val="115000"/>
              </a:lnSpc>
              <a:spcAft>
                <a:spcPts val="400"/>
              </a:spcAft>
            </a:pPr>
            <a:r>
              <a:rPr lang="fr-FR" sz="1600" b="0" u="none" strike="noStrike">
                <a:solidFill>
                  <a:srgbClr val="B8C0C8"/>
                </a:solidFill>
                <a:effectLst/>
                <a:uFillTx/>
                <a:latin typeface="Inter"/>
                <a:ea typeface="DejaVu Sans"/>
              </a:rPr>
              <a:t>Séance 5 · Porte C · US-29 à 35. Historique sur trois couches, certificat, publication refusée puis acceptée, catalogue.</a:t>
            </a:r>
            <a:endParaRPr lang="fr-FR" sz="16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3"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Historique des mesures et courbes d'évolution</a:t>
            </a:r>
            <a:endParaRPr lang="fr-FR" sz="2800" b="0" u="none" strike="noStrike">
              <a:solidFill>
                <a:srgbClr val="FFFFFF"/>
              </a:solidFill>
              <a:effectLst/>
              <a:uFillTx/>
              <a:latin typeface="Arial"/>
            </a:endParaRPr>
          </a:p>
        </p:txBody>
      </p:sp>
      <p:sp>
        <p:nvSpPr>
          <p:cNvPr id="624" name="PlaceHolder 2"/>
          <p:cNvSpPr>
            <a:spLocks noGrp="1"/>
          </p:cNvSpPr>
          <p:nvPr>
            <p:ph type="sldNum" idx="59"/>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7826DB03-340B-4BB1-985B-9D6D13D5BC5B}"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625"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S5 · US-29, 30</a:t>
            </a:r>
            <a:endParaRPr lang="fr-FR" sz="1100" b="0" u="none" strike="noStrike">
              <a:solidFill>
                <a:srgbClr val="FFFFFF"/>
              </a:solidFill>
              <a:effectLst/>
              <a:uFillTx/>
              <a:latin typeface="Arial"/>
            </a:endParaRPr>
          </a:p>
        </p:txBody>
      </p:sp>
      <p:sp>
        <p:nvSpPr>
          <p:cNvPr id="626"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PREUVE ET CERTIFICAT · 20 %</a:t>
            </a:r>
            <a:endParaRPr lang="fr-FR" sz="1000" b="0" u="none" strike="noStrike">
              <a:solidFill>
                <a:srgbClr val="FFFFFF"/>
              </a:solidFill>
              <a:effectLst/>
              <a:uFillTx/>
              <a:latin typeface="Arial"/>
            </a:endParaRPr>
          </a:p>
        </p:txBody>
      </p:sp>
      <p:sp>
        <p:nvSpPr>
          <p:cNvPr id="627" name="Attendu"/>
          <p:cNvSpPr/>
          <p:nvPr/>
        </p:nvSpPr>
        <p:spPr>
          <a:xfrm>
            <a:off x="640080" y="1325880"/>
            <a:ext cx="10906560" cy="1320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628" name="Attendu barre"/>
          <p:cNvSpPr/>
          <p:nvPr/>
        </p:nvSpPr>
        <p:spPr>
          <a:xfrm>
            <a:off x="640080" y="1325880"/>
            <a:ext cx="80280" cy="1320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629" name="Icône target" descr="Icône target"/>
          <p:cNvPicPr/>
          <p:nvPr/>
        </p:nvPicPr>
        <p:blipFill>
          <a:blip r:embed="rId1"/>
          <a:stretch/>
        </p:blipFill>
        <p:spPr>
          <a:xfrm>
            <a:off x="896040" y="1435680"/>
            <a:ext cx="272160" cy="272160"/>
          </a:xfrm>
          <a:prstGeom prst="rect">
            <a:avLst/>
          </a:prstGeom>
          <a:noFill/>
          <a:ln w="0">
            <a:noFill/>
          </a:ln>
        </p:spPr>
      </p:pic>
      <p:sp>
        <p:nvSpPr>
          <p:cNvPr id="630"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631" name="TextBox 31"/>
          <p:cNvSpPr/>
          <p:nvPr/>
        </p:nvSpPr>
        <p:spPr>
          <a:xfrm>
            <a:off x="914400" y="1783080"/>
            <a:ext cx="10357920" cy="717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1" u="none" strike="noStrike">
                <a:solidFill>
                  <a:srgbClr val="F5A623"/>
                </a:solidFill>
                <a:effectLst/>
                <a:uFillTx/>
                <a:latin typeface="Inter"/>
                <a:ea typeface="DejaVu Sans"/>
              </a:rPr>
              <a:t>Une mesure par couche</a:t>
            </a:r>
            <a:r>
              <a:rPr lang="fr-FR" sz="1300" b="0" u="none" strike="noStrike">
                <a:solidFill>
                  <a:srgbClr val="F7F6F2"/>
                </a:solidFill>
                <a:effectLst/>
                <a:uFillTx/>
                <a:latin typeface="Inter"/>
                <a:ea typeface="DejaVu Sans"/>
              </a:rPr>
              <a:t> où la règle s'applique, pour chaque règle ; les couches non applicables sont </a:t>
            </a:r>
            <a:r>
              <a:rPr lang="fr-FR" sz="1300" b="1" u="none" strike="noStrike">
                <a:solidFill>
                  <a:srgbClr val="F5A623"/>
                </a:solidFill>
                <a:effectLst/>
                <a:uFillTx/>
                <a:latin typeface="Inter"/>
                <a:ea typeface="DejaVu Sans"/>
              </a:rPr>
              <a:t>justifiées</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Toute règle qui </a:t>
            </a:r>
            <a:r>
              <a:rPr lang="fr-FR" sz="1300" b="1" u="none" strike="noStrike">
                <a:solidFill>
                  <a:srgbClr val="F5A623"/>
                </a:solidFill>
                <a:effectLst/>
                <a:uFillTx/>
                <a:latin typeface="Inter"/>
                <a:ea typeface="DejaVu Sans"/>
              </a:rPr>
              <a:t>descend</a:t>
            </a:r>
            <a:r>
              <a:rPr lang="fr-FR" sz="1300" b="0" u="none" strike="noStrike">
                <a:solidFill>
                  <a:srgbClr val="F7F6F2"/>
                </a:solidFill>
                <a:effectLst/>
                <a:uFillTx/>
                <a:latin typeface="Inter"/>
                <a:ea typeface="DejaVu Sans"/>
              </a:rPr>
              <a:t> d'une couche à l'autre est </a:t>
            </a:r>
            <a:r>
              <a:rPr lang="fr-FR" sz="1300" b="1" u="none" strike="noStrike">
                <a:solidFill>
                  <a:srgbClr val="F5A623"/>
                </a:solidFill>
                <a:effectLst/>
                <a:uFillTx/>
                <a:latin typeface="Inter"/>
                <a:ea typeface="DejaVu Sans"/>
              </a:rPr>
              <a:t>expliquée</a:t>
            </a:r>
            <a:r>
              <a:rPr lang="fr-FR" sz="1300" b="0" u="none" strike="noStrike">
                <a:solidFill>
                  <a:srgbClr val="F7F6F2"/>
                </a:solidFill>
                <a:effectLst/>
                <a:uFillTx/>
                <a:latin typeface="Inter"/>
                <a:ea typeface="DejaVu Sans"/>
              </a:rPr>
              <a:t> (filtre, conversion, effet de la quarantaine).</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Une </a:t>
            </a:r>
            <a:r>
              <a:rPr lang="fr-FR" sz="1300" b="1" u="none" strike="noStrike">
                <a:solidFill>
                  <a:srgbClr val="F5A623"/>
                </a:solidFill>
                <a:effectLst/>
                <a:uFillTx/>
                <a:latin typeface="Inter"/>
                <a:ea typeface="DejaVu Sans"/>
              </a:rPr>
              <a:t>courbe par dimension</a:t>
            </a:r>
            <a:r>
              <a:rPr lang="fr-FR" sz="1300" b="0" u="none" strike="noStrike">
                <a:solidFill>
                  <a:srgbClr val="F7F6F2"/>
                </a:solidFill>
                <a:effectLst/>
                <a:uFillTx/>
                <a:latin typeface="Inter"/>
                <a:ea typeface="DejaVu Sans"/>
              </a:rPr>
              <a:t> (image insérée ci-dessous).</a:t>
            </a:r>
            <a:endParaRPr lang="fr-FR" sz="1300" b="0" u="none" strike="noStrike">
              <a:solidFill>
                <a:srgbClr val="FFFFFF"/>
              </a:solidFill>
              <a:effectLst/>
              <a:uFillTx/>
              <a:latin typeface="Arial"/>
            </a:endParaRPr>
          </a:p>
        </p:txBody>
      </p:sp>
      <p:graphicFrame>
        <p:nvGraphicFramePr>
          <p:cNvPr id="632" name="Table 32"/>
          <p:cNvGraphicFramePr/>
          <p:nvPr/>
        </p:nvGraphicFramePr>
        <p:xfrm>
          <a:off x="640080" y="2786040"/>
          <a:ext cx="10908360" cy="1974600"/>
        </p:xfrm>
        <a:graphic>
          <a:graphicData uri="http://schemas.openxmlformats.org/drawingml/2006/table">
            <a:tbl>
              <a:tblPr/>
              <a:tblGrid>
                <a:gridCol w="1005840"/>
                <a:gridCol w="1463040"/>
                <a:gridCol w="1005840"/>
                <a:gridCol w="1005840"/>
                <a:gridCol w="1005840"/>
                <a:gridCol w="1371600"/>
                <a:gridCol w="4050720"/>
              </a:tblGrid>
              <a:tr h="329040">
                <a:tc>
                  <a:txBody>
                    <a:bodyPr lIns="73080" rIns="73080" anchor="ctr">
                      <a:noAutofit/>
                    </a:bodyPr>
                    <a:p>
                      <a:pPr>
                        <a:lnSpc>
                          <a:spcPct val="100000"/>
                        </a:lnSpc>
                      </a:pPr>
                      <a:r>
                        <a:rPr lang="en-US" sz="1000" b="1" u="none" spc="45" strike="noStrike">
                          <a:solidFill>
                            <a:srgbClr val="F5A623"/>
                          </a:solidFill>
                          <a:effectLst/>
                          <a:uFillTx/>
                          <a:latin typeface="Inter"/>
                        </a:rPr>
                        <a:t>Règle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Dimension</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Bronze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Silver</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Gold</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Évolution</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Explication</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29040">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400">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633" name="TextBox 33"/>
          <p:cNvSpPr/>
          <p:nvPr/>
        </p:nvSpPr>
        <p:spPr>
          <a:xfrm>
            <a:off x="640080" y="4935600"/>
            <a:ext cx="10906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COURBES (INSÉREZ L'IMAGE, CHEMIN DU FICHIER DANS LE DÉPÔT)</a:t>
            </a:r>
            <a:endParaRPr lang="fr-FR" sz="1100" b="0" u="none" strike="noStrike">
              <a:solidFill>
                <a:srgbClr val="FFFFFF"/>
              </a:solidFill>
              <a:effectLst/>
              <a:uFillTx/>
              <a:latin typeface="Arial"/>
            </a:endParaRPr>
          </a:p>
        </p:txBody>
      </p:sp>
      <p:sp>
        <p:nvSpPr>
          <p:cNvPr id="634" name="Zone à rédiger"/>
          <p:cNvSpPr/>
          <p:nvPr/>
        </p:nvSpPr>
        <p:spPr>
          <a:xfrm>
            <a:off x="640080" y="5191200"/>
            <a:ext cx="10906560" cy="9331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[Insérez ici les courbes par dimension et par couche]</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5"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Certificat de qualité : GO ou NO_GO</a:t>
            </a:r>
            <a:endParaRPr lang="fr-FR" sz="2800" b="0" u="none" strike="noStrike">
              <a:solidFill>
                <a:srgbClr val="FFFFFF"/>
              </a:solidFill>
              <a:effectLst/>
              <a:uFillTx/>
              <a:latin typeface="Arial"/>
            </a:endParaRPr>
          </a:p>
        </p:txBody>
      </p:sp>
      <p:sp>
        <p:nvSpPr>
          <p:cNvPr id="636" name="PlaceHolder 2"/>
          <p:cNvSpPr>
            <a:spLocks noGrp="1"/>
          </p:cNvSpPr>
          <p:nvPr>
            <p:ph type="sldNum" idx="60"/>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34CAD473-6D6F-459A-B303-453A38229E39}"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637"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S5 · US-31</a:t>
            </a:r>
            <a:endParaRPr lang="fr-FR" sz="1100" b="0" u="none" strike="noStrike">
              <a:solidFill>
                <a:srgbClr val="FFFFFF"/>
              </a:solidFill>
              <a:effectLst/>
              <a:uFillTx/>
              <a:latin typeface="Arial"/>
            </a:endParaRPr>
          </a:p>
        </p:txBody>
      </p:sp>
      <p:sp>
        <p:nvSpPr>
          <p:cNvPr id="638"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PREUVE ET CERTIFICAT · 20 %</a:t>
            </a:r>
            <a:endParaRPr lang="fr-FR" sz="1000" b="0" u="none" strike="noStrike">
              <a:solidFill>
                <a:srgbClr val="FFFFFF"/>
              </a:solidFill>
              <a:effectLst/>
              <a:uFillTx/>
              <a:latin typeface="Arial"/>
            </a:endParaRPr>
          </a:p>
        </p:txBody>
      </p:sp>
      <p:sp>
        <p:nvSpPr>
          <p:cNvPr id="639" name="Attendu"/>
          <p:cNvSpPr/>
          <p:nvPr/>
        </p:nvSpPr>
        <p:spPr>
          <a:xfrm>
            <a:off x="640080" y="1325880"/>
            <a:ext cx="10906560" cy="1320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640" name="Attendu barre"/>
          <p:cNvSpPr/>
          <p:nvPr/>
        </p:nvSpPr>
        <p:spPr>
          <a:xfrm>
            <a:off x="640080" y="1325880"/>
            <a:ext cx="80280" cy="1320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641" name="Icône target" descr="Icône target"/>
          <p:cNvPicPr/>
          <p:nvPr/>
        </p:nvPicPr>
        <p:blipFill>
          <a:blip r:embed="rId1"/>
          <a:stretch/>
        </p:blipFill>
        <p:spPr>
          <a:xfrm>
            <a:off x="896040" y="1435680"/>
            <a:ext cx="272160" cy="272160"/>
          </a:xfrm>
          <a:prstGeom prst="rect">
            <a:avLst/>
          </a:prstGeom>
          <a:noFill/>
          <a:ln w="0">
            <a:noFill/>
          </a:ln>
        </p:spPr>
      </p:pic>
      <p:sp>
        <p:nvSpPr>
          <p:cNvPr id="642"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643" name="TextBox 31"/>
          <p:cNvSpPr/>
          <p:nvPr/>
        </p:nvSpPr>
        <p:spPr>
          <a:xfrm>
            <a:off x="914400" y="1783080"/>
            <a:ext cx="10357920" cy="717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 certificat est </a:t>
            </a:r>
            <a:r>
              <a:rPr lang="fr-FR" sz="1300" b="1" u="none" strike="noStrike">
                <a:solidFill>
                  <a:srgbClr val="F5A623"/>
                </a:solidFill>
                <a:effectLst/>
                <a:uFillTx/>
                <a:latin typeface="Inter"/>
                <a:ea typeface="DejaVu Sans"/>
              </a:rPr>
              <a:t>produit par requête</a:t>
            </a:r>
            <a:r>
              <a:rPr lang="fr-FR" sz="1300" b="0" u="none" strike="noStrike">
                <a:solidFill>
                  <a:srgbClr val="F7F6F2"/>
                </a:solidFill>
                <a:effectLst/>
                <a:uFillTx/>
                <a:latin typeface="Inter"/>
                <a:ea typeface="DejaVu Sans"/>
              </a:rPr>
              <a:t> et lié à une </a:t>
            </a:r>
            <a:r>
              <a:rPr lang="fr-FR" sz="1300" b="1" u="none" strike="noStrike">
                <a:solidFill>
                  <a:srgbClr val="F5A623"/>
                </a:solidFill>
                <a:effectLst/>
                <a:uFillTx/>
                <a:latin typeface="Inter"/>
                <a:ea typeface="DejaVu Sans"/>
              </a:rPr>
              <a:t>empreinte</a:t>
            </a:r>
            <a:r>
              <a:rPr lang="fr-FR" sz="1300" b="0" u="none" strike="noStrike">
                <a:solidFill>
                  <a:srgbClr val="F7F6F2"/>
                </a:solidFill>
                <a:effectLst/>
                <a:uFillTx/>
                <a:latin typeface="Inter"/>
                <a:ea typeface="DejaVu Sans"/>
              </a:rPr>
              <a:t> du gold.</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t>
            </a:r>
            <a:r>
              <a:rPr lang="fr-FR" sz="1300" b="1" u="none" strike="noStrike">
                <a:solidFill>
                  <a:srgbClr val="F5A623"/>
                </a:solidFill>
                <a:effectLst/>
                <a:uFillTx/>
                <a:latin typeface="Inter"/>
                <a:ea typeface="DejaVu Sans"/>
              </a:rPr>
              <a:t>épreuve du NO_GO</a:t>
            </a:r>
            <a:r>
              <a:rPr lang="fr-FR" sz="1300" b="0" u="none" strike="noStrike">
                <a:solidFill>
                  <a:srgbClr val="F7F6F2"/>
                </a:solidFill>
                <a:effectLst/>
                <a:uFillTx/>
                <a:latin typeface="Inter"/>
                <a:ea typeface="DejaVu Sans"/>
              </a:rPr>
              <a:t> : lot volontairement dégradé, décision obtenue, preuve.</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règles bloquantes </a:t>
            </a:r>
            <a:r>
              <a:rPr lang="fr-FR" sz="1300" b="1" u="none" strike="noStrike">
                <a:solidFill>
                  <a:srgbClr val="F5A623"/>
                </a:solidFill>
                <a:effectLst/>
                <a:uFillTx/>
                <a:latin typeface="Inter"/>
                <a:ea typeface="DejaVu Sans"/>
              </a:rPr>
              <a:t>non mesurées</a:t>
            </a:r>
            <a:r>
              <a:rPr lang="fr-FR" sz="1300" b="0" u="none" strike="noStrike">
                <a:solidFill>
                  <a:srgbClr val="F7F6F2"/>
                </a:solidFill>
                <a:effectLst/>
                <a:uFillTx/>
                <a:latin typeface="Inter"/>
                <a:ea typeface="DejaVu Sans"/>
              </a:rPr>
              <a:t> par votre pipeline, donc non couvertes.</a:t>
            </a:r>
            <a:endParaRPr lang="fr-FR" sz="1300" b="0" u="none" strike="noStrike">
              <a:solidFill>
                <a:srgbClr val="FFFFFF"/>
              </a:solidFill>
              <a:effectLst/>
              <a:uFillTx/>
              <a:latin typeface="Arial"/>
            </a:endParaRPr>
          </a:p>
        </p:txBody>
      </p:sp>
      <p:graphicFrame>
        <p:nvGraphicFramePr>
          <p:cNvPr id="644" name="Table 32"/>
          <p:cNvGraphicFramePr/>
          <p:nvPr/>
        </p:nvGraphicFramePr>
        <p:xfrm>
          <a:off x="640080" y="2786040"/>
          <a:ext cx="6949080" cy="2340360"/>
        </p:xfrm>
        <a:graphic>
          <a:graphicData uri="http://schemas.openxmlformats.org/drawingml/2006/table">
            <a:tbl>
              <a:tblPr/>
              <a:tblGrid>
                <a:gridCol w="4023360"/>
                <a:gridCol w="2926080"/>
              </a:tblGrid>
              <a:tr h="292320">
                <a:tc>
                  <a:txBody>
                    <a:bodyPr lIns="73080" rIns="73080" anchor="ctr">
                      <a:noAutofit/>
                    </a:bodyPr>
                    <a:p>
                      <a:pPr>
                        <a:lnSpc>
                          <a:spcPct val="100000"/>
                        </a:lnSpc>
                      </a:pPr>
                      <a:r>
                        <a:rPr lang="en-US" sz="1000" b="1" u="none" spc="45" strike="noStrike">
                          <a:solidFill>
                            <a:srgbClr val="F5A623"/>
                          </a:solidFill>
                          <a:effectLst/>
                          <a:uFillTx/>
                          <a:latin typeface="Inter"/>
                        </a:rPr>
                        <a:t>Élément</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Valeur</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292320">
                <a:tc>
                  <a:txBody>
                    <a:bodyPr lIns="73080" rIns="73080" anchor="ctr">
                      <a:noAutofit/>
                    </a:bodyPr>
                    <a:p>
                      <a:pPr>
                        <a:lnSpc>
                          <a:spcPct val="100000"/>
                        </a:lnSpc>
                      </a:pPr>
                      <a:r>
                        <a:rPr lang="en-US" sz="1100" b="1" u="none" strike="noStrike">
                          <a:solidFill>
                            <a:srgbClr val="F7F6F2"/>
                          </a:solidFill>
                          <a:effectLst/>
                          <a:uFillTx/>
                          <a:latin typeface="Inter"/>
                        </a:rPr>
                        <a:t>Numéro du certificat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92320">
                <a:tc>
                  <a:txBody>
                    <a:bodyPr lIns="73080" rIns="73080" anchor="ctr">
                      <a:noAutofit/>
                    </a:bodyPr>
                    <a:p>
                      <a:pPr>
                        <a:lnSpc>
                          <a:spcPct val="100000"/>
                        </a:lnSpc>
                      </a:pPr>
                      <a:r>
                        <a:rPr lang="en-US" sz="1100" b="1" u="none" strike="noStrike">
                          <a:solidFill>
                            <a:srgbClr val="F7F6F2"/>
                          </a:solidFill>
                          <a:effectLst/>
                          <a:uFillTx/>
                          <a:latin typeface="Inter"/>
                        </a:rPr>
                        <a:t>Lot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92320">
                <a:tc>
                  <a:txBody>
                    <a:bodyPr lIns="73080" rIns="73080" anchor="ctr">
                      <a:noAutofit/>
                    </a:bodyPr>
                    <a:p>
                      <a:pPr>
                        <a:lnSpc>
                          <a:spcPct val="100000"/>
                        </a:lnSpc>
                      </a:pPr>
                      <a:r>
                        <a:rPr lang="en-US" sz="1100" b="1" u="none" strike="noStrike">
                          <a:solidFill>
                            <a:srgbClr val="F7F6F2"/>
                          </a:solidFill>
                          <a:effectLst/>
                          <a:uFillTx/>
                          <a:latin typeface="Inter"/>
                        </a:rPr>
                        <a:t>Décision (GO ou NO_GO)</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92320">
                <a:tc>
                  <a:txBody>
                    <a:bodyPr lIns="73080" rIns="73080" anchor="ctr">
                      <a:noAutofit/>
                    </a:bodyPr>
                    <a:p>
                      <a:pPr>
                        <a:lnSpc>
                          <a:spcPct val="100000"/>
                        </a:lnSpc>
                      </a:pPr>
                      <a:r>
                        <a:rPr lang="en-US" sz="1100" b="1" u="none" strike="noStrike">
                          <a:solidFill>
                            <a:srgbClr val="F7F6F2"/>
                          </a:solidFill>
                          <a:effectLst/>
                          <a:uFillTx/>
                          <a:latin typeface="Inter"/>
                        </a:rPr>
                        <a:t>Règles bloquantes testées / conformes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92320">
                <a:tc>
                  <a:txBody>
                    <a:bodyPr lIns="73080" rIns="73080" anchor="ctr">
                      <a:noAutofit/>
                    </a:bodyPr>
                    <a:p>
                      <a:pPr>
                        <a:lnSpc>
                          <a:spcPct val="100000"/>
                        </a:lnSpc>
                      </a:pPr>
                      <a:r>
                        <a:rPr lang="en-US" sz="1100" b="1" u="none" strike="noStrike">
                          <a:solidFill>
                            <a:srgbClr val="F7F6F2"/>
                          </a:solidFill>
                          <a:effectLst/>
                          <a:uFillTx/>
                          <a:latin typeface="Inter"/>
                        </a:rPr>
                        <a:t>Écarts connus (avertissements)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92320">
                <a:tc>
                  <a:txBody>
                    <a:bodyPr lIns="73080" rIns="73080" anchor="ctr">
                      <a:noAutofit/>
                    </a:bodyPr>
                    <a:p>
                      <a:pPr>
                        <a:lnSpc>
                          <a:spcPct val="100000"/>
                        </a:lnSpc>
                      </a:pPr>
                      <a:r>
                        <a:rPr lang="en-US" sz="1100" b="1" u="none" strike="noStrike">
                          <a:solidFill>
                            <a:srgbClr val="F7F6F2"/>
                          </a:solidFill>
                          <a:effectLst/>
                          <a:uFillTx/>
                          <a:latin typeface="Inter"/>
                        </a:rPr>
                        <a:t>Empreinte du gold</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94120">
                <a:tc>
                  <a:txBody>
                    <a:bodyPr lIns="73080" rIns="73080" anchor="ctr">
                      <a:noAutofit/>
                    </a:bodyPr>
                    <a:p>
                      <a:pPr>
                        <a:lnSpc>
                          <a:spcPct val="100000"/>
                        </a:lnSpc>
                      </a:pPr>
                      <a:r>
                        <a:rPr lang="en-US" sz="1100" b="1" u="none" strike="noStrike">
                          <a:solidFill>
                            <a:srgbClr val="F7F6F2"/>
                          </a:solidFill>
                          <a:effectLst/>
                          <a:uFillTx/>
                          <a:latin typeface="Inter"/>
                        </a:rPr>
                        <a:t>Signataire (rôle)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645" name="TextBox 33"/>
          <p:cNvSpPr/>
          <p:nvPr/>
        </p:nvSpPr>
        <p:spPr>
          <a:xfrm>
            <a:off x="7863840" y="2823120"/>
            <a:ext cx="368280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ÉPREUVE DU NO_GO</a:t>
            </a:r>
            <a:endParaRPr lang="fr-FR" sz="1100" b="0" u="none" strike="noStrike">
              <a:solidFill>
                <a:srgbClr val="FFFFFF"/>
              </a:solidFill>
              <a:effectLst/>
              <a:uFillTx/>
              <a:latin typeface="Arial"/>
            </a:endParaRPr>
          </a:p>
        </p:txBody>
      </p:sp>
      <p:sp>
        <p:nvSpPr>
          <p:cNvPr id="646" name="Zone à rédiger"/>
          <p:cNvSpPr/>
          <p:nvPr/>
        </p:nvSpPr>
        <p:spPr>
          <a:xfrm>
            <a:off x="7863840" y="3078720"/>
            <a:ext cx="3682800" cy="20826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[Comment dégradé, décision, preuve]</a:t>
            </a:r>
            <a:endParaRPr lang="fr-FR" sz="1200" b="0" u="none" strike="noStrike">
              <a:solidFill>
                <a:srgbClr val="FFFFFF"/>
              </a:solidFill>
              <a:effectLst/>
              <a:uFillTx/>
              <a:latin typeface="Arial"/>
            </a:endParaRPr>
          </a:p>
        </p:txBody>
      </p:sp>
      <p:sp>
        <p:nvSpPr>
          <p:cNvPr id="647" name="TextBox 35"/>
          <p:cNvSpPr/>
          <p:nvPr/>
        </p:nvSpPr>
        <p:spPr>
          <a:xfrm>
            <a:off x="640080" y="5255640"/>
            <a:ext cx="10906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RÈGLES NON COUVERTES PAR LE CERTIFICAT</a:t>
            </a:r>
            <a:endParaRPr lang="fr-FR" sz="1100" b="0" u="none" strike="noStrike">
              <a:solidFill>
                <a:srgbClr val="FFFFFF"/>
              </a:solidFill>
              <a:effectLst/>
              <a:uFillTx/>
              <a:latin typeface="Arial"/>
            </a:endParaRPr>
          </a:p>
        </p:txBody>
      </p:sp>
      <p:sp>
        <p:nvSpPr>
          <p:cNvPr id="648" name="Zone à rédiger"/>
          <p:cNvSpPr/>
          <p:nvPr/>
        </p:nvSpPr>
        <p:spPr>
          <a:xfrm>
            <a:off x="640080" y="5511240"/>
            <a:ext cx="10906560" cy="6130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9"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Publication vers le CRM : refus, chargement, réconciliation</a:t>
            </a:r>
            <a:endParaRPr lang="fr-FR" sz="2800" b="0" u="none" strike="noStrike">
              <a:solidFill>
                <a:srgbClr val="FFFFFF"/>
              </a:solidFill>
              <a:effectLst/>
              <a:uFillTx/>
              <a:latin typeface="Arial"/>
            </a:endParaRPr>
          </a:p>
        </p:txBody>
      </p:sp>
      <p:sp>
        <p:nvSpPr>
          <p:cNvPr id="650" name="PlaceHolder 2"/>
          <p:cNvSpPr>
            <a:spLocks noGrp="1"/>
          </p:cNvSpPr>
          <p:nvPr>
            <p:ph type="sldNum" idx="61"/>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C8315306-921B-49A1-BE03-7701427BA44F}"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651"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S5 · US-32</a:t>
            </a:r>
            <a:endParaRPr lang="fr-FR" sz="1100" b="0" u="none" strike="noStrike">
              <a:solidFill>
                <a:srgbClr val="FFFFFF"/>
              </a:solidFill>
              <a:effectLst/>
              <a:uFillTx/>
              <a:latin typeface="Arial"/>
            </a:endParaRPr>
          </a:p>
        </p:txBody>
      </p:sp>
      <p:sp>
        <p:nvSpPr>
          <p:cNvPr id="652"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PREUVE ET CERTIFICAT · 20 %</a:t>
            </a:r>
            <a:endParaRPr lang="fr-FR" sz="1000" b="0" u="none" strike="noStrike">
              <a:solidFill>
                <a:srgbClr val="FFFFFF"/>
              </a:solidFill>
              <a:effectLst/>
              <a:uFillTx/>
              <a:latin typeface="Arial"/>
            </a:endParaRPr>
          </a:p>
        </p:txBody>
      </p:sp>
      <p:sp>
        <p:nvSpPr>
          <p:cNvPr id="653" name="Attendu"/>
          <p:cNvSpPr/>
          <p:nvPr/>
        </p:nvSpPr>
        <p:spPr>
          <a:xfrm>
            <a:off x="640080" y="1325880"/>
            <a:ext cx="10906560" cy="1320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654" name="Attendu barre"/>
          <p:cNvSpPr/>
          <p:nvPr/>
        </p:nvSpPr>
        <p:spPr>
          <a:xfrm>
            <a:off x="640080" y="1325880"/>
            <a:ext cx="80280" cy="1320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655" name="Icône target" descr="Icône target"/>
          <p:cNvPicPr/>
          <p:nvPr/>
        </p:nvPicPr>
        <p:blipFill>
          <a:blip r:embed="rId1"/>
          <a:stretch/>
        </p:blipFill>
        <p:spPr>
          <a:xfrm>
            <a:off x="896040" y="1435680"/>
            <a:ext cx="272160" cy="272160"/>
          </a:xfrm>
          <a:prstGeom prst="rect">
            <a:avLst/>
          </a:prstGeom>
          <a:noFill/>
          <a:ln w="0">
            <a:noFill/>
          </a:ln>
        </p:spPr>
      </p:pic>
      <p:sp>
        <p:nvSpPr>
          <p:cNvPr id="656"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657" name="TextBox 31"/>
          <p:cNvSpPr/>
          <p:nvPr/>
        </p:nvSpPr>
        <p:spPr>
          <a:xfrm>
            <a:off x="914400" y="1783080"/>
            <a:ext cx="10357920" cy="717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quatre scénarios</a:t>
            </a:r>
            <a:r>
              <a:rPr lang="fr-FR" sz="1300" b="0" u="none" strike="noStrike">
                <a:solidFill>
                  <a:srgbClr val="F7F6F2"/>
                </a:solidFill>
                <a:effectLst/>
                <a:uFillTx/>
                <a:latin typeface="Inter"/>
                <a:ea typeface="DejaVu Sans"/>
              </a:rPr>
              <a:t> avec le </a:t>
            </a:r>
            <a:r>
              <a:rPr lang="fr-FR" sz="1300" b="1" u="none" strike="noStrike">
                <a:solidFill>
                  <a:srgbClr val="F5A623"/>
                </a:solidFill>
                <a:effectLst/>
                <a:uFillTx/>
                <a:latin typeface="Inter"/>
                <a:ea typeface="DejaVu Sans"/>
              </a:rPr>
              <a:t>message obtenu</a:t>
            </a:r>
            <a:r>
              <a:rPr lang="fr-FR" sz="1300" b="0" u="none" strike="noStrike">
                <a:solidFill>
                  <a:srgbClr val="F7F6F2"/>
                </a:solidFill>
                <a:effectLst/>
                <a:uFillTx/>
                <a:latin typeface="Inter"/>
                <a:ea typeface="DejaVu Sans"/>
              </a:rPr>
              <a:t> : sans certificat, NO_GO, gold modifié, GO.</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a:t>
            </a:r>
            <a:r>
              <a:rPr lang="fr-FR" sz="1300" b="1" u="none" strike="noStrike">
                <a:solidFill>
                  <a:srgbClr val="F5A623"/>
                </a:solidFill>
                <a:effectLst/>
                <a:uFillTx/>
                <a:latin typeface="Inter"/>
                <a:ea typeface="DejaVu Sans"/>
              </a:rPr>
              <a:t>réconciliation RQ-025</a:t>
            </a:r>
            <a:r>
              <a:rPr lang="fr-FR" sz="1300" b="0" u="none" strike="noStrike">
                <a:solidFill>
                  <a:srgbClr val="F7F6F2"/>
                </a:solidFill>
                <a:effectLst/>
                <a:uFillTx/>
                <a:latin typeface="Inter"/>
                <a:ea typeface="DejaVu Sans"/>
              </a:rPr>
              <a:t> après chargement : comptage et somme de contrôle, gold contre CRM cible.</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 chargement est-il </a:t>
            </a:r>
            <a:r>
              <a:rPr lang="fr-FR" sz="1300" b="1" u="none" strike="noStrike">
                <a:solidFill>
                  <a:srgbClr val="F5A623"/>
                </a:solidFill>
                <a:effectLst/>
                <a:uFillTx/>
                <a:latin typeface="Inter"/>
                <a:ea typeface="DejaVu Sans"/>
              </a:rPr>
              <a:t>tout-ou-rien</a:t>
            </a:r>
            <a:r>
              <a:rPr lang="fr-FR" sz="1300" b="0" u="none" strike="noStrike">
                <a:solidFill>
                  <a:srgbClr val="F7F6F2"/>
                </a:solidFill>
                <a:effectLst/>
                <a:uFillTx/>
                <a:latin typeface="Inter"/>
                <a:ea typeface="DejaVu Sans"/>
              </a:rPr>
              <a:t> ? Comment l'avez-vous vérifié ?</a:t>
            </a:r>
            <a:endParaRPr lang="fr-FR" sz="1300" b="0" u="none" strike="noStrike">
              <a:solidFill>
                <a:srgbClr val="FFFFFF"/>
              </a:solidFill>
              <a:effectLst/>
              <a:uFillTx/>
              <a:latin typeface="Arial"/>
            </a:endParaRPr>
          </a:p>
        </p:txBody>
      </p:sp>
      <p:graphicFrame>
        <p:nvGraphicFramePr>
          <p:cNvPr id="658" name="Table 32"/>
          <p:cNvGraphicFramePr/>
          <p:nvPr/>
        </p:nvGraphicFramePr>
        <p:xfrm>
          <a:off x="640080" y="2786040"/>
          <a:ext cx="10908360" cy="1737000"/>
        </p:xfrm>
        <a:graphic>
          <a:graphicData uri="http://schemas.openxmlformats.org/drawingml/2006/table">
            <a:tbl>
              <a:tblPr/>
              <a:tblGrid>
                <a:gridCol w="3108960"/>
                <a:gridCol w="4023360"/>
                <a:gridCol w="1554480"/>
                <a:gridCol w="2221920"/>
              </a:tblGrid>
              <a:tr h="347400">
                <a:tc>
                  <a:txBody>
                    <a:bodyPr lIns="73080" rIns="73080" anchor="ctr">
                      <a:noAutofit/>
                    </a:bodyPr>
                    <a:p>
                      <a:pPr>
                        <a:lnSpc>
                          <a:spcPct val="100000"/>
                        </a:lnSpc>
                      </a:pPr>
                      <a:r>
                        <a:rPr lang="en-US" sz="1050" b="1" u="none" spc="45" strike="noStrike">
                          <a:solidFill>
                            <a:srgbClr val="F5A623"/>
                          </a:solidFill>
                          <a:effectLst/>
                          <a:uFillTx/>
                          <a:latin typeface="Inter"/>
                        </a:rPr>
                        <a:t>Scénario</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Message obtenu</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Chargement ?</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Preuve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Sans certificat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Certificat NO_GO</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Gold modifié après émission</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Certificat GO, gold intact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graphicFrame>
        <p:nvGraphicFramePr>
          <p:cNvPr id="659" name="Table 33"/>
          <p:cNvGraphicFramePr/>
          <p:nvPr/>
        </p:nvGraphicFramePr>
        <p:xfrm>
          <a:off x="640080" y="4633200"/>
          <a:ext cx="10908360" cy="1316520"/>
        </p:xfrm>
        <a:graphic>
          <a:graphicData uri="http://schemas.openxmlformats.org/drawingml/2006/table">
            <a:tbl>
              <a:tblPr/>
              <a:tblGrid>
                <a:gridCol w="1737360"/>
                <a:gridCol w="1828800"/>
                <a:gridCol w="2011680"/>
                <a:gridCol w="1828800"/>
                <a:gridCol w="2011680"/>
                <a:gridCol w="1490400"/>
              </a:tblGrid>
              <a:tr h="329040">
                <a:tc>
                  <a:txBody>
                    <a:bodyPr lIns="73080" rIns="73080" anchor="ctr">
                      <a:noAutofit/>
                    </a:bodyPr>
                    <a:p>
                      <a:pPr>
                        <a:lnSpc>
                          <a:spcPct val="100000"/>
                        </a:lnSpc>
                      </a:pPr>
                      <a:r>
                        <a:rPr lang="en-US" sz="1050" b="1" u="none" spc="45" strike="noStrike">
                          <a:solidFill>
                            <a:srgbClr val="F5A623"/>
                          </a:solidFill>
                          <a:effectLst/>
                          <a:uFillTx/>
                          <a:latin typeface="Inter"/>
                        </a:rPr>
                        <a:t>Table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Lignes gold</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Lignes CRM cible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Somme gold</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Somme CRM cible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Écart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29040">
                <a:tc>
                  <a:txBody>
                    <a:bodyPr lIns="73080" rIns="73080" anchor="ctr">
                      <a:noAutofit/>
                    </a:bodyPr>
                    <a:p>
                      <a:pPr>
                        <a:lnSpc>
                          <a:spcPct val="100000"/>
                        </a:lnSpc>
                      </a:pPr>
                      <a:r>
                        <a:rPr lang="en-US" sz="1150" b="1" u="none" strike="noStrike">
                          <a:solidFill>
                            <a:srgbClr val="F7F6F2"/>
                          </a:solidFill>
                          <a:effectLst/>
                          <a:uFillTx/>
                          <a:latin typeface="Inter"/>
                        </a:rPr>
                        <a:t>client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50" b="1" u="none" strike="noStrike">
                          <a:solidFill>
                            <a:srgbClr val="F7F6F2"/>
                          </a:solidFill>
                          <a:effectLst/>
                          <a:uFillTx/>
                          <a:latin typeface="Inter"/>
                        </a:rPr>
                        <a:t>contrat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400">
                <a:tc>
                  <a:txBody>
                    <a:bodyPr lIns="73080" rIns="73080" anchor="ctr">
                      <a:noAutofit/>
                    </a:bodyPr>
                    <a:p>
                      <a:pPr>
                        <a:lnSpc>
                          <a:spcPct val="100000"/>
                        </a:lnSpc>
                      </a:pPr>
                      <a:r>
                        <a:rPr lang="en-US" sz="1150" b="1" u="none" strike="noStrike">
                          <a:solidFill>
                            <a:srgbClr val="F7F6F2"/>
                          </a:solidFill>
                          <a:effectLst/>
                          <a:uFillTx/>
                          <a:latin typeface="Inter"/>
                        </a:rPr>
                        <a:t>sinistre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660" name="TextBox 34"/>
          <p:cNvSpPr/>
          <p:nvPr/>
        </p:nvSpPr>
        <p:spPr>
          <a:xfrm>
            <a:off x="640080" y="6023160"/>
            <a:ext cx="10906560" cy="18000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Tout-ou-rien : décrivez en une ligne comment vous l'avez vérifié, et le chemin du script de publication.</a:t>
            </a:r>
            <a:endParaRPr lang="fr-FR"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1"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Gouvernance : catalogue, propriétaires, lineage</a:t>
            </a:r>
            <a:endParaRPr lang="fr-FR" sz="2800" b="0" u="none" strike="noStrike">
              <a:solidFill>
                <a:srgbClr val="FFFFFF"/>
              </a:solidFill>
              <a:effectLst/>
              <a:uFillTx/>
              <a:latin typeface="Arial"/>
            </a:endParaRPr>
          </a:p>
        </p:txBody>
      </p:sp>
      <p:sp>
        <p:nvSpPr>
          <p:cNvPr id="662" name="PlaceHolder 2"/>
          <p:cNvSpPr>
            <a:spLocks noGrp="1"/>
          </p:cNvSpPr>
          <p:nvPr>
            <p:ph type="sldNum" idx="62"/>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23E9343E-7BD0-4C7C-8DAC-FD74EF0F6820}"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663"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S5 · US-34</a:t>
            </a:r>
            <a:endParaRPr lang="fr-FR" sz="1100" b="0" u="none" strike="noStrike">
              <a:solidFill>
                <a:srgbClr val="FFFFFF"/>
              </a:solidFill>
              <a:effectLst/>
              <a:uFillTx/>
              <a:latin typeface="Arial"/>
            </a:endParaRPr>
          </a:p>
        </p:txBody>
      </p:sp>
      <p:sp>
        <p:nvSpPr>
          <p:cNvPr id="664"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PREUVE ET CERTIFICAT · 20 %</a:t>
            </a:r>
            <a:endParaRPr lang="fr-FR" sz="1000" b="0" u="none" strike="noStrike">
              <a:solidFill>
                <a:srgbClr val="FFFFFF"/>
              </a:solidFill>
              <a:effectLst/>
              <a:uFillTx/>
              <a:latin typeface="Arial"/>
            </a:endParaRPr>
          </a:p>
        </p:txBody>
      </p:sp>
      <p:sp>
        <p:nvSpPr>
          <p:cNvPr id="665" name="Attendu"/>
          <p:cNvSpPr/>
          <p:nvPr/>
        </p:nvSpPr>
        <p:spPr>
          <a:xfrm>
            <a:off x="640080" y="1325880"/>
            <a:ext cx="10906560" cy="1068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666" name="Attendu barre"/>
          <p:cNvSpPr/>
          <p:nvPr/>
        </p:nvSpPr>
        <p:spPr>
          <a:xfrm>
            <a:off x="640080" y="1325880"/>
            <a:ext cx="80280" cy="1068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667" name="Icône target" descr="Icône target"/>
          <p:cNvPicPr/>
          <p:nvPr/>
        </p:nvPicPr>
        <p:blipFill>
          <a:blip r:embed="rId1"/>
          <a:stretch/>
        </p:blipFill>
        <p:spPr>
          <a:xfrm>
            <a:off x="896040" y="1435680"/>
            <a:ext cx="272160" cy="272160"/>
          </a:xfrm>
          <a:prstGeom prst="rect">
            <a:avLst/>
          </a:prstGeom>
          <a:noFill/>
          <a:ln w="0">
            <a:noFill/>
          </a:ln>
        </p:spPr>
      </p:pic>
      <p:sp>
        <p:nvSpPr>
          <p:cNvPr id="668"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669" name="TextBox 31"/>
          <p:cNvSpPr/>
          <p:nvPr/>
        </p:nvSpPr>
        <p:spPr>
          <a:xfrm>
            <a:off x="914400" y="1783080"/>
            <a:ext cx="10357920" cy="465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a:t>
            </a:r>
            <a:r>
              <a:rPr lang="fr-FR" sz="1300" b="1" u="none" strike="noStrike">
                <a:solidFill>
                  <a:srgbClr val="F5A623"/>
                </a:solidFill>
                <a:effectLst/>
                <a:uFillTx/>
                <a:latin typeface="Inter"/>
                <a:ea typeface="DejaVu Sans"/>
              </a:rPr>
              <a:t>fiche de catalogue</a:t>
            </a:r>
            <a:r>
              <a:rPr lang="fr-FR" sz="1300" b="0" u="none" strike="noStrike">
                <a:solidFill>
                  <a:srgbClr val="F7F6F2"/>
                </a:solidFill>
                <a:effectLst/>
                <a:uFillTx/>
                <a:latin typeface="Inter"/>
                <a:ea typeface="DejaVu Sans"/>
              </a:rPr>
              <a:t> de gold.client_unique : propriétaire, steward, définition, règles rattachées.</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 </a:t>
            </a:r>
            <a:r>
              <a:rPr lang="fr-FR" sz="1300" b="1" u="none" strike="noStrike">
                <a:solidFill>
                  <a:srgbClr val="F5A623"/>
                </a:solidFill>
                <a:effectLst/>
                <a:uFillTx/>
                <a:latin typeface="Inter"/>
                <a:ea typeface="DejaVu Sans"/>
              </a:rPr>
              <a:t>lineage</a:t>
            </a:r>
            <a:r>
              <a:rPr lang="fr-FR" sz="1300" b="0" u="none" strike="noStrike">
                <a:solidFill>
                  <a:srgbClr val="F7F6F2"/>
                </a:solidFill>
                <a:effectLst/>
                <a:uFillTx/>
                <a:latin typeface="Inter"/>
                <a:ea typeface="DejaVu Sans"/>
              </a:rPr>
              <a:t> de gold.client_unique jusqu'aux sources.</a:t>
            </a:r>
            <a:endParaRPr lang="fr-FR" sz="1300" b="0" u="none" strike="noStrike">
              <a:solidFill>
                <a:srgbClr val="FFFFFF"/>
              </a:solidFill>
              <a:effectLst/>
              <a:uFillTx/>
              <a:latin typeface="Arial"/>
            </a:endParaRPr>
          </a:p>
        </p:txBody>
      </p:sp>
      <p:graphicFrame>
        <p:nvGraphicFramePr>
          <p:cNvPr id="670" name="Table 32"/>
          <p:cNvGraphicFramePr/>
          <p:nvPr/>
        </p:nvGraphicFramePr>
        <p:xfrm>
          <a:off x="640080" y="2534040"/>
          <a:ext cx="10908360" cy="1919880"/>
        </p:xfrm>
        <a:graphic>
          <a:graphicData uri="http://schemas.openxmlformats.org/drawingml/2006/table">
            <a:tbl>
              <a:tblPr/>
              <a:tblGrid>
                <a:gridCol w="4206240"/>
                <a:gridCol w="6702480"/>
              </a:tblGrid>
              <a:tr h="383760">
                <a:tc>
                  <a:txBody>
                    <a:bodyPr lIns="73080" rIns="73080" anchor="ctr">
                      <a:noAutofit/>
                    </a:bodyPr>
                    <a:p>
                      <a:pPr>
                        <a:lnSpc>
                          <a:spcPct val="100000"/>
                        </a:lnSpc>
                      </a:pPr>
                      <a:r>
                        <a:rPr lang="en-US" sz="1100" b="1" u="none" spc="45" strike="noStrike">
                          <a:solidFill>
                            <a:srgbClr val="F5A623"/>
                          </a:solidFill>
                          <a:effectLst/>
                          <a:uFillTx/>
                          <a:latin typeface="Inter"/>
                        </a:rPr>
                        <a:t>Élément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Valeur</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83760">
                <a:tc>
                  <a:txBody>
                    <a:bodyPr lIns="73080" rIns="73080" anchor="ctr">
                      <a:noAutofit/>
                    </a:bodyPr>
                    <a:p>
                      <a:pPr>
                        <a:lnSpc>
                          <a:spcPct val="100000"/>
                        </a:lnSpc>
                      </a:pPr>
                      <a:r>
                        <a:rPr lang="en-US" sz="1200" b="1" u="none" strike="noStrike">
                          <a:solidFill>
                            <a:srgbClr val="F7F6F2"/>
                          </a:solidFill>
                          <a:effectLst/>
                          <a:uFillTx/>
                          <a:latin typeface="Inter"/>
                        </a:rPr>
                        <a:t>Propriétaire (Data Owner)</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83760">
                <a:tc>
                  <a:txBody>
                    <a:bodyPr lIns="73080" rIns="73080" anchor="ctr">
                      <a:noAutofit/>
                    </a:bodyPr>
                    <a:p>
                      <a:pPr>
                        <a:lnSpc>
                          <a:spcPct val="100000"/>
                        </a:lnSpc>
                      </a:pPr>
                      <a:r>
                        <a:rPr lang="en-US" sz="1200" b="1" u="none" strike="noStrike">
                          <a:solidFill>
                            <a:srgbClr val="F7F6F2"/>
                          </a:solidFill>
                          <a:effectLst/>
                          <a:uFillTx/>
                          <a:latin typeface="Inter"/>
                        </a:rPr>
                        <a:t>Steward (Data Steward)</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83760">
                <a:tc>
                  <a:txBody>
                    <a:bodyPr lIns="73080" rIns="73080" anchor="ctr">
                      <a:noAutofit/>
                    </a:bodyPr>
                    <a:p>
                      <a:pPr>
                        <a:lnSpc>
                          <a:spcPct val="100000"/>
                        </a:lnSpc>
                      </a:pPr>
                      <a:r>
                        <a:rPr lang="en-US" sz="1200" b="1" u="none" strike="noStrike">
                          <a:solidFill>
                            <a:srgbClr val="F7F6F2"/>
                          </a:solidFill>
                          <a:effectLst/>
                          <a:uFillTx/>
                          <a:latin typeface="Inter"/>
                        </a:rPr>
                        <a:t>Définition de « client actif » rattachée à la fiche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84840">
                <a:tc>
                  <a:txBody>
                    <a:bodyPr lIns="73080" rIns="73080" anchor="ctr">
                      <a:noAutofit/>
                    </a:bodyPr>
                    <a:p>
                      <a:pPr>
                        <a:lnSpc>
                          <a:spcPct val="100000"/>
                        </a:lnSpc>
                      </a:pPr>
                      <a:r>
                        <a:rPr lang="en-US" sz="1200" b="1" u="none" strike="noStrike">
                          <a:solidFill>
                            <a:srgbClr val="F7F6F2"/>
                          </a:solidFill>
                          <a:effectLst/>
                          <a:uFillTx/>
                          <a:latin typeface="Inter"/>
                        </a:rPr>
                        <a:t>Règles RQ rattachées à la table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671" name="TextBox 33"/>
          <p:cNvSpPr/>
          <p:nvPr/>
        </p:nvSpPr>
        <p:spPr>
          <a:xfrm>
            <a:off x="640080" y="4674240"/>
            <a:ext cx="10906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LINEAGE DE GOLD.CLIENT_UNIQUE (LISTE OU SCHÉMA)</a:t>
            </a:r>
            <a:endParaRPr lang="fr-FR" sz="1100" b="0" u="none" strike="noStrike">
              <a:solidFill>
                <a:srgbClr val="FFFFFF"/>
              </a:solidFill>
              <a:effectLst/>
              <a:uFillTx/>
              <a:latin typeface="Arial"/>
            </a:endParaRPr>
          </a:p>
        </p:txBody>
      </p:sp>
      <p:sp>
        <p:nvSpPr>
          <p:cNvPr id="672" name="Zone à rédiger"/>
          <p:cNvSpPr/>
          <p:nvPr/>
        </p:nvSpPr>
        <p:spPr>
          <a:xfrm>
            <a:off x="640080" y="4929840"/>
            <a:ext cx="10906560" cy="11944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[Insérez un schéma ou une liste : sources, bronze, silver, xref, gold]</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3"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Bilan de S5 : critères de fin et difficultés</a:t>
            </a:r>
            <a:endParaRPr lang="fr-FR" sz="2800" b="0" u="none" strike="noStrike">
              <a:solidFill>
                <a:srgbClr val="FFFFFF"/>
              </a:solidFill>
              <a:effectLst/>
              <a:uFillTx/>
              <a:latin typeface="Arial"/>
            </a:endParaRPr>
          </a:p>
        </p:txBody>
      </p:sp>
      <p:sp>
        <p:nvSpPr>
          <p:cNvPr id="674" name="PlaceHolder 2"/>
          <p:cNvSpPr>
            <a:spLocks noGrp="1"/>
          </p:cNvSpPr>
          <p:nvPr>
            <p:ph type="sldNum" idx="63"/>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C4516F1D-D9E9-45B2-BB03-0AA90AEF0E6A}"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675"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S5 · BILAN</a:t>
            </a:r>
            <a:endParaRPr lang="fr-FR" sz="1100" b="0" u="none" strike="noStrike">
              <a:solidFill>
                <a:srgbClr val="FFFFFF"/>
              </a:solidFill>
              <a:effectLst/>
              <a:uFillTx/>
              <a:latin typeface="Arial"/>
            </a:endParaRPr>
          </a:p>
        </p:txBody>
      </p:sp>
      <p:sp>
        <p:nvSpPr>
          <p:cNvPr id="676"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PREUVE ET CERTIFICAT · 20 %</a:t>
            </a:r>
            <a:endParaRPr lang="fr-FR" sz="1000" b="0" u="none" strike="noStrike">
              <a:solidFill>
                <a:srgbClr val="FFFFFF"/>
              </a:solidFill>
              <a:effectLst/>
              <a:uFillTx/>
              <a:latin typeface="Arial"/>
            </a:endParaRPr>
          </a:p>
        </p:txBody>
      </p:sp>
      <p:sp>
        <p:nvSpPr>
          <p:cNvPr id="677" name="Attendu"/>
          <p:cNvSpPr/>
          <p:nvPr/>
        </p:nvSpPr>
        <p:spPr>
          <a:xfrm>
            <a:off x="640080" y="1325880"/>
            <a:ext cx="10906560" cy="1068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678" name="Attendu barre"/>
          <p:cNvSpPr/>
          <p:nvPr/>
        </p:nvSpPr>
        <p:spPr>
          <a:xfrm>
            <a:off x="640080" y="1325880"/>
            <a:ext cx="80280" cy="1068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679" name="Icône target" descr="Icône target"/>
          <p:cNvPicPr/>
          <p:nvPr/>
        </p:nvPicPr>
        <p:blipFill>
          <a:blip r:embed="rId1"/>
          <a:stretch/>
        </p:blipFill>
        <p:spPr>
          <a:xfrm>
            <a:off x="896040" y="1435680"/>
            <a:ext cx="272160" cy="272160"/>
          </a:xfrm>
          <a:prstGeom prst="rect">
            <a:avLst/>
          </a:prstGeom>
          <a:noFill/>
          <a:ln w="0">
            <a:noFill/>
          </a:ln>
        </p:spPr>
      </p:pic>
      <p:sp>
        <p:nvSpPr>
          <p:cNvPr id="680"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681" name="TextBox 31"/>
          <p:cNvSpPr/>
          <p:nvPr/>
        </p:nvSpPr>
        <p:spPr>
          <a:xfrm>
            <a:off x="914400" y="1783080"/>
            <a:ext cx="10357920" cy="465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Chaque critère coché est </a:t>
            </a:r>
            <a:r>
              <a:rPr lang="fr-FR" sz="1300" b="1" u="none" strike="noStrike">
                <a:solidFill>
                  <a:srgbClr val="F5A623"/>
                </a:solidFill>
                <a:effectLst/>
                <a:uFillTx/>
                <a:latin typeface="Inter"/>
                <a:ea typeface="DejaVu Sans"/>
              </a:rPr>
              <a:t>démontré</a:t>
            </a:r>
            <a:r>
              <a:rPr lang="fr-FR" sz="1300" b="0" u="none" strike="noStrike">
                <a:solidFill>
                  <a:srgbClr val="F7F6F2"/>
                </a:solidFill>
                <a:effectLst/>
                <a:uFillTx/>
                <a:latin typeface="Inter"/>
                <a:ea typeface="DejaVu Sans"/>
              </a:rPr>
              <a:t> par une page de ce livrable ou par un fichier du dépôt.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difficultés sont </a:t>
            </a:r>
            <a:r>
              <a:rPr lang="fr-FR" sz="1300" b="1" u="none" strike="noStrike">
                <a:solidFill>
                  <a:srgbClr val="F5A623"/>
                </a:solidFill>
                <a:effectLst/>
                <a:uFillTx/>
                <a:latin typeface="Inter"/>
                <a:ea typeface="DejaVu Sans"/>
              </a:rPr>
              <a:t>chiffrées en temps perdu</a:t>
            </a:r>
            <a:r>
              <a:rPr lang="fr-FR" sz="1300" b="0" u="none" strike="noStrike">
                <a:solidFill>
                  <a:srgbClr val="F7F6F2"/>
                </a:solidFill>
                <a:effectLst/>
                <a:uFillTx/>
                <a:latin typeface="Inter"/>
                <a:ea typeface="DejaVu Sans"/>
              </a:rPr>
              <a:t> ; un point de reprise utilisé est </a:t>
            </a:r>
            <a:r>
              <a:rPr lang="fr-FR" sz="1300" b="1" u="none" strike="noStrike">
                <a:solidFill>
                  <a:srgbClr val="F5A623"/>
                </a:solidFill>
                <a:effectLst/>
                <a:uFillTx/>
                <a:latin typeface="Inter"/>
                <a:ea typeface="DejaVu Sans"/>
              </a:rPr>
              <a:t>déclaré</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p:txBody>
      </p:sp>
      <p:sp>
        <p:nvSpPr>
          <p:cNvPr id="682" name="Rectangle 32"/>
          <p:cNvSpPr/>
          <p:nvPr/>
        </p:nvSpPr>
        <p:spPr>
          <a:xfrm>
            <a:off x="640080" y="2579760"/>
            <a:ext cx="5118480" cy="354456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pic>
        <p:nvPicPr>
          <p:cNvPr id="683" name="Icône ok" descr="Icône ok"/>
          <p:cNvPicPr/>
          <p:nvPr/>
        </p:nvPicPr>
        <p:blipFill>
          <a:blip r:embed="rId2"/>
          <a:stretch/>
        </p:blipFill>
        <p:spPr>
          <a:xfrm>
            <a:off x="868680" y="2735280"/>
            <a:ext cx="308880" cy="308880"/>
          </a:xfrm>
          <a:prstGeom prst="rect">
            <a:avLst/>
          </a:prstGeom>
          <a:noFill/>
          <a:ln w="0">
            <a:noFill/>
          </a:ln>
        </p:spPr>
      </p:pic>
      <p:sp>
        <p:nvSpPr>
          <p:cNvPr id="684" name="TextBox 34"/>
          <p:cNvSpPr/>
          <p:nvPr/>
        </p:nvSpPr>
        <p:spPr>
          <a:xfrm>
            <a:off x="1289160" y="2783160"/>
            <a:ext cx="4569840" cy="21276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300" b="1" u="none" spc="105" strike="noStrike">
                <a:solidFill>
                  <a:srgbClr val="F7F6F2"/>
                </a:solidFill>
                <a:effectLst/>
                <a:uFillTx/>
                <a:latin typeface="Inter"/>
                <a:ea typeface="DejaVu Sans"/>
              </a:rPr>
              <a:t>CRITÈRES DE FIN</a:t>
            </a:r>
            <a:endParaRPr lang="fr-FR" sz="1300" b="0" u="none" strike="noStrike">
              <a:solidFill>
                <a:srgbClr val="FFFFFF"/>
              </a:solidFill>
              <a:effectLst/>
              <a:uFillTx/>
              <a:latin typeface="Arial"/>
            </a:endParaRPr>
          </a:p>
        </p:txBody>
      </p:sp>
      <p:sp>
        <p:nvSpPr>
          <p:cNvPr id="685" name="TextBox 35"/>
          <p:cNvSpPr/>
          <p:nvPr/>
        </p:nvSpPr>
        <p:spPr>
          <a:xfrm>
            <a:off x="868680" y="3219840"/>
            <a:ext cx="4661280" cy="1910880"/>
          </a:xfrm>
          <a:prstGeom prst="rect">
            <a:avLst/>
          </a:prstGeom>
          <a:noFill/>
          <a:ln w="0">
            <a:noFill/>
          </a:ln>
        </p:spPr>
        <p:style>
          <a:lnRef idx="0"/>
          <a:fillRef idx="0"/>
          <a:effectRef idx="0"/>
          <a:fontRef idx="minor"/>
        </p:style>
        <p:txBody>
          <a:bodyPr lIns="0" tIns="0" rIns="0" bIns="0" anchor="t">
            <a:spAutoFit/>
          </a:bodyPr>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Un lot volontairement dégradé produit un NO_GO, le lot nominal un GO.</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La publication refuse sans certificat, avec NO_GO, et quand le gold a changé.</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Après chargement, comptage et somme de contrôle sont égaux entre gold et CRM cible.</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Chaque décision de seuil ou de sévérité est attribuée à un rôle.</a:t>
            </a:r>
            <a:endParaRPr lang="fr-FR" sz="1250" b="0" u="none" strike="noStrike">
              <a:solidFill>
                <a:srgbClr val="FFFFFF"/>
              </a:solidFill>
              <a:effectLst/>
              <a:uFillTx/>
              <a:latin typeface="Arial"/>
            </a:endParaRPr>
          </a:p>
        </p:txBody>
      </p:sp>
      <p:sp>
        <p:nvSpPr>
          <p:cNvPr id="686" name="TextBox 36"/>
          <p:cNvSpPr/>
          <p:nvPr/>
        </p:nvSpPr>
        <p:spPr>
          <a:xfrm>
            <a:off x="640080" y="5852160"/>
            <a:ext cx="10906560" cy="18000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Remplacez [ ] par [x] une fois le critère démontré.</a:t>
            </a:r>
            <a:endParaRPr lang="fr-FR" sz="1100" b="0" u="none" strike="noStrike">
              <a:solidFill>
                <a:srgbClr val="FFFFFF"/>
              </a:solidFill>
              <a:effectLst/>
              <a:uFillTx/>
              <a:latin typeface="Arial"/>
            </a:endParaRPr>
          </a:p>
        </p:txBody>
      </p:sp>
      <p:sp>
        <p:nvSpPr>
          <p:cNvPr id="687" name="TextBox 37"/>
          <p:cNvSpPr/>
          <p:nvPr/>
        </p:nvSpPr>
        <p:spPr>
          <a:xfrm>
            <a:off x="5943600" y="2616840"/>
            <a:ext cx="560304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DIFFICULTÉS RENCONTRÉES ET TEMPS PERDU</a:t>
            </a:r>
            <a:endParaRPr lang="fr-FR" sz="1100" b="0" u="none" strike="noStrike">
              <a:solidFill>
                <a:srgbClr val="FFFFFF"/>
              </a:solidFill>
              <a:effectLst/>
              <a:uFillTx/>
              <a:latin typeface="Arial"/>
            </a:endParaRPr>
          </a:p>
        </p:txBody>
      </p:sp>
      <p:sp>
        <p:nvSpPr>
          <p:cNvPr id="688" name="Zone à rédiger"/>
          <p:cNvSpPr/>
          <p:nvPr/>
        </p:nvSpPr>
        <p:spPr>
          <a:xfrm>
            <a:off x="5943600" y="2872440"/>
            <a:ext cx="5603040" cy="11682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sp>
        <p:nvSpPr>
          <p:cNvPr id="689" name="TextBox 39"/>
          <p:cNvSpPr/>
          <p:nvPr/>
        </p:nvSpPr>
        <p:spPr>
          <a:xfrm>
            <a:off x="5943600" y="4217040"/>
            <a:ext cx="560304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POINT DE REPRISE UTILISÉ (OUI / NON, LEQUEL)</a:t>
            </a:r>
            <a:endParaRPr lang="fr-FR" sz="1100" b="0" u="none" strike="noStrike">
              <a:solidFill>
                <a:srgbClr val="FFFFFF"/>
              </a:solidFill>
              <a:effectLst/>
              <a:uFillTx/>
              <a:latin typeface="Arial"/>
            </a:endParaRPr>
          </a:p>
        </p:txBody>
      </p:sp>
      <p:sp>
        <p:nvSpPr>
          <p:cNvPr id="690" name="Zone à rédiger"/>
          <p:cNvSpPr/>
          <p:nvPr/>
        </p:nvSpPr>
        <p:spPr>
          <a:xfrm>
            <a:off x="5943600" y="4472640"/>
            <a:ext cx="5603040" cy="6195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sp>
        <p:nvSpPr>
          <p:cNvPr id="691" name="TextBox 41"/>
          <p:cNvSpPr/>
          <p:nvPr/>
        </p:nvSpPr>
        <p:spPr>
          <a:xfrm>
            <a:off x="5943600" y="5268600"/>
            <a:ext cx="560304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CE QUE NOUS FERIONS AUTREMENT</a:t>
            </a:r>
            <a:endParaRPr lang="fr-FR" sz="1100" b="0" u="none" strike="noStrike">
              <a:solidFill>
                <a:srgbClr val="FFFFFF"/>
              </a:solidFill>
              <a:effectLst/>
              <a:uFillTx/>
              <a:latin typeface="Arial"/>
            </a:endParaRPr>
          </a:p>
        </p:txBody>
      </p:sp>
      <p:sp>
        <p:nvSpPr>
          <p:cNvPr id="692" name="Zone à rédiger"/>
          <p:cNvSpPr/>
          <p:nvPr/>
        </p:nvSpPr>
        <p:spPr>
          <a:xfrm>
            <a:off x="5943600" y="5524200"/>
            <a:ext cx="5603040" cy="6001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3" name="PlaceHolder 1"/>
          <p:cNvSpPr>
            <a:spLocks noGrp="1"/>
          </p:cNvSpPr>
          <p:nvPr>
            <p:ph/>
          </p:nvPr>
        </p:nvSpPr>
        <p:spPr>
          <a:xfrm>
            <a:off x="640080" y="2011680"/>
            <a:ext cx="2741040" cy="1186560"/>
          </a:xfrm>
          <a:prstGeom prst="rect">
            <a:avLst/>
          </a:prstGeom>
          <a:noFill/>
          <a:ln w="0">
            <a:noFill/>
          </a:ln>
        </p:spPr>
        <p:txBody>
          <a:bodyPr lIns="90000" tIns="45000" rIns="90000" bIns="45000" anchor="t">
            <a:noAutofit/>
          </a:bodyPr>
          <a:p>
            <a:pPr indent="0" algn="l">
              <a:lnSpc>
                <a:spcPct val="100000"/>
              </a:lnSpc>
              <a:spcBef>
                <a:spcPts val="1440"/>
              </a:spcBef>
              <a:buNone/>
              <a:tabLst>
                <a:tab pos="0" algn="l"/>
              </a:tabLst>
            </a:pPr>
            <a:r>
              <a:rPr lang="en-US" sz="7200" b="0" u="none" strike="noStrike">
                <a:solidFill>
                  <a:srgbClr val="F5A623"/>
                </a:solidFill>
                <a:effectLst/>
                <a:uFillTx/>
                <a:latin typeface="Fraunces SemiBold"/>
                <a:ea typeface="Fraunces SemiBold"/>
              </a:rPr>
              <a:t>06</a:t>
            </a:r>
            <a:endParaRPr lang="fr-FR" sz="7200" b="0" u="none" strike="noStrike">
              <a:solidFill>
                <a:srgbClr val="FFFFFF"/>
              </a:solidFill>
              <a:effectLst/>
              <a:uFillTx/>
              <a:latin typeface="Arial"/>
            </a:endParaRPr>
          </a:p>
        </p:txBody>
      </p:sp>
      <p:sp>
        <p:nvSpPr>
          <p:cNvPr id="694" name="PlaceHolder 2"/>
          <p:cNvSpPr>
            <a:spLocks noGrp="1"/>
          </p:cNvSpPr>
          <p:nvPr>
            <p:ph type="title"/>
          </p:nvPr>
        </p:nvSpPr>
        <p:spPr>
          <a:xfrm>
            <a:off x="640080" y="3200400"/>
            <a:ext cx="6581520" cy="1643760"/>
          </a:xfrm>
          <a:prstGeom prst="rect">
            <a:avLst/>
          </a:prstGeom>
          <a:noFill/>
          <a:ln w="0">
            <a:noFill/>
          </a:ln>
        </p:spPr>
        <p:txBody>
          <a:bodyPr lIns="90000" tIns="45000" rIns="90000" bIns="45000" anchor="t">
            <a:noAutofit/>
          </a:bodyPr>
          <a:p>
            <a:pPr indent="0" algn="l">
              <a:lnSpc>
                <a:spcPct val="100000"/>
              </a:lnSpc>
              <a:buNone/>
              <a:tabLst>
                <a:tab pos="0" algn="l"/>
              </a:tabLst>
            </a:pPr>
            <a:r>
              <a:rPr lang="en-US" sz="4200" b="0" u="none" strike="noStrike">
                <a:solidFill>
                  <a:srgbClr val="F7F6F2"/>
                </a:solidFill>
                <a:effectLst/>
                <a:uFillTx/>
                <a:latin typeface="Fraunces SemiBold"/>
                <a:ea typeface="Fraunces SemiBold"/>
              </a:rPr>
              <a:t>Dossier go/no-go</a:t>
            </a:r>
            <a:endParaRPr lang="fr-FR" sz="4200" b="0" u="none" strike="noStrike">
              <a:solidFill>
                <a:srgbClr val="FFFFFF"/>
              </a:solidFill>
              <a:effectLst/>
              <a:uFillTx/>
              <a:latin typeface="Arial"/>
            </a:endParaRPr>
          </a:p>
        </p:txBody>
      </p:sp>
      <p:sp>
        <p:nvSpPr>
          <p:cNvPr id="695" name="PlaceHolder 3"/>
          <p:cNvSpPr>
            <a:spLocks noGrp="1"/>
          </p:cNvSpPr>
          <p:nvPr>
            <p:ph type="sldNum" idx="64"/>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0C65126E-CA38-46A4-BD5C-804908044AFA}"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696" name="TextBox 25"/>
          <p:cNvSpPr/>
          <p:nvPr/>
        </p:nvSpPr>
        <p:spPr>
          <a:xfrm>
            <a:off x="640080" y="4892040"/>
            <a:ext cx="6398640" cy="558720"/>
          </a:xfrm>
          <a:prstGeom prst="rect">
            <a:avLst/>
          </a:prstGeom>
          <a:noFill/>
          <a:ln w="0">
            <a:noFill/>
          </a:ln>
        </p:spPr>
        <p:style>
          <a:lnRef idx="0"/>
          <a:fillRef idx="0"/>
          <a:effectRef idx="0"/>
          <a:fontRef idx="minor"/>
        </p:style>
        <p:txBody>
          <a:bodyPr lIns="0" tIns="0" rIns="0" bIns="0" anchor="t">
            <a:spAutoFit/>
          </a:bodyPr>
          <a:p>
            <a:pPr>
              <a:lnSpc>
                <a:spcPct val="115000"/>
              </a:lnSpc>
              <a:spcAft>
                <a:spcPts val="400"/>
              </a:spcAft>
            </a:pPr>
            <a:r>
              <a:rPr lang="fr-FR" sz="1600" b="0" u="none" strike="noStrike">
                <a:solidFill>
                  <a:srgbClr val="B8C0C8"/>
                </a:solidFill>
                <a:effectLst/>
                <a:uFillTx/>
                <a:latin typeface="Inter"/>
                <a:ea typeface="DejaVu Sans"/>
              </a:rPr>
              <a:t>Destinataire : la Directrice Générale. Un rapport court, sans jargon, quatre pages au plus hors annexes.</a:t>
            </a:r>
            <a:endParaRPr lang="fr-FR" sz="16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7"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Recommandation</a:t>
            </a:r>
            <a:endParaRPr lang="fr-FR" sz="2800" b="0" u="none" strike="noStrike">
              <a:solidFill>
                <a:srgbClr val="FFFFFF"/>
              </a:solidFill>
              <a:effectLst/>
              <a:uFillTx/>
              <a:latin typeface="Arial"/>
            </a:endParaRPr>
          </a:p>
        </p:txBody>
      </p:sp>
      <p:sp>
        <p:nvSpPr>
          <p:cNvPr id="698" name="PlaceHolder 2"/>
          <p:cNvSpPr>
            <a:spLocks noGrp="1"/>
          </p:cNvSpPr>
          <p:nvPr>
            <p:ph type="sldNum" idx="65"/>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2BB59489-4A62-4F9F-8BF8-F0E5F71FF997}"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699"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DOSSIER · 1 SUR 4</a:t>
            </a:r>
            <a:endParaRPr lang="fr-FR" sz="1100" b="0" u="none" strike="noStrike">
              <a:solidFill>
                <a:srgbClr val="FFFFFF"/>
              </a:solidFill>
              <a:effectLst/>
              <a:uFillTx/>
              <a:latin typeface="Arial"/>
            </a:endParaRPr>
          </a:p>
        </p:txBody>
      </p:sp>
      <p:sp>
        <p:nvSpPr>
          <p:cNvPr id="700"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GOUVERNANCE ET DÉCISION · 15 %</a:t>
            </a:r>
            <a:endParaRPr lang="fr-FR" sz="1000" b="0" u="none" strike="noStrike">
              <a:solidFill>
                <a:srgbClr val="FFFFFF"/>
              </a:solidFill>
              <a:effectLst/>
              <a:uFillTx/>
              <a:latin typeface="Arial"/>
            </a:endParaRPr>
          </a:p>
        </p:txBody>
      </p:sp>
      <p:sp>
        <p:nvSpPr>
          <p:cNvPr id="701" name="Attendu"/>
          <p:cNvSpPr/>
          <p:nvPr/>
        </p:nvSpPr>
        <p:spPr>
          <a:xfrm>
            <a:off x="640080" y="1325880"/>
            <a:ext cx="10906560" cy="1320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702" name="Attendu barre"/>
          <p:cNvSpPr/>
          <p:nvPr/>
        </p:nvSpPr>
        <p:spPr>
          <a:xfrm>
            <a:off x="640080" y="1325880"/>
            <a:ext cx="80280" cy="1320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703" name="Icône target" descr="Icône target"/>
          <p:cNvPicPr/>
          <p:nvPr/>
        </p:nvPicPr>
        <p:blipFill>
          <a:blip r:embed="rId1"/>
          <a:stretch/>
        </p:blipFill>
        <p:spPr>
          <a:xfrm>
            <a:off x="896040" y="1435680"/>
            <a:ext cx="272160" cy="272160"/>
          </a:xfrm>
          <a:prstGeom prst="rect">
            <a:avLst/>
          </a:prstGeom>
          <a:noFill/>
          <a:ln w="0">
            <a:noFill/>
          </a:ln>
        </p:spPr>
      </p:pic>
      <p:sp>
        <p:nvSpPr>
          <p:cNvPr id="704"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705" name="TextBox 31"/>
          <p:cNvSpPr/>
          <p:nvPr/>
        </p:nvSpPr>
        <p:spPr>
          <a:xfrm>
            <a:off x="914400" y="1783080"/>
            <a:ext cx="10357920" cy="717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a:t>
            </a:r>
            <a:r>
              <a:rPr lang="fr-FR" sz="1300" b="1" u="none" strike="noStrike">
                <a:solidFill>
                  <a:srgbClr val="F5A623"/>
                </a:solidFill>
                <a:effectLst/>
                <a:uFillTx/>
                <a:latin typeface="Inter"/>
                <a:ea typeface="DejaVu Sans"/>
              </a:rPr>
              <a:t>recommandation</a:t>
            </a:r>
            <a:r>
              <a:rPr lang="fr-FR" sz="1300" b="0" u="none" strike="noStrike">
                <a:solidFill>
                  <a:srgbClr val="F7F6F2"/>
                </a:solidFill>
                <a:effectLst/>
                <a:uFillTx/>
                <a:latin typeface="Inter"/>
                <a:ea typeface="DejaVu Sans"/>
              </a:rPr>
              <a:t> : GO, NO-GO ou GO sous conditions, dite en une phrase.</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1" u="none" strike="noStrike">
                <a:solidFill>
                  <a:srgbClr val="F5A623"/>
                </a:solidFill>
                <a:effectLst/>
                <a:uFillTx/>
                <a:latin typeface="Inter"/>
                <a:ea typeface="DejaVu Sans"/>
              </a:rPr>
              <a:t>Trois raisons chiffrées</a:t>
            </a:r>
            <a:r>
              <a:rPr lang="fr-FR" sz="1300" b="0" u="none" strike="noStrike">
                <a:solidFill>
                  <a:srgbClr val="F7F6F2"/>
                </a:solidFill>
                <a:effectLst/>
                <a:uFillTx/>
                <a:latin typeface="Inter"/>
                <a:ea typeface="DejaVu Sans"/>
              </a:rPr>
              <a:t>, chacune avec sa preuve dans le dépôt.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Lisible par une </a:t>
            </a:r>
            <a:r>
              <a:rPr lang="fr-FR" sz="1300" b="1" u="none" strike="noStrike">
                <a:solidFill>
                  <a:srgbClr val="F5A623"/>
                </a:solidFill>
                <a:effectLst/>
                <a:uFillTx/>
                <a:latin typeface="Inter"/>
                <a:ea typeface="DejaVu Sans"/>
              </a:rPr>
              <a:t>non-technicienne</a:t>
            </a:r>
            <a:r>
              <a:rPr lang="fr-FR" sz="1300" b="0" u="none" strike="noStrike">
                <a:solidFill>
                  <a:srgbClr val="F7F6F2"/>
                </a:solidFill>
                <a:effectLst/>
                <a:uFillTx/>
                <a:latin typeface="Inter"/>
                <a:ea typeface="DejaVu Sans"/>
              </a:rPr>
              <a:t> : aucun sigle sans définition.</a:t>
            </a:r>
            <a:endParaRPr lang="fr-FR" sz="1300" b="0" u="none" strike="noStrike">
              <a:solidFill>
                <a:srgbClr val="FFFFFF"/>
              </a:solidFill>
              <a:effectLst/>
              <a:uFillTx/>
              <a:latin typeface="Arial"/>
            </a:endParaRPr>
          </a:p>
        </p:txBody>
      </p:sp>
      <p:sp>
        <p:nvSpPr>
          <p:cNvPr id="706" name="TextBox 32"/>
          <p:cNvSpPr/>
          <p:nvPr/>
        </p:nvSpPr>
        <p:spPr>
          <a:xfrm>
            <a:off x="640080" y="2868840"/>
            <a:ext cx="10906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RECOMMANDATION</a:t>
            </a:r>
            <a:endParaRPr lang="fr-FR" sz="1100" b="0" u="none" strike="noStrike">
              <a:solidFill>
                <a:srgbClr val="FFFFFF"/>
              </a:solidFill>
              <a:effectLst/>
              <a:uFillTx/>
              <a:latin typeface="Arial"/>
            </a:endParaRPr>
          </a:p>
        </p:txBody>
      </p:sp>
      <p:sp>
        <p:nvSpPr>
          <p:cNvPr id="707" name="Zone à rédiger"/>
          <p:cNvSpPr/>
          <p:nvPr/>
        </p:nvSpPr>
        <p:spPr>
          <a:xfrm>
            <a:off x="640080" y="3124440"/>
            <a:ext cx="10906560" cy="8024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[GO, NO-GO ou GO sous conditions : une phrase]</a:t>
            </a:r>
            <a:endParaRPr lang="fr-FR" sz="1200" b="0" u="none" strike="noStrike">
              <a:solidFill>
                <a:srgbClr val="FFFFFF"/>
              </a:solidFill>
              <a:effectLst/>
              <a:uFillTx/>
              <a:latin typeface="Arial"/>
            </a:endParaRPr>
          </a:p>
        </p:txBody>
      </p:sp>
      <p:sp>
        <p:nvSpPr>
          <p:cNvPr id="708" name="TextBox 34"/>
          <p:cNvSpPr/>
          <p:nvPr/>
        </p:nvSpPr>
        <p:spPr>
          <a:xfrm>
            <a:off x="640080" y="4103280"/>
            <a:ext cx="35121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RAISON CHIFFRÉE 1</a:t>
            </a:r>
            <a:endParaRPr lang="fr-FR" sz="1100" b="0" u="none" strike="noStrike">
              <a:solidFill>
                <a:srgbClr val="FFFFFF"/>
              </a:solidFill>
              <a:effectLst/>
              <a:uFillTx/>
              <a:latin typeface="Arial"/>
            </a:endParaRPr>
          </a:p>
        </p:txBody>
      </p:sp>
      <p:sp>
        <p:nvSpPr>
          <p:cNvPr id="709" name="Zone à rédiger"/>
          <p:cNvSpPr/>
          <p:nvPr/>
        </p:nvSpPr>
        <p:spPr>
          <a:xfrm>
            <a:off x="640080" y="4358880"/>
            <a:ext cx="3512160" cy="17654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[Chiffre, couche, preuve]</a:t>
            </a:r>
            <a:endParaRPr lang="fr-FR" sz="1200" b="0" u="none" strike="noStrike">
              <a:solidFill>
                <a:srgbClr val="FFFFFF"/>
              </a:solidFill>
              <a:effectLst/>
              <a:uFillTx/>
              <a:latin typeface="Arial"/>
            </a:endParaRPr>
          </a:p>
        </p:txBody>
      </p:sp>
      <p:sp>
        <p:nvSpPr>
          <p:cNvPr id="710" name="TextBox 36"/>
          <p:cNvSpPr/>
          <p:nvPr/>
        </p:nvSpPr>
        <p:spPr>
          <a:xfrm>
            <a:off x="4337280" y="4103280"/>
            <a:ext cx="35121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RAISON CHIFFRÉE 2</a:t>
            </a:r>
            <a:endParaRPr lang="fr-FR" sz="1100" b="0" u="none" strike="noStrike">
              <a:solidFill>
                <a:srgbClr val="FFFFFF"/>
              </a:solidFill>
              <a:effectLst/>
              <a:uFillTx/>
              <a:latin typeface="Arial"/>
            </a:endParaRPr>
          </a:p>
        </p:txBody>
      </p:sp>
      <p:sp>
        <p:nvSpPr>
          <p:cNvPr id="711" name="Zone à rédiger"/>
          <p:cNvSpPr/>
          <p:nvPr/>
        </p:nvSpPr>
        <p:spPr>
          <a:xfrm>
            <a:off x="4337280" y="4358880"/>
            <a:ext cx="3512160" cy="17654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[Chiffre, couche, preuve]</a:t>
            </a:r>
            <a:endParaRPr lang="fr-FR" sz="1200" b="0" u="none" strike="noStrike">
              <a:solidFill>
                <a:srgbClr val="FFFFFF"/>
              </a:solidFill>
              <a:effectLst/>
              <a:uFillTx/>
              <a:latin typeface="Arial"/>
            </a:endParaRPr>
          </a:p>
        </p:txBody>
      </p:sp>
      <p:sp>
        <p:nvSpPr>
          <p:cNvPr id="712" name="TextBox 38"/>
          <p:cNvSpPr/>
          <p:nvPr/>
        </p:nvSpPr>
        <p:spPr>
          <a:xfrm>
            <a:off x="8034480" y="4103280"/>
            <a:ext cx="35121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RAISON CHIFFRÉE 3</a:t>
            </a:r>
            <a:endParaRPr lang="fr-FR" sz="1100" b="0" u="none" strike="noStrike">
              <a:solidFill>
                <a:srgbClr val="FFFFFF"/>
              </a:solidFill>
              <a:effectLst/>
              <a:uFillTx/>
              <a:latin typeface="Arial"/>
            </a:endParaRPr>
          </a:p>
        </p:txBody>
      </p:sp>
      <p:sp>
        <p:nvSpPr>
          <p:cNvPr id="713" name="Zone à rédiger"/>
          <p:cNvSpPr/>
          <p:nvPr/>
        </p:nvSpPr>
        <p:spPr>
          <a:xfrm>
            <a:off x="8034480" y="4358880"/>
            <a:ext cx="3512160" cy="17654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[Chiffre, couche, preuve]</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4"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Les preuves</a:t>
            </a:r>
            <a:endParaRPr lang="fr-FR" sz="2800" b="0" u="none" strike="noStrike">
              <a:solidFill>
                <a:srgbClr val="FFFFFF"/>
              </a:solidFill>
              <a:effectLst/>
              <a:uFillTx/>
              <a:latin typeface="Arial"/>
            </a:endParaRPr>
          </a:p>
        </p:txBody>
      </p:sp>
      <p:sp>
        <p:nvSpPr>
          <p:cNvPr id="715" name="PlaceHolder 2"/>
          <p:cNvSpPr>
            <a:spLocks noGrp="1"/>
          </p:cNvSpPr>
          <p:nvPr>
            <p:ph type="sldNum" idx="66"/>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3708FCC4-B996-4E77-982B-2F26552A2C9B}"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716"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DOSSIER · 2 SUR 4</a:t>
            </a:r>
            <a:endParaRPr lang="fr-FR" sz="1100" b="0" u="none" strike="noStrike">
              <a:solidFill>
                <a:srgbClr val="FFFFFF"/>
              </a:solidFill>
              <a:effectLst/>
              <a:uFillTx/>
              <a:latin typeface="Arial"/>
            </a:endParaRPr>
          </a:p>
        </p:txBody>
      </p:sp>
      <p:sp>
        <p:nvSpPr>
          <p:cNvPr id="717"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GOUVERNANCE ET DÉCISION · 15 %</a:t>
            </a:r>
            <a:endParaRPr lang="fr-FR" sz="1000" b="0" u="none" strike="noStrike">
              <a:solidFill>
                <a:srgbClr val="FFFFFF"/>
              </a:solidFill>
              <a:effectLst/>
              <a:uFillTx/>
              <a:latin typeface="Arial"/>
            </a:endParaRPr>
          </a:p>
        </p:txBody>
      </p:sp>
      <p:sp>
        <p:nvSpPr>
          <p:cNvPr id="718" name="Attendu"/>
          <p:cNvSpPr/>
          <p:nvPr/>
        </p:nvSpPr>
        <p:spPr>
          <a:xfrm>
            <a:off x="640080" y="1325880"/>
            <a:ext cx="10906560" cy="1068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719" name="Attendu barre"/>
          <p:cNvSpPr/>
          <p:nvPr/>
        </p:nvSpPr>
        <p:spPr>
          <a:xfrm>
            <a:off x="640080" y="1325880"/>
            <a:ext cx="80280" cy="1068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720" name="Icône target" descr="Icône target"/>
          <p:cNvPicPr/>
          <p:nvPr/>
        </p:nvPicPr>
        <p:blipFill>
          <a:blip r:embed="rId1"/>
          <a:stretch/>
        </p:blipFill>
        <p:spPr>
          <a:xfrm>
            <a:off x="896040" y="1435680"/>
            <a:ext cx="272160" cy="272160"/>
          </a:xfrm>
          <a:prstGeom prst="rect">
            <a:avLst/>
          </a:prstGeom>
          <a:noFill/>
          <a:ln w="0">
            <a:noFill/>
          </a:ln>
        </p:spPr>
      </p:pic>
      <p:sp>
        <p:nvSpPr>
          <p:cNvPr id="721"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722" name="TextBox 31"/>
          <p:cNvSpPr/>
          <p:nvPr/>
        </p:nvSpPr>
        <p:spPr>
          <a:xfrm>
            <a:off x="914400" y="1783080"/>
            <a:ext cx="10357920" cy="465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qualité </a:t>
            </a:r>
            <a:r>
              <a:rPr lang="fr-FR" sz="1300" b="1" u="none" strike="noStrike">
                <a:solidFill>
                  <a:srgbClr val="F5A623"/>
                </a:solidFill>
                <a:effectLst/>
                <a:uFillTx/>
                <a:latin typeface="Inter"/>
                <a:ea typeface="DejaVu Sans"/>
              </a:rPr>
              <a:t>par dimension et par couche</a:t>
            </a:r>
            <a:r>
              <a:rPr lang="fr-FR" sz="1300" b="0" u="none" strike="noStrike">
                <a:solidFill>
                  <a:srgbClr val="F7F6F2"/>
                </a:solidFill>
                <a:effectLst/>
                <a:uFillTx/>
                <a:latin typeface="Inter"/>
                <a:ea typeface="DejaVu Sans"/>
              </a:rPr>
              <a:t>, face au </a:t>
            </a:r>
            <a:r>
              <a:rPr lang="fr-FR" sz="1300" b="1" u="none" strike="noStrike">
                <a:solidFill>
                  <a:srgbClr val="F5A623"/>
                </a:solidFill>
                <a:effectLst/>
                <a:uFillTx/>
                <a:latin typeface="Inter"/>
                <a:ea typeface="DejaVu Sans"/>
              </a:rPr>
              <a:t>seuil visé</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 </a:t>
            </a:r>
            <a:r>
              <a:rPr lang="fr-FR" sz="1300" b="1" u="none" strike="noStrike">
                <a:solidFill>
                  <a:srgbClr val="F5A623"/>
                </a:solidFill>
                <a:effectLst/>
                <a:uFillTx/>
                <a:latin typeface="Inter"/>
                <a:ea typeface="DejaVu Sans"/>
              </a:rPr>
              <a:t>certificat</a:t>
            </a:r>
            <a:r>
              <a:rPr lang="fr-FR" sz="1300" b="0" u="none" strike="noStrike">
                <a:solidFill>
                  <a:srgbClr val="F7F6F2"/>
                </a:solidFill>
                <a:effectLst/>
                <a:uFillTx/>
                <a:latin typeface="Inter"/>
                <a:ea typeface="DejaVu Sans"/>
              </a:rPr>
              <a:t> joint (numéro, décision, empreinte) et les </a:t>
            </a:r>
            <a:r>
              <a:rPr lang="fr-FR" sz="1300" b="1" u="none" strike="noStrike">
                <a:solidFill>
                  <a:srgbClr val="F5A623"/>
                </a:solidFill>
                <a:effectLst/>
                <a:uFillTx/>
                <a:latin typeface="Inter"/>
                <a:ea typeface="DejaVu Sans"/>
              </a:rPr>
              <a:t>trois données retracées</a:t>
            </a:r>
            <a:r>
              <a:rPr lang="fr-FR" sz="1300" b="0" u="none" strike="noStrike">
                <a:solidFill>
                  <a:srgbClr val="F7F6F2"/>
                </a:solidFill>
                <a:effectLst/>
                <a:uFillTx/>
                <a:latin typeface="Inter"/>
                <a:ea typeface="DejaVu Sans"/>
              </a:rPr>
              <a:t> en trois lignes.</a:t>
            </a:r>
            <a:endParaRPr lang="fr-FR" sz="1300" b="0" u="none" strike="noStrike">
              <a:solidFill>
                <a:srgbClr val="FFFFFF"/>
              </a:solidFill>
              <a:effectLst/>
              <a:uFillTx/>
              <a:latin typeface="Arial"/>
            </a:endParaRPr>
          </a:p>
        </p:txBody>
      </p:sp>
      <p:graphicFrame>
        <p:nvGraphicFramePr>
          <p:cNvPr id="723" name="Table 32"/>
          <p:cNvGraphicFramePr/>
          <p:nvPr/>
        </p:nvGraphicFramePr>
        <p:xfrm>
          <a:off x="640080" y="2534040"/>
          <a:ext cx="10908360" cy="1828800"/>
        </p:xfrm>
        <a:graphic>
          <a:graphicData uri="http://schemas.openxmlformats.org/drawingml/2006/table">
            <a:tbl>
              <a:tblPr/>
              <a:tblGrid>
                <a:gridCol w="2377440"/>
                <a:gridCol w="1645920"/>
                <a:gridCol w="1645920"/>
                <a:gridCol w="1645920"/>
                <a:gridCol w="1737360"/>
                <a:gridCol w="1856160"/>
              </a:tblGrid>
              <a:tr h="365760">
                <a:tc>
                  <a:txBody>
                    <a:bodyPr lIns="73080" rIns="73080" anchor="ctr">
                      <a:noAutofit/>
                    </a:bodyPr>
                    <a:p>
                      <a:pPr>
                        <a:lnSpc>
                          <a:spcPct val="100000"/>
                        </a:lnSpc>
                      </a:pPr>
                      <a:r>
                        <a:rPr lang="en-US" sz="1100" b="1" u="none" spc="45" strike="noStrike">
                          <a:solidFill>
                            <a:srgbClr val="F5A623"/>
                          </a:solidFill>
                          <a:effectLst/>
                          <a:uFillTx/>
                          <a:latin typeface="Inter"/>
                        </a:rPr>
                        <a:t>Dimension</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Bronze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Silver</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Gold</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Seuil visé</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Atteint ?</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Unicité</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Complétude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Validité</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Cohérence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724" name="TextBox 33"/>
          <p:cNvSpPr/>
          <p:nvPr/>
        </p:nvSpPr>
        <p:spPr>
          <a:xfrm>
            <a:off x="640080" y="4537080"/>
            <a:ext cx="534708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CERTIFICAT JOINT</a:t>
            </a:r>
            <a:endParaRPr lang="fr-FR" sz="1100" b="0" u="none" strike="noStrike">
              <a:solidFill>
                <a:srgbClr val="FFFFFF"/>
              </a:solidFill>
              <a:effectLst/>
              <a:uFillTx/>
              <a:latin typeface="Arial"/>
            </a:endParaRPr>
          </a:p>
        </p:txBody>
      </p:sp>
      <p:sp>
        <p:nvSpPr>
          <p:cNvPr id="725" name="Zone à rédiger"/>
          <p:cNvSpPr/>
          <p:nvPr/>
        </p:nvSpPr>
        <p:spPr>
          <a:xfrm>
            <a:off x="640080" y="4792680"/>
            <a:ext cx="5347080" cy="13316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[Numéro, décision, empreinte]</a:t>
            </a:r>
            <a:endParaRPr lang="fr-FR" sz="1200" b="0" u="none" strike="noStrike">
              <a:solidFill>
                <a:srgbClr val="FFFFFF"/>
              </a:solidFill>
              <a:effectLst/>
              <a:uFillTx/>
              <a:latin typeface="Arial"/>
            </a:endParaRPr>
          </a:p>
        </p:txBody>
      </p:sp>
      <p:sp>
        <p:nvSpPr>
          <p:cNvPr id="726" name="TextBox 35"/>
          <p:cNvSpPr/>
          <p:nvPr/>
        </p:nvSpPr>
        <p:spPr>
          <a:xfrm>
            <a:off x="6199560" y="4537080"/>
            <a:ext cx="534708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TROIS DONNÉES RETRACÉES, EN TROIS LIGNES</a:t>
            </a:r>
            <a:endParaRPr lang="fr-FR" sz="1100" b="0" u="none" strike="noStrike">
              <a:solidFill>
                <a:srgbClr val="FFFFFF"/>
              </a:solidFill>
              <a:effectLst/>
              <a:uFillTx/>
              <a:latin typeface="Arial"/>
            </a:endParaRPr>
          </a:p>
        </p:txBody>
      </p:sp>
      <p:sp>
        <p:nvSpPr>
          <p:cNvPr id="727" name="Zone à rédiger"/>
          <p:cNvSpPr/>
          <p:nvPr/>
        </p:nvSpPr>
        <p:spPr>
          <a:xfrm>
            <a:off x="6199560" y="4792680"/>
            <a:ext cx="5347080" cy="13316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8"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Les écarts</a:t>
            </a:r>
            <a:endParaRPr lang="fr-FR" sz="2800" b="0" u="none" strike="noStrike">
              <a:solidFill>
                <a:srgbClr val="FFFFFF"/>
              </a:solidFill>
              <a:effectLst/>
              <a:uFillTx/>
              <a:latin typeface="Arial"/>
            </a:endParaRPr>
          </a:p>
        </p:txBody>
      </p:sp>
      <p:sp>
        <p:nvSpPr>
          <p:cNvPr id="729" name="PlaceHolder 2"/>
          <p:cNvSpPr>
            <a:spLocks noGrp="1"/>
          </p:cNvSpPr>
          <p:nvPr>
            <p:ph type="sldNum" idx="67"/>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878CAFA7-34D8-4D8A-ABB8-4C5E0E919B7E}"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730"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DOSSIER · 3 SUR 4</a:t>
            </a:r>
            <a:endParaRPr lang="fr-FR" sz="1100" b="0" u="none" strike="noStrike">
              <a:solidFill>
                <a:srgbClr val="FFFFFF"/>
              </a:solidFill>
              <a:effectLst/>
              <a:uFillTx/>
              <a:latin typeface="Arial"/>
            </a:endParaRPr>
          </a:p>
        </p:txBody>
      </p:sp>
      <p:sp>
        <p:nvSpPr>
          <p:cNvPr id="731"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GOUVERNANCE ET DÉCISION · 15 %</a:t>
            </a:r>
            <a:endParaRPr lang="fr-FR" sz="1000" b="0" u="none" strike="noStrike">
              <a:solidFill>
                <a:srgbClr val="FFFFFF"/>
              </a:solidFill>
              <a:effectLst/>
              <a:uFillTx/>
              <a:latin typeface="Arial"/>
            </a:endParaRPr>
          </a:p>
        </p:txBody>
      </p:sp>
      <p:sp>
        <p:nvSpPr>
          <p:cNvPr id="732" name="Attendu"/>
          <p:cNvSpPr/>
          <p:nvPr/>
        </p:nvSpPr>
        <p:spPr>
          <a:xfrm>
            <a:off x="640080" y="1325880"/>
            <a:ext cx="10906560" cy="1068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733" name="Attendu barre"/>
          <p:cNvSpPr/>
          <p:nvPr/>
        </p:nvSpPr>
        <p:spPr>
          <a:xfrm>
            <a:off x="640080" y="1325880"/>
            <a:ext cx="80280" cy="1068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734" name="Icône target" descr="Icône target"/>
          <p:cNvPicPr/>
          <p:nvPr/>
        </p:nvPicPr>
        <p:blipFill>
          <a:blip r:embed="rId1"/>
          <a:stretch/>
        </p:blipFill>
        <p:spPr>
          <a:xfrm>
            <a:off x="896040" y="1435680"/>
            <a:ext cx="272160" cy="272160"/>
          </a:xfrm>
          <a:prstGeom prst="rect">
            <a:avLst/>
          </a:prstGeom>
          <a:noFill/>
          <a:ln w="0">
            <a:noFill/>
          </a:ln>
        </p:spPr>
      </p:pic>
      <p:sp>
        <p:nvSpPr>
          <p:cNvPr id="735"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736" name="TextBox 31"/>
          <p:cNvSpPr/>
          <p:nvPr/>
        </p:nvSpPr>
        <p:spPr>
          <a:xfrm>
            <a:off x="914400" y="1783080"/>
            <a:ext cx="10357920" cy="465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anomalies résiduelles</a:t>
            </a:r>
            <a:r>
              <a:rPr lang="fr-FR" sz="1300" b="0" u="none" strike="noStrike">
                <a:solidFill>
                  <a:srgbClr val="F7F6F2"/>
                </a:solidFill>
                <a:effectLst/>
                <a:uFillTx/>
                <a:latin typeface="Inter"/>
                <a:ea typeface="DejaVu Sans"/>
              </a:rPr>
              <a:t> chiffrées, les lignes en </a:t>
            </a:r>
            <a:r>
              <a:rPr lang="fr-FR" sz="1300" b="1" u="none" strike="noStrike">
                <a:solidFill>
                  <a:srgbClr val="F5A623"/>
                </a:solidFill>
                <a:effectLst/>
                <a:uFillTx/>
                <a:latin typeface="Inter"/>
                <a:ea typeface="DejaVu Sans"/>
              </a:rPr>
              <a:t>quarantaine par règle</a:t>
            </a:r>
            <a:r>
              <a:rPr lang="fr-FR" sz="1300" b="0" u="none" strike="noStrike">
                <a:solidFill>
                  <a:srgbClr val="F7F6F2"/>
                </a:solidFill>
                <a:effectLst/>
                <a:uFillTx/>
                <a:latin typeface="Inter"/>
                <a:ea typeface="DejaVu Sans"/>
              </a:rPr>
              <a:t>, les </a:t>
            </a:r>
            <a:r>
              <a:rPr lang="fr-FR" sz="1300" b="1" u="none" strike="noStrike">
                <a:solidFill>
                  <a:srgbClr val="F5A623"/>
                </a:solidFill>
                <a:effectLst/>
                <a:uFillTx/>
                <a:latin typeface="Inter"/>
                <a:ea typeface="DejaVu Sans"/>
              </a:rPr>
              <a:t>avertissements</a:t>
            </a:r>
            <a:r>
              <a:rPr lang="fr-FR" sz="1300" b="0" u="none" strike="noStrike">
                <a:solidFill>
                  <a:srgbClr val="F7F6F2"/>
                </a:solidFill>
                <a:effectLst/>
                <a:uFillTx/>
                <a:latin typeface="Inter"/>
                <a:ea typeface="DejaVu Sans"/>
              </a:rPr>
              <a:t> restants.</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hypothèses à faire valider</a:t>
            </a:r>
            <a:r>
              <a:rPr lang="fr-FR" sz="1300" b="0" u="none" strike="noStrike">
                <a:solidFill>
                  <a:srgbClr val="F7F6F2"/>
                </a:solidFill>
                <a:effectLst/>
                <a:uFillTx/>
                <a:latin typeface="Inter"/>
                <a:ea typeface="DejaVu Sans"/>
              </a:rPr>
              <a:t> par le métier : listées, jamais cachées.</a:t>
            </a:r>
            <a:endParaRPr lang="fr-FR" sz="1300" b="0" u="none" strike="noStrike">
              <a:solidFill>
                <a:srgbClr val="FFFFFF"/>
              </a:solidFill>
              <a:effectLst/>
              <a:uFillTx/>
              <a:latin typeface="Arial"/>
            </a:endParaRPr>
          </a:p>
        </p:txBody>
      </p:sp>
      <p:graphicFrame>
        <p:nvGraphicFramePr>
          <p:cNvPr id="737" name="Table 32"/>
          <p:cNvGraphicFramePr/>
          <p:nvPr/>
        </p:nvGraphicFramePr>
        <p:xfrm>
          <a:off x="640080" y="2534040"/>
          <a:ext cx="10908360" cy="1828800"/>
        </p:xfrm>
        <a:graphic>
          <a:graphicData uri="http://schemas.openxmlformats.org/drawingml/2006/table">
            <a:tbl>
              <a:tblPr/>
              <a:tblGrid>
                <a:gridCol w="3200400"/>
                <a:gridCol w="1371600"/>
                <a:gridCol w="1280160"/>
                <a:gridCol w="3136320"/>
                <a:gridCol w="1920240"/>
              </a:tblGrid>
              <a:tr h="365760">
                <a:tc>
                  <a:txBody>
                    <a:bodyPr lIns="73080" rIns="73080" anchor="ctr">
                      <a:noAutofit/>
                    </a:bodyPr>
                    <a:p>
                      <a:pPr>
                        <a:lnSpc>
                          <a:spcPct val="100000"/>
                        </a:lnSpc>
                      </a:pPr>
                      <a:r>
                        <a:rPr lang="en-US" sz="1050" b="1" u="none" spc="45" strike="noStrike">
                          <a:solidFill>
                            <a:srgbClr val="F5A623"/>
                          </a:solidFill>
                          <a:effectLst/>
                          <a:uFillTx/>
                          <a:latin typeface="Inter"/>
                        </a:rPr>
                        <a:t>Écart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Chiffre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Règle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Conséquence pour le CRM</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Qui doit agir</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65760">
                <a:tc>
                  <a:txBody>
                    <a:bodyPr lIns="73080" rIns="73080" anchor="ctr">
                      <a:noAutofit/>
                    </a:bodyPr>
                    <a:p>
                      <a:pPr>
                        <a:lnSpc>
                          <a:spcPct val="100000"/>
                        </a:lnSpc>
                      </a:pPr>
                      <a:r>
                        <a:rPr lang="en-US" sz="1150" b="1" u="none" strike="noStrike">
                          <a:solidFill>
                            <a:srgbClr val="F7F6F2"/>
                          </a:solidFill>
                          <a:effectLst/>
                          <a:uFillTx/>
                          <a:latin typeface="Inter"/>
                        </a:rPr>
                        <a:t>Anomalies résiduelles dans gold</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150" b="1" u="none" strike="noStrike">
                          <a:solidFill>
                            <a:srgbClr val="F7F6F2"/>
                          </a:solidFill>
                          <a:effectLst/>
                          <a:uFillTx/>
                          <a:latin typeface="Inter"/>
                        </a:rPr>
                        <a:t>Lignes en quarantaine, par règle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150" b="1" u="none" strike="noStrike">
                          <a:solidFill>
                            <a:srgbClr val="F7F6F2"/>
                          </a:solidFill>
                          <a:effectLst/>
                          <a:uFillTx/>
                          <a:latin typeface="Inter"/>
                        </a:rPr>
                        <a:t>Avertissements restants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150" b="1" u="none" strike="noStrike">
                          <a:solidFill>
                            <a:srgbClr val="F7F6F2"/>
                          </a:solidFill>
                          <a:effectLst/>
                          <a:uFillTx/>
                          <a:latin typeface="Inter"/>
                        </a:rPr>
                        <a:t>Règles non couvertes par le certificat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738" name="TextBox 33"/>
          <p:cNvSpPr/>
          <p:nvPr/>
        </p:nvSpPr>
        <p:spPr>
          <a:xfrm>
            <a:off x="640080" y="4537080"/>
            <a:ext cx="10906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HYPOTHÈSES À FAIRE VALIDER PAR LE MÉTIER</a:t>
            </a:r>
            <a:endParaRPr lang="fr-FR" sz="1100" b="0" u="none" strike="noStrike">
              <a:solidFill>
                <a:srgbClr val="FFFFFF"/>
              </a:solidFill>
              <a:effectLst/>
              <a:uFillTx/>
              <a:latin typeface="Arial"/>
            </a:endParaRPr>
          </a:p>
        </p:txBody>
      </p:sp>
      <p:sp>
        <p:nvSpPr>
          <p:cNvPr id="739" name="Zone à rédiger"/>
          <p:cNvSpPr/>
          <p:nvPr/>
        </p:nvSpPr>
        <p:spPr>
          <a:xfrm>
            <a:off x="640080" y="4792680"/>
            <a:ext cx="10906560" cy="13316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[Listez-les, une par ligne]</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0"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La décision</a:t>
            </a:r>
            <a:endParaRPr lang="fr-FR" sz="2800" b="0" u="none" strike="noStrike">
              <a:solidFill>
                <a:srgbClr val="FFFFFF"/>
              </a:solidFill>
              <a:effectLst/>
              <a:uFillTx/>
              <a:latin typeface="Arial"/>
            </a:endParaRPr>
          </a:p>
        </p:txBody>
      </p:sp>
      <p:sp>
        <p:nvSpPr>
          <p:cNvPr id="741" name="PlaceHolder 2"/>
          <p:cNvSpPr>
            <a:spLocks noGrp="1"/>
          </p:cNvSpPr>
          <p:nvPr>
            <p:ph type="sldNum" idx="68"/>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4F141642-5947-49A9-A4EA-A30374558CFC}"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742"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DOSSIER · 4 SUR 4</a:t>
            </a:r>
            <a:endParaRPr lang="fr-FR" sz="1100" b="0" u="none" strike="noStrike">
              <a:solidFill>
                <a:srgbClr val="FFFFFF"/>
              </a:solidFill>
              <a:effectLst/>
              <a:uFillTx/>
              <a:latin typeface="Arial"/>
            </a:endParaRPr>
          </a:p>
        </p:txBody>
      </p:sp>
      <p:sp>
        <p:nvSpPr>
          <p:cNvPr id="743"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GOUVERNANCE ET DÉCISION · 15 %</a:t>
            </a:r>
            <a:endParaRPr lang="fr-FR" sz="1000" b="0" u="none" strike="noStrike">
              <a:solidFill>
                <a:srgbClr val="FFFFFF"/>
              </a:solidFill>
              <a:effectLst/>
              <a:uFillTx/>
              <a:latin typeface="Arial"/>
            </a:endParaRPr>
          </a:p>
        </p:txBody>
      </p:sp>
      <p:sp>
        <p:nvSpPr>
          <p:cNvPr id="744" name="Attendu"/>
          <p:cNvSpPr/>
          <p:nvPr/>
        </p:nvSpPr>
        <p:spPr>
          <a:xfrm>
            <a:off x="640080" y="1325880"/>
            <a:ext cx="10906560" cy="1320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745" name="Attendu barre"/>
          <p:cNvSpPr/>
          <p:nvPr/>
        </p:nvSpPr>
        <p:spPr>
          <a:xfrm>
            <a:off x="640080" y="1325880"/>
            <a:ext cx="80280" cy="1320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746" name="Icône target" descr="Icône target"/>
          <p:cNvPicPr/>
          <p:nvPr/>
        </p:nvPicPr>
        <p:blipFill>
          <a:blip r:embed="rId1"/>
          <a:stretch/>
        </p:blipFill>
        <p:spPr>
          <a:xfrm>
            <a:off x="896040" y="1435680"/>
            <a:ext cx="272160" cy="272160"/>
          </a:xfrm>
          <a:prstGeom prst="rect">
            <a:avLst/>
          </a:prstGeom>
          <a:noFill/>
          <a:ln w="0">
            <a:noFill/>
          </a:ln>
        </p:spPr>
      </p:pic>
      <p:sp>
        <p:nvSpPr>
          <p:cNvPr id="747"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748" name="TextBox 31"/>
          <p:cNvSpPr/>
          <p:nvPr/>
        </p:nvSpPr>
        <p:spPr>
          <a:xfrm>
            <a:off x="914400" y="1783080"/>
            <a:ext cx="10357920" cy="717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seuils retenus</a:t>
            </a:r>
            <a:r>
              <a:rPr lang="fr-FR" sz="1300" b="0" u="none" strike="noStrike">
                <a:solidFill>
                  <a:srgbClr val="F7F6F2"/>
                </a:solidFill>
                <a:effectLst/>
                <a:uFillTx/>
                <a:latin typeface="Inter"/>
                <a:ea typeface="DejaVu Sans"/>
              </a:rPr>
              <a:t>, justifiés devant le </a:t>
            </a:r>
            <a:r>
              <a:rPr lang="fr-FR" sz="1300" b="1" u="none" strike="noStrike">
                <a:solidFill>
                  <a:srgbClr val="F5A623"/>
                </a:solidFill>
                <a:effectLst/>
                <a:uFillTx/>
                <a:latin typeface="Inter"/>
                <a:ea typeface="DejaVu Sans"/>
              </a:rPr>
              <a:t>Data Owner</a:t>
            </a:r>
            <a:r>
              <a:rPr lang="fr-FR" sz="1300" b="0" u="none" strike="noStrike">
                <a:solidFill>
                  <a:srgbClr val="F7F6F2"/>
                </a:solidFill>
                <a:effectLst/>
                <a:uFillTx/>
                <a:latin typeface="Inter"/>
                <a:ea typeface="DejaVu Sans"/>
              </a:rPr>
              <a:t> (numéros du journal des décisions).</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rôles</a:t>
            </a:r>
            <a:r>
              <a:rPr lang="fr-FR" sz="1300" b="0" u="none" strike="noStrike">
                <a:solidFill>
                  <a:srgbClr val="F7F6F2"/>
                </a:solidFill>
                <a:effectLst/>
                <a:uFillTx/>
                <a:latin typeface="Inter"/>
                <a:ea typeface="DejaVu Sans"/>
              </a:rPr>
              <a:t> : qui décide, qui contrôle, qui exécute ; les </a:t>
            </a:r>
            <a:r>
              <a:rPr lang="fr-FR" sz="1300" b="1" u="none" strike="noStrike">
                <a:solidFill>
                  <a:srgbClr val="F5A623"/>
                </a:solidFill>
                <a:effectLst/>
                <a:uFillTx/>
                <a:latin typeface="Inter"/>
                <a:ea typeface="DejaVu Sans"/>
              </a:rPr>
              <a:t>conditions</a:t>
            </a:r>
            <a:r>
              <a:rPr lang="fr-FR" sz="1300" b="0" u="none" strike="noStrike">
                <a:solidFill>
                  <a:srgbClr val="F7F6F2"/>
                </a:solidFill>
                <a:effectLst/>
                <a:uFillTx/>
                <a:latin typeface="Inter"/>
                <a:ea typeface="DejaVu Sans"/>
              </a:rPr>
              <a:t> à lever, avec échéance et responsable.</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a:t>
            </a:r>
            <a:r>
              <a:rPr lang="fr-FR" sz="1300" b="1" u="none" strike="noStrike">
                <a:solidFill>
                  <a:srgbClr val="F5A623"/>
                </a:solidFill>
                <a:effectLst/>
                <a:uFillTx/>
                <a:latin typeface="Inter"/>
                <a:ea typeface="DejaVu Sans"/>
              </a:rPr>
              <a:t>signature</a:t>
            </a:r>
            <a:r>
              <a:rPr lang="fr-FR" sz="1300" b="0" u="none" strike="noStrike">
                <a:solidFill>
                  <a:srgbClr val="F7F6F2"/>
                </a:solidFill>
                <a:effectLst/>
                <a:uFillTx/>
                <a:latin typeface="Inter"/>
                <a:ea typeface="DejaVu Sans"/>
              </a:rPr>
              <a:t> du Data Owner.</a:t>
            </a:r>
            <a:endParaRPr lang="fr-FR" sz="1300" b="0" u="none" strike="noStrike">
              <a:solidFill>
                <a:srgbClr val="FFFFFF"/>
              </a:solidFill>
              <a:effectLst/>
              <a:uFillTx/>
              <a:latin typeface="Arial"/>
            </a:endParaRPr>
          </a:p>
        </p:txBody>
      </p:sp>
      <p:sp>
        <p:nvSpPr>
          <p:cNvPr id="749" name="TextBox 32"/>
          <p:cNvSpPr/>
          <p:nvPr/>
        </p:nvSpPr>
        <p:spPr>
          <a:xfrm>
            <a:off x="640080" y="2868840"/>
            <a:ext cx="534708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SEUILS RETENUS ET JUSTIFICATION</a:t>
            </a:r>
            <a:endParaRPr lang="fr-FR" sz="1100" b="0" u="none" strike="noStrike">
              <a:solidFill>
                <a:srgbClr val="FFFFFF"/>
              </a:solidFill>
              <a:effectLst/>
              <a:uFillTx/>
              <a:latin typeface="Arial"/>
            </a:endParaRPr>
          </a:p>
        </p:txBody>
      </p:sp>
      <p:sp>
        <p:nvSpPr>
          <p:cNvPr id="750" name="Zone à rédiger"/>
          <p:cNvSpPr/>
          <p:nvPr/>
        </p:nvSpPr>
        <p:spPr>
          <a:xfrm>
            <a:off x="640080" y="3124440"/>
            <a:ext cx="5347080" cy="10767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[Renvoi au journal, numéros]</a:t>
            </a:r>
            <a:endParaRPr lang="fr-FR" sz="1200" b="0" u="none" strike="noStrike">
              <a:solidFill>
                <a:srgbClr val="FFFFFF"/>
              </a:solidFill>
              <a:effectLst/>
              <a:uFillTx/>
              <a:latin typeface="Arial"/>
            </a:endParaRPr>
          </a:p>
        </p:txBody>
      </p:sp>
      <p:sp>
        <p:nvSpPr>
          <p:cNvPr id="751" name="TextBox 34"/>
          <p:cNvSpPr/>
          <p:nvPr/>
        </p:nvSpPr>
        <p:spPr>
          <a:xfrm>
            <a:off x="6199560" y="2868840"/>
            <a:ext cx="534708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RÔLES : DÉCIDE, CONTRÔLE, EXÉCUTE</a:t>
            </a:r>
            <a:endParaRPr lang="fr-FR" sz="1100" b="0" u="none" strike="noStrike">
              <a:solidFill>
                <a:srgbClr val="FFFFFF"/>
              </a:solidFill>
              <a:effectLst/>
              <a:uFillTx/>
              <a:latin typeface="Arial"/>
            </a:endParaRPr>
          </a:p>
        </p:txBody>
      </p:sp>
      <p:sp>
        <p:nvSpPr>
          <p:cNvPr id="752" name="Zone à rédiger"/>
          <p:cNvSpPr/>
          <p:nvPr/>
        </p:nvSpPr>
        <p:spPr>
          <a:xfrm>
            <a:off x="6199560" y="3124440"/>
            <a:ext cx="5347080" cy="10767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graphicFrame>
        <p:nvGraphicFramePr>
          <p:cNvPr id="753" name="Table 36"/>
          <p:cNvGraphicFramePr/>
          <p:nvPr/>
        </p:nvGraphicFramePr>
        <p:xfrm>
          <a:off x="640080" y="4340520"/>
          <a:ext cx="10908360" cy="1042200"/>
        </p:xfrm>
        <a:graphic>
          <a:graphicData uri="http://schemas.openxmlformats.org/drawingml/2006/table">
            <a:tbl>
              <a:tblPr/>
              <a:tblGrid>
                <a:gridCol w="6217920"/>
                <a:gridCol w="2560320"/>
                <a:gridCol w="2130480"/>
              </a:tblGrid>
              <a:tr h="347400">
                <a:tc>
                  <a:txBody>
                    <a:bodyPr lIns="73080" rIns="73080" anchor="ctr">
                      <a:noAutofit/>
                    </a:bodyPr>
                    <a:p>
                      <a:pPr>
                        <a:lnSpc>
                          <a:spcPct val="100000"/>
                        </a:lnSpc>
                      </a:pPr>
                      <a:r>
                        <a:rPr lang="en-US" sz="1050" b="1" u="none" spc="45" strike="noStrike">
                          <a:solidFill>
                            <a:srgbClr val="F5A623"/>
                          </a:solidFill>
                          <a:effectLst/>
                          <a:uFillTx/>
                          <a:latin typeface="Inter"/>
                        </a:rPr>
                        <a:t>Condition à lever avant migration</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Responsable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Échéance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754" name="TextBox 37"/>
          <p:cNvSpPr/>
          <p:nvPr/>
        </p:nvSpPr>
        <p:spPr>
          <a:xfrm>
            <a:off x="640080" y="5557320"/>
            <a:ext cx="10906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SIGNATURE DU DATA OWNER (NOM, RÔLE, DATE)</a:t>
            </a:r>
            <a:endParaRPr lang="fr-FR" sz="1100" b="0" u="none" strike="noStrike">
              <a:solidFill>
                <a:srgbClr val="FFFFFF"/>
              </a:solidFill>
              <a:effectLst/>
              <a:uFillTx/>
              <a:latin typeface="Arial"/>
            </a:endParaRPr>
          </a:p>
        </p:txBody>
      </p:sp>
      <p:sp>
        <p:nvSpPr>
          <p:cNvPr id="755" name="Zone à rédiger"/>
          <p:cNvSpPr/>
          <p:nvPr/>
        </p:nvSpPr>
        <p:spPr>
          <a:xfrm>
            <a:off x="640080" y="5812920"/>
            <a:ext cx="10906560" cy="3114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[Nom, rôle, date]</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PlaceHolder 1"/>
          <p:cNvSpPr>
            <a:spLocks noGrp="1"/>
          </p:cNvSpPr>
          <p:nvPr>
            <p:ph/>
          </p:nvPr>
        </p:nvSpPr>
        <p:spPr>
          <a:xfrm>
            <a:off x="640080" y="2011680"/>
            <a:ext cx="2741040" cy="1186560"/>
          </a:xfrm>
          <a:prstGeom prst="rect">
            <a:avLst/>
          </a:prstGeom>
          <a:noFill/>
          <a:ln w="0">
            <a:noFill/>
          </a:ln>
        </p:spPr>
        <p:txBody>
          <a:bodyPr lIns="90000" tIns="45000" rIns="90000" bIns="45000" anchor="t">
            <a:noAutofit/>
          </a:bodyPr>
          <a:p>
            <a:pPr indent="0" algn="l">
              <a:lnSpc>
                <a:spcPct val="100000"/>
              </a:lnSpc>
              <a:spcBef>
                <a:spcPts val="1440"/>
              </a:spcBef>
              <a:buNone/>
              <a:tabLst>
                <a:tab pos="0" algn="l"/>
              </a:tabLst>
            </a:pPr>
            <a:r>
              <a:rPr lang="en-US" sz="7200" b="0" u="none" strike="noStrike">
                <a:solidFill>
                  <a:srgbClr val="F5A623"/>
                </a:solidFill>
                <a:effectLst/>
                <a:uFillTx/>
                <a:latin typeface="Fraunces SemiBold"/>
                <a:ea typeface="Fraunces SemiBold"/>
              </a:rPr>
              <a:t>07</a:t>
            </a:r>
            <a:endParaRPr lang="fr-FR" sz="7200" b="0" u="none" strike="noStrike">
              <a:solidFill>
                <a:srgbClr val="FFFFFF"/>
              </a:solidFill>
              <a:effectLst/>
              <a:uFillTx/>
              <a:latin typeface="Arial"/>
            </a:endParaRPr>
          </a:p>
        </p:txBody>
      </p:sp>
      <p:sp>
        <p:nvSpPr>
          <p:cNvPr id="757" name="PlaceHolder 2"/>
          <p:cNvSpPr>
            <a:spLocks noGrp="1"/>
          </p:cNvSpPr>
          <p:nvPr>
            <p:ph type="title"/>
          </p:nvPr>
        </p:nvSpPr>
        <p:spPr>
          <a:xfrm>
            <a:off x="640080" y="3200400"/>
            <a:ext cx="6581520" cy="1643760"/>
          </a:xfrm>
          <a:prstGeom prst="rect">
            <a:avLst/>
          </a:prstGeom>
          <a:noFill/>
          <a:ln w="0">
            <a:noFill/>
          </a:ln>
        </p:spPr>
        <p:txBody>
          <a:bodyPr lIns="90000" tIns="45000" rIns="90000" bIns="45000" anchor="t">
            <a:noAutofit/>
          </a:bodyPr>
          <a:p>
            <a:pPr indent="0" algn="l">
              <a:lnSpc>
                <a:spcPct val="100000"/>
              </a:lnSpc>
              <a:buNone/>
              <a:tabLst>
                <a:tab pos="0" algn="l"/>
              </a:tabLst>
            </a:pPr>
            <a:r>
              <a:rPr lang="en-US" sz="4200" b="0" u="none" strike="noStrike">
                <a:solidFill>
                  <a:srgbClr val="F7F6F2"/>
                </a:solidFill>
                <a:effectLst/>
                <a:uFillTx/>
                <a:latin typeface="Fraunces SemiBold"/>
                <a:ea typeface="Fraunces SemiBold"/>
              </a:rPr>
              <a:t>Annexes</a:t>
            </a:r>
            <a:endParaRPr lang="fr-FR" sz="4200" b="0" u="none" strike="noStrike">
              <a:solidFill>
                <a:srgbClr val="FFFFFF"/>
              </a:solidFill>
              <a:effectLst/>
              <a:uFillTx/>
              <a:latin typeface="Arial"/>
            </a:endParaRPr>
          </a:p>
        </p:txBody>
      </p:sp>
      <p:sp>
        <p:nvSpPr>
          <p:cNvPr id="758" name="PlaceHolder 3"/>
          <p:cNvSpPr>
            <a:spLocks noGrp="1"/>
          </p:cNvSpPr>
          <p:nvPr>
            <p:ph type="sldNum" idx="69"/>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DD8E32E3-47D4-4541-A29F-6989BA8E6531}"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759" name="TextBox 25"/>
          <p:cNvSpPr/>
          <p:nvPr/>
        </p:nvSpPr>
        <p:spPr>
          <a:xfrm>
            <a:off x="640080" y="4892040"/>
            <a:ext cx="6398640" cy="558720"/>
          </a:xfrm>
          <a:prstGeom prst="rect">
            <a:avLst/>
          </a:prstGeom>
          <a:noFill/>
          <a:ln w="0">
            <a:noFill/>
          </a:ln>
        </p:spPr>
        <p:style>
          <a:lnRef idx="0"/>
          <a:fillRef idx="0"/>
          <a:effectRef idx="0"/>
          <a:fontRef idx="minor"/>
        </p:style>
        <p:txBody>
          <a:bodyPr lIns="0" tIns="0" rIns="0" bIns="0" anchor="t">
            <a:spAutoFit/>
          </a:bodyPr>
          <a:p>
            <a:pPr>
              <a:lnSpc>
                <a:spcPct val="115000"/>
              </a:lnSpc>
              <a:spcAft>
                <a:spcPts val="400"/>
              </a:spcAft>
            </a:pPr>
            <a:r>
              <a:rPr lang="fr-FR" sz="1600" b="0" u="none" strike="noStrike">
                <a:solidFill>
                  <a:srgbClr val="B8C0C8"/>
                </a:solidFill>
                <a:effectLst/>
                <a:uFillTx/>
                <a:latin typeface="Inter"/>
                <a:ea typeface="DejaVu Sans"/>
              </a:rPr>
              <a:t>Journal des décisions, avancement par story, liens vers le dépôt.</a:t>
            </a:r>
            <a:endParaRPr lang="fr-FR" sz="16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0"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Journal des décisions</a:t>
            </a:r>
            <a:endParaRPr lang="fr-FR" sz="2800" b="0" u="none" strike="noStrike">
              <a:solidFill>
                <a:srgbClr val="FFFFFF"/>
              </a:solidFill>
              <a:effectLst/>
              <a:uFillTx/>
              <a:latin typeface="Arial"/>
            </a:endParaRPr>
          </a:p>
        </p:txBody>
      </p:sp>
      <p:sp>
        <p:nvSpPr>
          <p:cNvPr id="761" name="PlaceHolder 2"/>
          <p:cNvSpPr>
            <a:spLocks noGrp="1"/>
          </p:cNvSpPr>
          <p:nvPr>
            <p:ph type="sldNum" idx="70"/>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5000454C-D0EC-4437-8D8E-C6119C32A4BD}"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762"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ANNEXE A</a:t>
            </a:r>
            <a:endParaRPr lang="fr-FR" sz="1100" b="0" u="none" strike="noStrike">
              <a:solidFill>
                <a:srgbClr val="FFFFFF"/>
              </a:solidFill>
              <a:effectLst/>
              <a:uFillTx/>
              <a:latin typeface="Arial"/>
            </a:endParaRPr>
          </a:p>
        </p:txBody>
      </p:sp>
      <p:sp>
        <p:nvSpPr>
          <p:cNvPr id="763"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GOUVERNANCE ET DÉCISION · 15 %</a:t>
            </a:r>
            <a:endParaRPr lang="fr-FR" sz="1000" b="0" u="none" strike="noStrike">
              <a:solidFill>
                <a:srgbClr val="FFFFFF"/>
              </a:solidFill>
              <a:effectLst/>
              <a:uFillTx/>
              <a:latin typeface="Arial"/>
            </a:endParaRPr>
          </a:p>
        </p:txBody>
      </p:sp>
      <p:sp>
        <p:nvSpPr>
          <p:cNvPr id="764" name="Attendu"/>
          <p:cNvSpPr/>
          <p:nvPr/>
        </p:nvSpPr>
        <p:spPr>
          <a:xfrm>
            <a:off x="640080" y="1325880"/>
            <a:ext cx="10906560" cy="12830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765" name="Attendu barre"/>
          <p:cNvSpPr/>
          <p:nvPr/>
        </p:nvSpPr>
        <p:spPr>
          <a:xfrm>
            <a:off x="640080" y="1325880"/>
            <a:ext cx="80280" cy="12830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766" name="Icône target" descr="Icône target"/>
          <p:cNvPicPr/>
          <p:nvPr/>
        </p:nvPicPr>
        <p:blipFill>
          <a:blip r:embed="rId1"/>
          <a:stretch/>
        </p:blipFill>
        <p:spPr>
          <a:xfrm>
            <a:off x="896040" y="1435680"/>
            <a:ext cx="272160" cy="272160"/>
          </a:xfrm>
          <a:prstGeom prst="rect">
            <a:avLst/>
          </a:prstGeom>
          <a:noFill/>
          <a:ln w="0">
            <a:noFill/>
          </a:ln>
        </p:spPr>
      </p:pic>
      <p:sp>
        <p:nvSpPr>
          <p:cNvPr id="767"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768" name="TextBox 31"/>
          <p:cNvSpPr/>
          <p:nvPr/>
        </p:nvSpPr>
        <p:spPr>
          <a:xfrm>
            <a:off x="914400" y="1783080"/>
            <a:ext cx="10357920" cy="6789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Chaque </a:t>
            </a:r>
            <a:r>
              <a:rPr lang="fr-FR" sz="1300" b="1" u="none" strike="noStrike">
                <a:solidFill>
                  <a:srgbClr val="F5A623"/>
                </a:solidFill>
                <a:effectLst/>
                <a:uFillTx/>
                <a:latin typeface="Inter"/>
                <a:ea typeface="DejaVu Sans"/>
              </a:rPr>
              <a:t>seuil, sévérité, définition ou règle de survie</a:t>
            </a:r>
            <a:r>
              <a:rPr lang="fr-FR" sz="1300" b="0" u="none" strike="noStrike">
                <a:solidFill>
                  <a:srgbClr val="F7F6F2"/>
                </a:solidFill>
                <a:effectLst/>
                <a:uFillTx/>
                <a:latin typeface="Inter"/>
                <a:ea typeface="DejaVu Sans"/>
              </a:rPr>
              <a:t> : date, séance, règle, décision, </a:t>
            </a:r>
            <a:r>
              <a:rPr lang="fr-FR" sz="1300" b="1" u="none" strike="noStrike">
                <a:solidFill>
                  <a:srgbClr val="F5A623"/>
                </a:solidFill>
                <a:effectLst/>
                <a:uFillTx/>
                <a:latin typeface="Inter"/>
                <a:ea typeface="DejaVu Sans"/>
              </a:rPr>
              <a:t>justification chiffrée</a:t>
            </a:r>
            <a:r>
              <a:rPr lang="fr-FR" sz="1300" b="0" u="none" strike="noStrike">
                <a:solidFill>
                  <a:srgbClr val="F7F6F2"/>
                </a:solidFill>
                <a:effectLst/>
                <a:uFillTx/>
                <a:latin typeface="Inter"/>
                <a:ea typeface="DejaVu Sans"/>
              </a:rPr>
              <a:t>, </a:t>
            </a:r>
            <a:r>
              <a:rPr lang="fr-FR" sz="1300" b="1" u="none" strike="noStrike">
                <a:solidFill>
                  <a:srgbClr val="F5A623"/>
                </a:solidFill>
                <a:effectLst/>
                <a:uFillTx/>
                <a:latin typeface="Inter"/>
                <a:ea typeface="DejaVu Sans"/>
              </a:rPr>
              <a:t>rôle décideur</a:t>
            </a:r>
            <a:r>
              <a:rPr lang="fr-FR" sz="1300" b="0" u="none" strike="noStrike">
                <a:solidFill>
                  <a:srgbClr val="F7F6F2"/>
                </a:solidFill>
                <a:effectLst/>
                <a:uFillTx/>
                <a:latin typeface="Inter"/>
                <a:ea typeface="DejaVu Sans"/>
              </a:rPr>
              <a:t>, alternative écartée.</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Une décision sans rôle ni chiffre n'est pas une décision.</a:t>
            </a:r>
            <a:endParaRPr lang="fr-FR" sz="1300" b="0" u="none" strike="noStrike">
              <a:solidFill>
                <a:srgbClr val="FFFFFF"/>
              </a:solidFill>
              <a:effectLst/>
              <a:uFillTx/>
              <a:latin typeface="Arial"/>
            </a:endParaRPr>
          </a:p>
        </p:txBody>
      </p:sp>
      <p:graphicFrame>
        <p:nvGraphicFramePr>
          <p:cNvPr id="769" name="Table 32"/>
          <p:cNvGraphicFramePr/>
          <p:nvPr/>
        </p:nvGraphicFramePr>
        <p:xfrm>
          <a:off x="640080" y="2748240"/>
          <a:ext cx="10908360" cy="2431800"/>
        </p:xfrm>
        <a:graphic>
          <a:graphicData uri="http://schemas.openxmlformats.org/drawingml/2006/table">
            <a:tbl>
              <a:tblPr/>
              <a:tblGrid>
                <a:gridCol w="457200"/>
                <a:gridCol w="822960"/>
                <a:gridCol w="822960"/>
                <a:gridCol w="1371600"/>
                <a:gridCol w="2377440"/>
                <a:gridCol w="2194560"/>
                <a:gridCol w="1188720"/>
                <a:gridCol w="1673280"/>
              </a:tblGrid>
              <a:tr h="347400">
                <a:tc>
                  <a:txBody>
                    <a:bodyPr lIns="73080" rIns="73080" anchor="ctr">
                      <a:noAutofit/>
                    </a:bodyPr>
                    <a:p>
                      <a:pPr>
                        <a:lnSpc>
                          <a:spcPct val="100000"/>
                        </a:lnSpc>
                      </a:pPr>
                      <a:r>
                        <a:rPr lang="en-US" sz="950" b="1" u="none" spc="45" strike="noStrike">
                          <a:solidFill>
                            <a:srgbClr val="F5A623"/>
                          </a:solidFill>
                          <a:effectLst/>
                          <a:uFillTx/>
                          <a:latin typeface="Inter"/>
                        </a:rPr>
                        <a:t>N°</a:t>
                      </a:r>
                      <a:endParaRPr lang="fr-FR" sz="9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950" b="1" u="none" spc="45" strike="noStrike">
                          <a:solidFill>
                            <a:srgbClr val="F5A623"/>
                          </a:solidFill>
                          <a:effectLst/>
                          <a:uFillTx/>
                          <a:latin typeface="Inter"/>
                        </a:rPr>
                        <a:t>Date</a:t>
                      </a:r>
                      <a:endParaRPr lang="fr-FR" sz="9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950" b="1" u="none" spc="45" strike="noStrike">
                          <a:solidFill>
                            <a:srgbClr val="F5A623"/>
                          </a:solidFill>
                          <a:effectLst/>
                          <a:uFillTx/>
                          <a:latin typeface="Inter"/>
                        </a:rPr>
                        <a:t>Séance</a:t>
                      </a:r>
                      <a:endParaRPr lang="fr-FR" sz="9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950" b="1" u="none" spc="45" strike="noStrike">
                          <a:solidFill>
                            <a:srgbClr val="F5A623"/>
                          </a:solidFill>
                          <a:effectLst/>
                          <a:uFillTx/>
                          <a:latin typeface="Inter"/>
                        </a:rPr>
                        <a:t>Règle ou objet</a:t>
                      </a:r>
                      <a:endParaRPr lang="fr-FR" sz="9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950" b="1" u="none" spc="45" strike="noStrike">
                          <a:solidFill>
                            <a:srgbClr val="F5A623"/>
                          </a:solidFill>
                          <a:effectLst/>
                          <a:uFillTx/>
                          <a:latin typeface="Inter"/>
                        </a:rPr>
                        <a:t>Décision</a:t>
                      </a:r>
                      <a:endParaRPr lang="fr-FR" sz="9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950" b="1" u="none" spc="45" strike="noStrike">
                          <a:solidFill>
                            <a:srgbClr val="F5A623"/>
                          </a:solidFill>
                          <a:effectLst/>
                          <a:uFillTx/>
                          <a:latin typeface="Inter"/>
                        </a:rPr>
                        <a:t>Justification chiffrée</a:t>
                      </a:r>
                      <a:endParaRPr lang="fr-FR" sz="9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950" b="1" u="none" spc="45" strike="noStrike">
                          <a:solidFill>
                            <a:srgbClr val="F5A623"/>
                          </a:solidFill>
                          <a:effectLst/>
                          <a:uFillTx/>
                          <a:latin typeface="Inter"/>
                        </a:rPr>
                        <a:t>Rôle</a:t>
                      </a:r>
                      <a:endParaRPr lang="fr-FR" sz="9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950" b="1" u="none" spc="45" strike="noStrike">
                          <a:solidFill>
                            <a:srgbClr val="F5A623"/>
                          </a:solidFill>
                          <a:effectLst/>
                          <a:uFillTx/>
                          <a:latin typeface="Inter"/>
                        </a:rPr>
                        <a:t>Alternative écartée</a:t>
                      </a:r>
                      <a:endParaRPr lang="fr-FR" sz="9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47400">
                <a:tc>
                  <a:txBody>
                    <a:bodyPr lIns="73080" rIns="73080" anchor="ctr">
                      <a:noAutofit/>
                    </a:bodyPr>
                    <a:p>
                      <a:pPr>
                        <a:lnSpc>
                          <a:spcPct val="100000"/>
                        </a:lnSpc>
                      </a:pPr>
                      <a:r>
                        <a:rPr lang="en-US" sz="1050" b="1" u="none" strike="noStrike">
                          <a:solidFill>
                            <a:srgbClr val="F7F6F2"/>
                          </a:solidFill>
                          <a:effectLst/>
                          <a:uFillTx/>
                          <a:latin typeface="Inter"/>
                        </a:rPr>
                        <a:t>1</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050" b="1" u="none" strike="noStrike">
                          <a:solidFill>
                            <a:srgbClr val="F7F6F2"/>
                          </a:solidFill>
                          <a:effectLst/>
                          <a:uFillTx/>
                          <a:latin typeface="Inter"/>
                        </a:rPr>
                        <a:t>2</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050" b="1" u="none" strike="noStrike">
                          <a:solidFill>
                            <a:srgbClr val="F7F6F2"/>
                          </a:solidFill>
                          <a:effectLst/>
                          <a:uFillTx/>
                          <a:latin typeface="Inter"/>
                        </a:rPr>
                        <a:t>3</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050" b="1" u="none" strike="noStrike">
                          <a:solidFill>
                            <a:srgbClr val="F7F6F2"/>
                          </a:solidFill>
                          <a:effectLst/>
                          <a:uFillTx/>
                          <a:latin typeface="Inter"/>
                        </a:rPr>
                        <a:t>4</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050" b="1" u="none" strike="noStrike">
                          <a:solidFill>
                            <a:srgbClr val="F7F6F2"/>
                          </a:solidFill>
                          <a:effectLst/>
                          <a:uFillTx/>
                          <a:latin typeface="Inter"/>
                        </a:rPr>
                        <a:t>5</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050" b="1" u="none" strike="noStrike">
                          <a:solidFill>
                            <a:srgbClr val="F7F6F2"/>
                          </a:solidFill>
                          <a:effectLst/>
                          <a:uFillTx/>
                          <a:latin typeface="Inter"/>
                        </a:rPr>
                        <a:t>6</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770" name="TextBox 33"/>
          <p:cNvSpPr/>
          <p:nvPr/>
        </p:nvSpPr>
        <p:spPr>
          <a:xfrm>
            <a:off x="640080" y="5253480"/>
            <a:ext cx="10906560" cy="18000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Ajoutez des lignes si nécessaire. Exemples : sévérité d'une règle, seuil d'avertissement, convention de la sentinelle, seuils de rapprochement, règle de survie, seuil de la porte G.</a:t>
            </a:r>
            <a:endParaRPr lang="fr-FR"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1"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Avancement par story</a:t>
            </a:r>
            <a:endParaRPr lang="fr-FR" sz="2800" b="0" u="none" strike="noStrike">
              <a:solidFill>
                <a:srgbClr val="FFFFFF"/>
              </a:solidFill>
              <a:effectLst/>
              <a:uFillTx/>
              <a:latin typeface="Arial"/>
            </a:endParaRPr>
          </a:p>
        </p:txBody>
      </p:sp>
      <p:sp>
        <p:nvSpPr>
          <p:cNvPr id="772" name="PlaceHolder 2"/>
          <p:cNvSpPr>
            <a:spLocks noGrp="1"/>
          </p:cNvSpPr>
          <p:nvPr>
            <p:ph type="sldNum" idx="71"/>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DBF05C71-8B1B-46AC-9BD7-86366D2795B5}"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773"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ANNEXE B</a:t>
            </a:r>
            <a:endParaRPr lang="fr-FR" sz="1100" b="0" u="none" strike="noStrike">
              <a:solidFill>
                <a:srgbClr val="FFFFFF"/>
              </a:solidFill>
              <a:effectLst/>
              <a:uFillTx/>
              <a:latin typeface="Arial"/>
            </a:endParaRPr>
          </a:p>
        </p:txBody>
      </p:sp>
      <p:sp>
        <p:nvSpPr>
          <p:cNvPr id="774" name="TextBox 26"/>
          <p:cNvSpPr/>
          <p:nvPr/>
        </p:nvSpPr>
        <p:spPr>
          <a:xfrm>
            <a:off x="6976800" y="291960"/>
            <a:ext cx="4569840" cy="16308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GOUVERNANCE ET DÉCISION · 15 %</a:t>
            </a:r>
            <a:endParaRPr lang="fr-FR" sz="1000" b="0" u="none" strike="noStrike">
              <a:solidFill>
                <a:srgbClr val="FFFFFF"/>
              </a:solidFill>
              <a:effectLst/>
              <a:uFillTx/>
              <a:latin typeface="Arial"/>
            </a:endParaRPr>
          </a:p>
        </p:txBody>
      </p:sp>
      <p:sp>
        <p:nvSpPr>
          <p:cNvPr id="775" name="Attendu"/>
          <p:cNvSpPr/>
          <p:nvPr/>
        </p:nvSpPr>
        <p:spPr>
          <a:xfrm>
            <a:off x="640080" y="1325880"/>
            <a:ext cx="10906560" cy="10306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776" name="Attendu barre"/>
          <p:cNvSpPr/>
          <p:nvPr/>
        </p:nvSpPr>
        <p:spPr>
          <a:xfrm>
            <a:off x="640080" y="1325880"/>
            <a:ext cx="80280" cy="10306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777" name="Icône target" descr="Icône target"/>
          <p:cNvPicPr/>
          <p:nvPr/>
        </p:nvPicPr>
        <p:blipFill>
          <a:blip r:embed="rId1"/>
          <a:stretch/>
        </p:blipFill>
        <p:spPr>
          <a:xfrm>
            <a:off x="896040" y="1435680"/>
            <a:ext cx="272160" cy="272160"/>
          </a:xfrm>
          <a:prstGeom prst="rect">
            <a:avLst/>
          </a:prstGeom>
          <a:noFill/>
          <a:ln w="0">
            <a:noFill/>
          </a:ln>
        </p:spPr>
      </p:pic>
      <p:sp>
        <p:nvSpPr>
          <p:cNvPr id="778" name="TextBox 30"/>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779" name="TextBox 31"/>
          <p:cNvSpPr/>
          <p:nvPr/>
        </p:nvSpPr>
        <p:spPr>
          <a:xfrm>
            <a:off x="914400" y="1783080"/>
            <a:ext cx="10357920" cy="213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Une ligne par story : </a:t>
            </a:r>
            <a:r>
              <a:rPr lang="fr-FR" sz="1300" b="1" u="none" strike="noStrike">
                <a:solidFill>
                  <a:srgbClr val="F5A623"/>
                </a:solidFill>
                <a:effectLst/>
                <a:uFillTx/>
                <a:latin typeface="Inter"/>
                <a:ea typeface="DejaVu Sans"/>
              </a:rPr>
              <a:t>statut</a:t>
            </a:r>
            <a:r>
              <a:rPr lang="fr-FR" sz="1300" b="0" u="none" strike="noStrike">
                <a:solidFill>
                  <a:srgbClr val="F7F6F2"/>
                </a:solidFill>
                <a:effectLst/>
                <a:uFillTx/>
                <a:latin typeface="Inter"/>
                <a:ea typeface="DejaVu Sans"/>
              </a:rPr>
              <a:t> (Fait, En cours, Bloqué, À faire) et </a:t>
            </a:r>
            <a:r>
              <a:rPr lang="fr-FR" sz="1300" b="1" u="none" strike="noStrike">
                <a:solidFill>
                  <a:srgbClr val="F5A623"/>
                </a:solidFill>
                <a:effectLst/>
                <a:uFillTx/>
                <a:latin typeface="Inter"/>
                <a:ea typeface="DejaVu Sans"/>
              </a:rPr>
              <a:t>preuve</a:t>
            </a:r>
            <a:r>
              <a:rPr lang="fr-FR" sz="1300" b="0" u="none" strike="noStrike">
                <a:solidFill>
                  <a:srgbClr val="F7F6F2"/>
                </a:solidFill>
                <a:effectLst/>
                <a:uFillTx/>
                <a:latin typeface="Inter"/>
                <a:ea typeface="DejaVu Sans"/>
              </a:rPr>
              <a:t> (chemin du dépôt). Pas de preuve, pas de « Fait ».</a:t>
            </a:r>
            <a:endParaRPr lang="fr-FR" sz="1300" b="0" u="none" strike="noStrike">
              <a:solidFill>
                <a:srgbClr val="FFFFFF"/>
              </a:solidFill>
              <a:effectLst/>
              <a:uFillTx/>
              <a:latin typeface="Arial"/>
            </a:endParaRPr>
          </a:p>
        </p:txBody>
      </p:sp>
      <p:graphicFrame>
        <p:nvGraphicFramePr>
          <p:cNvPr id="780" name="Table 32"/>
          <p:cNvGraphicFramePr/>
          <p:nvPr/>
        </p:nvGraphicFramePr>
        <p:xfrm>
          <a:off x="640080" y="2541600"/>
          <a:ext cx="10908360" cy="2468880"/>
        </p:xfrm>
        <a:graphic>
          <a:graphicData uri="http://schemas.openxmlformats.org/drawingml/2006/table">
            <a:tbl>
              <a:tblPr/>
              <a:tblGrid>
                <a:gridCol w="1097280"/>
                <a:gridCol w="2560320"/>
                <a:gridCol w="1005840"/>
                <a:gridCol w="1188720"/>
                <a:gridCol w="1188720"/>
                <a:gridCol w="3867840"/>
              </a:tblGrid>
              <a:tr h="411480">
                <a:tc>
                  <a:txBody>
                    <a:bodyPr lIns="73080" rIns="73080" anchor="ctr">
                      <a:noAutofit/>
                    </a:bodyPr>
                    <a:p>
                      <a:pPr>
                        <a:lnSpc>
                          <a:spcPct val="100000"/>
                        </a:lnSpc>
                      </a:pPr>
                      <a:r>
                        <a:rPr lang="en-US" sz="1100" b="1" u="none" spc="45" strike="noStrike">
                          <a:solidFill>
                            <a:srgbClr val="F5A623"/>
                          </a:solidFill>
                          <a:effectLst/>
                          <a:uFillTx/>
                          <a:latin typeface="Inter"/>
                        </a:rPr>
                        <a:t>Séance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Stories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Faites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En cours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Bloquées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Preuves principales (chemins)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411480">
                <a:tc>
                  <a:txBody>
                    <a:bodyPr lIns="73080" rIns="73080" anchor="ctr">
                      <a:noAutofit/>
                    </a:bodyPr>
                    <a:p>
                      <a:pPr>
                        <a:lnSpc>
                          <a:spcPct val="100000"/>
                        </a:lnSpc>
                      </a:pPr>
                      <a:r>
                        <a:rPr lang="en-US" sz="1200" b="1" u="none" strike="noStrike">
                          <a:solidFill>
                            <a:srgbClr val="F7F6F2"/>
                          </a:solidFill>
                          <a:effectLst/>
                          <a:uFillTx/>
                          <a:latin typeface="Inter"/>
                        </a:rPr>
                        <a:t>S1</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7F6F2"/>
                          </a:solidFill>
                          <a:effectLst/>
                          <a:uFillTx/>
                          <a:latin typeface="Inter"/>
                        </a:rPr>
                        <a:t>US-01 à 04, 06, 07, 09</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411480">
                <a:tc>
                  <a:txBody>
                    <a:bodyPr lIns="73080" rIns="73080" anchor="ctr">
                      <a:noAutofit/>
                    </a:bodyPr>
                    <a:p>
                      <a:pPr>
                        <a:lnSpc>
                          <a:spcPct val="100000"/>
                        </a:lnSpc>
                      </a:pPr>
                      <a:r>
                        <a:rPr lang="en-US" sz="1200" b="1" u="none" strike="noStrike">
                          <a:solidFill>
                            <a:srgbClr val="F7F6F2"/>
                          </a:solidFill>
                          <a:effectLst/>
                          <a:uFillTx/>
                          <a:latin typeface="Inter"/>
                        </a:rPr>
                        <a:t>S2</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7F6F2"/>
                          </a:solidFill>
                          <a:effectLst/>
                          <a:uFillTx/>
                          <a:latin typeface="Inter"/>
                        </a:rPr>
                        <a:t>US-10, 11, 13, 15</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411480">
                <a:tc>
                  <a:txBody>
                    <a:bodyPr lIns="73080" rIns="73080" anchor="ctr">
                      <a:noAutofit/>
                    </a:bodyPr>
                    <a:p>
                      <a:pPr>
                        <a:lnSpc>
                          <a:spcPct val="100000"/>
                        </a:lnSpc>
                      </a:pPr>
                      <a:r>
                        <a:rPr lang="en-US" sz="1200" b="1" u="none" strike="noStrike">
                          <a:solidFill>
                            <a:srgbClr val="F7F6F2"/>
                          </a:solidFill>
                          <a:effectLst/>
                          <a:uFillTx/>
                          <a:latin typeface="Inter"/>
                        </a:rPr>
                        <a:t>S3</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7F6F2"/>
                          </a:solidFill>
                          <a:effectLst/>
                          <a:uFillTx/>
                          <a:latin typeface="Inter"/>
                        </a:rPr>
                        <a:t>US-12, 14, 16 à 19</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411480">
                <a:tc>
                  <a:txBody>
                    <a:bodyPr lIns="73080" rIns="73080" anchor="ctr">
                      <a:noAutofit/>
                    </a:bodyPr>
                    <a:p>
                      <a:pPr>
                        <a:lnSpc>
                          <a:spcPct val="100000"/>
                        </a:lnSpc>
                      </a:pPr>
                      <a:r>
                        <a:rPr lang="en-US" sz="1200" b="1" u="none" strike="noStrike">
                          <a:solidFill>
                            <a:srgbClr val="F7F6F2"/>
                          </a:solidFill>
                          <a:effectLst/>
                          <a:uFillTx/>
                          <a:latin typeface="Inter"/>
                        </a:rPr>
                        <a:t>S4</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7F6F2"/>
                          </a:solidFill>
                          <a:effectLst/>
                          <a:uFillTx/>
                          <a:latin typeface="Inter"/>
                        </a:rPr>
                        <a:t>US-21 à 25, 27, 28</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411480">
                <a:tc>
                  <a:txBody>
                    <a:bodyPr lIns="73080" rIns="73080" anchor="ctr">
                      <a:noAutofit/>
                    </a:bodyPr>
                    <a:p>
                      <a:pPr>
                        <a:lnSpc>
                          <a:spcPct val="100000"/>
                        </a:lnSpc>
                      </a:pPr>
                      <a:r>
                        <a:rPr lang="en-US" sz="1200" b="1" u="none" strike="noStrike">
                          <a:solidFill>
                            <a:srgbClr val="F7F6F2"/>
                          </a:solidFill>
                          <a:effectLst/>
                          <a:uFillTx/>
                          <a:latin typeface="Inter"/>
                        </a:rPr>
                        <a:t>S5</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7F6F2"/>
                          </a:solidFill>
                          <a:effectLst/>
                          <a:uFillTx/>
                          <a:latin typeface="Inter"/>
                        </a:rPr>
                        <a:t>US-29 à 32, 34, 35</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781" name="TextBox 33"/>
          <p:cNvSpPr/>
          <p:nvPr/>
        </p:nvSpPr>
        <p:spPr>
          <a:xfrm>
            <a:off x="640080" y="5101920"/>
            <a:ext cx="10906560" cy="18000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Le détail story par story est dans AVANCEMENT.md à la racine du dépôt.</a:t>
            </a:r>
            <a:endParaRPr lang="fr-FR"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2"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Dépôt Git et étiquettes</a:t>
            </a:r>
            <a:endParaRPr lang="fr-FR" sz="2800" b="0" u="none" strike="noStrike">
              <a:solidFill>
                <a:srgbClr val="FFFFFF"/>
              </a:solidFill>
              <a:effectLst/>
              <a:uFillTx/>
              <a:latin typeface="Arial"/>
            </a:endParaRPr>
          </a:p>
        </p:txBody>
      </p:sp>
      <p:sp>
        <p:nvSpPr>
          <p:cNvPr id="783" name="PlaceHolder 2"/>
          <p:cNvSpPr>
            <a:spLocks noGrp="1"/>
          </p:cNvSpPr>
          <p:nvPr>
            <p:ph type="sldNum" idx="72"/>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8C0B9E81-4D68-4AE7-870D-97B1858E4C8F}"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784"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ANNEXE C</a:t>
            </a:r>
            <a:endParaRPr lang="fr-FR" sz="1100" b="0" u="none" strike="noStrike">
              <a:solidFill>
                <a:srgbClr val="FFFFFF"/>
              </a:solidFill>
              <a:effectLst/>
              <a:uFillTx/>
              <a:latin typeface="Arial"/>
            </a:endParaRPr>
          </a:p>
        </p:txBody>
      </p:sp>
      <p:sp>
        <p:nvSpPr>
          <p:cNvPr id="785" name="Attendu"/>
          <p:cNvSpPr/>
          <p:nvPr/>
        </p:nvSpPr>
        <p:spPr>
          <a:xfrm>
            <a:off x="640080" y="1325880"/>
            <a:ext cx="10906560" cy="1068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786" name="Attendu barre"/>
          <p:cNvSpPr/>
          <p:nvPr/>
        </p:nvSpPr>
        <p:spPr>
          <a:xfrm>
            <a:off x="640080" y="1325880"/>
            <a:ext cx="80280" cy="1068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787" name="Icône target" descr="Icône target"/>
          <p:cNvPicPr/>
          <p:nvPr/>
        </p:nvPicPr>
        <p:blipFill>
          <a:blip r:embed="rId1"/>
          <a:stretch/>
        </p:blipFill>
        <p:spPr>
          <a:xfrm>
            <a:off x="896040" y="1435680"/>
            <a:ext cx="272160" cy="272160"/>
          </a:xfrm>
          <a:prstGeom prst="rect">
            <a:avLst/>
          </a:prstGeom>
          <a:noFill/>
          <a:ln w="0">
            <a:noFill/>
          </a:ln>
        </p:spPr>
      </p:pic>
      <p:sp>
        <p:nvSpPr>
          <p:cNvPr id="788" name="TextBox 29"/>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789" name="TextBox 30"/>
          <p:cNvSpPr/>
          <p:nvPr/>
        </p:nvSpPr>
        <p:spPr>
          <a:xfrm>
            <a:off x="914400" y="1783080"/>
            <a:ext cx="10357920" cy="465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t>
            </a:r>
            <a:r>
              <a:rPr lang="fr-FR" sz="1300" b="1" u="none" strike="noStrike">
                <a:solidFill>
                  <a:srgbClr val="F5A623"/>
                </a:solidFill>
                <a:effectLst/>
                <a:uFillTx/>
                <a:latin typeface="Inter"/>
                <a:ea typeface="DejaVu Sans"/>
              </a:rPr>
              <a:t>adresse du dépôt</a:t>
            </a:r>
            <a:r>
              <a:rPr lang="fr-FR" sz="1300" b="0" u="none" strike="noStrike">
                <a:solidFill>
                  <a:srgbClr val="F7F6F2"/>
                </a:solidFill>
                <a:effectLst/>
                <a:uFillTx/>
                <a:latin typeface="Inter"/>
                <a:ea typeface="DejaVu Sans"/>
              </a:rPr>
              <a:t> et les </a:t>
            </a:r>
            <a:r>
              <a:rPr lang="fr-FR" sz="1300" b="1" u="none" strike="noStrike">
                <a:solidFill>
                  <a:srgbClr val="F5A623"/>
                </a:solidFill>
                <a:effectLst/>
                <a:uFillTx/>
                <a:latin typeface="Inter"/>
                <a:ea typeface="DejaVu Sans"/>
              </a:rPr>
              <a:t>étiquettes</a:t>
            </a:r>
            <a:r>
              <a:rPr lang="fr-FR" sz="1300" b="0" u="none" strike="noStrike">
                <a:solidFill>
                  <a:srgbClr val="F7F6F2"/>
                </a:solidFill>
                <a:effectLst/>
                <a:uFillTx/>
                <a:latin typeface="Inter"/>
                <a:ea typeface="DejaVu Sans"/>
              </a:rPr>
              <a:t> posées : seance-1 à seance-5 et rendu-final.</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Aucun fichier interdit dans le dépôt (data/, CSV, sauvegardes, .env).</a:t>
            </a:r>
            <a:endParaRPr lang="fr-FR" sz="1300" b="0" u="none" strike="noStrike">
              <a:solidFill>
                <a:srgbClr val="FFFFFF"/>
              </a:solidFill>
              <a:effectLst/>
              <a:uFillTx/>
              <a:latin typeface="Arial"/>
            </a:endParaRPr>
          </a:p>
        </p:txBody>
      </p:sp>
      <p:graphicFrame>
        <p:nvGraphicFramePr>
          <p:cNvPr id="790" name="Table 31"/>
          <p:cNvGraphicFramePr/>
          <p:nvPr/>
        </p:nvGraphicFramePr>
        <p:xfrm>
          <a:off x="640080" y="2579760"/>
          <a:ext cx="10908360" cy="2926080"/>
        </p:xfrm>
        <a:graphic>
          <a:graphicData uri="http://schemas.openxmlformats.org/drawingml/2006/table">
            <a:tbl>
              <a:tblPr/>
              <a:tblGrid>
                <a:gridCol w="4023360"/>
                <a:gridCol w="6885360"/>
              </a:tblGrid>
              <a:tr h="365760">
                <a:tc>
                  <a:txBody>
                    <a:bodyPr lIns="73080" rIns="73080" anchor="ctr">
                      <a:noAutofit/>
                    </a:bodyPr>
                    <a:p>
                      <a:pPr>
                        <a:lnSpc>
                          <a:spcPct val="100000"/>
                        </a:lnSpc>
                      </a:pPr>
                      <a:r>
                        <a:rPr lang="en-US" sz="1100" b="1" u="none" spc="45" strike="noStrike">
                          <a:solidFill>
                            <a:srgbClr val="F5A623"/>
                          </a:solidFill>
                          <a:effectLst/>
                          <a:uFillTx/>
                          <a:latin typeface="Inter"/>
                        </a:rPr>
                        <a:t>Élément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Valeur</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Adresse du dépôt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Étiquette seance-1 (date)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Étiquette seance-2 (date)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Étiquette seance-3 (date)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Étiquette seance-4 (date)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Étiquette seance-5 (date)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Étiquette rendu-final (date)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1" name="PlaceHolder 1"/>
          <p:cNvSpPr>
            <a:spLocks noGrp="1"/>
          </p:cNvSpPr>
          <p:nvPr>
            <p:ph type="title"/>
          </p:nvPr>
        </p:nvSpPr>
        <p:spPr>
          <a:xfrm>
            <a:off x="640080" y="502920"/>
            <a:ext cx="10906560" cy="72936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Liste de contrôle du rendu final</a:t>
            </a:r>
            <a:endParaRPr lang="fr-FR" sz="2800" b="0" u="none" strike="noStrike">
              <a:solidFill>
                <a:srgbClr val="FFFFFF"/>
              </a:solidFill>
              <a:effectLst/>
              <a:uFillTx/>
              <a:latin typeface="Arial"/>
            </a:endParaRPr>
          </a:p>
        </p:txBody>
      </p:sp>
      <p:sp>
        <p:nvSpPr>
          <p:cNvPr id="792" name="PlaceHolder 2"/>
          <p:cNvSpPr>
            <a:spLocks noGrp="1"/>
          </p:cNvSpPr>
          <p:nvPr>
            <p:ph type="sldNum" idx="73"/>
          </p:nvPr>
        </p:nvSpPr>
        <p:spPr>
          <a:xfrm>
            <a:off x="10820160" y="6309360"/>
            <a:ext cx="729360" cy="290520"/>
          </a:xfrm>
          <a:prstGeom prst="rect">
            <a:avLst/>
          </a:prstGeom>
          <a:noFill/>
          <a:ln w="0">
            <a:noFill/>
          </a:ln>
        </p:spPr>
        <p:txBody>
          <a:bodyPr lIns="90000" tIns="45000" rIns="90000" bIns="45000" anchor="t">
            <a:noAutofit/>
          </a:bodyPr>
          <a:lstStyle>
            <a:lvl1pPr indent="0" algn="r">
              <a:lnSpc>
                <a:spcPct val="100000"/>
              </a:lnSpc>
              <a:buNone/>
              <a:defRPr lang="en-US" sz="1000" b="0" u="none" strike="noStrike">
                <a:solidFill>
                  <a:srgbClr val="8E99A4"/>
                </a:solidFill>
                <a:effectLst/>
                <a:uFillTx/>
                <a:latin typeface="Inter"/>
                <a:ea typeface="Inter"/>
              </a:defRPr>
            </a:lvl1pPr>
          </a:lstStyle>
          <a:p>
            <a:pPr indent="0" algn="r">
              <a:lnSpc>
                <a:spcPct val="100000"/>
              </a:lnSpc>
              <a:buNone/>
            </a:pPr>
            <a:fld id="{DBE82ADC-6028-4CD2-8FCC-5D8AF491538F}"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793" name="TextBox 25"/>
          <p:cNvSpPr/>
          <p:nvPr/>
        </p:nvSpPr>
        <p:spPr>
          <a:xfrm>
            <a:off x="640080" y="283680"/>
            <a:ext cx="8044560" cy="179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AVANT DE RENDRE</a:t>
            </a:r>
            <a:endParaRPr lang="fr-FR" sz="1100" b="0" u="none" strike="noStrike">
              <a:solidFill>
                <a:srgbClr val="FFFFFF"/>
              </a:solidFill>
              <a:effectLst/>
              <a:uFillTx/>
              <a:latin typeface="Arial"/>
            </a:endParaRPr>
          </a:p>
        </p:txBody>
      </p:sp>
      <p:sp>
        <p:nvSpPr>
          <p:cNvPr id="794" name="Attendu"/>
          <p:cNvSpPr/>
          <p:nvPr/>
        </p:nvSpPr>
        <p:spPr>
          <a:xfrm>
            <a:off x="640080" y="1325880"/>
            <a:ext cx="10906560" cy="106884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795" name="Attendu barre"/>
          <p:cNvSpPr/>
          <p:nvPr/>
        </p:nvSpPr>
        <p:spPr>
          <a:xfrm>
            <a:off x="640080" y="1325880"/>
            <a:ext cx="80280" cy="106884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000000"/>
              </a:solidFill>
              <a:effectLst/>
              <a:uFillTx/>
              <a:latin typeface="Arial"/>
            </a:endParaRPr>
          </a:p>
        </p:txBody>
      </p:sp>
      <p:pic>
        <p:nvPicPr>
          <p:cNvPr id="796" name="Icône target" descr="Icône target"/>
          <p:cNvPicPr/>
          <p:nvPr/>
        </p:nvPicPr>
        <p:blipFill>
          <a:blip r:embed="rId1"/>
          <a:stretch/>
        </p:blipFill>
        <p:spPr>
          <a:xfrm>
            <a:off x="896040" y="1435680"/>
            <a:ext cx="272160" cy="272160"/>
          </a:xfrm>
          <a:prstGeom prst="rect">
            <a:avLst/>
          </a:prstGeom>
          <a:noFill/>
          <a:ln w="0">
            <a:noFill/>
          </a:ln>
        </p:spPr>
      </p:pic>
      <p:sp>
        <p:nvSpPr>
          <p:cNvPr id="797" name="TextBox 29"/>
          <p:cNvSpPr/>
          <p:nvPr/>
        </p:nvSpPr>
        <p:spPr>
          <a:xfrm>
            <a:off x="1261800" y="1473480"/>
            <a:ext cx="7313040" cy="1958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AVANT LE DÉPÔT</a:t>
            </a:r>
            <a:endParaRPr lang="fr-FR" sz="1200" b="0" u="none" strike="noStrike">
              <a:solidFill>
                <a:srgbClr val="FFFFFF"/>
              </a:solidFill>
              <a:effectLst/>
              <a:uFillTx/>
              <a:latin typeface="Arial"/>
            </a:endParaRPr>
          </a:p>
        </p:txBody>
      </p:sp>
      <p:sp>
        <p:nvSpPr>
          <p:cNvPr id="798" name="TextBox 30"/>
          <p:cNvSpPr/>
          <p:nvPr/>
        </p:nvSpPr>
        <p:spPr>
          <a:xfrm>
            <a:off x="914400" y="1783080"/>
            <a:ext cx="10357920" cy="46512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Chaque </a:t>
            </a:r>
            <a:r>
              <a:rPr lang="fr-FR" sz="1300" b="1" u="none" strike="noStrike">
                <a:solidFill>
                  <a:srgbClr val="F5A623"/>
                </a:solidFill>
                <a:effectLst/>
                <a:uFillTx/>
                <a:latin typeface="Inter"/>
                <a:ea typeface="DejaVu Sans"/>
              </a:rPr>
              <a:t>zone ambre</a:t>
            </a:r>
            <a:r>
              <a:rPr lang="fr-FR" sz="1300" b="0" u="none" strike="noStrike">
                <a:solidFill>
                  <a:srgbClr val="F7F6F2"/>
                </a:solidFill>
                <a:effectLst/>
                <a:uFillTx/>
                <a:latin typeface="Inter"/>
                <a:ea typeface="DejaVu Sans"/>
              </a:rPr>
              <a:t> est complétée, ou le manque est </a:t>
            </a:r>
            <a:r>
              <a:rPr lang="fr-FR" sz="1300" b="1" u="none" strike="noStrike">
                <a:solidFill>
                  <a:srgbClr val="F5A623"/>
                </a:solidFill>
                <a:effectLst/>
                <a:uFillTx/>
                <a:latin typeface="Inter"/>
                <a:ea typeface="DejaVu Sans"/>
              </a:rPr>
              <a:t>déclaré</a:t>
            </a:r>
            <a:r>
              <a:rPr lang="fr-FR" sz="1300" b="0" u="none" strike="noStrike">
                <a:solidFill>
                  <a:srgbClr val="F7F6F2"/>
                </a:solidFill>
                <a:effectLst/>
                <a:uFillTx/>
                <a:latin typeface="Inter"/>
                <a:ea typeface="DejaVu Sans"/>
              </a:rPr>
              <a:t> dans le bilan de la séance.</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Chaque </a:t>
            </a:r>
            <a:r>
              <a:rPr lang="fr-FR" sz="1300" b="1" u="none" strike="noStrike">
                <a:solidFill>
                  <a:srgbClr val="F5A623"/>
                </a:solidFill>
                <a:effectLst/>
                <a:uFillTx/>
                <a:latin typeface="Inter"/>
                <a:ea typeface="DejaVu Sans"/>
              </a:rPr>
              <a:t>chiffre</a:t>
            </a:r>
            <a:r>
              <a:rPr lang="fr-FR" sz="1300" b="0" u="none" strike="noStrike">
                <a:solidFill>
                  <a:srgbClr val="F7F6F2"/>
                </a:solidFill>
                <a:effectLst/>
                <a:uFillTx/>
                <a:latin typeface="Inter"/>
                <a:ea typeface="DejaVu Sans"/>
              </a:rPr>
              <a:t> a sa </a:t>
            </a:r>
            <a:r>
              <a:rPr lang="fr-FR" sz="1300" b="1" u="none" strike="noStrike">
                <a:solidFill>
                  <a:srgbClr val="F5A623"/>
                </a:solidFill>
                <a:effectLst/>
                <a:uFillTx/>
                <a:latin typeface="Inter"/>
                <a:ea typeface="DejaVu Sans"/>
              </a:rPr>
              <a:t>preuve</a:t>
            </a:r>
            <a:r>
              <a:rPr lang="fr-FR" sz="1300" b="0" u="none" strike="noStrike">
                <a:solidFill>
                  <a:srgbClr val="F7F6F2"/>
                </a:solidFill>
                <a:effectLst/>
                <a:uFillTx/>
                <a:latin typeface="Inter"/>
                <a:ea typeface="DejaVu Sans"/>
              </a:rPr>
              <a:t> dans le dépôt.</a:t>
            </a:r>
            <a:endParaRPr lang="fr-FR" sz="1300" b="0" u="none" strike="noStrike">
              <a:solidFill>
                <a:srgbClr val="FFFFFF"/>
              </a:solidFill>
              <a:effectLst/>
              <a:uFillTx/>
              <a:latin typeface="Arial"/>
            </a:endParaRPr>
          </a:p>
        </p:txBody>
      </p:sp>
      <p:sp>
        <p:nvSpPr>
          <p:cNvPr id="799" name="Rectangle 31"/>
          <p:cNvSpPr/>
          <p:nvPr/>
        </p:nvSpPr>
        <p:spPr>
          <a:xfrm>
            <a:off x="640080" y="2579760"/>
            <a:ext cx="10906560" cy="354456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800" name="TextBox 32"/>
          <p:cNvSpPr/>
          <p:nvPr/>
        </p:nvSpPr>
        <p:spPr>
          <a:xfrm>
            <a:off x="914400" y="2762640"/>
            <a:ext cx="10330560" cy="2296440"/>
          </a:xfrm>
          <a:prstGeom prst="rect">
            <a:avLst/>
          </a:prstGeom>
          <a:noFill/>
          <a:ln w="0">
            <a:noFill/>
          </a:ln>
        </p:spPr>
        <p:style>
          <a:lnRef idx="0"/>
          <a:fillRef idx="0"/>
          <a:effectRef idx="0"/>
          <a:fontRef idx="minor"/>
        </p:style>
        <p:txBody>
          <a:bodyPr lIns="0" tIns="0" rIns="0" bIns="0" anchor="t">
            <a:spAutoFit/>
          </a:bodyPr>
          <a:p>
            <a:pPr>
              <a:lnSpc>
                <a:spcPct val="108000"/>
              </a:lnSpc>
              <a:spcAft>
                <a:spcPts val="901"/>
              </a:spcAft>
            </a:pPr>
            <a:r>
              <a:rPr lang="fr-FR" sz="1400" b="0" u="none" strike="noStrike">
                <a:solidFill>
                  <a:srgbClr val="F7F6F2"/>
                </a:solidFill>
                <a:effectLst/>
                <a:uFillTx/>
                <a:latin typeface="Consolas"/>
                <a:ea typeface="DejaVu Sans"/>
              </a:rPr>
              <a:t>[ ]</a:t>
            </a:r>
            <a:r>
              <a:rPr lang="fr-FR" sz="1400" b="0" u="none" strike="noStrike">
                <a:solidFill>
                  <a:srgbClr val="F7F6F2"/>
                </a:solidFill>
                <a:effectLst/>
                <a:uFillTx/>
                <a:latin typeface="Inter"/>
                <a:ea typeface="DejaVu Sans"/>
              </a:rPr>
              <a:t> Couverture : numéro du groupe, noms, date.</a:t>
            </a:r>
            <a:endParaRPr lang="fr-FR" sz="1400" b="0" u="none" strike="noStrike">
              <a:solidFill>
                <a:srgbClr val="FFFFFF"/>
              </a:solidFill>
              <a:effectLst/>
              <a:uFillTx/>
              <a:latin typeface="Arial"/>
            </a:endParaRPr>
          </a:p>
          <a:p>
            <a:pPr>
              <a:lnSpc>
                <a:spcPct val="108000"/>
              </a:lnSpc>
              <a:spcAft>
                <a:spcPts val="901"/>
              </a:spcAft>
            </a:pPr>
            <a:r>
              <a:rPr lang="fr-FR" sz="1400" b="0" u="none" strike="noStrike">
                <a:solidFill>
                  <a:srgbClr val="F7F6F2"/>
                </a:solidFill>
                <a:effectLst/>
                <a:uFillTx/>
                <a:latin typeface="Consolas"/>
                <a:ea typeface="DejaVu Sans"/>
              </a:rPr>
              <a:t>[ ]</a:t>
            </a:r>
            <a:r>
              <a:rPr lang="fr-FR" sz="1400" b="0" u="none" strike="noStrike">
                <a:solidFill>
                  <a:srgbClr val="F7F6F2"/>
                </a:solidFill>
                <a:effectLst/>
                <a:uFillTx/>
                <a:latin typeface="Inter"/>
                <a:ea typeface="DejaVu Sans"/>
              </a:rPr>
              <a:t> Équipe : rôles par séance et contribution de chaque membre.</a:t>
            </a:r>
            <a:endParaRPr lang="fr-FR" sz="1400" b="0" u="none" strike="noStrike">
              <a:solidFill>
                <a:srgbClr val="FFFFFF"/>
              </a:solidFill>
              <a:effectLst/>
              <a:uFillTx/>
              <a:latin typeface="Arial"/>
            </a:endParaRPr>
          </a:p>
          <a:p>
            <a:pPr>
              <a:lnSpc>
                <a:spcPct val="108000"/>
              </a:lnSpc>
              <a:spcAft>
                <a:spcPts val="901"/>
              </a:spcAft>
            </a:pPr>
            <a:r>
              <a:rPr lang="fr-FR" sz="1400" b="0" u="none" strike="noStrike">
                <a:solidFill>
                  <a:srgbClr val="F7F6F2"/>
                </a:solidFill>
                <a:effectLst/>
                <a:uFillTx/>
                <a:latin typeface="Consolas"/>
                <a:ea typeface="DejaVu Sans"/>
              </a:rPr>
              <a:t>[ ]</a:t>
            </a:r>
            <a:r>
              <a:rPr lang="fr-FR" sz="1400" b="0" u="none" strike="noStrike">
                <a:solidFill>
                  <a:srgbClr val="F7F6F2"/>
                </a:solidFill>
                <a:effectLst/>
                <a:uFillTx/>
                <a:latin typeface="Inter"/>
                <a:ea typeface="DejaVu Sans"/>
              </a:rPr>
              <a:t> Chaque page de séance : chiffres mesurés, preuve citée, conséquence attribuée à un rôle.</a:t>
            </a:r>
            <a:endParaRPr lang="fr-FR" sz="1400" b="0" u="none" strike="noStrike">
              <a:solidFill>
                <a:srgbClr val="FFFFFF"/>
              </a:solidFill>
              <a:effectLst/>
              <a:uFillTx/>
              <a:latin typeface="Arial"/>
            </a:endParaRPr>
          </a:p>
          <a:p>
            <a:pPr>
              <a:lnSpc>
                <a:spcPct val="108000"/>
              </a:lnSpc>
              <a:spcAft>
                <a:spcPts val="901"/>
              </a:spcAft>
            </a:pPr>
            <a:r>
              <a:rPr lang="fr-FR" sz="1400" b="0" u="none" strike="noStrike">
                <a:solidFill>
                  <a:srgbClr val="F7F6F2"/>
                </a:solidFill>
                <a:effectLst/>
                <a:uFillTx/>
                <a:latin typeface="Consolas"/>
                <a:ea typeface="DejaVu Sans"/>
              </a:rPr>
              <a:t>[ ]</a:t>
            </a:r>
            <a:r>
              <a:rPr lang="fr-FR" sz="1400" b="0" u="none" strike="noStrike">
                <a:solidFill>
                  <a:srgbClr val="F7F6F2"/>
                </a:solidFill>
                <a:effectLst/>
                <a:uFillTx/>
                <a:latin typeface="Inter"/>
                <a:ea typeface="DejaVu Sans"/>
              </a:rPr>
              <a:t> Les cinq bilans de séance : critères cochés avec preuve, difficultés chiffrées en temps.</a:t>
            </a:r>
            <a:endParaRPr lang="fr-FR" sz="1400" b="0" u="none" strike="noStrike">
              <a:solidFill>
                <a:srgbClr val="FFFFFF"/>
              </a:solidFill>
              <a:effectLst/>
              <a:uFillTx/>
              <a:latin typeface="Arial"/>
            </a:endParaRPr>
          </a:p>
          <a:p>
            <a:pPr>
              <a:lnSpc>
                <a:spcPct val="108000"/>
              </a:lnSpc>
              <a:spcAft>
                <a:spcPts val="901"/>
              </a:spcAft>
            </a:pPr>
            <a:r>
              <a:rPr lang="fr-FR" sz="1400" b="0" u="none" strike="noStrike">
                <a:solidFill>
                  <a:srgbClr val="F7F6F2"/>
                </a:solidFill>
                <a:effectLst/>
                <a:uFillTx/>
                <a:latin typeface="Consolas"/>
                <a:ea typeface="DejaVu Sans"/>
              </a:rPr>
              <a:t>[ ]</a:t>
            </a:r>
            <a:r>
              <a:rPr lang="fr-FR" sz="1400" b="0" u="none" strike="noStrike">
                <a:solidFill>
                  <a:srgbClr val="F7F6F2"/>
                </a:solidFill>
                <a:effectLst/>
                <a:uFillTx/>
                <a:latin typeface="Inter"/>
                <a:ea typeface="DejaVu Sans"/>
              </a:rPr>
              <a:t> Journal des décisions identique à celui du dépôt.</a:t>
            </a:r>
            <a:endParaRPr lang="fr-FR" sz="1400" b="0" u="none" strike="noStrike">
              <a:solidFill>
                <a:srgbClr val="FFFFFF"/>
              </a:solidFill>
              <a:effectLst/>
              <a:uFillTx/>
              <a:latin typeface="Arial"/>
            </a:endParaRPr>
          </a:p>
          <a:p>
            <a:pPr>
              <a:lnSpc>
                <a:spcPct val="108000"/>
              </a:lnSpc>
              <a:spcAft>
                <a:spcPts val="901"/>
              </a:spcAft>
            </a:pPr>
            <a:r>
              <a:rPr lang="fr-FR" sz="1400" b="0" u="none" strike="noStrike">
                <a:solidFill>
                  <a:srgbClr val="F7F6F2"/>
                </a:solidFill>
                <a:effectLst/>
                <a:uFillTx/>
                <a:latin typeface="Consolas"/>
                <a:ea typeface="DejaVu Sans"/>
              </a:rPr>
              <a:t>[ ]</a:t>
            </a:r>
            <a:r>
              <a:rPr lang="fr-FR" sz="1400" b="0" u="none" strike="noStrike">
                <a:solidFill>
                  <a:srgbClr val="F7F6F2"/>
                </a:solidFill>
                <a:effectLst/>
                <a:uFillTx/>
                <a:latin typeface="Inter"/>
                <a:ea typeface="DejaVu Sans"/>
              </a:rPr>
              <a:t> Dossier go/no-go : recommandation, preuves, écarts, décision signée.</a:t>
            </a:r>
            <a:endParaRPr lang="fr-FR" sz="1400" b="0" u="none" strike="noStrike">
              <a:solidFill>
                <a:srgbClr val="FFFFFF"/>
              </a:solidFill>
              <a:effectLst/>
              <a:uFillTx/>
              <a:latin typeface="Arial"/>
            </a:endParaRPr>
          </a:p>
          <a:p>
            <a:pPr>
              <a:lnSpc>
                <a:spcPct val="108000"/>
              </a:lnSpc>
              <a:spcAft>
                <a:spcPts val="901"/>
              </a:spcAft>
            </a:pPr>
            <a:r>
              <a:rPr lang="fr-FR" sz="1400" b="0" u="none" strike="noStrike">
                <a:solidFill>
                  <a:srgbClr val="F7F6F2"/>
                </a:solidFill>
                <a:effectLst/>
                <a:uFillTx/>
                <a:latin typeface="Consolas"/>
                <a:ea typeface="DejaVu Sans"/>
              </a:rPr>
              <a:t>[ ]</a:t>
            </a:r>
            <a:r>
              <a:rPr lang="fr-FR" sz="1400" b="0" u="none" strike="noStrike">
                <a:solidFill>
                  <a:srgbClr val="F7F6F2"/>
                </a:solidFill>
                <a:effectLst/>
                <a:uFillTx/>
                <a:latin typeface="Inter"/>
                <a:ea typeface="DejaVu Sans"/>
              </a:rPr>
              <a:t> Étiquette rendu-final posée et poussée ; export PDF du livrable joint au dépôt.</a:t>
            </a:r>
            <a:endParaRPr lang="fr-FR"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B8C0C8"/>
      </a:dk2>
      <a:lt2>
        <a:srgbClr val="1C2E3D"/>
      </a:lt2>
      <a:accent1>
        <a:srgbClr val="F5A623"/>
      </a:accent1>
      <a:accent2>
        <a:srgbClr val="F5A623"/>
      </a:accent2>
      <a:accent3>
        <a:srgbClr val="8E99A4"/>
      </a:accent3>
      <a:accent4>
        <a:srgbClr val="5E6E7C"/>
      </a:accent4>
      <a:accent5>
        <a:srgbClr val="B8C0C8"/>
      </a:accent5>
      <a:accent6>
        <a:srgbClr val="F7F6F2"/>
      </a:accent6>
      <a:hlink>
        <a:srgbClr val="F5A623"/>
      </a:hlink>
      <a:folHlink>
        <a:srgbClr val="8E99A4"/>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B8C0C8"/>
      </a:dk2>
      <a:lt2>
        <a:srgbClr val="1C2E3D"/>
      </a:lt2>
      <a:accent1>
        <a:srgbClr val="F5A623"/>
      </a:accent1>
      <a:accent2>
        <a:srgbClr val="F5A623"/>
      </a:accent2>
      <a:accent3>
        <a:srgbClr val="8E99A4"/>
      </a:accent3>
      <a:accent4>
        <a:srgbClr val="5E6E7C"/>
      </a:accent4>
      <a:accent5>
        <a:srgbClr val="B8C0C8"/>
      </a:accent5>
      <a:accent6>
        <a:srgbClr val="F7F6F2"/>
      </a:accent6>
      <a:hlink>
        <a:srgbClr val="F5A623"/>
      </a:hlink>
      <a:folHlink>
        <a:srgbClr val="8E99A4"/>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B8C0C8"/>
      </a:dk2>
      <a:lt2>
        <a:srgbClr val="1C2E3D"/>
      </a:lt2>
      <a:accent1>
        <a:srgbClr val="F5A623"/>
      </a:accent1>
      <a:accent2>
        <a:srgbClr val="F5A623"/>
      </a:accent2>
      <a:accent3>
        <a:srgbClr val="8E99A4"/>
      </a:accent3>
      <a:accent4>
        <a:srgbClr val="5E6E7C"/>
      </a:accent4>
      <a:accent5>
        <a:srgbClr val="B8C0C8"/>
      </a:accent5>
      <a:accent6>
        <a:srgbClr val="F7F6F2"/>
      </a:accent6>
      <a:hlink>
        <a:srgbClr val="F5A623"/>
      </a:hlink>
      <a:folHlink>
        <a:srgbClr val="8E99A4"/>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7.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123</TotalTime>
  <Application>LibreOffice/26.8.1.1$MacOSX_X86_64 LibreOffice_project/bf6ef2662401c7d6dce671ab4deb26ee0af3a7c1</Application>
  <AppVersion>15.0000</AppVersion>
  <Words>0</Words>
  <Paragraphs>0</Paragraphs>
  <Company>Decimal Insights Consulting</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2026-10-12T11:18:29Z</dcterms:created>
  <dc:creator>Decimal Insights Consulting</dc:creator>
  <dc:description/>
  <dc:language>fr-FR</dc:language>
  <cp:lastModifiedBy/>
  <dcterms:modified xsi:type="dcterms:W3CDTF">2026-10-21T15:59:11Z</dcterms:modified>
  <cp:revision>38</cp:revision>
  <dc:subject>Gouvernance, profilage et qualité des données</dc:subject>
  <dc:title>Livrable de groupe : TD AssurConnect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8</vt:i4>
  </property>
  <property fmtid="{D5CDD505-2E9C-101B-9397-08002B2CF9AE}" pid="3" name="PresentationFormat">
    <vt:lpwstr>On-screen Show (16:9)</vt:lpwstr>
  </property>
  <property fmtid="{D5CDD505-2E9C-101B-9397-08002B2CF9AE}" pid="4" name="Slides">
    <vt:i4>8</vt:i4>
  </property>
</Properties>
</file>