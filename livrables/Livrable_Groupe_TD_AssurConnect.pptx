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_rels/notesSlide4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43.xml.rels" ContentType="application/vnd.openxmlformats-package.relationship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  <Override PartName="/ppt/media/image37.png" ContentType="image/png"/>
  <Override PartName="/ppt/media/image38.png" ContentType="image/png"/>
  <Override PartName="/ppt/media/image39.png" ContentType="image/png"/>
  <Override PartName="/ppt/media/image40.png" ContentType="image/png"/>
  <Override PartName="/ppt/media/image41.png" ContentType="image/png"/>
  <Override PartName="/ppt/media/image42.png" ContentType="image/png"/>
  <Override PartName="/ppt/media/image43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47.png" ContentType="image/png"/>
  <Override PartName="/ppt/media/image48.png" ContentType="image/png"/>
  <Override PartName="/ppt/media/image49.png" ContentType="image/png"/>
  <Override PartName="/ppt/media/image50.png" ContentType="image/png"/>
  <Override PartName="/ppt/media/image51.png" ContentType="image/png"/>
  <Override PartName="/ppt/media/image52.png" ContentType="image/png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38.xml.rels" ContentType="application/vnd.openxmlformats-package.relationships+xml"/>
  <Override PartName="/ppt/slides/_rels/slide5.xml.rels" ContentType="application/vnd.openxmlformats-package.relationships+xml"/>
  <Override PartName="/ppt/slides/_rels/slide39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47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fr-FR" sz="1800" spc="-1" strike="noStrike">
                <a:solidFill>
                  <a:srgbClr val="f7f6f2"/>
                </a:solidFill>
                <a:latin typeface="Inter"/>
              </a:rPr>
              <a:t>Cliquez pour déplacer la diapo</a:t>
            </a:r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fr-FR" sz="2000" spc="-1" strike="noStrike">
                <a:latin typeface="Arial"/>
              </a:rPr>
              <a:t>Cliquez pour modifier le format des notes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fr-FR" sz="1400" spc="-1" strike="noStrike">
                <a:latin typeface="Times New Roman"/>
              </a:rPr>
              <a:t>&lt;en-tête&gt;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fr-FR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31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fr-FR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AF269F1-4FED-4D52-8F75-49FB9E1722F7}" type="slidenum">
              <a:rPr b="0" lang="fr-FR" sz="1400" spc="-1" strike="noStrike">
                <a:latin typeface="Times New Roman"/>
              </a:rPr>
              <a:t>&lt;numéro&gt;</a:t>
            </a:fld>
            <a:endParaRPr b="0" lang="fr-FR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Modèle à compléter par chaque groupe. Remplacez les crochets de la couverture. Ne supprimez aucun encadré « Attendu » : la grille de notation s'y réfère.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85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CDF05C6-5BD8-470F-9375-BC8A6633A704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Lisez cette page avant de rédiger. Les chiffres que vous reportez viennent de vos mesures (dq.dq_history, scans Soda, requêtes du notebook), jamais d'un autre groupe ni d'un tutoriel.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88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63BDF18-DD9D-499B-9309-274E80A00734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La grille est celle du dossier go/no-go. Le livrable de séance et le dossier final sont évalués ensemble.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91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07C5958-D648-4D4D-8E68-4186D5952D21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Renseignez cette page dès la fin de l'ouverture de S1, puis mettez-la à jour à chaque séance.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94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7C27153-135E-4E7B-A48F-5B3D0D14860F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Cinq lignes par zone. Pas de copier-coller de l'énoncé : reformulez.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697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97541C4-C829-47E1-9C41-A63CE2CD7F04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00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AA8E64D-E87A-4B7C-8423-6B882E62EF6C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comptez avec une requête, pas à l'œil. Indiquez le notebook qui contient la requête.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03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01107E5-E17D-4AAF-812D-72E6CAFE936B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la porte B juge la fidélité de la copie, pas la qualité des valeurs. Un écart nul est un résultat à documenter.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06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DF1DA5-A89A-4777-88B5-5C362794DE6C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l'épreuve de l'écart volontaire prouve que votre porte détecte quelque chose. Sans elle, une porte toujours verte ne prouve rien.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9CE8FF1-E76E-4D4C-837C-BB21200E3737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distinguez NULL, vide et blanc. Un constat sans valeur mesurée n'en est pas un.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12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7B6E6E4-BD0D-43EF-950E-BFA7CB714702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une justification est un chiffre (taux de valeurs au format X, nombre de distincts, plage), pas une impression.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15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D6D819F-4C18-4B68-A784-EA90B7AF95DD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les trois chiffres sont vrais pour trois questions différentes. Le problème est la définition.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18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187269-C2EB-47ED-895D-89039EEA1A1C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D8BEA18-B6E2-47F2-BADB-31D0E96A2BD8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24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4C8B132-788E-4EED-8093-8E2ED7592DD2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un taux sans nombre de lignes testées est ininterprétable. Reportez les deux.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27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399D0D9-BD17-4800-9117-6B8F45A8F8D1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nommez la famille d'erreur. « Valeurs incorrectes » n'est pas une famille.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30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E16BAE0-DBEF-423F-B1F0-A29CB6547C70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la phrase de synthèse doit contenir un chiffre et la couche concernée.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33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57C0E47-EBD2-4AF2-AE3C-07884CC3A90F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36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4E790B4-3538-4C0B-9181-B1C1EF931B76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39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1634D8-867F-4BAF-96B7-666CB2C86910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si Soda et Great Expectations donnent des chiffres différents pour la même règle, expliquez pourquoi avant de conclure.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42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A177AE8-5DC7-4FC6-B3B4-92F9336A3043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un taux élevé de lignes en échec sur une clé étrangère est un indice de valeur sentinelle avant d'être une anomalie.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45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5D4180-7427-48ED-883E-055EB4E4CA0D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une règle de correction proposée sans rôle destinataire n'est pas une décision.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17BDE28-3B0F-45C1-A5FA-C3BEB2D31AA8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51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1B0018E-D648-4BC5-A979-17ED25A79A96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54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D032D8E-E930-4DA1-B943-C6E73F5108E3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rien n'est supprimé en silence. Chaque ligne absente de silver est dans dq.rejets avec le code de sa règle.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44C91FA-DDC1-4DFD-8F25-87A67D65AA3A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une règle qui baisse de bronze à silver n'est pas forcément un bug. Cherchez d'abord un effet de la quarantaine (lignes devenues orphelines).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60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C2E4DE5-9CE9-42B3-A659-0F35E857F8AA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les seuils se défendent par la précision et le rappel mesurés, pas par un ressenti. Reportez-les dans le journal des décisions.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63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83B81F4-F078-436F-BB30-E3D06707EE57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la règle de survie est une décision de gouvernance, pas un détail technique.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66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B7513E-56D3-4C75-B5DA-09C174752950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un constat expliqué (un contrat orphelin parce que son client a été mis en quarantaine) est un résultat, pas une erreur.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69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53BCEB-27BA-4AA8-A71C-66FF02BCD0FA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trois lignes par cas suffisent : gold, silver, bronze, source. Un identifiant de lot est obligatoire.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72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E2E2E10-D1ED-4E72-AA06-34DA7EC2D299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75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728B7CB-81FF-4655-916D-26A5FE8D2573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78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AA0FEFA-9F46-4828-B02C-36F9899F88D6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insérez l'image des courbes dans la zone. Une courbe sans légende ni axe nommé n'est pas lisible par un non-technicien.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81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73C7F1-9E83-4202-A4CB-5F0BFF23AF02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un certificat qui ne mentionne pas ce qu'il ne couvre pas est trompeur. Listez les règles non mesurées.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84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B45FCFC-0280-484F-89FA-335A25582411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la preuve d'un refus est le message du script, pas une capture du code.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87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89B2C9F-CC86-45B6-BC3D-8B49043D7632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un lineage lisible va des sources à la table gold sans saut.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3F473E6-AA85-495E-B468-44705ABB27EB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cochez uniquement ce que vous pouvez montrer. Une case non cochée et expliquée vaut mieux qu'une case cochée sans preuve.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93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4F44B88-0E04-448A-8FC3-E5B6EDB5ED5C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796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D7606ED-E814-4920-B653-1E18F0B46CBC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ne présentez pas un GO que le certificat contredit. Un NO-GO bien argumenté vaut un GO bien argumenté.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49C202B-2241-4F82-B60C-DCFC826FD040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les chiffres de cette page sont ceux de S5, sans retouche.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02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682865-0061-4192-890B-EA1A3C914623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un écart non chiffré n'est pas un écart, c'est une impression.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05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AF130DE-000F-4E2E-A1FD-1CC76FED1A9E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Consigne : la décision est attribuée à un rôle, pas au groupe.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42391D0-3C1E-4CB8-8A68-8AFB4FB816FE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811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A1BF99D-1402-4508-A5B7-AED501AA600D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Ce journal doit être identique à celui du dépôt (livrables/JOURNAL_DECISIONS.md).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14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8B49745-2EFB-412F-91E9-CA371258B717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Reprenez les totaux de AVANCEMENT.md.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17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9D8D2E6-9E78-4C76-9C19-8D368D9AB293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Les étiquettes fixent l'état rendu à la fin de chaque séance.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20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EC65C0C-1623-4041-A7AE-080694529FB3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fr-FR" sz="2000" spc="-1" strike="noStrike">
                <a:latin typeface="Arial"/>
              </a:rPr>
              <a:t>Cochez en remplaçant [ ] par [x].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823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949EC19-ED98-4D11-9655-F20E50157ECC}" type="slidenum">
              <a:rPr b="0" lang="en-US" sz="1200" spc="-1" strike="noStrike">
                <a:latin typeface="Times New Roman"/>
              </a:rPr>
              <a:t>&lt;numéro&gt;</a:t>
            </a:fld>
            <a:endParaRPr b="0" lang="fr-FR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640080" y="502920"/>
            <a:ext cx="10911240" cy="466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184E0DF-1880-4C89-8915-DBB06B9D6174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CE92AC6-9A8F-4EBC-8702-12C020BF9B06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572533B-9CC6-403A-A176-6E936BF2A92A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42F9F33-96A8-42A3-8E9B-91196B64ADAB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4E8BDA3-EE40-49AC-ACCB-B624097D78CF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640080" y="502920"/>
            <a:ext cx="10911240" cy="466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293DFA8-7F73-4523-BD43-E25D92A1B57E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EA4967C-B30B-497B-B8D2-5F8FEAB5558D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A94BCD6-5D2A-4D7D-B485-E794B24B953A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EACA52C-394B-4B88-B724-4AF209C20E31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9C5C9B0-3DA8-47B8-96F2-C7B6063140B6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8C6F042-071D-4B62-B37E-A9FD5966BC58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A0B4D11-1D57-4868-8611-FC953304E0C4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C30458-1135-4170-A283-36E8F3D5A32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46B16E-18F7-430E-8EB9-2510CA8744E3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76896F-A0D2-47D0-ADE9-D33FEC280FCB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90B7D5-D98F-448D-B98D-FAACE69F1B59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9D1EF4-E755-49BE-9C8D-CBCC8421DB29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ubTitle"/>
          </p:nvPr>
        </p:nvSpPr>
        <p:spPr>
          <a:xfrm>
            <a:off x="640080" y="502920"/>
            <a:ext cx="10911240" cy="466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DC56CB-7955-4758-986F-BEC2C21E654B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50FFCA-0B1F-45F5-B80F-D451D6BF6EE2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1091CB-E5F8-47DA-8903-292F0B3A9F01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31FCDB-527E-4DCC-83F2-7E6959C50003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175A17-80AA-496F-B69C-0CB524A431CA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2049C8-429A-487C-9FD5-FA6C229BE1B1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2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2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2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8A1AD1-2F5D-4585-9573-269187CBDBB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Image 0" descr="img/deco_dark.png"/>
          <p:cNvPicPr/>
          <p:nvPr/>
        </p:nvPicPr>
        <p:blipFill>
          <a:blip r:embed="rId2"/>
          <a:stretch/>
        </p:blipFill>
        <p:spPr>
          <a:xfrm>
            <a:off x="6949440" y="1097280"/>
            <a:ext cx="4754520" cy="4754520"/>
          </a:xfrm>
          <a:prstGeom prst="rect">
            <a:avLst/>
          </a:prstGeom>
          <a:ln w="0">
            <a:noFill/>
          </a:ln>
        </p:spPr>
      </p:pic>
      <p:pic>
        <p:nvPicPr>
          <p:cNvPr id="1" name="Image 1" descr="img/logo_dark.png"/>
          <p:cNvPicPr/>
          <p:nvPr/>
        </p:nvPicPr>
        <p:blipFill>
          <a:blip r:embed="rId3"/>
          <a:stretch/>
        </p:blipFill>
        <p:spPr>
          <a:xfrm>
            <a:off x="640080" y="640080"/>
            <a:ext cx="3474360" cy="731160"/>
          </a:xfrm>
          <a:prstGeom prst="rect">
            <a:avLst/>
          </a:prstGeom>
          <a:ln w="0">
            <a:noFill/>
          </a:ln>
        </p:spPr>
      </p:pic>
      <p:sp>
        <p:nvSpPr>
          <p:cNvPr id="2" name="Shape 0"/>
          <p:cNvSpPr/>
          <p:nvPr/>
        </p:nvSpPr>
        <p:spPr>
          <a:xfrm>
            <a:off x="640080" y="2148840"/>
            <a:ext cx="822600" cy="54360"/>
          </a:xfrm>
          <a:prstGeom prst="rect">
            <a:avLst/>
          </a:prstGeom>
          <a:solidFill>
            <a:srgbClr val="0f9b8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40080" y="2377440"/>
            <a:ext cx="6766200" cy="173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fr-FR" sz="5000" spc="-1" strike="noStrike">
                <a:solidFill>
                  <a:srgbClr val="f7f6f2"/>
                </a:solidFill>
                <a:latin typeface="Inter"/>
              </a:rPr>
              <a:t>Cliquez pour éditer le format du texte-titre</a:t>
            </a:r>
            <a:endParaRPr b="0" lang="fr-FR" sz="50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40080" y="4251960"/>
            <a:ext cx="6400440" cy="82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Cliquez pour éditer le format du plan de texte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Second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Troisième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Quatrième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Cinquième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Sixième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Septième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40080" y="5577840"/>
            <a:ext cx="6400440" cy="365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f7f6f2"/>
                </a:solidFill>
                <a:latin typeface="Inter"/>
              </a:rPr>
              <a:t>Cliquez pour éditer le format du plan de texte</a:t>
            </a:r>
            <a:endParaRPr b="0" lang="fr-FR" sz="1200" spc="-1" strike="noStrike">
              <a:solidFill>
                <a:srgbClr val="f7f6f2"/>
              </a:solidFill>
              <a:latin typeface="Inter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1200" spc="-1" strike="noStrike">
                <a:solidFill>
                  <a:srgbClr val="f7f6f2"/>
                </a:solidFill>
                <a:latin typeface="Inter"/>
              </a:rPr>
              <a:t>Second niveau de plan</a:t>
            </a:r>
            <a:endParaRPr b="0" lang="fr-FR" sz="1200" spc="-1" strike="noStrike">
              <a:solidFill>
                <a:srgbClr val="f7f6f2"/>
              </a:solidFill>
              <a:latin typeface="Inter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f7f6f2"/>
                </a:solidFill>
                <a:latin typeface="Inter"/>
              </a:rPr>
              <a:t>Troisième niveau de plan</a:t>
            </a:r>
            <a:endParaRPr b="0" lang="fr-FR" sz="1200" spc="-1" strike="noStrike">
              <a:solidFill>
                <a:srgbClr val="f7f6f2"/>
              </a:solidFill>
              <a:latin typeface="Inter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1200" spc="-1" strike="noStrike">
                <a:solidFill>
                  <a:srgbClr val="f7f6f2"/>
                </a:solidFill>
                <a:latin typeface="Inter"/>
              </a:rPr>
              <a:t>Quatrième niveau de plan</a:t>
            </a:r>
            <a:endParaRPr b="0" lang="fr-FR" sz="1200" spc="-1" strike="noStrike">
              <a:solidFill>
                <a:srgbClr val="f7f6f2"/>
              </a:solidFill>
              <a:latin typeface="Inter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f7f6f2"/>
                </a:solidFill>
                <a:latin typeface="Inter"/>
              </a:rPr>
              <a:t>Cinquième niveau de plan</a:t>
            </a:r>
            <a:endParaRPr b="0" lang="fr-FR" sz="1200" spc="-1" strike="noStrike">
              <a:solidFill>
                <a:srgbClr val="f7f6f2"/>
              </a:solidFill>
              <a:latin typeface="Inter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f7f6f2"/>
                </a:solidFill>
                <a:latin typeface="Inter"/>
              </a:rPr>
              <a:t>Sixième niveau de plan</a:t>
            </a:r>
            <a:endParaRPr b="0" lang="fr-FR" sz="1200" spc="-1" strike="noStrike">
              <a:solidFill>
                <a:srgbClr val="f7f6f2"/>
              </a:solidFill>
              <a:latin typeface="Inter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f7f6f2"/>
                </a:solidFill>
                <a:latin typeface="Inter"/>
              </a:rPr>
              <a:t>Septième niveau de plan</a:t>
            </a:r>
            <a:endParaRPr b="0" lang="fr-FR" sz="1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240" cy="1005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fr-FR" sz="3600" spc="-1" strike="noStrike">
                <a:solidFill>
                  <a:srgbClr val="f7f6f2"/>
                </a:solidFill>
                <a:latin typeface="Inter"/>
              </a:rPr>
              <a:t>Cliquez pour éditer le format du texte-titre</a:t>
            </a:r>
            <a:endParaRPr b="0" lang="fr-FR" sz="3600" spc="-1" strike="noStrike">
              <a:solidFill>
                <a:srgbClr val="f7f6f2"/>
              </a:solidFill>
              <a:latin typeface="Inter"/>
            </a:endParaRPr>
          </a:p>
        </p:txBody>
      </p:sp>
      <p:pic>
        <p:nvPicPr>
          <p:cNvPr id="43" name="Image 0" descr="img/mark_dark.png"/>
          <p:cNvPicPr/>
          <p:nvPr/>
        </p:nvPicPr>
        <p:blipFill>
          <a:blip r:embed="rId2"/>
          <a:stretch/>
        </p:blipFill>
        <p:spPr>
          <a:xfrm>
            <a:off x="640080" y="6336720"/>
            <a:ext cx="237240" cy="237240"/>
          </a:xfrm>
          <a:prstGeom prst="rect">
            <a:avLst/>
          </a:prstGeom>
          <a:ln w="0">
            <a:noFill/>
          </a:ln>
        </p:spPr>
      </p:pic>
      <p:sp>
        <p:nvSpPr>
          <p:cNvPr id="44" name="Text 0"/>
          <p:cNvSpPr/>
          <p:nvPr/>
        </p:nvSpPr>
        <p:spPr>
          <a:xfrm>
            <a:off x="987480" y="6309360"/>
            <a:ext cx="4571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299" strike="noStrike">
                <a:solidFill>
                  <a:srgbClr val="8e99a4"/>
                </a:solidFill>
                <a:latin typeface="Inter"/>
                <a:ea typeface="Inter"/>
              </a:rPr>
              <a:t>DECIMAL INSIGHTS CONSULTING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1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C435CC-021F-4DC1-A7CA-C94A76687804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f7f6f2"/>
                </a:solidFill>
                <a:latin typeface="Inter"/>
              </a:rPr>
              <a:t>Cliquez pour éditer le format du plan de texte</a:t>
            </a:r>
            <a:endParaRPr b="0" lang="fr-FR" sz="3200" spc="-1" strike="noStrike">
              <a:solidFill>
                <a:srgbClr val="f7f6f2"/>
              </a:solidFill>
              <a:latin typeface="Inter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400" spc="-1" strike="noStrike">
                <a:solidFill>
                  <a:srgbClr val="f7f6f2"/>
                </a:solidFill>
                <a:latin typeface="Inter"/>
              </a:rPr>
              <a:t>Second niveau de plan</a:t>
            </a:r>
            <a:endParaRPr b="0" lang="fr-FR" sz="2400" spc="-1" strike="noStrike">
              <a:solidFill>
                <a:srgbClr val="f7f6f2"/>
              </a:solidFill>
              <a:latin typeface="Inter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Troisième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Quatrième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Cinquième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Sixième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f7f6f2"/>
                </a:solidFill>
                <a:latin typeface="Inter"/>
              </a:rPr>
              <a:t>Septième niveau de plan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Image 0" descr="img/deco_dark.png"/>
          <p:cNvPicPr/>
          <p:nvPr/>
        </p:nvPicPr>
        <p:blipFill>
          <a:blip r:embed="rId2"/>
          <a:stretch/>
        </p:blipFill>
        <p:spPr>
          <a:xfrm>
            <a:off x="7498080" y="1828800"/>
            <a:ext cx="4205880" cy="4205880"/>
          </a:xfrm>
          <a:prstGeom prst="rect">
            <a:avLst/>
          </a:prstGeom>
          <a:ln w="0">
            <a:noFill/>
          </a:ln>
        </p:spPr>
      </p:pic>
      <p:sp>
        <p:nvSpPr>
          <p:cNvPr id="84" name="Shape 0"/>
          <p:cNvSpPr/>
          <p:nvPr/>
        </p:nvSpPr>
        <p:spPr>
          <a:xfrm>
            <a:off x="640080" y="1828800"/>
            <a:ext cx="822600" cy="54360"/>
          </a:xfrm>
          <a:prstGeom prst="rect">
            <a:avLst/>
          </a:prstGeom>
          <a:solidFill>
            <a:srgbClr val="0f9b8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PlaceHolder 1"/>
          <p:cNvSpPr>
            <a:spLocks noGrp="1"/>
          </p:cNvSpPr>
          <p:nvPr>
            <p:ph type="body"/>
          </p:nvPr>
        </p:nvSpPr>
        <p:spPr>
          <a:xfrm>
            <a:off x="640080" y="2011680"/>
            <a:ext cx="274284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7200" spc="-1" strike="noStrike">
                <a:solidFill>
                  <a:srgbClr val="f7f6f2"/>
                </a:solidFill>
                <a:latin typeface="Inter"/>
              </a:rPr>
              <a:t>Cliquez pour éditer le format du plan de texte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7200" spc="-1" strike="noStrike">
                <a:solidFill>
                  <a:srgbClr val="f7f6f2"/>
                </a:solidFill>
                <a:latin typeface="Inter"/>
              </a:rPr>
              <a:t>Second niveau de plan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7200" spc="-1" strike="noStrike">
                <a:solidFill>
                  <a:srgbClr val="f7f6f2"/>
                </a:solidFill>
                <a:latin typeface="Inter"/>
              </a:rPr>
              <a:t>Troisième niveau de plan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fr-FR" sz="7200" spc="-1" strike="noStrike">
                <a:solidFill>
                  <a:srgbClr val="f7f6f2"/>
                </a:solidFill>
                <a:latin typeface="Inter"/>
              </a:rPr>
              <a:t>Quatrième niveau de plan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7200" spc="-1" strike="noStrike">
                <a:solidFill>
                  <a:srgbClr val="f7f6f2"/>
                </a:solidFill>
                <a:latin typeface="Inter"/>
              </a:rPr>
              <a:t>Cinquième niveau de plan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7200" spc="-1" strike="noStrike">
                <a:solidFill>
                  <a:srgbClr val="f7f6f2"/>
                </a:solidFill>
                <a:latin typeface="Inter"/>
              </a:rPr>
              <a:t>Sixième niveau de plan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fr-FR" sz="7200" spc="-1" strike="noStrike">
                <a:solidFill>
                  <a:srgbClr val="f7f6f2"/>
                </a:solidFill>
                <a:latin typeface="Inter"/>
              </a:rPr>
              <a:t>Septième niveau de plan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3320" cy="164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fr-FR" sz="4200" spc="-1" strike="noStrike">
                <a:solidFill>
                  <a:srgbClr val="f7f6f2"/>
                </a:solidFill>
                <a:latin typeface="Inter"/>
              </a:rPr>
              <a:t>Cliquez pour éditer le format du texte-titre</a:t>
            </a:r>
            <a:endParaRPr b="0" lang="fr-FR" sz="4200" spc="-1" strike="noStrike">
              <a:solidFill>
                <a:srgbClr val="f7f6f2"/>
              </a:solidFill>
              <a:latin typeface="Inter"/>
            </a:endParaRPr>
          </a:p>
        </p:txBody>
      </p:sp>
      <p:pic>
        <p:nvPicPr>
          <p:cNvPr id="87" name="Image 1" descr="img/mark_dark.png"/>
          <p:cNvPicPr/>
          <p:nvPr/>
        </p:nvPicPr>
        <p:blipFill>
          <a:blip r:embed="rId3"/>
          <a:stretch/>
        </p:blipFill>
        <p:spPr>
          <a:xfrm>
            <a:off x="640080" y="6336720"/>
            <a:ext cx="237240" cy="237240"/>
          </a:xfrm>
          <a:prstGeom prst="rect">
            <a:avLst/>
          </a:prstGeom>
          <a:ln w="0">
            <a:noFill/>
          </a:ln>
        </p:spPr>
      </p:pic>
      <p:sp>
        <p:nvSpPr>
          <p:cNvPr id="88" name="Text 1"/>
          <p:cNvSpPr/>
          <p:nvPr/>
        </p:nvSpPr>
        <p:spPr>
          <a:xfrm>
            <a:off x="987480" y="6309360"/>
            <a:ext cx="4571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299" strike="noStrike">
                <a:solidFill>
                  <a:srgbClr val="8e99a4"/>
                </a:solidFill>
                <a:latin typeface="Inter"/>
                <a:ea typeface="Inter"/>
              </a:rPr>
              <a:t>DECIMAL INSIGHTS CONSULTING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sldNum" idx="2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B6F3DE6-17B6-4F95-86A7-8984D9091223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5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40080" y="2377440"/>
            <a:ext cx="6766200" cy="173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0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Livrable de groupe</a:t>
            </a:r>
            <a:endParaRPr b="0" lang="fr-FR" sz="50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640080" y="4251960"/>
            <a:ext cx="6400440" cy="82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b8c0c8"/>
                </a:solidFill>
                <a:latin typeface="Inter"/>
                <a:ea typeface="Inter"/>
              </a:rPr>
              <a:t>TD AssurConnect : gouvernance, profilage et qualité des données</a:t>
            </a:r>
            <a:endParaRPr b="0" lang="fr-FR" sz="20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640080" y="5577840"/>
            <a:ext cx="6400440" cy="365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241"/>
              </a:spcBef>
              <a:buNone/>
              <a:tabLst>
                <a:tab algn="l" pos="0"/>
              </a:tabLst>
            </a:pPr>
            <a:r>
              <a:rPr b="0" lang="en-US" sz="1200" spc="199" strike="noStrike">
                <a:solidFill>
                  <a:srgbClr val="f5a623"/>
                </a:solidFill>
                <a:latin typeface="Inter"/>
                <a:ea typeface="Inter"/>
              </a:rPr>
              <a:t>GROUPE [N°] · [NOMS DES MEMBRES] · [DATE]</a:t>
            </a:r>
            <a:endParaRPr b="0" lang="fr-FR" sz="1200" spc="-1" strike="noStrike">
              <a:solidFill>
                <a:srgbClr val="f7f6f2"/>
              </a:solidFill>
              <a:latin typeface="Inte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Comment remplir ce modèle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Num" idx="6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B341886-CBC2-4D9B-B603-48E711DC985F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37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MODE D'EMPLOI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38" name="Rectangle 26"/>
          <p:cNvSpPr/>
          <p:nvPr/>
        </p:nvSpPr>
        <p:spPr>
          <a:xfrm>
            <a:off x="640080" y="1371600"/>
            <a:ext cx="10908360" cy="80424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39" name="Icône target" descr="Icône target"/>
          <p:cNvPicPr/>
          <p:nvPr/>
        </p:nvPicPr>
        <p:blipFill>
          <a:blip r:embed="rId1"/>
          <a:stretch/>
        </p:blipFill>
        <p:spPr>
          <a:xfrm>
            <a:off x="868680" y="15728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40" name="TextBox 28"/>
          <p:cNvSpPr/>
          <p:nvPr/>
        </p:nvSpPr>
        <p:spPr>
          <a:xfrm>
            <a:off x="1463040" y="1658160"/>
            <a:ext cx="329148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</a:rPr>
              <a:t>Encadré ambre « Attendu »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1" name="TextBox 29"/>
          <p:cNvSpPr/>
          <p:nvPr/>
        </p:nvSpPr>
        <p:spPr>
          <a:xfrm>
            <a:off x="4846320" y="1666440"/>
            <a:ext cx="65833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2" name="Rectangle 30"/>
          <p:cNvSpPr/>
          <p:nvPr/>
        </p:nvSpPr>
        <p:spPr>
          <a:xfrm>
            <a:off x="640080" y="2286000"/>
            <a:ext cx="10908360" cy="80424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43" name="Icône pen" descr="Icône pen"/>
          <p:cNvPicPr/>
          <p:nvPr/>
        </p:nvPicPr>
        <p:blipFill>
          <a:blip r:embed="rId2"/>
          <a:stretch/>
        </p:blipFill>
        <p:spPr>
          <a:xfrm>
            <a:off x="868680" y="24872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44" name="TextBox 32"/>
          <p:cNvSpPr/>
          <p:nvPr/>
        </p:nvSpPr>
        <p:spPr>
          <a:xfrm>
            <a:off x="1463040" y="2572560"/>
            <a:ext cx="329148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</a:rPr>
              <a:t>Cellule ou zone ambre sombre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5" name="TextBox 33"/>
          <p:cNvSpPr/>
          <p:nvPr/>
        </p:nvSpPr>
        <p:spPr>
          <a:xfrm>
            <a:off x="4846320" y="2473920"/>
            <a:ext cx="65833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6" name="Rectangle 34"/>
          <p:cNvSpPr/>
          <p:nvPr/>
        </p:nvSpPr>
        <p:spPr>
          <a:xfrm>
            <a:off x="640080" y="3200400"/>
            <a:ext cx="10908360" cy="80424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47" name="Icône chart" descr="Icône chart"/>
          <p:cNvPicPr/>
          <p:nvPr/>
        </p:nvPicPr>
        <p:blipFill>
          <a:blip r:embed="rId3"/>
          <a:stretch/>
        </p:blipFill>
        <p:spPr>
          <a:xfrm>
            <a:off x="868680" y="34016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48" name="TextBox 36"/>
          <p:cNvSpPr/>
          <p:nvPr/>
        </p:nvSpPr>
        <p:spPr>
          <a:xfrm>
            <a:off x="1463040" y="3372120"/>
            <a:ext cx="3291480" cy="4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</a:rPr>
              <a:t>Une page prouve, elle ne raconte pas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9" name="TextBox 37"/>
          <p:cNvSpPr/>
          <p:nvPr/>
        </p:nvSpPr>
        <p:spPr>
          <a:xfrm>
            <a:off x="4846320" y="3388320"/>
            <a:ext cx="65833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chiffre mesuré</a:t>
            </a:r>
            <a:r>
              <a:rPr b="0" lang="fr-FR" sz="1300" spc="-1" strike="noStrike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preuve</a:t>
            </a:r>
            <a:r>
              <a:rPr b="0" lang="fr-FR" sz="1300" spc="-1" strike="noStrike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conséquence</a:t>
            </a:r>
            <a:r>
              <a:rPr b="0" lang="fr-FR" sz="1300" spc="-1" strike="noStrike">
                <a:solidFill>
                  <a:srgbClr val="b8c0c8"/>
                </a:solidFill>
                <a:latin typeface="Inter"/>
              </a:rPr>
              <a:t> attribuée à un rôle.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0" name="Rectangle 38"/>
          <p:cNvSpPr/>
          <p:nvPr/>
        </p:nvSpPr>
        <p:spPr>
          <a:xfrm>
            <a:off x="640080" y="4114800"/>
            <a:ext cx="10908360" cy="80424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51" name="Icône branch" descr="Icône branch"/>
          <p:cNvPicPr/>
          <p:nvPr/>
        </p:nvPicPr>
        <p:blipFill>
          <a:blip r:embed="rId4"/>
          <a:stretch/>
        </p:blipFill>
        <p:spPr>
          <a:xfrm>
            <a:off x="868680" y="43160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52" name="TextBox 40"/>
          <p:cNvSpPr/>
          <p:nvPr/>
        </p:nvSpPr>
        <p:spPr>
          <a:xfrm>
            <a:off x="1463040" y="4401360"/>
            <a:ext cx="329148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</a:rPr>
              <a:t>Le dépôt Git est la preuve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3" name="TextBox 41"/>
          <p:cNvSpPr/>
          <p:nvPr/>
        </p:nvSpPr>
        <p:spPr>
          <a:xfrm>
            <a:off x="4846320" y="4302720"/>
            <a:ext cx="65833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b="0" lang="fr-FR" sz="1300" spc="-1" strike="noStrike">
                <a:solidFill>
                  <a:srgbClr val="f7f6f2"/>
                </a:solidFill>
                <a:latin typeface="Consolas"/>
              </a:rPr>
              <a:t>seance-N</a:t>
            </a:r>
            <a:r>
              <a:rPr b="0" lang="fr-FR" sz="1300" spc="-1" strike="noStrike">
                <a:solidFill>
                  <a:srgbClr val="b8c0c8"/>
                </a:solidFill>
                <a:latin typeface="Inter"/>
              </a:rPr>
              <a:t> posée en fin de chaque séance.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4" name="Rectangle 42"/>
          <p:cNvSpPr/>
          <p:nvPr/>
        </p:nvSpPr>
        <p:spPr>
          <a:xfrm>
            <a:off x="640080" y="5029200"/>
            <a:ext cx="10908360" cy="80424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55" name="Icône warn" descr="Icône warn"/>
          <p:cNvPicPr/>
          <p:nvPr/>
        </p:nvPicPr>
        <p:blipFill>
          <a:blip r:embed="rId5"/>
          <a:stretch/>
        </p:blipFill>
        <p:spPr>
          <a:xfrm>
            <a:off x="868680" y="52304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56" name="TextBox 44"/>
          <p:cNvSpPr/>
          <p:nvPr/>
        </p:nvSpPr>
        <p:spPr>
          <a:xfrm>
            <a:off x="1463040" y="5315760"/>
            <a:ext cx="329148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400" spc="-1" strike="noStrike">
                <a:solidFill>
                  <a:srgbClr val="f7f6f2"/>
                </a:solidFill>
                <a:latin typeface="Inter"/>
              </a:rPr>
              <a:t>Si vous n'avez pas fini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7" name="TextBox 45"/>
          <p:cNvSpPr/>
          <p:nvPr/>
        </p:nvSpPr>
        <p:spPr>
          <a:xfrm>
            <a:off x="4846320" y="5217120"/>
            <a:ext cx="65833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300" spc="-1" strike="noStrike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8" name="TextBox 46"/>
          <p:cNvSpPr/>
          <p:nvPr/>
        </p:nvSpPr>
        <p:spPr>
          <a:xfrm>
            <a:off x="640080" y="598932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Où se trouve quoi, et ce que pèse chaque critère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ldNum" idx="7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C12A68F-D07B-4DAF-A666-77E873E267D0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61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PLAN DU LIVRABLE</a:t>
            </a:r>
            <a:endParaRPr b="0" lang="fr-FR" sz="1100" spc="-1" strike="noStrike">
              <a:latin typeface="Arial"/>
            </a:endParaRPr>
          </a:p>
        </p:txBody>
      </p:sp>
      <p:graphicFrame>
        <p:nvGraphicFramePr>
          <p:cNvPr id="162" name="Table 26"/>
          <p:cNvGraphicFramePr/>
          <p:nvPr/>
        </p:nvGraphicFramePr>
        <p:xfrm>
          <a:off x="640080" y="1371600"/>
          <a:ext cx="10908360" cy="3071880"/>
        </p:xfrm>
        <a:graphic>
          <a:graphicData uri="http://schemas.openxmlformats.org/drawingml/2006/table">
            <a:tbl>
              <a:tblPr/>
              <a:tblGrid>
                <a:gridCol w="4023360"/>
                <a:gridCol w="1097280"/>
                <a:gridCol w="4690800"/>
                <a:gridCol w="1097280"/>
              </a:tblGrid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</a:tr>
              <a:tr h="3855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  <a:endParaRPr b="0" lang="fr-FR" sz="13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</a:tbl>
          </a:graphicData>
        </a:graphic>
      </p:graphicFrame>
      <p:sp>
        <p:nvSpPr>
          <p:cNvPr id="163" name="TextBox 27"/>
          <p:cNvSpPr/>
          <p:nvPr/>
        </p:nvSpPr>
        <p:spPr>
          <a:xfrm>
            <a:off x="640080" y="458100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Membres, rôles par séance et contribution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8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D6F11A-0DF1-4DAE-92DE-EB721E38D90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66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ÉQUIPE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67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8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6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170" name="TextBox 29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71" name="TextBox 30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rôles tournent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vérifiable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172" name="Table 31"/>
          <p:cNvGraphicFramePr/>
          <p:nvPr/>
        </p:nvGraphicFramePr>
        <p:xfrm>
          <a:off x="640080" y="2579760"/>
          <a:ext cx="10908360" cy="182844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1188720"/>
                <a:gridCol w="1188720"/>
                <a:gridCol w="1188720"/>
                <a:gridCol w="1280160"/>
                <a:gridCol w="130752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AMY Léo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LeoAugustinAmy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Rédacteur du livrable</a:t>
                      </a:r>
                      <a:endParaRPr b="0" lang="en-US" sz="1200" spc="-1" strike="noStrike">
                        <a:solidFill>
                          <a:srgbClr val="f5a623"/>
                        </a:solidFill>
                        <a:latin typeface="Inter"/>
                        <a:ea typeface="Microsoft YaHei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MENY Nicolas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Tastycoole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Data Owner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OUERGHEMNI Mongi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mongi-ouerghemmi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Ingénieur qualité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TRUONG David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0TRDavid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Data Steward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173" name="TextBox 32"/>
          <p:cNvSpPr/>
          <p:nvPr/>
        </p:nvSpPr>
        <p:spPr>
          <a:xfrm>
            <a:off x="640080" y="448164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  <a:endParaRPr b="0" lang="fr-FR" sz="1100" spc="-1" strike="noStrike">
              <a:latin typeface="Arial"/>
            </a:endParaRPr>
          </a:p>
        </p:txBody>
      </p:sp>
      <p:graphicFrame>
        <p:nvGraphicFramePr>
          <p:cNvPr id="174" name="Table 33"/>
          <p:cNvGraphicFramePr/>
          <p:nvPr/>
        </p:nvGraphicFramePr>
        <p:xfrm>
          <a:off x="640080" y="4865760"/>
          <a:ext cx="10908360" cy="1828440"/>
        </p:xfrm>
        <a:graphic>
          <a:graphicData uri="http://schemas.openxmlformats.org/drawingml/2006/table">
            <a:tbl>
              <a:tblPr/>
              <a:tblGrid>
                <a:gridCol w="2560320"/>
                <a:gridCol w="6035040"/>
                <a:gridCol w="231336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Notre compréhension du mandat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ldNum" idx="9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FF17766-215E-47AF-957D-5AE836445CC8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CONTEXTE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78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9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80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181" name="TextBox 29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2" name="TextBox 30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Direction Générale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reformulée avec vos mots.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périmètre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trois rôles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de gouvernance et ce que chacun décide.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83" name="TextBox 31"/>
          <p:cNvSpPr/>
          <p:nvPr/>
        </p:nvSpPr>
        <p:spPr>
          <a:xfrm>
            <a:off x="640080" y="2868840"/>
            <a:ext cx="5303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MANDAT ET CONDITION DE LA DG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4" name="Zone à rédiger"/>
          <p:cNvSpPr/>
          <p:nvPr/>
        </p:nvSpPr>
        <p:spPr>
          <a:xfrm>
            <a:off x="640080" y="3124440"/>
            <a:ext cx="5303160" cy="30016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ici, cinq lignes au plus]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5" name="TextBox 33"/>
          <p:cNvSpPr/>
          <p:nvPr/>
        </p:nvSpPr>
        <p:spPr>
          <a:xfrm>
            <a:off x="6245280" y="2868840"/>
            <a:ext cx="53031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PÉRIMÈTRE ET RÔLES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6" name="Zone à rédiger"/>
          <p:cNvSpPr/>
          <p:nvPr/>
        </p:nvSpPr>
        <p:spPr>
          <a:xfrm>
            <a:off x="6245280" y="3124440"/>
            <a:ext cx="5303160" cy="30016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ici, cinq lignes au plus]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84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01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3320" cy="164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Stack, profilage, bronze</a:t>
            </a:r>
            <a:endParaRPr b="0" lang="fr-FR" sz="4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10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9E4C0B0-5028-4391-B38A-DA5B232003D1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90" name="TextBox 25"/>
          <p:cNvSpPr/>
          <p:nvPr/>
        </p:nvSpPr>
        <p:spPr>
          <a:xfrm>
            <a:off x="640080" y="4892040"/>
            <a:ext cx="6400440" cy="83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Inventaire des sources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sldNum" idx="11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C941C49-49B6-4821-92D3-F23C16F7FC17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193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S1 · US-01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4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195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97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198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9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sept tables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nombre de lignes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mesuré et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clé primaire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observation chiffrée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par table (nulls, doublons de clé, particularités).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00" name="Table 32"/>
          <p:cNvGraphicFramePr/>
          <p:nvPr/>
        </p:nvGraphicFramePr>
        <p:xfrm>
          <a:off x="640080" y="2579760"/>
          <a:ext cx="10908360" cy="292572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463040"/>
                <a:gridCol w="2194560"/>
                <a:gridCol w="405072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Clé primaire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01" name="TextBox 33"/>
          <p:cNvSpPr/>
          <p:nvPr/>
        </p:nvSpPr>
        <p:spPr>
          <a:xfrm>
            <a:off x="640080" y="5890320"/>
            <a:ext cx="10908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200" spc="-1" strike="noStrike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b="1" lang="fr-FR" sz="1200" spc="-1" strike="noStrike">
                <a:solidFill>
                  <a:srgbClr val="f5a623"/>
                </a:solidFill>
                <a:latin typeface="Inter"/>
              </a:rPr>
              <a:t>…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Bronze et porte B : la copie est-elle fidèle ?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2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A8C202E-A6D0-4115-9743-91C6EE37ED15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04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S1 · US-02, 03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05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06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08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209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10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RQ-021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(comptage)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RQ-022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table par table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même quand l'écart est nul.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quatre métadonnées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(lot, source, horodatage, empreinte de ligne).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11" name="Table 32"/>
          <p:cNvGraphicFramePr/>
          <p:nvPr/>
        </p:nvGraphicFramePr>
        <p:xfrm>
          <a:off x="640080" y="2579760"/>
          <a:ext cx="10908360" cy="292572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1828800"/>
                <a:gridCol w="2194560"/>
                <a:gridCol w="240480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source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12" name="TextBox 33"/>
          <p:cNvSpPr/>
          <p:nvPr/>
        </p:nvSpPr>
        <p:spPr>
          <a:xfrm>
            <a:off x="640080" y="5890320"/>
            <a:ext cx="10908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200" spc="-1" strike="noStrike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b="1" lang="fr-FR" sz="1200" spc="-1" strike="noStrike">
                <a:solidFill>
                  <a:srgbClr val="f5a623"/>
                </a:solidFill>
                <a:latin typeface="Inter"/>
              </a:rPr>
              <a:t>…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Épreuves de la porte B et méthode d'ingestion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13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04CC92E-9250-40E7-B90F-562D8625965D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15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S1 · US-02, 03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16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17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8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1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220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21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trois épreuves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résultat obtenu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et sa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preuve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trois lignes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22" name="Table 32"/>
          <p:cNvGraphicFramePr/>
          <p:nvPr/>
        </p:nvGraphicFramePr>
        <p:xfrm>
          <a:off x="640080" y="2579760"/>
          <a:ext cx="10908360" cy="2011320"/>
        </p:xfrm>
        <a:graphic>
          <a:graphicData uri="http://schemas.openxmlformats.org/drawingml/2006/table">
            <a:tbl>
              <a:tblPr/>
              <a:tblGrid>
                <a:gridCol w="5120640"/>
                <a:gridCol w="3108960"/>
                <a:gridCol w="2679120"/>
              </a:tblGrid>
              <a:tr h="5029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5029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5029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Écart introduit volontairement sur une copie : la porte échoue-t-elle ?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5029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 problème de conversion rencontré (décimales, NULL, accents) et sa correction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23" name="TextBox 33"/>
          <p:cNvSpPr/>
          <p:nvPr/>
        </p:nvSpPr>
        <p:spPr>
          <a:xfrm>
            <a:off x="640080" y="4857120"/>
            <a:ext cx="10908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MÉTHODE D'INGESTION EN TROIS LIGNES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24" name="Zone à rédiger"/>
          <p:cNvSpPr/>
          <p:nvPr/>
        </p:nvSpPr>
        <p:spPr>
          <a:xfrm>
            <a:off x="640080" y="5112720"/>
            <a:ext cx="10908360" cy="10134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Profil de crm.client et motifs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sldNum" idx="14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27CDA7B-3A1E-4F5A-8CC5-CCBC5D7CFC0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27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S1 · US-06, 07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28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29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0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31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232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33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Au moins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motifs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34" name="Table 32"/>
          <p:cNvGraphicFramePr/>
          <p:nvPr/>
        </p:nvGraphicFramePr>
        <p:xfrm>
          <a:off x="640080" y="2534040"/>
          <a:ext cx="10908360" cy="19746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291840"/>
                <a:gridCol w="1737360"/>
                <a:gridCol w="3502080"/>
              </a:tblGrid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Indicateur (nulls, vides, distincts, motif)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Valeur mesurée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5" name="Table 33"/>
          <p:cNvGraphicFramePr/>
          <p:nvPr/>
        </p:nvGraphicFramePr>
        <p:xfrm>
          <a:off x="640080" y="4646520"/>
          <a:ext cx="10908360" cy="13165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1554480"/>
                <a:gridCol w="1737360"/>
                <a:gridCol w="267912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Motif testé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Exemple non conforme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36" name="TextBox 34"/>
          <p:cNvSpPr/>
          <p:nvPr/>
        </p:nvSpPr>
        <p:spPr>
          <a:xfrm>
            <a:off x="640080" y="6073200"/>
            <a:ext cx="10908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200" spc="-1" strike="noStrike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b="1" lang="fr-FR" sz="1200" spc="-1" strike="noStrike">
                <a:solidFill>
                  <a:srgbClr val="f5a623"/>
                </a:solidFill>
                <a:latin typeface="Inter"/>
              </a:rPr>
              <a:t>…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Dictionnaire du CIF : dix colonnes anonymes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sldNum" idx="15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F4AEAE9-17ED-4647-97C9-063C0335223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39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S1 · US-04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40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41" name="Attendu"/>
          <p:cNvSpPr/>
          <p:nvPr/>
        </p:nvSpPr>
        <p:spPr>
          <a:xfrm>
            <a:off x="640080" y="1325880"/>
            <a:ext cx="10908360" cy="103248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2" name="Attendu barre"/>
          <p:cNvSpPr/>
          <p:nvPr/>
        </p:nvSpPr>
        <p:spPr>
          <a:xfrm>
            <a:off x="640080" y="1325880"/>
            <a:ext cx="82080" cy="1032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43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244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45" name="TextBox 31"/>
          <p:cNvSpPr/>
          <p:nvPr/>
        </p:nvSpPr>
        <p:spPr>
          <a:xfrm>
            <a:off x="914400" y="1783080"/>
            <a:ext cx="10359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Pour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(comment l'avez-vous déduit ?).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46" name="Table 32"/>
          <p:cNvGraphicFramePr/>
          <p:nvPr/>
        </p:nvGraphicFramePr>
        <p:xfrm>
          <a:off x="640080" y="2495880"/>
          <a:ext cx="10908360" cy="352008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463040"/>
                <a:gridCol w="5422320"/>
              </a:tblGrid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Trois directions, trois définitions du « client actif »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sldNum" idx="16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CE1ABED-1B81-43A7-935C-E65B1A3F7997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49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S1 · US-09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50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51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2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53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254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55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écart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CD-001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et la conséquence pour la gouvernance.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56" name="Table 32"/>
          <p:cNvGraphicFramePr/>
          <p:nvPr/>
        </p:nvGraphicFramePr>
        <p:xfrm>
          <a:off x="640080" y="2579760"/>
          <a:ext cx="10908360" cy="153576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  <a:gridCol w="2011680"/>
                <a:gridCol w="2130480"/>
              </a:tblGrid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4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57" name="TextBox 33"/>
          <p:cNvSpPr/>
          <p:nvPr/>
        </p:nvSpPr>
        <p:spPr>
          <a:xfrm>
            <a:off x="640080" y="4381560"/>
            <a:ext cx="10908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58" name="Zone à rédiger"/>
          <p:cNvSpPr/>
          <p:nvPr/>
        </p:nvSpPr>
        <p:spPr>
          <a:xfrm>
            <a:off x="640080" y="4637160"/>
            <a:ext cx="10908360" cy="14889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S1 : critères de fin et difficultés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sldNum" idx="17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227A738-87FB-41B0-BE9F-5F80A3E6CC95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61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S1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62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PROFILAGE ET DIAGNOSTIC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63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4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65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266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67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68" name="Rectangle 32"/>
          <p:cNvSpPr/>
          <p:nvPr/>
        </p:nvSpPr>
        <p:spPr>
          <a:xfrm>
            <a:off x="640080" y="2579760"/>
            <a:ext cx="5120280" cy="354636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69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270" name="TextBox 34"/>
          <p:cNvSpPr/>
          <p:nvPr/>
        </p:nvSpPr>
        <p:spPr>
          <a:xfrm>
            <a:off x="1289160" y="2783160"/>
            <a:ext cx="45716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7" strike="noStrike">
                <a:solidFill>
                  <a:srgbClr val="f7f6f2"/>
                </a:solidFill>
                <a:latin typeface="Inter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71" name="TextBox 35"/>
          <p:cNvSpPr/>
          <p:nvPr/>
        </p:nvSpPr>
        <p:spPr>
          <a:xfrm>
            <a:off x="868680" y="3219840"/>
            <a:ext cx="4663080" cy="241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272" name="TextBox 36"/>
          <p:cNvSpPr/>
          <p:nvPr/>
        </p:nvSpPr>
        <p:spPr>
          <a:xfrm>
            <a:off x="640080" y="585216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73" name="TextBox 37"/>
          <p:cNvSpPr/>
          <p:nvPr/>
        </p:nvSpPr>
        <p:spPr>
          <a:xfrm>
            <a:off x="5943600" y="26168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74" name="Zone à rédiger"/>
          <p:cNvSpPr/>
          <p:nvPr/>
        </p:nvSpPr>
        <p:spPr>
          <a:xfrm>
            <a:off x="5943600" y="2872440"/>
            <a:ext cx="5604840" cy="11700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75" name="TextBox 39"/>
          <p:cNvSpPr/>
          <p:nvPr/>
        </p:nvSpPr>
        <p:spPr>
          <a:xfrm>
            <a:off x="5943600" y="42170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76" name="Zone à rédiger"/>
          <p:cNvSpPr/>
          <p:nvPr/>
        </p:nvSpPr>
        <p:spPr>
          <a:xfrm>
            <a:off x="5943600" y="4472640"/>
            <a:ext cx="5604840" cy="6213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77" name="TextBox 41"/>
          <p:cNvSpPr/>
          <p:nvPr/>
        </p:nvSpPr>
        <p:spPr>
          <a:xfrm>
            <a:off x="5943600" y="526860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78" name="Zone à rédiger"/>
          <p:cNvSpPr/>
          <p:nvPr/>
        </p:nvSpPr>
        <p:spPr>
          <a:xfrm>
            <a:off x="5943600" y="5524200"/>
            <a:ext cx="5604840" cy="6019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84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02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3320" cy="164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Règles en tests automatisés</a:t>
            </a:r>
            <a:endParaRPr b="0" lang="fr-FR" sz="4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18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031F7C-2D5B-4B9B-A2E9-359DCAE9AAED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640080" y="4892040"/>
            <a:ext cx="6400440" cy="55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Règles en tests : une expectation par règle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 type="sldNum" idx="19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C7A5FB5-B6E8-4892-9CFE-A2521EF41843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85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S2 · US-10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86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87" name="Attendu"/>
          <p:cNvSpPr/>
          <p:nvPr/>
        </p:nvSpPr>
        <p:spPr>
          <a:xfrm>
            <a:off x="640080" y="1325880"/>
            <a:ext cx="10908360" cy="12848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8" name="Attendu barre"/>
          <p:cNvSpPr/>
          <p:nvPr/>
        </p:nvSpPr>
        <p:spPr>
          <a:xfrm>
            <a:off x="640080" y="1325880"/>
            <a:ext cx="82080" cy="1284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8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290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91" name="TextBox 31"/>
          <p:cNvSpPr/>
          <p:nvPr/>
        </p:nvSpPr>
        <p:spPr>
          <a:xfrm>
            <a:off x="914400" y="1783080"/>
            <a:ext cx="10359720" cy="68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Pour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rule_id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paramètres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292" name="Table 32"/>
          <p:cNvGraphicFramePr/>
          <p:nvPr/>
        </p:nvGraphicFramePr>
        <p:xfrm>
          <a:off x="640080" y="2793960"/>
          <a:ext cx="10908360" cy="2925720"/>
        </p:xfrm>
        <a:graphic>
          <a:graphicData uri="http://schemas.openxmlformats.org/drawingml/2006/table">
            <a:tbl>
              <a:tblPr/>
              <a:tblGrid>
                <a:gridCol w="1005840"/>
                <a:gridCol w="2011680"/>
                <a:gridCol w="2926080"/>
                <a:gridCol w="1097280"/>
                <a:gridCol w="1188720"/>
                <a:gridCol w="1188720"/>
                <a:gridCol w="149040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293" name="TextBox 33"/>
          <p:cNvSpPr/>
          <p:nvPr/>
        </p:nvSpPr>
        <p:spPr>
          <a:xfrm>
            <a:off x="640080" y="581148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Pièges rencontrés et lignes en échec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sldNum" idx="20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FE6C09C-1FF6-42E2-94EF-0B45A23462E9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296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S2 · US-10, 11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297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298" name="Attendu"/>
          <p:cNvSpPr/>
          <p:nvPr/>
        </p:nvSpPr>
        <p:spPr>
          <a:xfrm>
            <a:off x="640080" y="1325880"/>
            <a:ext cx="10908360" cy="12848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9" name="Attendu barre"/>
          <p:cNvSpPr/>
          <p:nvPr/>
        </p:nvSpPr>
        <p:spPr>
          <a:xfrm>
            <a:off x="640080" y="1325880"/>
            <a:ext cx="82080" cy="1284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00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301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02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pièges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avant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après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correction.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Un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03" name="Table 32"/>
          <p:cNvGraphicFramePr/>
          <p:nvPr/>
        </p:nvGraphicFramePr>
        <p:xfrm>
          <a:off x="640080" y="2748240"/>
          <a:ext cx="10908360" cy="1042200"/>
        </p:xfrm>
        <a:graphic>
          <a:graphicData uri="http://schemas.openxmlformats.org/drawingml/2006/table">
            <a:tbl>
              <a:tblPr/>
              <a:tblGrid>
                <a:gridCol w="1097280"/>
                <a:gridCol w="3840480"/>
                <a:gridCol w="1737360"/>
                <a:gridCol w="1737360"/>
                <a:gridCol w="249624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4" name="Table 33"/>
          <p:cNvGraphicFramePr/>
          <p:nvPr/>
        </p:nvGraphicFramePr>
        <p:xfrm>
          <a:off x="640080" y="3927600"/>
          <a:ext cx="10908360" cy="13896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  <a:gridCol w="1463040"/>
                <a:gridCol w="2926080"/>
                <a:gridCol w="249624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4"/>
          <p:cNvSpPr/>
          <p:nvPr/>
        </p:nvSpPr>
        <p:spPr>
          <a:xfrm>
            <a:off x="640080" y="540900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Âge à la bonne date et mesure de référence sur bronze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 type="sldNum" idx="21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155E48-82E7-4D99-BED4-6A664DEE071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08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S2 · US-13, 15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09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10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1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12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313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14" name="TextBox 31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RQ-002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date de référence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par dimension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phrase de synthèse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15" name="Table 32"/>
          <p:cNvGraphicFramePr/>
          <p:nvPr/>
        </p:nvGraphicFramePr>
        <p:xfrm>
          <a:off x="640080" y="2786040"/>
          <a:ext cx="10908360" cy="90504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1828800"/>
                <a:gridCol w="249624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6" name="Table 33"/>
          <p:cNvGraphicFramePr/>
          <p:nvPr/>
        </p:nvGraphicFramePr>
        <p:xfrm>
          <a:off x="640080" y="3801240"/>
          <a:ext cx="10908360" cy="1508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554480"/>
                <a:gridCol w="2377440"/>
                <a:gridCol w="295344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17" name="TextBox 34"/>
          <p:cNvSpPr/>
          <p:nvPr/>
        </p:nvSpPr>
        <p:spPr>
          <a:xfrm>
            <a:off x="640080" y="5456880"/>
            <a:ext cx="10908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PHRASE DE SYNTHÈSE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18" name="Zone à rédiger"/>
          <p:cNvSpPr/>
          <p:nvPr/>
        </p:nvSpPr>
        <p:spPr>
          <a:xfrm>
            <a:off x="640080" y="5712120"/>
            <a:ext cx="10908360" cy="4140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S2 : critères de fin et difficultés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 type="sldNum" idx="22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0B4C115-342A-43E7-8552-12CD7D4CAC7F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21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S2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22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23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4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25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326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27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28" name="Rectangle 32"/>
          <p:cNvSpPr/>
          <p:nvPr/>
        </p:nvSpPr>
        <p:spPr>
          <a:xfrm>
            <a:off x="640080" y="2579760"/>
            <a:ext cx="5120280" cy="354636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29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330" name="TextBox 34"/>
          <p:cNvSpPr/>
          <p:nvPr/>
        </p:nvSpPr>
        <p:spPr>
          <a:xfrm>
            <a:off x="1289160" y="2783160"/>
            <a:ext cx="45716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7" strike="noStrike">
                <a:solidFill>
                  <a:srgbClr val="f7f6f2"/>
                </a:solidFill>
                <a:latin typeface="Inter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31" name="TextBox 35"/>
          <p:cNvSpPr/>
          <p:nvPr/>
        </p:nvSpPr>
        <p:spPr>
          <a:xfrm>
            <a:off x="868680" y="3219840"/>
            <a:ext cx="4663080" cy="17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332" name="TextBox 36"/>
          <p:cNvSpPr/>
          <p:nvPr/>
        </p:nvSpPr>
        <p:spPr>
          <a:xfrm>
            <a:off x="640080" y="585216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33" name="TextBox 37"/>
          <p:cNvSpPr/>
          <p:nvPr/>
        </p:nvSpPr>
        <p:spPr>
          <a:xfrm>
            <a:off x="5943600" y="26168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34" name="Zone à rédiger"/>
          <p:cNvSpPr/>
          <p:nvPr/>
        </p:nvSpPr>
        <p:spPr>
          <a:xfrm>
            <a:off x="5943600" y="2872440"/>
            <a:ext cx="5604840" cy="11700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35" name="TextBox 39"/>
          <p:cNvSpPr/>
          <p:nvPr/>
        </p:nvSpPr>
        <p:spPr>
          <a:xfrm>
            <a:off x="5943600" y="42170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36" name="Zone à rédiger"/>
          <p:cNvSpPr/>
          <p:nvPr/>
        </p:nvSpPr>
        <p:spPr>
          <a:xfrm>
            <a:off x="5943600" y="4472640"/>
            <a:ext cx="5604840" cy="6213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37" name="TextBox 41"/>
          <p:cNvSpPr/>
          <p:nvPr/>
        </p:nvSpPr>
        <p:spPr>
          <a:xfrm>
            <a:off x="5943600" y="526860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38" name="Zone à rédiger"/>
          <p:cNvSpPr/>
          <p:nvPr/>
        </p:nvSpPr>
        <p:spPr>
          <a:xfrm>
            <a:off x="5943600" y="5524200"/>
            <a:ext cx="5604840" cy="6019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84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03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3320" cy="164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Intégrité et portes en SodaCL</a:t>
            </a:r>
            <a:endParaRPr b="0" lang="fr-FR" sz="4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23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8A15A94-D849-4684-B897-E84AEAD670B1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42" name="TextBox 25"/>
          <p:cNvSpPr/>
          <p:nvPr/>
        </p:nvSpPr>
        <p:spPr>
          <a:xfrm>
            <a:off x="640080" y="4892040"/>
            <a:ext cx="6400440" cy="83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Checks Soda : une source de données par couche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 type="sldNum" idx="24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CC4F7AF-F730-4F68-9AE3-B158286E5727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45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S3 · US-12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46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47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8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4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350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51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règle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et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couche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mesurée.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code retour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avertissement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échec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52" name="Table 32"/>
          <p:cNvGraphicFramePr/>
          <p:nvPr/>
        </p:nvGraphicFramePr>
        <p:xfrm>
          <a:off x="640080" y="2534040"/>
          <a:ext cx="10908360" cy="2084400"/>
        </p:xfrm>
        <a:graphic>
          <a:graphicData uri="http://schemas.openxmlformats.org/drawingml/2006/table">
            <a:tbl>
              <a:tblPr/>
              <a:tblGrid>
                <a:gridCol w="1005840"/>
                <a:gridCol w="2743200"/>
                <a:gridCol w="1280160"/>
                <a:gridCol w="2743200"/>
                <a:gridCol w="1280160"/>
                <a:gridCol w="1856160"/>
              </a:tblGrid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3" name="TextBox 33"/>
          <p:cNvSpPr/>
          <p:nvPr/>
        </p:nvSpPr>
        <p:spPr>
          <a:xfrm>
            <a:off x="640080" y="4793040"/>
            <a:ext cx="534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CODE RETOUR ET AVERTISSEMENTS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54" name="Zone à rédiger"/>
          <p:cNvSpPr/>
          <p:nvPr/>
        </p:nvSpPr>
        <p:spPr>
          <a:xfrm>
            <a:off x="640080" y="5048640"/>
            <a:ext cx="5348880" cy="10774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55" name="TextBox 35"/>
          <p:cNvSpPr/>
          <p:nvPr/>
        </p:nvSpPr>
        <p:spPr>
          <a:xfrm>
            <a:off x="6199560" y="4793040"/>
            <a:ext cx="534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COHÉRENCE AVEC GREAT EXPECTATIONS (S2)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56" name="Zone à rédiger"/>
          <p:cNvSpPr/>
          <p:nvPr/>
        </p:nvSpPr>
        <p:spPr>
          <a:xfrm>
            <a:off x="6199560" y="5048640"/>
            <a:ext cx="5348880" cy="10774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[Écarts et explication]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d'intégrité et valeur sentinelle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sldNum" idx="25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40A839-AF74-49A5-A1F7-A2500582D50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59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S3 · US-16, 17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60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61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2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63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364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65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nombre d'orphelins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conclusion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pour chacune (anomalie, sentinelle, normal).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valeur sentinelle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avant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après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écart chiffré,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convention écrite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66" name="Table 32"/>
          <p:cNvGraphicFramePr/>
          <p:nvPr/>
        </p:nvGraphicFramePr>
        <p:xfrm>
          <a:off x="640080" y="2534040"/>
          <a:ext cx="10908360" cy="1508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1554480"/>
                <a:gridCol w="1188720"/>
                <a:gridCol w="313632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67" name="Table 33"/>
          <p:cNvGraphicFramePr/>
          <p:nvPr/>
        </p:nvGraphicFramePr>
        <p:xfrm>
          <a:off x="640080" y="4152600"/>
          <a:ext cx="10908360" cy="905040"/>
        </p:xfrm>
        <a:graphic>
          <a:graphicData uri="http://schemas.openxmlformats.org/drawingml/2006/table">
            <a:tbl>
              <a:tblPr/>
              <a:tblGrid>
                <a:gridCol w="4572000"/>
                <a:gridCol w="2194560"/>
                <a:gridCol w="414216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68" name="TextBox 34"/>
          <p:cNvSpPr/>
          <p:nvPr/>
        </p:nvSpPr>
        <p:spPr>
          <a:xfrm>
            <a:off x="640080" y="5114880"/>
            <a:ext cx="109083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69" name="Zone à rédiger"/>
          <p:cNvSpPr/>
          <p:nvPr/>
        </p:nvSpPr>
        <p:spPr>
          <a:xfrm>
            <a:off x="640080" y="5460120"/>
            <a:ext cx="10908360" cy="6660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Statuts, garantie et définition unique du client actif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sldNum" idx="26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BD0F51-4CAB-4D20-A413-A99C4C48D98B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72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S3 · US-18, 19, 14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73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74" name="Attendu"/>
          <p:cNvSpPr/>
          <p:nvPr/>
        </p:nvSpPr>
        <p:spPr>
          <a:xfrm>
            <a:off x="640080" y="1325880"/>
            <a:ext cx="10908360" cy="12848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5" name="Attendu barre"/>
          <p:cNvSpPr/>
          <p:nvPr/>
        </p:nvSpPr>
        <p:spPr>
          <a:xfrm>
            <a:off x="640080" y="1325880"/>
            <a:ext cx="82080" cy="1284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76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377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78" name="TextBox 31"/>
          <p:cNvSpPr/>
          <p:nvPr/>
        </p:nvSpPr>
        <p:spPr>
          <a:xfrm>
            <a:off x="914400" y="1783080"/>
            <a:ext cx="10359720" cy="68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RQ-015, 016, 017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proposée au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Data Owner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(reportée au journal des décisions).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requête unique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même chiffre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379" name="Table 32"/>
          <p:cNvGraphicFramePr/>
          <p:nvPr/>
        </p:nvGraphicFramePr>
        <p:xfrm>
          <a:off x="640080" y="2748240"/>
          <a:ext cx="10908360" cy="13896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03120"/>
                <a:gridCol w="2103120"/>
                <a:gridCol w="21304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80" name="Table 33"/>
          <p:cNvGraphicFramePr/>
          <p:nvPr/>
        </p:nvGraphicFramePr>
        <p:xfrm>
          <a:off x="640080" y="4275000"/>
          <a:ext cx="5668920" cy="13896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81" name="TextBox 34"/>
          <p:cNvSpPr/>
          <p:nvPr/>
        </p:nvSpPr>
        <p:spPr>
          <a:xfrm>
            <a:off x="6583680" y="4312080"/>
            <a:ext cx="49647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RÈGLE DE CORRECTION DU STATUT PROPOSÉE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82" name="Zone à rédiger"/>
          <p:cNvSpPr/>
          <p:nvPr/>
        </p:nvSpPr>
        <p:spPr>
          <a:xfrm>
            <a:off x="6583680" y="4567680"/>
            <a:ext cx="4964760" cy="15584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[Texte, rôle destinataire, date]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83" name="TextBox 36"/>
          <p:cNvSpPr/>
          <p:nvPr/>
        </p:nvSpPr>
        <p:spPr>
          <a:xfrm>
            <a:off x="640080" y="573804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S3 : critères de fin et difficultés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sldNum" idx="27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EE0CC1F-50F9-472C-9806-D0DA8A2F60C8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386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S3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87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RÈGLES ET TESTS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388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9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90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391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392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93" name="Rectangle 32"/>
          <p:cNvSpPr/>
          <p:nvPr/>
        </p:nvSpPr>
        <p:spPr>
          <a:xfrm>
            <a:off x="640080" y="2579760"/>
            <a:ext cx="5120280" cy="354636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94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395" name="TextBox 34"/>
          <p:cNvSpPr/>
          <p:nvPr/>
        </p:nvSpPr>
        <p:spPr>
          <a:xfrm>
            <a:off x="1289160" y="2783160"/>
            <a:ext cx="45716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7" strike="noStrike">
                <a:solidFill>
                  <a:srgbClr val="f7f6f2"/>
                </a:solidFill>
                <a:latin typeface="Inter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96" name="TextBox 35"/>
          <p:cNvSpPr/>
          <p:nvPr/>
        </p:nvSpPr>
        <p:spPr>
          <a:xfrm>
            <a:off x="868680" y="3219840"/>
            <a:ext cx="4663080" cy="17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La valeur sentinelle est expliquée et traitée.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397" name="TextBox 36"/>
          <p:cNvSpPr/>
          <p:nvPr/>
        </p:nvSpPr>
        <p:spPr>
          <a:xfrm>
            <a:off x="640080" y="585216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98" name="TextBox 37"/>
          <p:cNvSpPr/>
          <p:nvPr/>
        </p:nvSpPr>
        <p:spPr>
          <a:xfrm>
            <a:off x="5943600" y="26168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399" name="Zone à rédiger"/>
          <p:cNvSpPr/>
          <p:nvPr/>
        </p:nvSpPr>
        <p:spPr>
          <a:xfrm>
            <a:off x="5943600" y="2872440"/>
            <a:ext cx="5604840" cy="11700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00" name="TextBox 39"/>
          <p:cNvSpPr/>
          <p:nvPr/>
        </p:nvSpPr>
        <p:spPr>
          <a:xfrm>
            <a:off x="5943600" y="42170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01" name="Zone à rédiger"/>
          <p:cNvSpPr/>
          <p:nvPr/>
        </p:nvSpPr>
        <p:spPr>
          <a:xfrm>
            <a:off x="5943600" y="4472640"/>
            <a:ext cx="5604840" cy="6213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02" name="TextBox 41"/>
          <p:cNvSpPr/>
          <p:nvPr/>
        </p:nvSpPr>
        <p:spPr>
          <a:xfrm>
            <a:off x="5943600" y="526860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03" name="Zone à rédiger"/>
          <p:cNvSpPr/>
          <p:nvPr/>
        </p:nvSpPr>
        <p:spPr>
          <a:xfrm>
            <a:off x="5943600" y="5524200"/>
            <a:ext cx="5604840" cy="6019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84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04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3320" cy="164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Construire silver puis gold</a:t>
            </a:r>
            <a:endParaRPr b="0" lang="fr-FR" sz="4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28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ACF8AE-D6DF-4AC0-872E-1CEB4F19C51B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07" name="TextBox 25"/>
          <p:cNvSpPr/>
          <p:nvPr/>
        </p:nvSpPr>
        <p:spPr>
          <a:xfrm>
            <a:off x="640080" y="4892040"/>
            <a:ext cx="6400440" cy="83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Silver : traitements et quarantaine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 type="sldNum" idx="29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69ED150-958A-406F-8451-26B0B36DD3CE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10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S4 · US-21, 22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11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12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3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14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415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16" name="TextBox 31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lignes modifiées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et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garde-fou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(ce qu'il ne doit pas faire).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L'invariant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table par table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avec l'écart.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preuve d'idempotence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17" name="Table 32"/>
          <p:cNvGraphicFramePr/>
          <p:nvPr/>
        </p:nvGraphicFramePr>
        <p:xfrm>
          <a:off x="640080" y="2786040"/>
          <a:ext cx="10908360" cy="1389600"/>
        </p:xfrm>
        <a:graphic>
          <a:graphicData uri="http://schemas.openxmlformats.org/drawingml/2006/table">
            <a:tbl>
              <a:tblPr/>
              <a:tblGrid>
                <a:gridCol w="2926080"/>
                <a:gridCol w="1645920"/>
                <a:gridCol w="2011680"/>
                <a:gridCol w="432504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8" name="Table 33"/>
          <p:cNvGraphicFramePr/>
          <p:nvPr/>
        </p:nvGraphicFramePr>
        <p:xfrm>
          <a:off x="640080" y="4313160"/>
          <a:ext cx="10908360" cy="17370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011680"/>
                <a:gridCol w="2011680"/>
                <a:gridCol w="194760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19" name="TextBox 34"/>
          <p:cNvSpPr/>
          <p:nvPr/>
        </p:nvSpPr>
        <p:spPr>
          <a:xfrm>
            <a:off x="640080" y="612360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Rejets par règle et porte S : bronze contre silver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 type="sldNum" idx="30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054E657-A67B-440C-9CC1-0A02B462A5DF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22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S4 · US-22, 23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23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24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5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26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427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28" name="TextBox 31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rejets par règle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(dq.rejets) avec la raison métier.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bronze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taux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silver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écart, et 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explication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de toute baisse.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règles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bloquantes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pourquoi pas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29" name="Table 32"/>
          <p:cNvGraphicFramePr/>
          <p:nvPr/>
        </p:nvGraphicFramePr>
        <p:xfrm>
          <a:off x="640080" y="2786040"/>
          <a:ext cx="10908360" cy="98712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828800"/>
                <a:gridCol w="587952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0" name="Table 33"/>
          <p:cNvGraphicFramePr/>
          <p:nvPr/>
        </p:nvGraphicFramePr>
        <p:xfrm>
          <a:off x="640080" y="3911040"/>
          <a:ext cx="10908360" cy="19746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463040"/>
                <a:gridCol w="1463040"/>
                <a:gridCol w="1188720"/>
                <a:gridCol w="432504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Dédoublonnage : paramètres et mesures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32" name="PlaceHolder 2"/>
          <p:cNvSpPr>
            <a:spLocks noGrp="1"/>
          </p:cNvSpPr>
          <p:nvPr>
            <p:ph type="sldNum" idx="31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9DB7B69-57DF-4A8D-A143-FF8952B4006A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33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S4 · US-24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34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35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6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37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438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39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paramètres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justification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Précision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rappel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obtenu.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40" name="Table 32"/>
          <p:cNvGraphicFramePr/>
          <p:nvPr/>
        </p:nvGraphicFramePr>
        <p:xfrm>
          <a:off x="640080" y="2534040"/>
          <a:ext cx="10908360" cy="1755360"/>
        </p:xfrm>
        <a:graphic>
          <a:graphicData uri="http://schemas.openxmlformats.org/drawingml/2006/table">
            <a:tbl>
              <a:tblPr/>
              <a:tblGrid>
                <a:gridCol w="3291840"/>
                <a:gridCol w="2926080"/>
                <a:gridCol w="4690800"/>
              </a:tblGrid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1" name="Table 33"/>
          <p:cNvGraphicFramePr/>
          <p:nvPr/>
        </p:nvGraphicFramePr>
        <p:xfrm>
          <a:off x="640080" y="4399560"/>
          <a:ext cx="8229240" cy="1700280"/>
        </p:xfrm>
        <a:graphic>
          <a:graphicData uri="http://schemas.openxmlformats.org/drawingml/2006/table">
            <a:tbl>
              <a:tblPr/>
              <a:tblGrid>
                <a:gridCol w="5486400"/>
                <a:gridCol w="2743200"/>
              </a:tblGrid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42" name="TextBox 34"/>
          <p:cNvSpPr/>
          <p:nvPr/>
        </p:nvSpPr>
        <p:spPr>
          <a:xfrm>
            <a:off x="9052560" y="4436640"/>
            <a:ext cx="2495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ZONE DE REVUE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43" name="Zone à rédiger"/>
          <p:cNvSpPr/>
          <p:nvPr/>
        </p:nvSpPr>
        <p:spPr>
          <a:xfrm>
            <a:off x="9052560" y="4692240"/>
            <a:ext cx="2495880" cy="14338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[Règle de décision proposée]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Golden record de la Société Meunier et règle de survie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 type="sldNum" idx="32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0BF3F69-899A-46E6-B3DE-1FDE3199E74E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46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S4 · US-25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47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48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9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50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451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52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Un seul CLI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trompe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53" name="Table 32"/>
          <p:cNvGraphicFramePr/>
          <p:nvPr/>
        </p:nvGraphicFramePr>
        <p:xfrm>
          <a:off x="640080" y="2534040"/>
          <a:ext cx="6949080" cy="150840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2194560"/>
              </a:tblGrid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6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4" name="Table 33"/>
          <p:cNvGraphicFramePr/>
          <p:nvPr/>
        </p:nvGraphicFramePr>
        <p:xfrm>
          <a:off x="640080" y="4225680"/>
          <a:ext cx="10908360" cy="159984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748680"/>
                <a:gridCol w="3502080"/>
              </a:tblGrid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55" name="TextBox 34"/>
          <p:cNvSpPr/>
          <p:nvPr/>
        </p:nvSpPr>
        <p:spPr>
          <a:xfrm>
            <a:off x="640080" y="589788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Gold : tables cohérentes et client actif unique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sldNum" idx="33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DF7F513-BA64-4D8F-8D14-548FD7BB0D1B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58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S4 · US-27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59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60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62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463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64" name="TextBox 31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lignes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lignes écartées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règles responsables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Aucun orphelin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vue unique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v_client_actif.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65" name="Table 32"/>
          <p:cNvGraphicFramePr/>
          <p:nvPr/>
        </p:nvGraphicFramePr>
        <p:xfrm>
          <a:off x="640080" y="2786040"/>
          <a:ext cx="10908360" cy="17370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2560320"/>
                <a:gridCol w="39592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66" name="TextBox 33"/>
          <p:cNvSpPr/>
          <p:nvPr/>
        </p:nvSpPr>
        <p:spPr>
          <a:xfrm>
            <a:off x="640080" y="4697640"/>
            <a:ext cx="534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ORPHELINS ET CLIENT ACTIF PUBLIÉ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67" name="Zone à rédiger"/>
          <p:cNvSpPr/>
          <p:nvPr/>
        </p:nvSpPr>
        <p:spPr>
          <a:xfrm>
            <a:off x="640080" y="4953240"/>
            <a:ext cx="5348880" cy="11728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[Chiffres, écart avec CD-001]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68" name="TextBox 35"/>
          <p:cNvSpPr/>
          <p:nvPr/>
        </p:nvSpPr>
        <p:spPr>
          <a:xfrm>
            <a:off x="6199560" y="4697640"/>
            <a:ext cx="534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EFFET DE LA QUARANTAINE SUR L'INTÉGRITÉ EN AVAL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69" name="Zone à rédiger"/>
          <p:cNvSpPr/>
          <p:nvPr/>
        </p:nvSpPr>
        <p:spPr>
          <a:xfrm>
            <a:off x="6199560" y="4953240"/>
            <a:ext cx="5348880" cy="11728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Retracer trois données de gold jusqu'à la source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 type="sldNum" idx="34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52AC441-4609-4312-92DB-03A102EC5400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72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S4 · US-28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73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74" name="Attendu"/>
          <p:cNvSpPr/>
          <p:nvPr/>
        </p:nvSpPr>
        <p:spPr>
          <a:xfrm>
            <a:off x="640080" y="1325880"/>
            <a:ext cx="10908360" cy="12848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5" name="Attendu barre"/>
          <p:cNvSpPr/>
          <p:nvPr/>
        </p:nvSpPr>
        <p:spPr>
          <a:xfrm>
            <a:off x="640080" y="1325880"/>
            <a:ext cx="82080" cy="1284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76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477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78" name="TextBox 31"/>
          <p:cNvSpPr/>
          <p:nvPr/>
        </p:nvSpPr>
        <p:spPr>
          <a:xfrm>
            <a:off x="914400" y="1783080"/>
            <a:ext cx="10359720" cy="68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Pour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est dans le dépôt.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479" name="Table 32"/>
          <p:cNvGraphicFramePr/>
          <p:nvPr/>
        </p:nvGraphicFramePr>
        <p:xfrm>
          <a:off x="640080" y="2793960"/>
          <a:ext cx="10908360" cy="1828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194560"/>
                <a:gridCol w="2377440"/>
                <a:gridCol w="1947600"/>
              </a:tblGrid>
              <a:tr h="4572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4572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572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572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480" name="TextBox 33"/>
          <p:cNvSpPr/>
          <p:nvPr/>
        </p:nvSpPr>
        <p:spPr>
          <a:xfrm>
            <a:off x="640080" y="5890320"/>
            <a:ext cx="10908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lang="fr-FR" sz="1200" spc="-1" strike="noStrike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b="1" lang="fr-FR" sz="1200" spc="-1" strike="noStrike">
                <a:solidFill>
                  <a:srgbClr val="f5a623"/>
                </a:solidFill>
                <a:latin typeface="Inter"/>
              </a:rPr>
              <a:t>…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S4 : critères de fin et difficultés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 type="sldNum" idx="35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81F67A4-4B5C-4573-A42F-2EF398888E4A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483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S4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84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SILVER, GOLD ET TRAÇABILITÉ · 25 %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485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6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87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488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89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490" name="Rectangle 32"/>
          <p:cNvSpPr/>
          <p:nvPr/>
        </p:nvSpPr>
        <p:spPr>
          <a:xfrm>
            <a:off x="640080" y="2579760"/>
            <a:ext cx="5120280" cy="354636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91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492" name="TextBox 34"/>
          <p:cNvSpPr/>
          <p:nvPr/>
        </p:nvSpPr>
        <p:spPr>
          <a:xfrm>
            <a:off x="1289160" y="2783160"/>
            <a:ext cx="45716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7" strike="noStrike">
                <a:solidFill>
                  <a:srgbClr val="f7f6f2"/>
                </a:solidFill>
                <a:latin typeface="Inter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493" name="TextBox 35"/>
          <p:cNvSpPr/>
          <p:nvPr/>
        </p:nvSpPr>
        <p:spPr>
          <a:xfrm>
            <a:off x="868680" y="3219840"/>
            <a:ext cx="4663080" cy="241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494" name="TextBox 36"/>
          <p:cNvSpPr/>
          <p:nvPr/>
        </p:nvSpPr>
        <p:spPr>
          <a:xfrm>
            <a:off x="640080" y="585216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95" name="TextBox 37"/>
          <p:cNvSpPr/>
          <p:nvPr/>
        </p:nvSpPr>
        <p:spPr>
          <a:xfrm>
            <a:off x="5943600" y="26168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96" name="Zone à rédiger"/>
          <p:cNvSpPr/>
          <p:nvPr/>
        </p:nvSpPr>
        <p:spPr>
          <a:xfrm>
            <a:off x="5943600" y="2872440"/>
            <a:ext cx="5604840" cy="11700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97" name="TextBox 39"/>
          <p:cNvSpPr/>
          <p:nvPr/>
        </p:nvSpPr>
        <p:spPr>
          <a:xfrm>
            <a:off x="5943600" y="42170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498" name="Zone à rédiger"/>
          <p:cNvSpPr/>
          <p:nvPr/>
        </p:nvSpPr>
        <p:spPr>
          <a:xfrm>
            <a:off x="5943600" y="4472640"/>
            <a:ext cx="5604840" cy="6213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99" name="TextBox 41"/>
          <p:cNvSpPr/>
          <p:nvPr/>
        </p:nvSpPr>
        <p:spPr>
          <a:xfrm>
            <a:off x="5943600" y="526860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00" name="Zone à rédiger"/>
          <p:cNvSpPr/>
          <p:nvPr/>
        </p:nvSpPr>
        <p:spPr>
          <a:xfrm>
            <a:off x="5943600" y="5524200"/>
            <a:ext cx="5604840" cy="6019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84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05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3320" cy="164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Certifier, publier, gouverner</a:t>
            </a:r>
            <a:endParaRPr b="0" lang="fr-FR" sz="4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36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3CA918F-B8D5-4BEF-98EB-EC6604898628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04" name="TextBox 25"/>
          <p:cNvSpPr/>
          <p:nvPr/>
        </p:nvSpPr>
        <p:spPr>
          <a:xfrm>
            <a:off x="640080" y="4892040"/>
            <a:ext cx="6400440" cy="55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Historique des mesures et courbes d'évolution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 type="sldNum" idx="37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50A1F50-7401-4D05-8787-6D025DE23322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07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S5 · US-29, 30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08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09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0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11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512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13" name="TextBox 31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justifiées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Toute règle qui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descend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expliquée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(filtre, conversion, effet de la quarantaine).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courbe par dimension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(image insérée ci-dessous).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514" name="Table 32"/>
          <p:cNvGraphicFramePr/>
          <p:nvPr/>
        </p:nvGraphicFramePr>
        <p:xfrm>
          <a:off x="640080" y="2786040"/>
          <a:ext cx="10908360" cy="19746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05840"/>
                <a:gridCol w="1005840"/>
                <a:gridCol w="1005840"/>
                <a:gridCol w="1371600"/>
                <a:gridCol w="405072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515" name="TextBox 33"/>
          <p:cNvSpPr/>
          <p:nvPr/>
        </p:nvSpPr>
        <p:spPr>
          <a:xfrm>
            <a:off x="640080" y="4935600"/>
            <a:ext cx="10908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16" name="Zone à rédiger"/>
          <p:cNvSpPr/>
          <p:nvPr/>
        </p:nvSpPr>
        <p:spPr>
          <a:xfrm>
            <a:off x="640080" y="5191200"/>
            <a:ext cx="10908360" cy="9349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Certificat de qualité : GO ou NO_GO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18" name="PlaceHolder 2"/>
          <p:cNvSpPr>
            <a:spLocks noGrp="1"/>
          </p:cNvSpPr>
          <p:nvPr>
            <p:ph type="sldNum" idx="38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D517DB1-082A-44D3-A3D0-2C3DE3AD5268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19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S5 · US-31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20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21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2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23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524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25" name="TextBox 31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 certificat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produit par requête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et lié à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empreinte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du gold.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épreuve du NO_GO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non mesurées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par votre pipeline, donc non couvertes.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526" name="Table 32"/>
          <p:cNvGraphicFramePr/>
          <p:nvPr/>
        </p:nvGraphicFramePr>
        <p:xfrm>
          <a:off x="640080" y="2786040"/>
          <a:ext cx="6949080" cy="2340360"/>
        </p:xfrm>
        <a:graphic>
          <a:graphicData uri="http://schemas.openxmlformats.org/drawingml/2006/table">
            <a:tbl>
              <a:tblPr/>
              <a:tblGrid>
                <a:gridCol w="4023360"/>
                <a:gridCol w="2926080"/>
              </a:tblGrid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0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3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412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527" name="TextBox 33"/>
          <p:cNvSpPr/>
          <p:nvPr/>
        </p:nvSpPr>
        <p:spPr>
          <a:xfrm>
            <a:off x="7863840" y="2823120"/>
            <a:ext cx="36846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ÉPREUVE DU NO_GO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28" name="Zone à rédiger"/>
          <p:cNvSpPr/>
          <p:nvPr/>
        </p:nvSpPr>
        <p:spPr>
          <a:xfrm>
            <a:off x="7863840" y="3078720"/>
            <a:ext cx="3684600" cy="20844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[Comment dégradé, décision, preuve]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29" name="TextBox 35"/>
          <p:cNvSpPr/>
          <p:nvPr/>
        </p:nvSpPr>
        <p:spPr>
          <a:xfrm>
            <a:off x="640080" y="5255640"/>
            <a:ext cx="10908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RÈGLES NON COUVERTES PAR LE CERTIFICAT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30" name="Zone à rédiger"/>
          <p:cNvSpPr/>
          <p:nvPr/>
        </p:nvSpPr>
        <p:spPr>
          <a:xfrm>
            <a:off x="640080" y="5511240"/>
            <a:ext cx="10908360" cy="6148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Publication vers le CRM : refus, chargement, réconciliation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32" name="PlaceHolder 2"/>
          <p:cNvSpPr>
            <a:spLocks noGrp="1"/>
          </p:cNvSpPr>
          <p:nvPr>
            <p:ph type="sldNum" idx="39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6BF5D2B-F15D-4FA4-B9F2-9730D79329C0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33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S5 · US-32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34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35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6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37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538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39" name="TextBox 31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quatre scénarios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avec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message obtenu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sans certificat, NO_GO, gold modifié, GO.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tout-ou-rien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? Comment l'avez-vous vérifié ?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540" name="Table 32"/>
          <p:cNvGraphicFramePr/>
          <p:nvPr/>
        </p:nvGraphicFramePr>
        <p:xfrm>
          <a:off x="640080" y="2786040"/>
          <a:ext cx="10908360" cy="17370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1554480"/>
                <a:gridCol w="222192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41" name="Table 33"/>
          <p:cNvGraphicFramePr/>
          <p:nvPr/>
        </p:nvGraphicFramePr>
        <p:xfrm>
          <a:off x="640080" y="4633200"/>
          <a:ext cx="10908360" cy="131652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2011680"/>
                <a:gridCol w="1828800"/>
                <a:gridCol w="2011680"/>
                <a:gridCol w="1490400"/>
              </a:tblGrid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0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542" name="TextBox 34"/>
          <p:cNvSpPr/>
          <p:nvPr/>
        </p:nvSpPr>
        <p:spPr>
          <a:xfrm>
            <a:off x="640080" y="602316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Gouvernance : catalogue, propriétaires, lineage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44" name="PlaceHolder 2"/>
          <p:cNvSpPr>
            <a:spLocks noGrp="1"/>
          </p:cNvSpPr>
          <p:nvPr>
            <p:ph type="sldNum" idx="40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B490877-999C-4C13-A1A5-F28F9DC5801C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45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S5 · US-34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46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47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8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4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550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51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fiche de catalogue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lineage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de gold.client_unique jusqu'aux sources.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552" name="Table 32"/>
          <p:cNvGraphicFramePr/>
          <p:nvPr/>
        </p:nvGraphicFramePr>
        <p:xfrm>
          <a:off x="640080" y="2534040"/>
          <a:ext cx="10908360" cy="1919880"/>
        </p:xfrm>
        <a:graphic>
          <a:graphicData uri="http://schemas.openxmlformats.org/drawingml/2006/table">
            <a:tbl>
              <a:tblPr/>
              <a:tblGrid>
                <a:gridCol w="4206240"/>
                <a:gridCol w="6702480"/>
              </a:tblGrid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3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484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553" name="TextBox 33"/>
          <p:cNvSpPr/>
          <p:nvPr/>
        </p:nvSpPr>
        <p:spPr>
          <a:xfrm>
            <a:off x="640080" y="4674240"/>
            <a:ext cx="10908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LINEAGE DE GOLD.CLIENT_UNIQUE (LISTE OU SCHÉMA)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54" name="Zone à rédiger"/>
          <p:cNvSpPr/>
          <p:nvPr/>
        </p:nvSpPr>
        <p:spPr>
          <a:xfrm>
            <a:off x="640080" y="4929840"/>
            <a:ext cx="10908360" cy="119628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Bilan de S5 : critères de fin et difficultés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56" name="PlaceHolder 2"/>
          <p:cNvSpPr>
            <a:spLocks noGrp="1"/>
          </p:cNvSpPr>
          <p:nvPr>
            <p:ph type="sldNum" idx="41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C20004A-6D6E-4D37-B72C-A51C20FA638D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57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S5 · BILAN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58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PREUVE ET CERTIFICAT · 20 %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59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0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61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562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63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démontré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564" name="Rectangle 32"/>
          <p:cNvSpPr/>
          <p:nvPr/>
        </p:nvSpPr>
        <p:spPr>
          <a:xfrm>
            <a:off x="640080" y="2579760"/>
            <a:ext cx="5120280" cy="354636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65" name="Icône ok" descr="Icône ok"/>
          <p:cNvPicPr/>
          <p:nvPr/>
        </p:nvPicPr>
        <p:blipFill>
          <a:blip r:embed="rId2"/>
          <a:stretch/>
        </p:blipFill>
        <p:spPr>
          <a:xfrm>
            <a:off x="868680" y="273528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566" name="TextBox 34"/>
          <p:cNvSpPr/>
          <p:nvPr/>
        </p:nvSpPr>
        <p:spPr>
          <a:xfrm>
            <a:off x="1289160" y="2783160"/>
            <a:ext cx="457164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300" spc="117" strike="noStrike">
                <a:solidFill>
                  <a:srgbClr val="f7f6f2"/>
                </a:solidFill>
                <a:latin typeface="Inter"/>
              </a:rPr>
              <a:t>CRITÈRES DE FIN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567" name="TextBox 35"/>
          <p:cNvSpPr/>
          <p:nvPr/>
        </p:nvSpPr>
        <p:spPr>
          <a:xfrm>
            <a:off x="868680" y="3219840"/>
            <a:ext cx="4663080" cy="191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  <a:endParaRPr b="0" lang="fr-FR" sz="125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700"/>
              </a:spcAft>
              <a:buNone/>
            </a:pPr>
            <a:r>
              <a:rPr b="0" lang="fr-FR" sz="125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250" spc="-1" strike="noStrike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  <a:endParaRPr b="0" lang="fr-FR" sz="1250" spc="-1" strike="noStrike">
              <a:latin typeface="Arial"/>
            </a:endParaRPr>
          </a:p>
        </p:txBody>
      </p:sp>
      <p:sp>
        <p:nvSpPr>
          <p:cNvPr id="568" name="TextBox 36"/>
          <p:cNvSpPr/>
          <p:nvPr/>
        </p:nvSpPr>
        <p:spPr>
          <a:xfrm>
            <a:off x="640080" y="585216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69" name="TextBox 37"/>
          <p:cNvSpPr/>
          <p:nvPr/>
        </p:nvSpPr>
        <p:spPr>
          <a:xfrm>
            <a:off x="5943600" y="26168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DIFFICULTÉS RENCONTRÉES ET TEMPS PERDU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70" name="Zone à rédiger"/>
          <p:cNvSpPr/>
          <p:nvPr/>
        </p:nvSpPr>
        <p:spPr>
          <a:xfrm>
            <a:off x="5943600" y="2872440"/>
            <a:ext cx="5604840" cy="11700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71" name="TextBox 39"/>
          <p:cNvSpPr/>
          <p:nvPr/>
        </p:nvSpPr>
        <p:spPr>
          <a:xfrm>
            <a:off x="5943600" y="421704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POINT DE REPRISE UTILISÉ (OUI / NON, LEQUEL)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72" name="Zone à rédiger"/>
          <p:cNvSpPr/>
          <p:nvPr/>
        </p:nvSpPr>
        <p:spPr>
          <a:xfrm>
            <a:off x="5943600" y="4472640"/>
            <a:ext cx="5604840" cy="6213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73" name="TextBox 41"/>
          <p:cNvSpPr/>
          <p:nvPr/>
        </p:nvSpPr>
        <p:spPr>
          <a:xfrm>
            <a:off x="5943600" y="5268600"/>
            <a:ext cx="56048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CE QUE NOUS FERIONS AUTREMENT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74" name="Zone à rédiger"/>
          <p:cNvSpPr/>
          <p:nvPr/>
        </p:nvSpPr>
        <p:spPr>
          <a:xfrm>
            <a:off x="5943600" y="5524200"/>
            <a:ext cx="5604840" cy="60192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84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06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76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3320" cy="164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Dossier go/no-go</a:t>
            </a:r>
            <a:endParaRPr b="0" lang="fr-FR" sz="4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42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7C7B3F2-1171-4170-9A94-CBEBA88973FA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78" name="TextBox 25"/>
          <p:cNvSpPr/>
          <p:nvPr/>
        </p:nvSpPr>
        <p:spPr>
          <a:xfrm>
            <a:off x="640080" y="4892040"/>
            <a:ext cx="6400440" cy="55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Recommandation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80" name="PlaceHolder 2"/>
          <p:cNvSpPr>
            <a:spLocks noGrp="1"/>
          </p:cNvSpPr>
          <p:nvPr>
            <p:ph type="sldNum" idx="43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97D9FB8-C476-4D5C-AE54-DFAFCE4B8CA0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81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DOSSIER · 1 SUR 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82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583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4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85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586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87" name="TextBox 31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recommandation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chacune avec sa preuve dans le dépôt.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Lisible par une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non-technicienne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aucun sigle sans définition.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588" name="TextBox 32"/>
          <p:cNvSpPr/>
          <p:nvPr/>
        </p:nvSpPr>
        <p:spPr>
          <a:xfrm>
            <a:off x="640080" y="2868840"/>
            <a:ext cx="10908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RECOMMANDATION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89" name="Zone à rédiger"/>
          <p:cNvSpPr/>
          <p:nvPr/>
        </p:nvSpPr>
        <p:spPr>
          <a:xfrm>
            <a:off x="640080" y="3124440"/>
            <a:ext cx="10908360" cy="8042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[GO, NO-GO ou GO sous conditions : une phrase]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90" name="TextBox 34"/>
          <p:cNvSpPr/>
          <p:nvPr/>
        </p:nvSpPr>
        <p:spPr>
          <a:xfrm>
            <a:off x="640080" y="4103280"/>
            <a:ext cx="35139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RAISON CHIFFRÉE 1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91" name="Zone à rédiger"/>
          <p:cNvSpPr/>
          <p:nvPr/>
        </p:nvSpPr>
        <p:spPr>
          <a:xfrm>
            <a:off x="640080" y="4358880"/>
            <a:ext cx="3513960" cy="17672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[Chiffre, couche, preuve]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92" name="TextBox 36"/>
          <p:cNvSpPr/>
          <p:nvPr/>
        </p:nvSpPr>
        <p:spPr>
          <a:xfrm>
            <a:off x="4337280" y="4103280"/>
            <a:ext cx="35139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RAISON CHIFFRÉE 2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93" name="Zone à rédiger"/>
          <p:cNvSpPr/>
          <p:nvPr/>
        </p:nvSpPr>
        <p:spPr>
          <a:xfrm>
            <a:off x="4337280" y="4358880"/>
            <a:ext cx="3513960" cy="17672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[Chiffre, couche, preuve]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94" name="TextBox 38"/>
          <p:cNvSpPr/>
          <p:nvPr/>
        </p:nvSpPr>
        <p:spPr>
          <a:xfrm>
            <a:off x="8034480" y="4103280"/>
            <a:ext cx="35139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RAISON CHIFFRÉE 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95" name="Zone à rédiger"/>
          <p:cNvSpPr/>
          <p:nvPr/>
        </p:nvSpPr>
        <p:spPr>
          <a:xfrm>
            <a:off x="8034480" y="4358880"/>
            <a:ext cx="3513960" cy="17672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[Chiffre, couche, preuve]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Les preuves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 type="sldNum" idx="44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05B7BD-3AEE-4076-ACFA-D314BF5A9F76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598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DOSSIER · 2 SUR 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599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00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1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02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603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4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qualité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face au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seuil visé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certificat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en trois lignes.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05" name="Table 32"/>
          <p:cNvGraphicFramePr/>
          <p:nvPr/>
        </p:nvGraphicFramePr>
        <p:xfrm>
          <a:off x="640080" y="2534040"/>
          <a:ext cx="10908360" cy="182844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1645920"/>
                <a:gridCol w="1645920"/>
                <a:gridCol w="1737360"/>
                <a:gridCol w="185616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06" name="TextBox 33"/>
          <p:cNvSpPr/>
          <p:nvPr/>
        </p:nvSpPr>
        <p:spPr>
          <a:xfrm>
            <a:off x="640080" y="4537080"/>
            <a:ext cx="534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CERTIFICAT JOINT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07" name="Zone à rédiger"/>
          <p:cNvSpPr/>
          <p:nvPr/>
        </p:nvSpPr>
        <p:spPr>
          <a:xfrm>
            <a:off x="640080" y="4792680"/>
            <a:ext cx="5348880" cy="13334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[Numéro, décision, empreinte]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8" name="TextBox 35"/>
          <p:cNvSpPr/>
          <p:nvPr/>
        </p:nvSpPr>
        <p:spPr>
          <a:xfrm>
            <a:off x="6199560" y="4537080"/>
            <a:ext cx="534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TROIS DONNÉES RETRACÉES, EN TROIS LIGNES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09" name="Zone à rédiger"/>
          <p:cNvSpPr/>
          <p:nvPr/>
        </p:nvSpPr>
        <p:spPr>
          <a:xfrm>
            <a:off x="6199560" y="4792680"/>
            <a:ext cx="5348880" cy="13334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Les écarts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11" name="PlaceHolder 2"/>
          <p:cNvSpPr>
            <a:spLocks noGrp="1"/>
          </p:cNvSpPr>
          <p:nvPr>
            <p:ph type="sldNum" idx="45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3FB802-EE53-446B-A9C5-A2A05688E12F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12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DOSSIER · 3 SUR 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13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14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5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16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617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18" name="TextBox 31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avertissements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restants.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par le métier : listées, jamais cachées.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19" name="Table 32"/>
          <p:cNvGraphicFramePr/>
          <p:nvPr/>
        </p:nvGraphicFramePr>
        <p:xfrm>
          <a:off x="640080" y="2534040"/>
          <a:ext cx="10908360" cy="182844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280160"/>
                <a:gridCol w="3136320"/>
                <a:gridCol w="192024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20" name="TextBox 33"/>
          <p:cNvSpPr/>
          <p:nvPr/>
        </p:nvSpPr>
        <p:spPr>
          <a:xfrm>
            <a:off x="640080" y="4537080"/>
            <a:ext cx="10908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HYPOTHÈSES À FAIRE VALIDER PAR LE MÉTIER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21" name="Zone à rédiger"/>
          <p:cNvSpPr/>
          <p:nvPr/>
        </p:nvSpPr>
        <p:spPr>
          <a:xfrm>
            <a:off x="640080" y="4792680"/>
            <a:ext cx="10908360" cy="133344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[Listez-les, une par ligne]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La décision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 type="sldNum" idx="46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EBBE328-8437-42BB-A692-57263D0C9924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24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DOSSIER · 4 SUR 4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25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26" name="Attendu"/>
          <p:cNvSpPr/>
          <p:nvPr/>
        </p:nvSpPr>
        <p:spPr>
          <a:xfrm>
            <a:off x="640080" y="1325880"/>
            <a:ext cx="10908360" cy="1322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7" name="Attendu barre"/>
          <p:cNvSpPr/>
          <p:nvPr/>
        </p:nvSpPr>
        <p:spPr>
          <a:xfrm>
            <a:off x="640080" y="1325880"/>
            <a:ext cx="82080" cy="1322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28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629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30" name="TextBox 31"/>
          <p:cNvSpPr/>
          <p:nvPr/>
        </p:nvSpPr>
        <p:spPr>
          <a:xfrm>
            <a:off x="914400" y="1783080"/>
            <a:ext cx="1035972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seuils retenus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Data Owner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(numéros du journal des décisions).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rôles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conditions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à lever, avec échéance et responsable.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signature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du Data Owner.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631" name="TextBox 32"/>
          <p:cNvSpPr/>
          <p:nvPr/>
        </p:nvSpPr>
        <p:spPr>
          <a:xfrm>
            <a:off x="640080" y="2868840"/>
            <a:ext cx="534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SEUILS RETENUS ET JUSTIFICATION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32" name="Zone à rédiger"/>
          <p:cNvSpPr/>
          <p:nvPr/>
        </p:nvSpPr>
        <p:spPr>
          <a:xfrm>
            <a:off x="640080" y="3124440"/>
            <a:ext cx="5348880" cy="10785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[Renvoi au journal, numéros]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33" name="TextBox 34"/>
          <p:cNvSpPr/>
          <p:nvPr/>
        </p:nvSpPr>
        <p:spPr>
          <a:xfrm>
            <a:off x="6199560" y="2868840"/>
            <a:ext cx="534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RÔLES : DÉCIDE, CONTRÔLE, EXÉCUTE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34" name="Zone à rédiger"/>
          <p:cNvSpPr/>
          <p:nvPr/>
        </p:nvSpPr>
        <p:spPr>
          <a:xfrm>
            <a:off x="6199560" y="3124440"/>
            <a:ext cx="5348880" cy="107856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[Rédigez ici]</a:t>
            </a:r>
            <a:endParaRPr b="0" lang="fr-FR" sz="1200" spc="-1" strike="noStrike">
              <a:latin typeface="Arial"/>
            </a:endParaRPr>
          </a:p>
        </p:txBody>
      </p:sp>
      <p:graphicFrame>
        <p:nvGraphicFramePr>
          <p:cNvPr id="635" name="Table 36"/>
          <p:cNvGraphicFramePr/>
          <p:nvPr/>
        </p:nvGraphicFramePr>
        <p:xfrm>
          <a:off x="640080" y="4340520"/>
          <a:ext cx="10908360" cy="1042200"/>
        </p:xfrm>
        <a:graphic>
          <a:graphicData uri="http://schemas.openxmlformats.org/drawingml/2006/table">
            <a:tbl>
              <a:tblPr/>
              <a:tblGrid>
                <a:gridCol w="6217920"/>
                <a:gridCol w="2560320"/>
                <a:gridCol w="21304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1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36" name="TextBox 37"/>
          <p:cNvSpPr/>
          <p:nvPr/>
        </p:nvSpPr>
        <p:spPr>
          <a:xfrm>
            <a:off x="640080" y="5557320"/>
            <a:ext cx="10908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17" strike="noStrike">
                <a:solidFill>
                  <a:srgbClr val="f5a623"/>
                </a:solidFill>
                <a:latin typeface="Inter"/>
              </a:rPr>
              <a:t>SIGNATURE DU DATA OWNER (NOM, RÔLE, DATE)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37" name="Zone à rédiger"/>
          <p:cNvSpPr/>
          <p:nvPr/>
        </p:nvSpPr>
        <p:spPr>
          <a:xfrm>
            <a:off x="640080" y="5812920"/>
            <a:ext cx="10908360" cy="313200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fr-FR" sz="1200" spc="-1" strike="noStrike">
                <a:solidFill>
                  <a:srgbClr val="8e99a4"/>
                </a:solidFill>
                <a:latin typeface="Inter"/>
              </a:rPr>
              <a:t>[Nom, rôle, date]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/>
          </p:nvPr>
        </p:nvSpPr>
        <p:spPr>
          <a:xfrm>
            <a:off x="640080" y="2011680"/>
            <a:ext cx="274284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f5a623"/>
                </a:solidFill>
                <a:latin typeface="Fraunces SemiBold"/>
                <a:ea typeface="Fraunces SemiBold"/>
              </a:rPr>
              <a:t>07</a:t>
            </a:r>
            <a:endParaRPr b="0" lang="fr-FR" sz="7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 type="title"/>
          </p:nvPr>
        </p:nvSpPr>
        <p:spPr>
          <a:xfrm>
            <a:off x="640080" y="3200400"/>
            <a:ext cx="6583320" cy="164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2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Annexes</a:t>
            </a:r>
            <a:endParaRPr b="0" lang="fr-FR" sz="42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47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AF563BC-F5D3-4911-9E0B-745FC327EB1A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41" name="TextBox 25"/>
          <p:cNvSpPr/>
          <p:nvPr/>
        </p:nvSpPr>
        <p:spPr>
          <a:xfrm>
            <a:off x="640080" y="4892040"/>
            <a:ext cx="6400440" cy="55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spcAft>
                <a:spcPts val="400"/>
              </a:spcAft>
              <a:buNone/>
            </a:pPr>
            <a:r>
              <a:rPr b="0" lang="fr-FR" sz="1600" spc="-1" strike="noStrike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Journal des décisions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43" name="PlaceHolder 2"/>
          <p:cNvSpPr>
            <a:spLocks noGrp="1"/>
          </p:cNvSpPr>
          <p:nvPr>
            <p:ph type="sldNum" idx="48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B680C00-98B2-46C0-9CE8-099C179E265B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44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ANNEXE A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45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46" name="Attendu"/>
          <p:cNvSpPr/>
          <p:nvPr/>
        </p:nvSpPr>
        <p:spPr>
          <a:xfrm>
            <a:off x="640080" y="1325880"/>
            <a:ext cx="10908360" cy="12848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7" name="Attendu barre"/>
          <p:cNvSpPr/>
          <p:nvPr/>
        </p:nvSpPr>
        <p:spPr>
          <a:xfrm>
            <a:off x="640080" y="1325880"/>
            <a:ext cx="82080" cy="1284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48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649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50" name="TextBox 31"/>
          <p:cNvSpPr/>
          <p:nvPr/>
        </p:nvSpPr>
        <p:spPr>
          <a:xfrm>
            <a:off x="914400" y="1783080"/>
            <a:ext cx="10359720" cy="68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rôle décideur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, alternative écartée.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51" name="Table 32"/>
          <p:cNvGraphicFramePr/>
          <p:nvPr/>
        </p:nvGraphicFramePr>
        <p:xfrm>
          <a:off x="640080" y="2748240"/>
          <a:ext cx="10908360" cy="24318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822960"/>
                <a:gridCol w="1371600"/>
                <a:gridCol w="2377440"/>
                <a:gridCol w="2194560"/>
                <a:gridCol w="1188720"/>
                <a:gridCol w="1673280"/>
              </a:tblGrid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  <a:endParaRPr b="0" lang="fr-FR" sz="9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0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05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05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05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52" name="TextBox 33"/>
          <p:cNvSpPr/>
          <p:nvPr/>
        </p:nvSpPr>
        <p:spPr>
          <a:xfrm>
            <a:off x="640080" y="525348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Avancement par story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 type="sldNum" idx="49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78FDEAF-FC67-4DA0-8819-58DA73CF91B5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55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ANNEXE B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56" name="TextBox 26"/>
          <p:cNvSpPr/>
          <p:nvPr/>
        </p:nvSpPr>
        <p:spPr>
          <a:xfrm>
            <a:off x="6976800" y="291960"/>
            <a:ext cx="457164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000" spc="117" strike="noStrike">
                <a:solidFill>
                  <a:srgbClr val="0f9b8e"/>
                </a:solidFill>
                <a:latin typeface="Inter"/>
              </a:rPr>
              <a:t>CRITÈRE : GOUVERNANCE ET DÉCISION · 15 %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657" name="Attendu"/>
          <p:cNvSpPr/>
          <p:nvPr/>
        </p:nvSpPr>
        <p:spPr>
          <a:xfrm>
            <a:off x="640080" y="1325880"/>
            <a:ext cx="10908360" cy="103248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8" name="Attendu barre"/>
          <p:cNvSpPr/>
          <p:nvPr/>
        </p:nvSpPr>
        <p:spPr>
          <a:xfrm>
            <a:off x="640080" y="1325880"/>
            <a:ext cx="82080" cy="1032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5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660" name="TextBox 30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61" name="TextBox 31"/>
          <p:cNvSpPr/>
          <p:nvPr/>
        </p:nvSpPr>
        <p:spPr>
          <a:xfrm>
            <a:off x="914400" y="1783080"/>
            <a:ext cx="1035972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statut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preuve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62" name="Table 32"/>
          <p:cNvGraphicFramePr/>
          <p:nvPr/>
        </p:nvGraphicFramePr>
        <p:xfrm>
          <a:off x="640080" y="2541600"/>
          <a:ext cx="10908360" cy="2468520"/>
        </p:xfrm>
        <a:graphic>
          <a:graphicData uri="http://schemas.openxmlformats.org/drawingml/2006/table">
            <a:tbl>
              <a:tblPr/>
              <a:tblGrid>
                <a:gridCol w="1097280"/>
                <a:gridCol w="2560320"/>
                <a:gridCol w="1005840"/>
                <a:gridCol w="1188720"/>
                <a:gridCol w="1188720"/>
                <a:gridCol w="3867840"/>
              </a:tblGrid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663" name="TextBox 33"/>
          <p:cNvSpPr/>
          <p:nvPr/>
        </p:nvSpPr>
        <p:spPr>
          <a:xfrm>
            <a:off x="640080" y="5101920"/>
            <a:ext cx="109083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0" i="1" lang="fr-FR" sz="1100" spc="-1" strike="noStrike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  <a:endParaRPr b="0" lang="fr-FR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Dépôt Git et étiquettes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65" name="PlaceHolder 2"/>
          <p:cNvSpPr>
            <a:spLocks noGrp="1"/>
          </p:cNvSpPr>
          <p:nvPr>
            <p:ph type="sldNum" idx="50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11B4039-418C-4319-9CF0-35BD4771066D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66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ANNEXE C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67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8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69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670" name="TextBox 29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SUR CETTE PAGE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71" name="TextBox 30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L'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adresse du dépôt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et les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étiquettes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posées : seance-1 à seance-5 et rendu-final.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  <a:endParaRPr b="0" lang="fr-FR" sz="1300" spc="-1" strike="noStrike">
              <a:latin typeface="Arial"/>
            </a:endParaRPr>
          </a:p>
        </p:txBody>
      </p:sp>
      <p:graphicFrame>
        <p:nvGraphicFramePr>
          <p:cNvPr id="672" name="Table 31"/>
          <p:cNvGraphicFramePr/>
          <p:nvPr/>
        </p:nvGraphicFramePr>
        <p:xfrm>
          <a:off x="640080" y="2579760"/>
          <a:ext cx="10908360" cy="2925720"/>
        </p:xfrm>
        <a:graphic>
          <a:graphicData uri="http://schemas.openxmlformats.org/drawingml/2006/table">
            <a:tbl>
              <a:tblPr/>
              <a:tblGrid>
                <a:gridCol w="4023360"/>
                <a:gridCol w="6885360"/>
              </a:tblGrid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58" strike="noStrike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  <a:endParaRPr b="0" lang="fr-FR" sz="11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ctr" marL="73080" marR="73080">
                    <a:lnL w="6480">
                      <a:solidFill>
                        <a:srgbClr val="2a4156"/>
                      </a:solidFill>
                    </a:lnL>
                    <a:lnR w="6480">
                      <a:solidFill>
                        <a:srgbClr val="2a4156"/>
                      </a:solidFill>
                    </a:lnR>
                    <a:lnT w="6480">
                      <a:solidFill>
                        <a:srgbClr val="2a4156"/>
                      </a:solidFill>
                    </a:lnT>
                    <a:lnB w="648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08360" cy="73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f7f6f2"/>
                </a:solidFill>
                <a:latin typeface="Fraunces SemiBold"/>
                <a:ea typeface="Fraunces SemiBold"/>
              </a:rPr>
              <a:t>Liste de contrôle du rendu final</a:t>
            </a:r>
            <a:endParaRPr b="0" lang="fr-FR" sz="2800" spc="-1" strike="noStrike">
              <a:solidFill>
                <a:srgbClr val="f7f6f2"/>
              </a:solidFill>
              <a:latin typeface="Inter"/>
            </a:endParaRPr>
          </a:p>
        </p:txBody>
      </p:sp>
      <p:sp>
        <p:nvSpPr>
          <p:cNvPr id="674" name="PlaceHolder 2"/>
          <p:cNvSpPr>
            <a:spLocks noGrp="1"/>
          </p:cNvSpPr>
          <p:nvPr>
            <p:ph type="sldNum" idx="51"/>
          </p:nvPr>
        </p:nvSpPr>
        <p:spPr>
          <a:xfrm>
            <a:off x="10820160" y="6309360"/>
            <a:ext cx="731160" cy="29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000" spc="-1" strike="noStrike">
                <a:solidFill>
                  <a:srgbClr val="8e99a4"/>
                </a:solidFill>
                <a:latin typeface="Inter"/>
                <a:ea typeface="Inter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B709802-1736-4B6A-9CCF-7979F1E47C51}" type="slidenum">
              <a:rPr b="0" lang="en-US" sz="1000" spc="-1" strike="noStrike">
                <a:solidFill>
                  <a:srgbClr val="8e99a4"/>
                </a:solidFill>
                <a:latin typeface="Inter"/>
                <a:ea typeface="Inter"/>
              </a:rPr>
              <a:t>&lt;numéro&gt;</a:t>
            </a:fld>
            <a:endParaRPr b="0" lang="fr-FR" sz="1000" spc="-1" strike="noStrike">
              <a:latin typeface="Times New Roman"/>
            </a:endParaRPr>
          </a:p>
        </p:txBody>
      </p:sp>
      <p:sp>
        <p:nvSpPr>
          <p:cNvPr id="675" name="TextBox 25"/>
          <p:cNvSpPr/>
          <p:nvPr/>
        </p:nvSpPr>
        <p:spPr>
          <a:xfrm>
            <a:off x="640080" y="283680"/>
            <a:ext cx="8046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100" spc="199" strike="noStrike">
                <a:solidFill>
                  <a:srgbClr val="f5a623"/>
                </a:solidFill>
                <a:latin typeface="Inter"/>
              </a:rPr>
              <a:t>AVANT DE RENDRE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76" name="Attendu"/>
          <p:cNvSpPr/>
          <p:nvPr/>
        </p:nvSpPr>
        <p:spPr>
          <a:xfrm>
            <a:off x="640080" y="1325880"/>
            <a:ext cx="10908360" cy="1070640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7" name="Attendu barre"/>
          <p:cNvSpPr/>
          <p:nvPr/>
        </p:nvSpPr>
        <p:spPr>
          <a:xfrm>
            <a:off x="640080" y="1325880"/>
            <a:ext cx="82080" cy="1070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78" name="Icône target" descr="Icône target"/>
          <p:cNvPicPr/>
          <p:nvPr/>
        </p:nvPicPr>
        <p:blipFill>
          <a:blip r:embed="rId1"/>
          <a:stretch/>
        </p:blipFill>
        <p:spPr>
          <a:xfrm>
            <a:off x="896040" y="1435680"/>
            <a:ext cx="273960" cy="273960"/>
          </a:xfrm>
          <a:prstGeom prst="rect">
            <a:avLst/>
          </a:prstGeom>
          <a:ln w="0">
            <a:noFill/>
          </a:ln>
        </p:spPr>
      </p:pic>
      <p:sp>
        <p:nvSpPr>
          <p:cNvPr id="679" name="TextBox 29"/>
          <p:cNvSpPr/>
          <p:nvPr/>
        </p:nvSpPr>
        <p:spPr>
          <a:xfrm>
            <a:off x="1261800" y="1473480"/>
            <a:ext cx="7314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8000"/>
              </a:lnSpc>
              <a:spcAft>
                <a:spcPts val="400"/>
              </a:spcAft>
              <a:buNone/>
            </a:pPr>
            <a:r>
              <a:rPr b="1" lang="fr-FR" sz="1200" spc="137" strike="noStrike">
                <a:solidFill>
                  <a:srgbClr val="f5a623"/>
                </a:solidFill>
                <a:latin typeface="Inter"/>
              </a:rPr>
              <a:t>ATTENDU AVANT LE DÉPÔT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80" name="TextBox 30"/>
          <p:cNvSpPr/>
          <p:nvPr/>
        </p:nvSpPr>
        <p:spPr>
          <a:xfrm>
            <a:off x="914400" y="1783080"/>
            <a:ext cx="1035972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zone ambre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déclaré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dans le bilan de la séance.</a:t>
            </a:r>
            <a:endParaRPr b="0" lang="fr-FR" sz="1300" spc="-1" strike="noStrike">
              <a:latin typeface="Arial"/>
            </a:endParaRP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Font typeface="Symbol" charset="2"/>
              <a:buChar char=""/>
            </a:pP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Chaque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chiffre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a sa </a:t>
            </a:r>
            <a:r>
              <a:rPr b="1" lang="fr-FR" sz="1300" spc="-1" strike="noStrike">
                <a:solidFill>
                  <a:srgbClr val="f5a623"/>
                </a:solidFill>
                <a:latin typeface="Inter"/>
              </a:rPr>
              <a:t>preuve</a:t>
            </a:r>
            <a:r>
              <a:rPr b="0" lang="fr-FR" sz="1300" spc="-1" strike="noStrike">
                <a:solidFill>
                  <a:srgbClr val="f7f6f2"/>
                </a:solidFill>
                <a:latin typeface="Inter"/>
              </a:rPr>
              <a:t> dans le dépôt.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681" name="Rectangle 31"/>
          <p:cNvSpPr/>
          <p:nvPr/>
        </p:nvSpPr>
        <p:spPr>
          <a:xfrm>
            <a:off x="640080" y="2579760"/>
            <a:ext cx="10908360" cy="3546360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2" name="TextBox 32"/>
          <p:cNvSpPr/>
          <p:nvPr/>
        </p:nvSpPr>
        <p:spPr>
          <a:xfrm>
            <a:off x="914400" y="2762640"/>
            <a:ext cx="10332360" cy="22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</a:rPr>
              <a:t> Couverture : numéro du groupe, noms, date.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8000"/>
              </a:lnSpc>
              <a:spcAft>
                <a:spcPts val="901"/>
              </a:spcAft>
              <a:buNone/>
            </a:pPr>
            <a:r>
              <a:rPr b="0" lang="fr-FR" sz="1400" spc="-1" strike="noStrike">
                <a:solidFill>
                  <a:srgbClr val="f7f6f2"/>
                </a:solidFill>
                <a:latin typeface="Consolas"/>
              </a:rPr>
              <a:t>[ ]</a:t>
            </a:r>
            <a:r>
              <a:rPr b="0" lang="fr-FR" sz="1400" spc="-1" strike="noStrike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LibreOffice/7.3.1.3$Windows_X86_64 LibreOffice_project/a69ca51ded25f3eefd52d7bf9a5fad8c90b87951</Application>
  <AppVersion>15.0000</AppVersion>
  <Words>0</Words>
  <Paragraphs>0</Paragraphs>
  <Company>Decimal Insights Consulting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2026-10-12T11:18:29Z</dcterms:created>
  <dc:creator>Decimal Insights Consulting</dc:creator>
  <dc:description/>
  <dc:language>fr-FR</dc:language>
  <cp:lastModifiedBy/>
  <dcterms:modified xsi:type="dcterms:W3CDTF">2026-10-14T15:04:46Z</dcterms:modified>
  <cp:revision>2</cp:revision>
  <dc:subject>Gouvernance, profilage et qualité des données</dc:subject>
  <dc:title>Livrable de groupe : TD AssurConnect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